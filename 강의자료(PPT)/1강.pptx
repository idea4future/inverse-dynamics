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2.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309" r:id="rId2"/>
    <p:sldId id="259" r:id="rId3"/>
    <p:sldId id="310" r:id="rId4"/>
    <p:sldId id="262" r:id="rId5"/>
    <p:sldId id="311" r:id="rId6"/>
    <p:sldId id="312" r:id="rId7"/>
    <p:sldId id="313" r:id="rId8"/>
    <p:sldId id="314" r:id="rId9"/>
    <p:sldId id="315" r:id="rId10"/>
    <p:sldId id="316" r:id="rId11"/>
    <p:sldId id="317" r:id="rId12"/>
    <p:sldId id="318" r:id="rId13"/>
    <p:sldId id="319" r:id="rId14"/>
    <p:sldId id="320" r:id="rId15"/>
    <p:sldId id="321" r:id="rId16"/>
  </p:sldIdLst>
  <p:sldSz cx="24384000" cy="13716000"/>
  <p:notesSz cx="6858000" cy="9144000"/>
  <p:embeddedFontLst>
    <p:embeddedFont>
      <p:font typeface="맑은 고딕" panose="020B0503020000020004" pitchFamily="50" charset="-127"/>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4E05D"/>
    <a:srgbClr val="FFFFFF"/>
    <a:srgbClr val="1E1B35"/>
    <a:srgbClr val="001D58"/>
    <a:srgbClr val="000E2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30" autoAdjust="0"/>
    <p:restoredTop sz="88685" autoAdjust="0"/>
  </p:normalViewPr>
  <p:slideViewPr>
    <p:cSldViewPr>
      <p:cViewPr>
        <p:scale>
          <a:sx n="33" d="100"/>
          <a:sy n="33" d="100"/>
        </p:scale>
        <p:origin x="960" y="3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130ED-C0B9-4FC1-BB2D-D58A566FAF25}" type="datetimeFigureOut">
              <a:rPr lang="ko-KR" altLang="en-US" smtClean="0"/>
              <a:t>2025-11-18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FB9C9-7C23-4F4E-9852-726E7DBF3378}" type="slidenum">
              <a:rPr lang="ko-KR" altLang="en-US" smtClean="0"/>
              <a:t>‹#›</a:t>
            </a:fld>
            <a:endParaRPr lang="ko-KR" altLang="en-US"/>
          </a:p>
        </p:txBody>
      </p:sp>
    </p:spTree>
    <p:extLst>
      <p:ext uri="{BB962C8B-B14F-4D97-AF65-F5344CB8AC3E}">
        <p14:creationId xmlns:p14="http://schemas.microsoft.com/office/powerpoint/2010/main" val="8126393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818FB9C9-7C23-4F4E-9852-726E7DBF3378}" type="slidenum">
              <a:rPr lang="ko-KR" altLang="en-US" smtClean="0"/>
              <a:t>1</a:t>
            </a:fld>
            <a:endParaRPr lang="ko-KR" altLang="en-US"/>
          </a:p>
        </p:txBody>
      </p:sp>
    </p:spTree>
    <p:extLst>
      <p:ext uri="{BB962C8B-B14F-4D97-AF65-F5344CB8AC3E}">
        <p14:creationId xmlns:p14="http://schemas.microsoft.com/office/powerpoint/2010/main" val="2052449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818FB9C9-7C23-4F4E-9852-726E7DBF3378}" type="slidenum">
              <a:rPr lang="ko-KR" altLang="en-US" smtClean="0"/>
              <a:t>11</a:t>
            </a:fld>
            <a:endParaRPr lang="ko-KR" altLang="en-US"/>
          </a:p>
        </p:txBody>
      </p:sp>
    </p:spTree>
    <p:extLst>
      <p:ext uri="{BB962C8B-B14F-4D97-AF65-F5344CB8AC3E}">
        <p14:creationId xmlns:p14="http://schemas.microsoft.com/office/powerpoint/2010/main" val="703734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image" Target="../media/image1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2.png"/><Relationship Id="rId5" Type="http://schemas.openxmlformats.org/officeDocument/2006/relationships/tags" Target="../tags/tag5.xml"/><Relationship Id="rId10" Type="http://schemas.openxmlformats.org/officeDocument/2006/relationships/image" Target="../media/image11.png"/><Relationship Id="rId4" Type="http://schemas.openxmlformats.org/officeDocument/2006/relationships/tags" Target="../tags/tag4.xml"/><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9.xml"/><Relationship Id="rId7" Type="http://schemas.openxmlformats.org/officeDocument/2006/relationships/image" Target="../media/image15.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4.png"/><Relationship Id="rId5" Type="http://schemas.openxmlformats.org/officeDocument/2006/relationships/slideLayout" Target="../slideLayouts/slideLayout7.xml"/><Relationship Id="rId4" Type="http://schemas.openxmlformats.org/officeDocument/2006/relationships/tags" Target="../tags/tag10.xml"/><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image" Target="../media/image20.png"/><Relationship Id="rId18" Type="http://schemas.openxmlformats.org/officeDocument/2006/relationships/image" Target="../media/image24.png"/><Relationship Id="rId3" Type="http://schemas.openxmlformats.org/officeDocument/2006/relationships/tags" Target="../tags/tag15.xml"/><Relationship Id="rId21" Type="http://schemas.openxmlformats.org/officeDocument/2006/relationships/image" Target="../media/image27.png"/><Relationship Id="rId7" Type="http://schemas.openxmlformats.org/officeDocument/2006/relationships/tags" Target="../tags/tag19.xml"/><Relationship Id="rId12" Type="http://schemas.openxmlformats.org/officeDocument/2006/relationships/slideLayout" Target="../slideLayouts/slideLayout7.xml"/><Relationship Id="rId17" Type="http://schemas.openxmlformats.org/officeDocument/2006/relationships/image" Target="../media/image23.png"/><Relationship Id="rId2" Type="http://schemas.openxmlformats.org/officeDocument/2006/relationships/tags" Target="../tags/tag14.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tags" Target="../tags/tag22.xml"/><Relationship Id="rId19" Type="http://schemas.openxmlformats.org/officeDocument/2006/relationships/image" Target="../media/image25.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image" Target="../media/image9.png"/><Relationship Id="rId22"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26.xml"/><Relationship Id="rId7" Type="http://schemas.openxmlformats.org/officeDocument/2006/relationships/image" Target="../media/image31.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30.png"/><Relationship Id="rId5" Type="http://schemas.openxmlformats.org/officeDocument/2006/relationships/slideLayout" Target="../slideLayouts/slideLayout7.xml"/><Relationship Id="rId4" Type="http://schemas.openxmlformats.org/officeDocument/2006/relationships/tags" Target="../tags/tag27.xml"/><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slideLayout" Target="../slideLayouts/slideLayout7.xml"/><Relationship Id="rId18" Type="http://schemas.openxmlformats.org/officeDocument/2006/relationships/image" Target="../media/image36.png"/><Relationship Id="rId26" Type="http://schemas.openxmlformats.org/officeDocument/2006/relationships/image" Target="../media/image43.png"/><Relationship Id="rId3" Type="http://schemas.openxmlformats.org/officeDocument/2006/relationships/tags" Target="../tags/tag30.xml"/><Relationship Id="rId21" Type="http://schemas.openxmlformats.org/officeDocument/2006/relationships/image" Target="../media/image39.png"/><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image" Target="../media/image35.png"/><Relationship Id="rId25" Type="http://schemas.openxmlformats.org/officeDocument/2006/relationships/image" Target="../media/image31.png"/><Relationship Id="rId2" Type="http://schemas.openxmlformats.org/officeDocument/2006/relationships/tags" Target="../tags/tag29.xml"/><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image" Target="../media/image42.png"/><Relationship Id="rId5" Type="http://schemas.openxmlformats.org/officeDocument/2006/relationships/tags" Target="../tags/tag32.xml"/><Relationship Id="rId15" Type="http://schemas.openxmlformats.org/officeDocument/2006/relationships/image" Target="../media/image33.png"/><Relationship Id="rId23" Type="http://schemas.openxmlformats.org/officeDocument/2006/relationships/image" Target="../media/image41.png"/><Relationship Id="rId10" Type="http://schemas.openxmlformats.org/officeDocument/2006/relationships/tags" Target="../tags/tag37.xml"/><Relationship Id="rId19" Type="http://schemas.openxmlformats.org/officeDocument/2006/relationships/image" Target="../media/image37.png"/><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notesSlide" Target="../notesSlides/notesSlide2.xml"/><Relationship Id="rId22"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46.png"/><Relationship Id="rId3" Type="http://schemas.openxmlformats.org/officeDocument/2006/relationships/tags" Target="../tags/tag42.xml"/><Relationship Id="rId7" Type="http://schemas.openxmlformats.org/officeDocument/2006/relationships/slideLayout" Target="../slideLayouts/slideLayout7.xml"/><Relationship Id="rId12" Type="http://schemas.openxmlformats.org/officeDocument/2006/relationships/image" Target="../media/image45.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31.png"/><Relationship Id="rId5" Type="http://schemas.openxmlformats.org/officeDocument/2006/relationships/tags" Target="../tags/tag44.xml"/><Relationship Id="rId10" Type="http://schemas.openxmlformats.org/officeDocument/2006/relationships/image" Target="../media/image44.png"/><Relationship Id="rId4" Type="http://schemas.openxmlformats.org/officeDocument/2006/relationships/tags" Target="../tags/tag43.xml"/><Relationship Id="rId9" Type="http://schemas.openxmlformats.org/officeDocument/2006/relationships/image" Target="../media/image34.png"/></Relationships>
</file>

<file path=ppt/slides/_rels/slide13.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image" Target="../media/image49.png"/><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image" Target="../media/image48.png"/><Relationship Id="rId2" Type="http://schemas.openxmlformats.org/officeDocument/2006/relationships/tags" Target="../tags/tag47.xml"/><Relationship Id="rId16" Type="http://schemas.openxmlformats.org/officeDocument/2006/relationships/image" Target="../media/image51.png"/><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media/image47.png"/><Relationship Id="rId5" Type="http://schemas.openxmlformats.org/officeDocument/2006/relationships/tags" Target="../tags/tag50.xml"/><Relationship Id="rId15" Type="http://schemas.openxmlformats.org/officeDocument/2006/relationships/image" Target="../media/image20.png"/><Relationship Id="rId10" Type="http://schemas.openxmlformats.org/officeDocument/2006/relationships/image" Target="../media/image46.png"/><Relationship Id="rId4" Type="http://schemas.openxmlformats.org/officeDocument/2006/relationships/tags" Target="../tags/tag49.xml"/><Relationship Id="rId9" Type="http://schemas.openxmlformats.org/officeDocument/2006/relationships/slideLayout" Target="../slideLayouts/slideLayout7.xml"/><Relationship Id="rId14" Type="http://schemas.openxmlformats.org/officeDocument/2006/relationships/image" Target="../media/image50.png"/></Relationships>
</file>

<file path=ppt/slides/_rels/slide14.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image" Target="../media/image20.png"/><Relationship Id="rId18" Type="http://schemas.openxmlformats.org/officeDocument/2006/relationships/image" Target="../media/image56.png"/><Relationship Id="rId3" Type="http://schemas.openxmlformats.org/officeDocument/2006/relationships/tags" Target="../tags/tag56.xml"/><Relationship Id="rId21" Type="http://schemas.openxmlformats.org/officeDocument/2006/relationships/image" Target="../media/image59.png"/><Relationship Id="rId7" Type="http://schemas.openxmlformats.org/officeDocument/2006/relationships/tags" Target="../tags/tag60.xml"/><Relationship Id="rId12" Type="http://schemas.openxmlformats.org/officeDocument/2006/relationships/slideLayout" Target="../slideLayouts/slideLayout7.xml"/><Relationship Id="rId17" Type="http://schemas.openxmlformats.org/officeDocument/2006/relationships/image" Target="../media/image55.png"/><Relationship Id="rId2" Type="http://schemas.openxmlformats.org/officeDocument/2006/relationships/tags" Target="../tags/tag55.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image" Target="../media/image53.png"/><Relationship Id="rId23" Type="http://schemas.openxmlformats.org/officeDocument/2006/relationships/image" Target="../media/image61.png"/><Relationship Id="rId10" Type="http://schemas.openxmlformats.org/officeDocument/2006/relationships/tags" Target="../tags/tag63.xml"/><Relationship Id="rId19" Type="http://schemas.openxmlformats.org/officeDocument/2006/relationships/image" Target="../media/image57.png"/><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image" Target="../media/image52.png"/><Relationship Id="rId22" Type="http://schemas.openxmlformats.org/officeDocument/2006/relationships/image" Target="../media/image6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B85857A1-EF8A-8820-BD2B-0A39E0BE01AA}"/>
              </a:ext>
            </a:extLst>
          </p:cNvPr>
          <p:cNvPicPr>
            <a:picLocks noChangeAspect="1"/>
          </p:cNvPicPr>
          <p:nvPr/>
        </p:nvPicPr>
        <p:blipFill>
          <a:blip r:embed="rId3"/>
          <a:stretch>
            <a:fillRect/>
          </a:stretch>
        </p:blipFill>
        <p:spPr>
          <a:xfrm flipH="1">
            <a:off x="-36232" y="20319"/>
            <a:ext cx="24420232" cy="13695681"/>
          </a:xfrm>
          <a:prstGeom prst="rect">
            <a:avLst/>
          </a:prstGeom>
        </p:spPr>
      </p:pic>
      <p:sp>
        <p:nvSpPr>
          <p:cNvPr id="14" name="직사각형 13">
            <a:extLst>
              <a:ext uri="{FF2B5EF4-FFF2-40B4-BE49-F238E27FC236}">
                <a16:creationId xmlns:a16="http://schemas.microsoft.com/office/drawing/2014/main" id="{FA1DAF32-6580-A974-BC4C-9D845EC8210C}"/>
              </a:ext>
            </a:extLst>
          </p:cNvPr>
          <p:cNvSpPr/>
          <p:nvPr/>
        </p:nvSpPr>
        <p:spPr>
          <a:xfrm>
            <a:off x="-25400" y="2286001"/>
            <a:ext cx="16027400" cy="9570720"/>
          </a:xfrm>
          <a:prstGeom prst="rect">
            <a:avLst/>
          </a:prstGeom>
          <a:solidFill>
            <a:srgbClr val="F2F2F2">
              <a:alpha val="8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4"/>
          <p:cNvSpPr txBox="1"/>
          <p:nvPr/>
        </p:nvSpPr>
        <p:spPr>
          <a:xfrm>
            <a:off x="1371600" y="4279900"/>
            <a:ext cx="15405100" cy="4406900"/>
          </a:xfrm>
          <a:prstGeom prst="rect">
            <a:avLst/>
          </a:prstGeom>
        </p:spPr>
        <p:txBody>
          <a:bodyPr lIns="0" tIns="169333" rIns="0" bIns="0" rtlCol="0" anchor="t"/>
          <a:lstStyle/>
          <a:p>
            <a:pPr lvl="0" algn="l">
              <a:lnSpc>
                <a:spcPct val="99600"/>
              </a:lnSpc>
            </a:pPr>
            <a:r>
              <a:rPr lang="en" sz="11100" b="1" i="0" u="none" strike="noStrike" dirty="0">
                <a:solidFill>
                  <a:srgbClr val="002060"/>
                </a:solidFill>
                <a:latin typeface="Arial" panose="020B0604020202020204" pitchFamily="34" charset="0"/>
                <a:cs typeface="Arial" panose="020B0604020202020204" pitchFamily="34" charset="0"/>
              </a:rPr>
              <a:t>Inverse-Dynamics</a:t>
            </a:r>
          </a:p>
          <a:p>
            <a:pPr lvl="0" algn="l">
              <a:lnSpc>
                <a:spcPct val="99600"/>
              </a:lnSpc>
            </a:pPr>
            <a:r>
              <a:rPr lang="en" sz="11100" b="0" i="0" u="none" strike="noStrike" dirty="0">
                <a:solidFill>
                  <a:srgbClr val="002060"/>
                </a:solidFill>
                <a:latin typeface="Arial" panose="020B0604020202020204" pitchFamily="34" charset="0"/>
                <a:cs typeface="Arial" panose="020B0604020202020204" pitchFamily="34" charset="0"/>
              </a:rPr>
              <a:t>Tutorial</a:t>
            </a:r>
            <a:endParaRPr lang="en" sz="4000" i="0" u="none" strike="noStrike" dirty="0">
              <a:solidFill>
                <a:srgbClr val="002060"/>
              </a:solidFill>
              <a:latin typeface="Arial" panose="020B0604020202020204" pitchFamily="34" charset="0"/>
              <a:cs typeface="Arial" panose="020B0604020202020204" pitchFamily="34" charset="0"/>
            </a:endParaRPr>
          </a:p>
        </p:txBody>
      </p:sp>
      <p:sp>
        <p:nvSpPr>
          <p:cNvPr id="5" name="TextBox 5"/>
          <p:cNvSpPr txBox="1"/>
          <p:nvPr/>
        </p:nvSpPr>
        <p:spPr>
          <a:xfrm>
            <a:off x="1447800" y="3111500"/>
            <a:ext cx="13754100" cy="952500"/>
          </a:xfrm>
          <a:prstGeom prst="rect">
            <a:avLst/>
          </a:prstGeom>
        </p:spPr>
        <p:txBody>
          <a:bodyPr lIns="0" tIns="67733" rIns="0" bIns="0" rtlCol="0" anchor="t"/>
          <a:lstStyle/>
          <a:p>
            <a:pPr lvl="0" algn="l">
              <a:lnSpc>
                <a:spcPct val="99600"/>
              </a:lnSpc>
            </a:pPr>
            <a:r>
              <a:rPr lang="en-US" sz="5333" spc="426" dirty="0">
                <a:solidFill>
                  <a:schemeClr val="tx1">
                    <a:lumMod val="75000"/>
                    <a:lumOff val="25000"/>
                  </a:schemeClr>
                </a:solidFill>
                <a:latin typeface="Arial" panose="020B0604020202020204" pitchFamily="34" charset="0"/>
                <a:cs typeface="Arial" panose="020B0604020202020204" pitchFamily="34" charset="0"/>
              </a:rPr>
              <a:t>Week 1</a:t>
            </a:r>
            <a:endParaRPr lang="en" sz="5333" b="0" i="0" u="none" strike="noStrike" spc="426"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TextBox 6"/>
          <p:cNvSpPr txBox="1"/>
          <p:nvPr/>
        </p:nvSpPr>
        <p:spPr>
          <a:xfrm>
            <a:off x="1447800" y="8686800"/>
            <a:ext cx="13677900" cy="596900"/>
          </a:xfrm>
          <a:prstGeom prst="rect">
            <a:avLst/>
          </a:prstGeom>
        </p:spPr>
        <p:txBody>
          <a:bodyPr lIns="0" tIns="42333" rIns="0" bIns="0" rtlCol="0" anchor="t"/>
          <a:lstStyle/>
          <a:p>
            <a:pPr lvl="0" algn="l">
              <a:lnSpc>
                <a:spcPct val="99600"/>
              </a:lnSpc>
            </a:pPr>
            <a:r>
              <a:rPr lang="en-US" altLang="ko-KR" sz="3333" b="1" dirty="0" err="1">
                <a:solidFill>
                  <a:schemeClr val="tx1">
                    <a:lumMod val="75000"/>
                    <a:lumOff val="25000"/>
                  </a:schemeClr>
                </a:solidFill>
                <a:latin typeface="Arial" panose="020B0604020202020204" pitchFamily="34" charset="0"/>
                <a:cs typeface="Arial" panose="020B0604020202020204" pitchFamily="34" charset="0"/>
              </a:rPr>
              <a:t>Kangmin</a:t>
            </a:r>
            <a:r>
              <a:rPr lang="en-US" altLang="ko-KR" sz="3333" b="1" dirty="0">
                <a:solidFill>
                  <a:schemeClr val="tx1">
                    <a:lumMod val="75000"/>
                    <a:lumOff val="25000"/>
                  </a:schemeClr>
                </a:solidFill>
                <a:latin typeface="Arial" panose="020B0604020202020204" pitchFamily="34" charset="0"/>
                <a:cs typeface="Arial" panose="020B0604020202020204" pitchFamily="34" charset="0"/>
              </a:rPr>
              <a:t> Lee </a:t>
            </a:r>
          </a:p>
        </p:txBody>
      </p:sp>
      <p:sp>
        <p:nvSpPr>
          <p:cNvPr id="9" name="TextBox 9"/>
          <p:cNvSpPr txBox="1"/>
          <p:nvPr/>
        </p:nvSpPr>
        <p:spPr>
          <a:xfrm>
            <a:off x="1371600" y="9753600"/>
            <a:ext cx="13106400" cy="1607821"/>
          </a:xfrm>
          <a:prstGeom prst="rect">
            <a:avLst/>
          </a:prstGeom>
        </p:spPr>
        <p:txBody>
          <a:bodyPr rtlCol="0" anchor="t"/>
          <a:lstStyle/>
          <a:p>
            <a:pPr lvl="0">
              <a:lnSpc>
                <a:spcPct val="124499"/>
              </a:lnSpc>
            </a:pPr>
            <a:r>
              <a:rPr lang="en-US" altLang="ko-KR" sz="2400" dirty="0">
                <a:solidFill>
                  <a:schemeClr val="tx1">
                    <a:lumMod val="65000"/>
                    <a:lumOff val="35000"/>
                  </a:schemeClr>
                </a:solidFill>
              </a:rPr>
              <a:t>This tutorial covers inverse-dynamics from Operational Space Control to QP, HQP, and TSID focusing on the math, intuition, and practical design patterns behind them. Through code and simulation, you’ll learn to formulate tasks and constraints and compute constraint-satisfying torques suitable for robots.</a:t>
            </a:r>
            <a:endParaRPr lang="en" sz="2266" b="0" i="0" u="none" strike="noStrike" dirty="0">
              <a:solidFill>
                <a:schemeClr val="tx1">
                  <a:lumMod val="65000"/>
                  <a:lumOff val="35000"/>
                </a:schemeClr>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순서도: 수동 입력 16">
            <a:extLst>
              <a:ext uri="{FF2B5EF4-FFF2-40B4-BE49-F238E27FC236}">
                <a16:creationId xmlns:a16="http://schemas.microsoft.com/office/drawing/2014/main" id="{0EBE2F71-9D49-311C-14C4-C859FB7B84BC}"/>
              </a:ext>
            </a:extLst>
          </p:cNvPr>
          <p:cNvSpPr/>
          <p:nvPr/>
        </p:nvSpPr>
        <p:spPr>
          <a:xfrm rot="5400000">
            <a:off x="-550722" y="-1092048"/>
            <a:ext cx="14105939" cy="159000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14"/>
              <a:gd name="connsiteY0" fmla="*/ 5603 h 10000"/>
              <a:gd name="connsiteX1" fmla="*/ 10014 w 10014"/>
              <a:gd name="connsiteY1" fmla="*/ 0 h 10000"/>
              <a:gd name="connsiteX2" fmla="*/ 10014 w 10014"/>
              <a:gd name="connsiteY2" fmla="*/ 10000 h 10000"/>
              <a:gd name="connsiteX3" fmla="*/ 14 w 10014"/>
              <a:gd name="connsiteY3" fmla="*/ 10000 h 10000"/>
              <a:gd name="connsiteX4" fmla="*/ 0 w 10014"/>
              <a:gd name="connsiteY4" fmla="*/ 5603 h 10000"/>
              <a:gd name="connsiteX0" fmla="*/ 0 w 10028"/>
              <a:gd name="connsiteY0" fmla="*/ 8189 h 12586"/>
              <a:gd name="connsiteX1" fmla="*/ 10028 w 10028"/>
              <a:gd name="connsiteY1" fmla="*/ 0 h 12586"/>
              <a:gd name="connsiteX2" fmla="*/ 10014 w 10028"/>
              <a:gd name="connsiteY2" fmla="*/ 12586 h 12586"/>
              <a:gd name="connsiteX3" fmla="*/ 14 w 10028"/>
              <a:gd name="connsiteY3" fmla="*/ 12586 h 12586"/>
              <a:gd name="connsiteX4" fmla="*/ 0 w 10028"/>
              <a:gd name="connsiteY4" fmla="*/ 8189 h 12586"/>
              <a:gd name="connsiteX0" fmla="*/ 0 w 10015"/>
              <a:gd name="connsiteY0" fmla="*/ 9976 h 14373"/>
              <a:gd name="connsiteX1" fmla="*/ 10014 w 10015"/>
              <a:gd name="connsiteY1" fmla="*/ 0 h 14373"/>
              <a:gd name="connsiteX2" fmla="*/ 10014 w 10015"/>
              <a:gd name="connsiteY2" fmla="*/ 14373 h 14373"/>
              <a:gd name="connsiteX3" fmla="*/ 14 w 10015"/>
              <a:gd name="connsiteY3" fmla="*/ 14373 h 14373"/>
              <a:gd name="connsiteX4" fmla="*/ 0 w 10015"/>
              <a:gd name="connsiteY4" fmla="*/ 9976 h 14373"/>
              <a:gd name="connsiteX0" fmla="*/ 0 w 10015"/>
              <a:gd name="connsiteY0" fmla="*/ 6760 h 14373"/>
              <a:gd name="connsiteX1" fmla="*/ 10014 w 10015"/>
              <a:gd name="connsiteY1" fmla="*/ 0 h 14373"/>
              <a:gd name="connsiteX2" fmla="*/ 10014 w 10015"/>
              <a:gd name="connsiteY2" fmla="*/ 14373 h 14373"/>
              <a:gd name="connsiteX3" fmla="*/ 14 w 10015"/>
              <a:gd name="connsiteY3" fmla="*/ 14373 h 14373"/>
              <a:gd name="connsiteX4" fmla="*/ 0 w 10015"/>
              <a:gd name="connsiteY4" fmla="*/ 6760 h 14373"/>
              <a:gd name="connsiteX0" fmla="*/ 30 w 10002"/>
              <a:gd name="connsiteY0" fmla="*/ 5345 h 14373"/>
              <a:gd name="connsiteX1" fmla="*/ 10001 w 10002"/>
              <a:gd name="connsiteY1" fmla="*/ 0 h 14373"/>
              <a:gd name="connsiteX2" fmla="*/ 10001 w 10002"/>
              <a:gd name="connsiteY2" fmla="*/ 14373 h 14373"/>
              <a:gd name="connsiteX3" fmla="*/ 1 w 10002"/>
              <a:gd name="connsiteY3" fmla="*/ 14373 h 14373"/>
              <a:gd name="connsiteX4" fmla="*/ 30 w 10002"/>
              <a:gd name="connsiteY4" fmla="*/ 5345 h 14373"/>
              <a:gd name="connsiteX0" fmla="*/ 30 w 10015"/>
              <a:gd name="connsiteY0" fmla="*/ 7017 h 16045"/>
              <a:gd name="connsiteX1" fmla="*/ 10015 w 10015"/>
              <a:gd name="connsiteY1" fmla="*/ 0 h 16045"/>
              <a:gd name="connsiteX2" fmla="*/ 10001 w 10015"/>
              <a:gd name="connsiteY2" fmla="*/ 16045 h 16045"/>
              <a:gd name="connsiteX3" fmla="*/ 1 w 10015"/>
              <a:gd name="connsiteY3" fmla="*/ 16045 h 16045"/>
              <a:gd name="connsiteX4" fmla="*/ 30 w 10015"/>
              <a:gd name="connsiteY4" fmla="*/ 7017 h 16045"/>
              <a:gd name="connsiteX0" fmla="*/ 30 w 10002"/>
              <a:gd name="connsiteY0" fmla="*/ 7446 h 16474"/>
              <a:gd name="connsiteX1" fmla="*/ 10001 w 10002"/>
              <a:gd name="connsiteY1" fmla="*/ 0 h 16474"/>
              <a:gd name="connsiteX2" fmla="*/ 10001 w 10002"/>
              <a:gd name="connsiteY2" fmla="*/ 16474 h 16474"/>
              <a:gd name="connsiteX3" fmla="*/ 1 w 10002"/>
              <a:gd name="connsiteY3" fmla="*/ 16474 h 16474"/>
              <a:gd name="connsiteX4" fmla="*/ 30 w 10002"/>
              <a:gd name="connsiteY4" fmla="*/ 7446 h 16474"/>
              <a:gd name="connsiteX0" fmla="*/ 44 w 10002"/>
              <a:gd name="connsiteY0" fmla="*/ 8688 h 16474"/>
              <a:gd name="connsiteX1" fmla="*/ 10001 w 10002"/>
              <a:gd name="connsiteY1" fmla="*/ 0 h 16474"/>
              <a:gd name="connsiteX2" fmla="*/ 10001 w 10002"/>
              <a:gd name="connsiteY2" fmla="*/ 16474 h 16474"/>
              <a:gd name="connsiteX3" fmla="*/ 1 w 10002"/>
              <a:gd name="connsiteY3" fmla="*/ 16474 h 16474"/>
              <a:gd name="connsiteX4" fmla="*/ 44 w 10002"/>
              <a:gd name="connsiteY4" fmla="*/ 8688 h 16474"/>
              <a:gd name="connsiteX0" fmla="*/ 44 w 10002"/>
              <a:gd name="connsiteY0" fmla="*/ 11511 h 19297"/>
              <a:gd name="connsiteX1" fmla="*/ 10001 w 10002"/>
              <a:gd name="connsiteY1" fmla="*/ 0 h 19297"/>
              <a:gd name="connsiteX2" fmla="*/ 10001 w 10002"/>
              <a:gd name="connsiteY2" fmla="*/ 19297 h 19297"/>
              <a:gd name="connsiteX3" fmla="*/ 1 w 10002"/>
              <a:gd name="connsiteY3" fmla="*/ 19297 h 19297"/>
              <a:gd name="connsiteX4" fmla="*/ 44 w 10002"/>
              <a:gd name="connsiteY4" fmla="*/ 11511 h 19297"/>
              <a:gd name="connsiteX0" fmla="*/ 86 w 10002"/>
              <a:gd name="connsiteY0" fmla="*/ 12245 h 19297"/>
              <a:gd name="connsiteX1" fmla="*/ 10001 w 10002"/>
              <a:gd name="connsiteY1" fmla="*/ 0 h 19297"/>
              <a:gd name="connsiteX2" fmla="*/ 10001 w 10002"/>
              <a:gd name="connsiteY2" fmla="*/ 19297 h 19297"/>
              <a:gd name="connsiteX3" fmla="*/ 1 w 10002"/>
              <a:gd name="connsiteY3" fmla="*/ 19297 h 19297"/>
              <a:gd name="connsiteX4" fmla="*/ 86 w 10002"/>
              <a:gd name="connsiteY4" fmla="*/ 12245 h 19297"/>
              <a:gd name="connsiteX0" fmla="*/ 86 w 10001"/>
              <a:gd name="connsiteY0" fmla="*/ 13092 h 20144"/>
              <a:gd name="connsiteX1" fmla="*/ 9973 w 10001"/>
              <a:gd name="connsiteY1" fmla="*/ 0 h 20144"/>
              <a:gd name="connsiteX2" fmla="*/ 10001 w 10001"/>
              <a:gd name="connsiteY2" fmla="*/ 20144 h 20144"/>
              <a:gd name="connsiteX3" fmla="*/ 1 w 10001"/>
              <a:gd name="connsiteY3" fmla="*/ 20144 h 20144"/>
              <a:gd name="connsiteX4" fmla="*/ 86 w 10001"/>
              <a:gd name="connsiteY4" fmla="*/ 13092 h 20144"/>
              <a:gd name="connsiteX0" fmla="*/ 86 w 10001"/>
              <a:gd name="connsiteY0" fmla="*/ 13872 h 20924"/>
              <a:gd name="connsiteX1" fmla="*/ 9932 w 10001"/>
              <a:gd name="connsiteY1" fmla="*/ 0 h 20924"/>
              <a:gd name="connsiteX2" fmla="*/ 10001 w 10001"/>
              <a:gd name="connsiteY2" fmla="*/ 20924 h 20924"/>
              <a:gd name="connsiteX3" fmla="*/ 1 w 10001"/>
              <a:gd name="connsiteY3" fmla="*/ 20924 h 20924"/>
              <a:gd name="connsiteX4" fmla="*/ 86 w 10001"/>
              <a:gd name="connsiteY4" fmla="*/ 13872 h 20924"/>
              <a:gd name="connsiteX0" fmla="*/ 86 w 10001"/>
              <a:gd name="connsiteY0" fmla="*/ 14418 h 21470"/>
              <a:gd name="connsiteX1" fmla="*/ 9918 w 10001"/>
              <a:gd name="connsiteY1" fmla="*/ 0 h 21470"/>
              <a:gd name="connsiteX2" fmla="*/ 10001 w 10001"/>
              <a:gd name="connsiteY2" fmla="*/ 21470 h 21470"/>
              <a:gd name="connsiteX3" fmla="*/ 1 w 10001"/>
              <a:gd name="connsiteY3" fmla="*/ 21470 h 21470"/>
              <a:gd name="connsiteX4" fmla="*/ 86 w 10001"/>
              <a:gd name="connsiteY4" fmla="*/ 14418 h 21470"/>
              <a:gd name="connsiteX0" fmla="*/ 86 w 10001"/>
              <a:gd name="connsiteY0" fmla="*/ 14210 h 21262"/>
              <a:gd name="connsiteX1" fmla="*/ 9973 w 10001"/>
              <a:gd name="connsiteY1" fmla="*/ 0 h 21262"/>
              <a:gd name="connsiteX2" fmla="*/ 10001 w 10001"/>
              <a:gd name="connsiteY2" fmla="*/ 21262 h 21262"/>
              <a:gd name="connsiteX3" fmla="*/ 1 w 10001"/>
              <a:gd name="connsiteY3" fmla="*/ 21262 h 21262"/>
              <a:gd name="connsiteX4" fmla="*/ 86 w 10001"/>
              <a:gd name="connsiteY4" fmla="*/ 14210 h 21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21262">
                <a:moveTo>
                  <a:pt x="86" y="14210"/>
                </a:moveTo>
                <a:lnTo>
                  <a:pt x="9973" y="0"/>
                </a:lnTo>
                <a:cubicBezTo>
                  <a:pt x="9968" y="4195"/>
                  <a:pt x="10006" y="17067"/>
                  <a:pt x="10001" y="21262"/>
                </a:cubicBezTo>
                <a:lnTo>
                  <a:pt x="1" y="21262"/>
                </a:lnTo>
                <a:cubicBezTo>
                  <a:pt x="-4" y="19796"/>
                  <a:pt x="91" y="15676"/>
                  <a:pt x="86" y="14210"/>
                </a:cubicBezTo>
                <a:close/>
              </a:path>
            </a:pathLst>
          </a:custGeom>
          <a:blipFill dpi="0" rotWithShape="0">
            <a:blip r:embed="rId2"/>
            <a:srcRect/>
            <a:stretch>
              <a:fillRect l="-49701" r="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 name="Picture 2"/>
          <p:cNvPicPr>
            <a:picLocks noChangeAspect="1"/>
          </p:cNvPicPr>
          <p:nvPr/>
        </p:nvPicPr>
        <p:blipFill>
          <a:blip r:embed="rId3"/>
          <a:stretch>
            <a:fillRect/>
          </a:stretch>
        </p:blipFill>
        <p:spPr>
          <a:xfrm>
            <a:off x="10083800" y="5194300"/>
            <a:ext cx="1270000" cy="1270000"/>
          </a:xfrm>
          <a:prstGeom prst="rect">
            <a:avLst/>
          </a:prstGeom>
        </p:spPr>
      </p:pic>
      <p:pic>
        <p:nvPicPr>
          <p:cNvPr id="3" name="Picture 3"/>
          <p:cNvPicPr>
            <a:picLocks noChangeAspect="1"/>
          </p:cNvPicPr>
          <p:nvPr/>
        </p:nvPicPr>
        <p:blipFill>
          <a:blip r:embed="rId4"/>
          <a:stretch>
            <a:fillRect/>
          </a:stretch>
        </p:blipFill>
        <p:spPr>
          <a:xfrm>
            <a:off x="12877800" y="9144000"/>
            <a:ext cx="1270000" cy="1270000"/>
          </a:xfrm>
          <a:prstGeom prst="rect">
            <a:avLst/>
          </a:prstGeom>
        </p:spPr>
      </p:pic>
      <p:pic>
        <p:nvPicPr>
          <p:cNvPr id="4" name="Picture 4"/>
          <p:cNvPicPr>
            <a:picLocks noChangeAspect="1"/>
          </p:cNvPicPr>
          <p:nvPr/>
        </p:nvPicPr>
        <p:blipFill>
          <a:blip r:embed="rId5"/>
          <a:stretch>
            <a:fillRect/>
          </a:stretch>
        </p:blipFill>
        <p:spPr>
          <a:xfrm>
            <a:off x="10274300" y="5384800"/>
            <a:ext cx="889000" cy="889000"/>
          </a:xfrm>
          <a:prstGeom prst="rect">
            <a:avLst/>
          </a:prstGeom>
        </p:spPr>
      </p:pic>
      <p:pic>
        <p:nvPicPr>
          <p:cNvPr id="5" name="Picture 5"/>
          <p:cNvPicPr>
            <a:picLocks noChangeAspect="1"/>
          </p:cNvPicPr>
          <p:nvPr/>
        </p:nvPicPr>
        <p:blipFill>
          <a:blip r:embed="rId6"/>
          <a:stretch>
            <a:fillRect/>
          </a:stretch>
        </p:blipFill>
        <p:spPr>
          <a:xfrm>
            <a:off x="13068300" y="9385300"/>
            <a:ext cx="889000" cy="889000"/>
          </a:xfrm>
          <a:prstGeom prst="rect">
            <a:avLst/>
          </a:prstGeom>
        </p:spPr>
      </p:pic>
      <p:sp>
        <p:nvSpPr>
          <p:cNvPr id="8" name="TextBox 8"/>
          <p:cNvSpPr txBox="1"/>
          <p:nvPr/>
        </p:nvSpPr>
        <p:spPr>
          <a:xfrm>
            <a:off x="6864350" y="1006475"/>
            <a:ext cx="14782800" cy="1422400"/>
          </a:xfrm>
          <a:prstGeom prst="rect">
            <a:avLst/>
          </a:prstGeom>
        </p:spPr>
        <p:txBody>
          <a:bodyPr lIns="0" tIns="101600" rIns="0" bIns="0" rtlCol="0" anchor="t"/>
          <a:lstStyle/>
          <a:p>
            <a:pPr lvl="0">
              <a:lnSpc>
                <a:spcPct val="99600"/>
              </a:lnSpc>
            </a:pPr>
            <a:r>
              <a:rPr lang="en-US" altLang="ko-KR" sz="8000" dirty="0"/>
              <a:t>Why Inverse Dynamics Now?</a:t>
            </a:r>
            <a:endParaRPr lang="en" sz="8000" b="0" i="0" u="none" strike="noStrike" dirty="0">
              <a:solidFill>
                <a:srgbClr val="000000"/>
              </a:solidFill>
              <a:latin typeface="Arial" panose="020B0604020202020204" pitchFamily="34" charset="0"/>
            </a:endParaRPr>
          </a:p>
        </p:txBody>
      </p:sp>
      <p:sp>
        <p:nvSpPr>
          <p:cNvPr id="9" name="TextBox 9"/>
          <p:cNvSpPr txBox="1"/>
          <p:nvPr/>
        </p:nvSpPr>
        <p:spPr>
          <a:xfrm>
            <a:off x="7924800" y="2609850"/>
            <a:ext cx="16230600" cy="2082800"/>
          </a:xfrm>
          <a:prstGeom prst="rect">
            <a:avLst/>
          </a:prstGeom>
        </p:spPr>
        <p:txBody>
          <a:bodyPr rtlCol="0" anchor="t"/>
          <a:lstStyle/>
          <a:p>
            <a:pPr marL="342900" lvl="0" indent="-342900" algn="just">
              <a:lnSpc>
                <a:spcPct val="124499"/>
              </a:lnSpc>
              <a:buFont typeface="Arial" panose="020B0604020202020204" pitchFamily="34" charset="0"/>
              <a:buChar char="•"/>
            </a:pPr>
            <a:r>
              <a:rPr lang="ko-KR" altLang="en-US" sz="2400" dirty="0"/>
              <a:t>고자유도</a:t>
            </a:r>
            <a:r>
              <a:rPr lang="en-US" altLang="ko-KR" sz="2400" dirty="0"/>
              <a:t>·</a:t>
            </a:r>
            <a:r>
              <a:rPr lang="ko-KR" altLang="en-US" sz="2400" dirty="0"/>
              <a:t>접촉이 풍부한 시대</a:t>
            </a:r>
            <a:r>
              <a:rPr lang="en-US" altLang="ko-KR" sz="2400" dirty="0"/>
              <a:t>(</a:t>
            </a:r>
            <a:r>
              <a:rPr lang="ko-KR" altLang="en-US" sz="2400" dirty="0" err="1"/>
              <a:t>휴머노이드</a:t>
            </a:r>
            <a:r>
              <a:rPr lang="en-US" altLang="ko-KR" sz="2400" dirty="0"/>
              <a:t>, </a:t>
            </a:r>
            <a:r>
              <a:rPr lang="ko-KR" altLang="en-US" sz="2400" dirty="0"/>
              <a:t>핸드</a:t>
            </a:r>
            <a:r>
              <a:rPr lang="en-US" altLang="ko-KR" sz="2400" dirty="0"/>
              <a:t>·</a:t>
            </a:r>
            <a:r>
              <a:rPr lang="ko-KR" altLang="en-US" sz="2400" dirty="0"/>
              <a:t>암</a:t>
            </a:r>
            <a:r>
              <a:rPr lang="en-US" altLang="ko-KR" sz="2400" dirty="0"/>
              <a:t>)</a:t>
            </a:r>
            <a:r>
              <a:rPr lang="ko-KR" altLang="en-US" sz="2400" dirty="0"/>
              <a:t>에는 단순 </a:t>
            </a:r>
            <a:r>
              <a:rPr lang="en-US" altLang="ko-KR" sz="2400" dirty="0"/>
              <a:t>PD/IK</a:t>
            </a:r>
            <a:r>
              <a:rPr lang="ko-KR" altLang="en-US" sz="2400" dirty="0"/>
              <a:t>만으로는 충돌</a:t>
            </a:r>
            <a:r>
              <a:rPr lang="en-US" altLang="ko-KR" sz="2400" dirty="0"/>
              <a:t>·</a:t>
            </a:r>
            <a:r>
              <a:rPr lang="ko-KR" altLang="en-US" sz="2400" dirty="0"/>
              <a:t>제약</a:t>
            </a:r>
            <a:r>
              <a:rPr lang="en-US" altLang="ko-KR" sz="2400" dirty="0"/>
              <a:t>·</a:t>
            </a:r>
            <a:r>
              <a:rPr lang="ko-KR" altLang="en-US" sz="2400" dirty="0"/>
              <a:t>안정성 문제를 다루기 어려움</a:t>
            </a:r>
            <a:endParaRPr lang="en-US" altLang="ko-KR" sz="2400" dirty="0"/>
          </a:p>
          <a:p>
            <a:pPr marL="342900" lvl="0" indent="-342900" algn="just">
              <a:lnSpc>
                <a:spcPct val="124499"/>
              </a:lnSpc>
              <a:buFont typeface="Arial" panose="020B0604020202020204" pitchFamily="34" charset="0"/>
              <a:buChar char="•"/>
            </a:pPr>
            <a:endParaRPr lang="en-US" altLang="ko-KR" sz="2400" dirty="0"/>
          </a:p>
          <a:p>
            <a:pPr marL="342900" lvl="0" indent="-342900" algn="just">
              <a:lnSpc>
                <a:spcPct val="124499"/>
              </a:lnSpc>
              <a:buFont typeface="Arial" panose="020B0604020202020204" pitchFamily="34" charset="0"/>
              <a:buChar char="•"/>
            </a:pPr>
            <a:r>
              <a:rPr lang="ko-KR" altLang="en-US" sz="2400" dirty="0"/>
              <a:t>위치 추종 중심의 ‘운동학 </a:t>
            </a:r>
            <a:r>
              <a:rPr lang="ko-KR" altLang="en-US" sz="2400" dirty="0" err="1"/>
              <a:t>제어’에서</a:t>
            </a:r>
            <a:r>
              <a:rPr lang="ko-KR" altLang="en-US" sz="2400" dirty="0"/>
              <a:t> 벗어나</a:t>
            </a:r>
            <a:r>
              <a:rPr lang="en-US" altLang="ko-KR" sz="2400" dirty="0"/>
              <a:t>, </a:t>
            </a:r>
            <a:r>
              <a:rPr lang="ko-KR" altLang="en-US" sz="2400" dirty="0"/>
              <a:t>힘</a:t>
            </a:r>
            <a:r>
              <a:rPr lang="en-US" altLang="ko-KR" sz="2400" dirty="0"/>
              <a:t>/</a:t>
            </a:r>
            <a:r>
              <a:rPr lang="ko-KR" altLang="en-US" sz="2400" dirty="0"/>
              <a:t>토크를 직접 설계하는 ‘동역학 기반 </a:t>
            </a:r>
            <a:r>
              <a:rPr lang="ko-KR" altLang="en-US" sz="2400" dirty="0" err="1"/>
              <a:t>제어’로의</a:t>
            </a:r>
            <a:r>
              <a:rPr lang="ko-KR" altLang="en-US" sz="2400" dirty="0"/>
              <a:t> 패러다임 전환이 요구됨</a:t>
            </a:r>
            <a:endParaRPr lang="en" sz="2133" b="0" i="0" u="none" strike="noStrike" dirty="0">
              <a:solidFill>
                <a:srgbClr val="000000"/>
              </a:solidFill>
              <a:latin typeface="Arial" panose="020B0604020202020204" pitchFamily="34" charset="0"/>
            </a:endParaRPr>
          </a:p>
        </p:txBody>
      </p:sp>
      <p:sp>
        <p:nvSpPr>
          <p:cNvPr id="10" name="TextBox 10"/>
          <p:cNvSpPr txBox="1"/>
          <p:nvPr/>
        </p:nvSpPr>
        <p:spPr>
          <a:xfrm>
            <a:off x="11963400" y="5829300"/>
            <a:ext cx="11811000" cy="1600200"/>
          </a:xfrm>
          <a:prstGeom prst="rect">
            <a:avLst/>
          </a:prstGeom>
        </p:spPr>
        <p:txBody>
          <a:bodyPr rtlCol="0" anchor="t"/>
          <a:lstStyle/>
          <a:p>
            <a:pPr lvl="0" algn="just">
              <a:lnSpc>
                <a:spcPct val="124499"/>
              </a:lnSpc>
            </a:pPr>
            <a:r>
              <a:rPr lang="ko-KR" altLang="en-US" sz="2400" dirty="0"/>
              <a:t>실제 로봇은 토크</a:t>
            </a:r>
            <a:r>
              <a:rPr lang="en-US" altLang="ko-KR" sz="2400" dirty="0"/>
              <a:t>·</a:t>
            </a:r>
            <a:r>
              <a:rPr lang="ko-KR" altLang="en-US" sz="2400" dirty="0"/>
              <a:t>속도</a:t>
            </a:r>
            <a:r>
              <a:rPr lang="en-US" altLang="ko-KR" sz="2400" dirty="0"/>
              <a:t>·</a:t>
            </a:r>
            <a:r>
              <a:rPr lang="ko-KR" altLang="en-US" sz="2400" dirty="0"/>
              <a:t>가속도 제한</a:t>
            </a:r>
            <a:r>
              <a:rPr lang="en-US" altLang="ko-KR" sz="2400" dirty="0"/>
              <a:t>, </a:t>
            </a:r>
            <a:r>
              <a:rPr lang="ko-KR" altLang="en-US" sz="2400" dirty="0" err="1"/>
              <a:t>마찰원뿔</a:t>
            </a:r>
            <a:r>
              <a:rPr lang="en-US" altLang="ko-KR" sz="2400" dirty="0"/>
              <a:t>, </a:t>
            </a:r>
            <a:r>
              <a:rPr lang="ko-KR" altLang="en-US" sz="2400" dirty="0" err="1"/>
              <a:t>지면반력</a:t>
            </a:r>
            <a:r>
              <a:rPr lang="en-US" altLang="ko-KR" sz="2400" dirty="0"/>
              <a:t>, </a:t>
            </a:r>
            <a:r>
              <a:rPr lang="ko-KR" altLang="en-US" sz="2400" dirty="0"/>
              <a:t>접촉 전환 등 다양한 물리 제약을 반드시 만족해야 합니다</a:t>
            </a:r>
            <a:r>
              <a:rPr lang="en-US" altLang="ko-KR" sz="2400" dirty="0"/>
              <a:t>. </a:t>
            </a:r>
            <a:r>
              <a:rPr lang="ko-KR" altLang="en-US" sz="2400" dirty="0"/>
              <a:t>이러한 제약을 무시하면 시뮬레이션은 되더라도 실제 환경에서 미끄러짐</a:t>
            </a:r>
            <a:r>
              <a:rPr lang="en-US" altLang="ko-KR" sz="2400" dirty="0"/>
              <a:t>·</a:t>
            </a:r>
            <a:r>
              <a:rPr lang="ko-KR" altLang="en-US" sz="2400" dirty="0"/>
              <a:t>진동</a:t>
            </a:r>
            <a:r>
              <a:rPr lang="en-US" altLang="ko-KR" sz="2400" dirty="0"/>
              <a:t>·</a:t>
            </a:r>
            <a:r>
              <a:rPr lang="ko-KR" altLang="en-US" sz="2400" dirty="0"/>
              <a:t>불안정으로 실패합니다</a:t>
            </a:r>
            <a:r>
              <a:rPr lang="en-US" altLang="ko-KR" sz="2400" dirty="0"/>
              <a:t>. TSID + QP/HQP</a:t>
            </a:r>
            <a:r>
              <a:rPr lang="ko-KR" altLang="en-US" sz="2400" dirty="0"/>
              <a:t>는 제약을 수식으로 명시하고 우선순위를 부여해 안전하고 재현성 있는 동작을 보장합니다</a:t>
            </a:r>
            <a:r>
              <a:rPr lang="en-US" altLang="ko-KR" sz="2400" dirty="0"/>
              <a:t>.</a:t>
            </a:r>
            <a:endParaRPr lang="en" sz="2133" b="0" i="0" u="none" strike="noStrike" dirty="0">
              <a:solidFill>
                <a:srgbClr val="000000"/>
              </a:solidFill>
              <a:latin typeface="Arial" panose="020B0604020202020204" pitchFamily="34" charset="0"/>
            </a:endParaRPr>
          </a:p>
        </p:txBody>
      </p:sp>
      <p:sp>
        <p:nvSpPr>
          <p:cNvPr id="11" name="TextBox 11"/>
          <p:cNvSpPr txBox="1"/>
          <p:nvPr/>
        </p:nvSpPr>
        <p:spPr>
          <a:xfrm>
            <a:off x="11963400" y="5181600"/>
            <a:ext cx="8661400" cy="469900"/>
          </a:xfrm>
          <a:prstGeom prst="rect">
            <a:avLst/>
          </a:prstGeom>
        </p:spPr>
        <p:txBody>
          <a:bodyPr rtlCol="0" anchor="t"/>
          <a:lstStyle/>
          <a:p>
            <a:pPr lvl="0" algn="l">
              <a:lnSpc>
                <a:spcPct val="122008"/>
              </a:lnSpc>
            </a:pPr>
            <a:r>
              <a:rPr lang="en-US" sz="2666" b="1" i="0" u="none" strike="noStrike" dirty="0">
                <a:solidFill>
                  <a:srgbClr val="000000"/>
                </a:solidFill>
                <a:latin typeface="Arial" panose="020B0604020202020204" pitchFamily="34" charset="0"/>
                <a:cs typeface="Arial" panose="020B0604020202020204" pitchFamily="34" charset="0"/>
              </a:rPr>
              <a:t>Real-World Constraints and Requirements</a:t>
            </a:r>
            <a:endParaRPr lang="en" sz="2666" b="1" i="0" u="none" strike="noStrike" dirty="0">
              <a:solidFill>
                <a:srgbClr val="000000"/>
              </a:solidFill>
              <a:latin typeface="Arial" panose="020B0604020202020204" pitchFamily="34" charset="0"/>
              <a:cs typeface="Arial" panose="020B0604020202020204" pitchFamily="34" charset="0"/>
            </a:endParaRPr>
          </a:p>
        </p:txBody>
      </p:sp>
      <p:sp>
        <p:nvSpPr>
          <p:cNvPr id="13" name="TextBox 13"/>
          <p:cNvSpPr txBox="1"/>
          <p:nvPr/>
        </p:nvSpPr>
        <p:spPr>
          <a:xfrm>
            <a:off x="14693900" y="9791700"/>
            <a:ext cx="8877300" cy="1600200"/>
          </a:xfrm>
          <a:prstGeom prst="rect">
            <a:avLst/>
          </a:prstGeom>
        </p:spPr>
        <p:txBody>
          <a:bodyPr rtlCol="0" anchor="t"/>
          <a:lstStyle/>
          <a:p>
            <a:pPr lvl="0" algn="just">
              <a:lnSpc>
                <a:spcPct val="124499"/>
              </a:lnSpc>
            </a:pPr>
            <a:r>
              <a:rPr lang="ko-KR" altLang="en-US" sz="2400" dirty="0"/>
              <a:t>산업</a:t>
            </a:r>
            <a:r>
              <a:rPr lang="en-US" altLang="ko-KR" sz="2400" dirty="0"/>
              <a:t>·</a:t>
            </a:r>
            <a:r>
              <a:rPr lang="ko-KR" altLang="en-US" sz="2400" dirty="0"/>
              <a:t>학계에서는 </a:t>
            </a:r>
            <a:r>
              <a:rPr lang="en-US" altLang="ko-KR" sz="2400" dirty="0"/>
              <a:t>TSID/QP/HQP </a:t>
            </a:r>
            <a:r>
              <a:rPr lang="ko-KR" altLang="en-US" sz="2400" dirty="0"/>
              <a:t>계열이 사실상 실시간 제어의 표준으로 자리잡았습니다</a:t>
            </a:r>
            <a:r>
              <a:rPr lang="en-US" altLang="ko-KR" sz="2400" dirty="0"/>
              <a:t>. </a:t>
            </a:r>
            <a:r>
              <a:rPr lang="ko-KR" altLang="en-US" sz="2400" dirty="0"/>
              <a:t>그러나 이론은 난해하고 오픈소스 코드는 복잡해 입문 장벽이 높습니다</a:t>
            </a:r>
            <a:r>
              <a:rPr lang="en-US" altLang="ko-KR" sz="2400" dirty="0"/>
              <a:t>. </a:t>
            </a:r>
            <a:r>
              <a:rPr lang="ko-KR" altLang="en-US" sz="2400" dirty="0"/>
              <a:t>본 튜토리얼은 “이론 → 정식화 → </a:t>
            </a:r>
            <a:r>
              <a:rPr lang="ko-KR" altLang="en-US" sz="2400" dirty="0" err="1"/>
              <a:t>코드”를</a:t>
            </a:r>
            <a:r>
              <a:rPr lang="ko-KR" altLang="en-US" sz="2400" dirty="0"/>
              <a:t> 한 흐름으로 연결하고자 합니다</a:t>
            </a:r>
            <a:r>
              <a:rPr lang="en-US" altLang="ko-KR" sz="2400" dirty="0"/>
              <a:t>.</a:t>
            </a:r>
            <a:endParaRPr lang="en" sz="2133" b="0" i="0" u="none" strike="noStrike" dirty="0">
              <a:solidFill>
                <a:srgbClr val="000000"/>
              </a:solidFill>
              <a:latin typeface="Arial" panose="020B0604020202020204" pitchFamily="34" charset="0"/>
            </a:endParaRPr>
          </a:p>
        </p:txBody>
      </p:sp>
      <p:sp>
        <p:nvSpPr>
          <p:cNvPr id="14" name="TextBox 14"/>
          <p:cNvSpPr txBox="1"/>
          <p:nvPr/>
        </p:nvSpPr>
        <p:spPr>
          <a:xfrm>
            <a:off x="14693900" y="9144000"/>
            <a:ext cx="6870700" cy="469900"/>
          </a:xfrm>
          <a:prstGeom prst="rect">
            <a:avLst/>
          </a:prstGeom>
        </p:spPr>
        <p:txBody>
          <a:bodyPr rtlCol="0" anchor="t"/>
          <a:lstStyle/>
          <a:p>
            <a:pPr lvl="0" algn="l">
              <a:lnSpc>
                <a:spcPct val="122008"/>
              </a:lnSpc>
            </a:pPr>
            <a:r>
              <a:rPr lang="en-US" sz="2666" b="1" i="0" u="none" strike="noStrike" dirty="0">
                <a:solidFill>
                  <a:srgbClr val="000000"/>
                </a:solidFill>
                <a:latin typeface="Arial" panose="020B0604020202020204" pitchFamily="34" charset="0"/>
                <a:cs typeface="Arial" panose="020B0604020202020204" pitchFamily="34" charset="0"/>
              </a:rPr>
              <a:t>Current Trends and Educational Gap</a:t>
            </a:r>
            <a:endParaRPr lang="en" sz="2666" b="1" i="0" u="none" strike="noStrike" dirty="0">
              <a:solidFill>
                <a:srgbClr val="000000"/>
              </a:solidFill>
              <a:latin typeface="Arial" panose="020B0604020202020204" pitchFamily="34" charset="0"/>
              <a:cs typeface="Arial" panose="020B0604020202020204" pitchFamily="34" charset="0"/>
            </a:endParaRPr>
          </a:p>
        </p:txBody>
      </p:sp>
      <p:sp>
        <p:nvSpPr>
          <p:cNvPr id="18" name="직각 삼각형 17">
            <a:extLst>
              <a:ext uri="{FF2B5EF4-FFF2-40B4-BE49-F238E27FC236}">
                <a16:creationId xmlns:a16="http://schemas.microsoft.com/office/drawing/2014/main" id="{517824DC-4923-1D00-9E28-EC03927709B2}"/>
              </a:ext>
            </a:extLst>
          </p:cNvPr>
          <p:cNvSpPr/>
          <p:nvPr/>
        </p:nvSpPr>
        <p:spPr>
          <a:xfrm>
            <a:off x="-190500" y="9393406"/>
            <a:ext cx="3746195" cy="49403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0469-7ECC-A1E0-CAE7-7B1DAF92EE26}"/>
            </a:ext>
          </a:extLst>
        </p:cNvPr>
        <p:cNvGrpSpPr/>
        <p:nvPr/>
      </p:nvGrpSpPr>
      <p:grpSpPr>
        <a:xfrm>
          <a:off x="0" y="0"/>
          <a:ext cx="0" cy="0"/>
          <a:chOff x="0" y="0"/>
          <a:chExt cx="0" cy="0"/>
        </a:xfrm>
      </p:grpSpPr>
      <p:sp>
        <p:nvSpPr>
          <p:cNvPr id="12" name="순서도: 수동 입력 16">
            <a:extLst>
              <a:ext uri="{FF2B5EF4-FFF2-40B4-BE49-F238E27FC236}">
                <a16:creationId xmlns:a16="http://schemas.microsoft.com/office/drawing/2014/main" id="{16346980-843A-73EC-30AB-05AF669F2325}"/>
              </a:ext>
            </a:extLst>
          </p:cNvPr>
          <p:cNvSpPr/>
          <p:nvPr/>
        </p:nvSpPr>
        <p:spPr>
          <a:xfrm rot="5400000">
            <a:off x="-550722" y="-1092048"/>
            <a:ext cx="14105939" cy="159000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14"/>
              <a:gd name="connsiteY0" fmla="*/ 5603 h 10000"/>
              <a:gd name="connsiteX1" fmla="*/ 10014 w 10014"/>
              <a:gd name="connsiteY1" fmla="*/ 0 h 10000"/>
              <a:gd name="connsiteX2" fmla="*/ 10014 w 10014"/>
              <a:gd name="connsiteY2" fmla="*/ 10000 h 10000"/>
              <a:gd name="connsiteX3" fmla="*/ 14 w 10014"/>
              <a:gd name="connsiteY3" fmla="*/ 10000 h 10000"/>
              <a:gd name="connsiteX4" fmla="*/ 0 w 10014"/>
              <a:gd name="connsiteY4" fmla="*/ 5603 h 10000"/>
              <a:gd name="connsiteX0" fmla="*/ 0 w 10028"/>
              <a:gd name="connsiteY0" fmla="*/ 8189 h 12586"/>
              <a:gd name="connsiteX1" fmla="*/ 10028 w 10028"/>
              <a:gd name="connsiteY1" fmla="*/ 0 h 12586"/>
              <a:gd name="connsiteX2" fmla="*/ 10014 w 10028"/>
              <a:gd name="connsiteY2" fmla="*/ 12586 h 12586"/>
              <a:gd name="connsiteX3" fmla="*/ 14 w 10028"/>
              <a:gd name="connsiteY3" fmla="*/ 12586 h 12586"/>
              <a:gd name="connsiteX4" fmla="*/ 0 w 10028"/>
              <a:gd name="connsiteY4" fmla="*/ 8189 h 12586"/>
              <a:gd name="connsiteX0" fmla="*/ 0 w 10015"/>
              <a:gd name="connsiteY0" fmla="*/ 9976 h 14373"/>
              <a:gd name="connsiteX1" fmla="*/ 10014 w 10015"/>
              <a:gd name="connsiteY1" fmla="*/ 0 h 14373"/>
              <a:gd name="connsiteX2" fmla="*/ 10014 w 10015"/>
              <a:gd name="connsiteY2" fmla="*/ 14373 h 14373"/>
              <a:gd name="connsiteX3" fmla="*/ 14 w 10015"/>
              <a:gd name="connsiteY3" fmla="*/ 14373 h 14373"/>
              <a:gd name="connsiteX4" fmla="*/ 0 w 10015"/>
              <a:gd name="connsiteY4" fmla="*/ 9976 h 14373"/>
              <a:gd name="connsiteX0" fmla="*/ 0 w 10015"/>
              <a:gd name="connsiteY0" fmla="*/ 6760 h 14373"/>
              <a:gd name="connsiteX1" fmla="*/ 10014 w 10015"/>
              <a:gd name="connsiteY1" fmla="*/ 0 h 14373"/>
              <a:gd name="connsiteX2" fmla="*/ 10014 w 10015"/>
              <a:gd name="connsiteY2" fmla="*/ 14373 h 14373"/>
              <a:gd name="connsiteX3" fmla="*/ 14 w 10015"/>
              <a:gd name="connsiteY3" fmla="*/ 14373 h 14373"/>
              <a:gd name="connsiteX4" fmla="*/ 0 w 10015"/>
              <a:gd name="connsiteY4" fmla="*/ 6760 h 14373"/>
              <a:gd name="connsiteX0" fmla="*/ 30 w 10002"/>
              <a:gd name="connsiteY0" fmla="*/ 5345 h 14373"/>
              <a:gd name="connsiteX1" fmla="*/ 10001 w 10002"/>
              <a:gd name="connsiteY1" fmla="*/ 0 h 14373"/>
              <a:gd name="connsiteX2" fmla="*/ 10001 w 10002"/>
              <a:gd name="connsiteY2" fmla="*/ 14373 h 14373"/>
              <a:gd name="connsiteX3" fmla="*/ 1 w 10002"/>
              <a:gd name="connsiteY3" fmla="*/ 14373 h 14373"/>
              <a:gd name="connsiteX4" fmla="*/ 30 w 10002"/>
              <a:gd name="connsiteY4" fmla="*/ 5345 h 14373"/>
              <a:gd name="connsiteX0" fmla="*/ 30 w 10015"/>
              <a:gd name="connsiteY0" fmla="*/ 7017 h 16045"/>
              <a:gd name="connsiteX1" fmla="*/ 10015 w 10015"/>
              <a:gd name="connsiteY1" fmla="*/ 0 h 16045"/>
              <a:gd name="connsiteX2" fmla="*/ 10001 w 10015"/>
              <a:gd name="connsiteY2" fmla="*/ 16045 h 16045"/>
              <a:gd name="connsiteX3" fmla="*/ 1 w 10015"/>
              <a:gd name="connsiteY3" fmla="*/ 16045 h 16045"/>
              <a:gd name="connsiteX4" fmla="*/ 30 w 10015"/>
              <a:gd name="connsiteY4" fmla="*/ 7017 h 16045"/>
              <a:gd name="connsiteX0" fmla="*/ 30 w 10002"/>
              <a:gd name="connsiteY0" fmla="*/ 7446 h 16474"/>
              <a:gd name="connsiteX1" fmla="*/ 10001 w 10002"/>
              <a:gd name="connsiteY1" fmla="*/ 0 h 16474"/>
              <a:gd name="connsiteX2" fmla="*/ 10001 w 10002"/>
              <a:gd name="connsiteY2" fmla="*/ 16474 h 16474"/>
              <a:gd name="connsiteX3" fmla="*/ 1 w 10002"/>
              <a:gd name="connsiteY3" fmla="*/ 16474 h 16474"/>
              <a:gd name="connsiteX4" fmla="*/ 30 w 10002"/>
              <a:gd name="connsiteY4" fmla="*/ 7446 h 16474"/>
              <a:gd name="connsiteX0" fmla="*/ 44 w 10002"/>
              <a:gd name="connsiteY0" fmla="*/ 8688 h 16474"/>
              <a:gd name="connsiteX1" fmla="*/ 10001 w 10002"/>
              <a:gd name="connsiteY1" fmla="*/ 0 h 16474"/>
              <a:gd name="connsiteX2" fmla="*/ 10001 w 10002"/>
              <a:gd name="connsiteY2" fmla="*/ 16474 h 16474"/>
              <a:gd name="connsiteX3" fmla="*/ 1 w 10002"/>
              <a:gd name="connsiteY3" fmla="*/ 16474 h 16474"/>
              <a:gd name="connsiteX4" fmla="*/ 44 w 10002"/>
              <a:gd name="connsiteY4" fmla="*/ 8688 h 16474"/>
              <a:gd name="connsiteX0" fmla="*/ 44 w 10002"/>
              <a:gd name="connsiteY0" fmla="*/ 11511 h 19297"/>
              <a:gd name="connsiteX1" fmla="*/ 10001 w 10002"/>
              <a:gd name="connsiteY1" fmla="*/ 0 h 19297"/>
              <a:gd name="connsiteX2" fmla="*/ 10001 w 10002"/>
              <a:gd name="connsiteY2" fmla="*/ 19297 h 19297"/>
              <a:gd name="connsiteX3" fmla="*/ 1 w 10002"/>
              <a:gd name="connsiteY3" fmla="*/ 19297 h 19297"/>
              <a:gd name="connsiteX4" fmla="*/ 44 w 10002"/>
              <a:gd name="connsiteY4" fmla="*/ 11511 h 19297"/>
              <a:gd name="connsiteX0" fmla="*/ 86 w 10002"/>
              <a:gd name="connsiteY0" fmla="*/ 12245 h 19297"/>
              <a:gd name="connsiteX1" fmla="*/ 10001 w 10002"/>
              <a:gd name="connsiteY1" fmla="*/ 0 h 19297"/>
              <a:gd name="connsiteX2" fmla="*/ 10001 w 10002"/>
              <a:gd name="connsiteY2" fmla="*/ 19297 h 19297"/>
              <a:gd name="connsiteX3" fmla="*/ 1 w 10002"/>
              <a:gd name="connsiteY3" fmla="*/ 19297 h 19297"/>
              <a:gd name="connsiteX4" fmla="*/ 86 w 10002"/>
              <a:gd name="connsiteY4" fmla="*/ 12245 h 19297"/>
              <a:gd name="connsiteX0" fmla="*/ 86 w 10001"/>
              <a:gd name="connsiteY0" fmla="*/ 13092 h 20144"/>
              <a:gd name="connsiteX1" fmla="*/ 9973 w 10001"/>
              <a:gd name="connsiteY1" fmla="*/ 0 h 20144"/>
              <a:gd name="connsiteX2" fmla="*/ 10001 w 10001"/>
              <a:gd name="connsiteY2" fmla="*/ 20144 h 20144"/>
              <a:gd name="connsiteX3" fmla="*/ 1 w 10001"/>
              <a:gd name="connsiteY3" fmla="*/ 20144 h 20144"/>
              <a:gd name="connsiteX4" fmla="*/ 86 w 10001"/>
              <a:gd name="connsiteY4" fmla="*/ 13092 h 20144"/>
              <a:gd name="connsiteX0" fmla="*/ 86 w 10001"/>
              <a:gd name="connsiteY0" fmla="*/ 13872 h 20924"/>
              <a:gd name="connsiteX1" fmla="*/ 9932 w 10001"/>
              <a:gd name="connsiteY1" fmla="*/ 0 h 20924"/>
              <a:gd name="connsiteX2" fmla="*/ 10001 w 10001"/>
              <a:gd name="connsiteY2" fmla="*/ 20924 h 20924"/>
              <a:gd name="connsiteX3" fmla="*/ 1 w 10001"/>
              <a:gd name="connsiteY3" fmla="*/ 20924 h 20924"/>
              <a:gd name="connsiteX4" fmla="*/ 86 w 10001"/>
              <a:gd name="connsiteY4" fmla="*/ 13872 h 20924"/>
              <a:gd name="connsiteX0" fmla="*/ 86 w 10001"/>
              <a:gd name="connsiteY0" fmla="*/ 14418 h 21470"/>
              <a:gd name="connsiteX1" fmla="*/ 9918 w 10001"/>
              <a:gd name="connsiteY1" fmla="*/ 0 h 21470"/>
              <a:gd name="connsiteX2" fmla="*/ 10001 w 10001"/>
              <a:gd name="connsiteY2" fmla="*/ 21470 h 21470"/>
              <a:gd name="connsiteX3" fmla="*/ 1 w 10001"/>
              <a:gd name="connsiteY3" fmla="*/ 21470 h 21470"/>
              <a:gd name="connsiteX4" fmla="*/ 86 w 10001"/>
              <a:gd name="connsiteY4" fmla="*/ 14418 h 21470"/>
              <a:gd name="connsiteX0" fmla="*/ 86 w 10001"/>
              <a:gd name="connsiteY0" fmla="*/ 14210 h 21262"/>
              <a:gd name="connsiteX1" fmla="*/ 9973 w 10001"/>
              <a:gd name="connsiteY1" fmla="*/ 0 h 21262"/>
              <a:gd name="connsiteX2" fmla="*/ 10001 w 10001"/>
              <a:gd name="connsiteY2" fmla="*/ 21262 h 21262"/>
              <a:gd name="connsiteX3" fmla="*/ 1 w 10001"/>
              <a:gd name="connsiteY3" fmla="*/ 21262 h 21262"/>
              <a:gd name="connsiteX4" fmla="*/ 86 w 10001"/>
              <a:gd name="connsiteY4" fmla="*/ 14210 h 21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21262">
                <a:moveTo>
                  <a:pt x="86" y="14210"/>
                </a:moveTo>
                <a:lnTo>
                  <a:pt x="9973" y="0"/>
                </a:lnTo>
                <a:cubicBezTo>
                  <a:pt x="9968" y="4195"/>
                  <a:pt x="10006" y="17067"/>
                  <a:pt x="10001" y="21262"/>
                </a:cubicBezTo>
                <a:lnTo>
                  <a:pt x="1" y="21262"/>
                </a:lnTo>
                <a:cubicBezTo>
                  <a:pt x="-4" y="19796"/>
                  <a:pt x="91" y="15676"/>
                  <a:pt x="86" y="14210"/>
                </a:cubicBezTo>
                <a:close/>
              </a:path>
            </a:pathLst>
          </a:custGeom>
          <a:blipFill dpi="0" rotWithShape="0">
            <a:blip r:embed="rId2"/>
            <a:srcRect/>
            <a:stretch>
              <a:fillRect l="-49701" r="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 name="Picture 2">
            <a:extLst>
              <a:ext uri="{FF2B5EF4-FFF2-40B4-BE49-F238E27FC236}">
                <a16:creationId xmlns:a16="http://schemas.microsoft.com/office/drawing/2014/main" id="{62598A65-129F-AE0F-E078-D476CDDF48DE}"/>
              </a:ext>
            </a:extLst>
          </p:cNvPr>
          <p:cNvPicPr>
            <a:picLocks noChangeAspect="1"/>
          </p:cNvPicPr>
          <p:nvPr/>
        </p:nvPicPr>
        <p:blipFill>
          <a:blip r:embed="rId3"/>
          <a:stretch>
            <a:fillRect/>
          </a:stretch>
        </p:blipFill>
        <p:spPr>
          <a:xfrm>
            <a:off x="10083800" y="5194300"/>
            <a:ext cx="1270000" cy="1270000"/>
          </a:xfrm>
          <a:prstGeom prst="rect">
            <a:avLst/>
          </a:prstGeom>
        </p:spPr>
      </p:pic>
      <p:pic>
        <p:nvPicPr>
          <p:cNvPr id="3" name="Picture 3">
            <a:extLst>
              <a:ext uri="{FF2B5EF4-FFF2-40B4-BE49-F238E27FC236}">
                <a16:creationId xmlns:a16="http://schemas.microsoft.com/office/drawing/2014/main" id="{DDD6D13E-2B46-CB8E-6CA5-8D264951F9D5}"/>
              </a:ext>
            </a:extLst>
          </p:cNvPr>
          <p:cNvPicPr>
            <a:picLocks noChangeAspect="1"/>
          </p:cNvPicPr>
          <p:nvPr/>
        </p:nvPicPr>
        <p:blipFill>
          <a:blip r:embed="rId4"/>
          <a:stretch>
            <a:fillRect/>
          </a:stretch>
        </p:blipFill>
        <p:spPr>
          <a:xfrm>
            <a:off x="12877800" y="9144000"/>
            <a:ext cx="1270000" cy="1270000"/>
          </a:xfrm>
          <a:prstGeom prst="rect">
            <a:avLst/>
          </a:prstGeom>
        </p:spPr>
      </p:pic>
      <p:pic>
        <p:nvPicPr>
          <p:cNvPr id="4" name="Picture 4">
            <a:extLst>
              <a:ext uri="{FF2B5EF4-FFF2-40B4-BE49-F238E27FC236}">
                <a16:creationId xmlns:a16="http://schemas.microsoft.com/office/drawing/2014/main" id="{C294FE73-A990-61B4-7760-4897C405D1BA}"/>
              </a:ext>
            </a:extLst>
          </p:cNvPr>
          <p:cNvPicPr>
            <a:picLocks noChangeAspect="1"/>
          </p:cNvPicPr>
          <p:nvPr/>
        </p:nvPicPr>
        <p:blipFill>
          <a:blip r:embed="rId5"/>
          <a:stretch>
            <a:fillRect/>
          </a:stretch>
        </p:blipFill>
        <p:spPr>
          <a:xfrm>
            <a:off x="10274300" y="5384800"/>
            <a:ext cx="889000" cy="889000"/>
          </a:xfrm>
          <a:prstGeom prst="rect">
            <a:avLst/>
          </a:prstGeom>
        </p:spPr>
      </p:pic>
      <p:pic>
        <p:nvPicPr>
          <p:cNvPr id="5" name="Picture 5">
            <a:extLst>
              <a:ext uri="{FF2B5EF4-FFF2-40B4-BE49-F238E27FC236}">
                <a16:creationId xmlns:a16="http://schemas.microsoft.com/office/drawing/2014/main" id="{0237137B-359A-DF5A-62AF-3658B8DFD437}"/>
              </a:ext>
            </a:extLst>
          </p:cNvPr>
          <p:cNvPicPr>
            <a:picLocks noChangeAspect="1"/>
          </p:cNvPicPr>
          <p:nvPr/>
        </p:nvPicPr>
        <p:blipFill>
          <a:blip r:embed="rId6"/>
          <a:stretch>
            <a:fillRect/>
          </a:stretch>
        </p:blipFill>
        <p:spPr>
          <a:xfrm>
            <a:off x="13068300" y="9385300"/>
            <a:ext cx="889000" cy="889000"/>
          </a:xfrm>
          <a:prstGeom prst="rect">
            <a:avLst/>
          </a:prstGeom>
        </p:spPr>
      </p:pic>
      <p:sp>
        <p:nvSpPr>
          <p:cNvPr id="8" name="TextBox 8">
            <a:extLst>
              <a:ext uri="{FF2B5EF4-FFF2-40B4-BE49-F238E27FC236}">
                <a16:creationId xmlns:a16="http://schemas.microsoft.com/office/drawing/2014/main" id="{632665F5-1247-F0E8-859C-067F3B4FF9CC}"/>
              </a:ext>
            </a:extLst>
          </p:cNvPr>
          <p:cNvSpPr txBox="1"/>
          <p:nvPr/>
        </p:nvSpPr>
        <p:spPr>
          <a:xfrm>
            <a:off x="6864350" y="1006475"/>
            <a:ext cx="14782800" cy="1422400"/>
          </a:xfrm>
          <a:prstGeom prst="rect">
            <a:avLst/>
          </a:prstGeom>
        </p:spPr>
        <p:txBody>
          <a:bodyPr lIns="0" tIns="101600" rIns="0" bIns="0" rtlCol="0" anchor="t"/>
          <a:lstStyle/>
          <a:p>
            <a:pPr lvl="0">
              <a:lnSpc>
                <a:spcPct val="99600"/>
              </a:lnSpc>
            </a:pPr>
            <a:r>
              <a:rPr lang="en-US" altLang="ko-KR" sz="8000" dirty="0"/>
              <a:t>Tutorial Objectives</a:t>
            </a:r>
            <a:endParaRPr lang="en" sz="8000" b="0" i="0" u="none" strike="noStrike" dirty="0">
              <a:solidFill>
                <a:srgbClr val="000000"/>
              </a:solidFill>
              <a:latin typeface="Arial" panose="020B0604020202020204" pitchFamily="34" charset="0"/>
            </a:endParaRPr>
          </a:p>
        </p:txBody>
      </p:sp>
      <p:sp>
        <p:nvSpPr>
          <p:cNvPr id="9" name="TextBox 9">
            <a:extLst>
              <a:ext uri="{FF2B5EF4-FFF2-40B4-BE49-F238E27FC236}">
                <a16:creationId xmlns:a16="http://schemas.microsoft.com/office/drawing/2014/main" id="{953E93DA-7714-8CEB-76A5-3922514C95FB}"/>
              </a:ext>
            </a:extLst>
          </p:cNvPr>
          <p:cNvSpPr txBox="1"/>
          <p:nvPr/>
        </p:nvSpPr>
        <p:spPr>
          <a:xfrm>
            <a:off x="7924800" y="2609850"/>
            <a:ext cx="16230600" cy="2082800"/>
          </a:xfrm>
          <a:prstGeom prst="rect">
            <a:avLst/>
          </a:prstGeom>
        </p:spPr>
        <p:txBody>
          <a:bodyPr rtlCol="0" anchor="t"/>
          <a:lstStyle/>
          <a:p>
            <a:pPr marL="342900" lvl="0" indent="-342900" algn="just">
              <a:lnSpc>
                <a:spcPct val="124499"/>
              </a:lnSpc>
              <a:buFont typeface="Arial" panose="020B0604020202020204" pitchFamily="34" charset="0"/>
              <a:buChar char="•"/>
            </a:pPr>
            <a:r>
              <a:rPr lang="ko-KR" altLang="en-US" sz="2400" dirty="0"/>
              <a:t>태스크</a:t>
            </a:r>
            <a:r>
              <a:rPr lang="en-US" altLang="ko-KR" sz="2400" dirty="0"/>
              <a:t>·</a:t>
            </a:r>
            <a:r>
              <a:rPr lang="ko-KR" altLang="en-US" sz="2400" dirty="0"/>
              <a:t>제약을 수식으로 정식화하고</a:t>
            </a:r>
            <a:r>
              <a:rPr lang="en-US" altLang="ko-KR" sz="2400" dirty="0"/>
              <a:t>, OSC→TSID → QP→HQP </a:t>
            </a:r>
            <a:r>
              <a:rPr lang="ko-KR" altLang="en-US" sz="2400" dirty="0"/>
              <a:t>흐름으로 </a:t>
            </a:r>
            <a:r>
              <a:rPr lang="ko-KR" altLang="en-US" sz="2400" b="1" dirty="0"/>
              <a:t>제약을 만족하는 토크</a:t>
            </a:r>
            <a:r>
              <a:rPr lang="ko-KR" altLang="en-US" sz="2400" dirty="0"/>
              <a:t>를 계산할 수 있게 한다</a:t>
            </a:r>
            <a:endParaRPr lang="en-US" altLang="ko-KR" sz="2400" dirty="0"/>
          </a:p>
          <a:p>
            <a:pPr marL="342900" lvl="0" indent="-342900" algn="just">
              <a:lnSpc>
                <a:spcPct val="124499"/>
              </a:lnSpc>
              <a:buFont typeface="Arial" panose="020B0604020202020204" pitchFamily="34" charset="0"/>
              <a:buChar char="•"/>
            </a:pPr>
            <a:endParaRPr lang="en-US" sz="2400" b="0" i="0" u="none" strike="noStrike" dirty="0">
              <a:solidFill>
                <a:srgbClr val="000000"/>
              </a:solidFill>
              <a:latin typeface="Arial" panose="020B0604020202020204" pitchFamily="34" charset="0"/>
            </a:endParaRPr>
          </a:p>
          <a:p>
            <a:pPr marL="342900" lvl="0" indent="-342900" algn="just">
              <a:lnSpc>
                <a:spcPct val="124499"/>
              </a:lnSpc>
              <a:buFont typeface="Arial" panose="020B0604020202020204" pitchFamily="34" charset="0"/>
              <a:buChar char="•"/>
            </a:pPr>
            <a:r>
              <a:rPr lang="ko-KR" altLang="en-US" sz="2400" dirty="0"/>
              <a:t>간단한 파이썬 코드를 통해 데모를 </a:t>
            </a:r>
            <a:r>
              <a:rPr lang="ko-KR" altLang="en-US" sz="2400" b="1" dirty="0"/>
              <a:t>직접 구현하고 평가</a:t>
            </a:r>
            <a:r>
              <a:rPr lang="ko-KR" altLang="en-US" sz="2400" dirty="0"/>
              <a:t>할 수 있게 한다</a:t>
            </a:r>
            <a:endParaRPr lang="en" sz="2133" b="0" i="0" u="none" strike="noStrike" dirty="0">
              <a:solidFill>
                <a:srgbClr val="000000"/>
              </a:solidFill>
              <a:latin typeface="Arial" panose="020B0604020202020204" pitchFamily="34" charset="0"/>
            </a:endParaRPr>
          </a:p>
        </p:txBody>
      </p:sp>
      <p:sp>
        <p:nvSpPr>
          <p:cNvPr id="10" name="TextBox 10">
            <a:extLst>
              <a:ext uri="{FF2B5EF4-FFF2-40B4-BE49-F238E27FC236}">
                <a16:creationId xmlns:a16="http://schemas.microsoft.com/office/drawing/2014/main" id="{F1B9A5C1-4DC6-10D6-9FC7-E84638B2BF83}"/>
              </a:ext>
            </a:extLst>
          </p:cNvPr>
          <p:cNvSpPr txBox="1"/>
          <p:nvPr/>
        </p:nvSpPr>
        <p:spPr>
          <a:xfrm>
            <a:off x="11963400" y="5829300"/>
            <a:ext cx="11811000" cy="1930400"/>
          </a:xfrm>
          <a:prstGeom prst="rect">
            <a:avLst/>
          </a:prstGeom>
        </p:spPr>
        <p:txBody>
          <a:bodyPr rtlCol="0" anchor="t"/>
          <a:lstStyle/>
          <a:p>
            <a:pPr lvl="0" algn="just">
              <a:lnSpc>
                <a:spcPct val="124499"/>
              </a:lnSpc>
            </a:pPr>
            <a:r>
              <a:rPr lang="ko-KR" altLang="en-US" sz="2400" dirty="0"/>
              <a:t>수강 후에는 </a:t>
            </a:r>
            <a:r>
              <a:rPr lang="en-US" altLang="ko-KR" sz="2400" dirty="0"/>
              <a:t>Acceleration </a:t>
            </a:r>
            <a:r>
              <a:rPr lang="ko-KR" altLang="en-US" sz="2400" dirty="0"/>
              <a:t>레벨과 </a:t>
            </a:r>
            <a:r>
              <a:rPr lang="en-US" altLang="ko-KR" sz="2400" dirty="0"/>
              <a:t>Torque </a:t>
            </a:r>
            <a:r>
              <a:rPr lang="ko-KR" altLang="en-US" sz="2400" dirty="0"/>
              <a:t>레벨의 선택 기준을 이해하고</a:t>
            </a:r>
            <a:r>
              <a:rPr lang="en-US" altLang="ko-KR" sz="2400" dirty="0"/>
              <a:t>, </a:t>
            </a:r>
            <a:r>
              <a:rPr lang="ko-KR" altLang="en-US" sz="2400" dirty="0"/>
              <a:t>제약을 포함한 </a:t>
            </a:r>
            <a:r>
              <a:rPr lang="en-US" altLang="ko-KR" sz="2400" dirty="0"/>
              <a:t>TSID/QP/HQP</a:t>
            </a:r>
            <a:r>
              <a:rPr lang="ko-KR" altLang="en-US" sz="2400" dirty="0"/>
              <a:t>를 스스로 설계할 수 있다</a:t>
            </a:r>
            <a:r>
              <a:rPr lang="en-US" altLang="ko-KR" sz="2400" dirty="0"/>
              <a:t>.</a:t>
            </a:r>
            <a:endParaRPr lang="en" sz="2133" b="0" i="0" u="none" strike="noStrike" dirty="0">
              <a:solidFill>
                <a:srgbClr val="000000"/>
              </a:solidFill>
              <a:latin typeface="Arial" panose="020B0604020202020204" pitchFamily="34" charset="0"/>
            </a:endParaRPr>
          </a:p>
        </p:txBody>
      </p:sp>
      <p:sp>
        <p:nvSpPr>
          <p:cNvPr id="11" name="TextBox 11">
            <a:extLst>
              <a:ext uri="{FF2B5EF4-FFF2-40B4-BE49-F238E27FC236}">
                <a16:creationId xmlns:a16="http://schemas.microsoft.com/office/drawing/2014/main" id="{52C66636-5F96-A5DD-EDCF-0524A0B9E59D}"/>
              </a:ext>
            </a:extLst>
          </p:cNvPr>
          <p:cNvSpPr txBox="1"/>
          <p:nvPr/>
        </p:nvSpPr>
        <p:spPr>
          <a:xfrm>
            <a:off x="11963400" y="5181600"/>
            <a:ext cx="8661400" cy="469900"/>
          </a:xfrm>
          <a:prstGeom prst="rect">
            <a:avLst/>
          </a:prstGeom>
        </p:spPr>
        <p:txBody>
          <a:bodyPr rtlCol="0" anchor="t"/>
          <a:lstStyle/>
          <a:p>
            <a:pPr lvl="0" algn="l">
              <a:lnSpc>
                <a:spcPct val="122008"/>
              </a:lnSpc>
            </a:pPr>
            <a:r>
              <a:rPr lang="en-US" sz="2666" b="1" i="0" u="none" strike="noStrike" dirty="0">
                <a:solidFill>
                  <a:srgbClr val="000000"/>
                </a:solidFill>
                <a:latin typeface="Arial" panose="020B0604020202020204" pitchFamily="34" charset="0"/>
                <a:cs typeface="Arial" panose="020B0604020202020204" pitchFamily="34" charset="0"/>
              </a:rPr>
              <a:t>Learning Outcomes</a:t>
            </a:r>
            <a:endParaRPr lang="en" sz="2666" b="1" i="0" u="none" strike="noStrike" dirty="0">
              <a:solidFill>
                <a:srgbClr val="000000"/>
              </a:solidFill>
              <a:latin typeface="Arial" panose="020B0604020202020204" pitchFamily="34" charset="0"/>
              <a:cs typeface="Arial" panose="020B0604020202020204" pitchFamily="34" charset="0"/>
            </a:endParaRPr>
          </a:p>
        </p:txBody>
      </p:sp>
      <p:sp>
        <p:nvSpPr>
          <p:cNvPr id="13" name="TextBox 13">
            <a:extLst>
              <a:ext uri="{FF2B5EF4-FFF2-40B4-BE49-F238E27FC236}">
                <a16:creationId xmlns:a16="http://schemas.microsoft.com/office/drawing/2014/main" id="{DAC9877D-5E76-6A6C-6CCE-16A6BEB43F3E}"/>
              </a:ext>
            </a:extLst>
          </p:cNvPr>
          <p:cNvSpPr txBox="1"/>
          <p:nvPr/>
        </p:nvSpPr>
        <p:spPr>
          <a:xfrm>
            <a:off x="14693900" y="9791699"/>
            <a:ext cx="8877300" cy="2917825"/>
          </a:xfrm>
          <a:prstGeom prst="rect">
            <a:avLst/>
          </a:prstGeom>
        </p:spPr>
        <p:txBody>
          <a:bodyPr rtlCol="0" anchor="t"/>
          <a:lstStyle/>
          <a:p>
            <a:pPr lvl="0" algn="just">
              <a:lnSpc>
                <a:spcPct val="124499"/>
              </a:lnSpc>
            </a:pPr>
            <a:r>
              <a:rPr lang="ko-KR" altLang="en-US" sz="2400" dirty="0"/>
              <a:t>초반 주차에는 이론과 유도 과정을 깊게 다루며</a:t>
            </a:r>
            <a:r>
              <a:rPr lang="en-US" altLang="ko-KR" sz="2400" dirty="0"/>
              <a:t>, </a:t>
            </a:r>
            <a:r>
              <a:rPr lang="ko-KR" altLang="en-US" sz="2400" dirty="0"/>
              <a:t>마지막 주차에 코드 및 실습을 진행할 계획</a:t>
            </a:r>
            <a:r>
              <a:rPr lang="en-US" altLang="ko-KR" sz="2400" dirty="0"/>
              <a:t>.</a:t>
            </a:r>
          </a:p>
          <a:p>
            <a:pPr lvl="0" algn="just">
              <a:lnSpc>
                <a:spcPct val="124499"/>
              </a:lnSpc>
            </a:pPr>
            <a:endParaRPr lang="en-US" sz="2400" b="0" i="0" u="none" strike="noStrike" dirty="0">
              <a:solidFill>
                <a:srgbClr val="000000"/>
              </a:solidFill>
              <a:latin typeface="Arial" panose="020B0604020202020204" pitchFamily="34" charset="0"/>
            </a:endParaRPr>
          </a:p>
          <a:p>
            <a:pPr lvl="0" algn="just">
              <a:lnSpc>
                <a:spcPct val="124499"/>
              </a:lnSpc>
            </a:pPr>
            <a:r>
              <a:rPr lang="ko-KR" altLang="en-US" sz="2133" b="0" i="0" u="none" strike="noStrike" dirty="0">
                <a:solidFill>
                  <a:srgbClr val="000000"/>
                </a:solidFill>
                <a:latin typeface="Arial" panose="020B0604020202020204" pitchFamily="34" charset="0"/>
              </a:rPr>
              <a:t>복잡한 유도과정과 수식을 주로 다루기 때문에 기본적인 </a:t>
            </a:r>
            <a:r>
              <a:rPr lang="ko-KR" altLang="en-US" sz="2133" b="1" dirty="0">
                <a:solidFill>
                  <a:srgbClr val="FF0000"/>
                </a:solidFill>
                <a:latin typeface="Arial" panose="020B0604020202020204" pitchFamily="34" charset="0"/>
              </a:rPr>
              <a:t>공학수학</a:t>
            </a:r>
            <a:r>
              <a:rPr lang="en-US" altLang="ko-KR" sz="2133" b="1" dirty="0">
                <a:solidFill>
                  <a:srgbClr val="FF0000"/>
                </a:solidFill>
                <a:latin typeface="Arial" panose="020B0604020202020204" pitchFamily="34" charset="0"/>
              </a:rPr>
              <a:t>, </a:t>
            </a:r>
            <a:r>
              <a:rPr lang="ko-KR" altLang="en-US" sz="2133" b="1" i="0" u="none" strike="noStrike" dirty="0">
                <a:solidFill>
                  <a:srgbClr val="FF0000"/>
                </a:solidFill>
                <a:latin typeface="Arial" panose="020B0604020202020204" pitchFamily="34" charset="0"/>
              </a:rPr>
              <a:t>동역학</a:t>
            </a:r>
            <a:r>
              <a:rPr lang="en-US" altLang="ko-KR" sz="2133" b="1" i="0" u="none" strike="noStrike" dirty="0">
                <a:solidFill>
                  <a:srgbClr val="FF0000"/>
                </a:solidFill>
                <a:latin typeface="Arial" panose="020B0604020202020204" pitchFamily="34" charset="0"/>
              </a:rPr>
              <a:t>, </a:t>
            </a:r>
            <a:r>
              <a:rPr lang="ko-KR" altLang="en-US" sz="2133" b="1" i="0" u="none" strike="noStrike" dirty="0">
                <a:solidFill>
                  <a:srgbClr val="FF0000"/>
                </a:solidFill>
                <a:latin typeface="Arial" panose="020B0604020202020204" pitchFamily="34" charset="0"/>
              </a:rPr>
              <a:t>로봇공학 수업을 수강한 학생</a:t>
            </a:r>
            <a:r>
              <a:rPr lang="ko-KR" altLang="en-US" sz="2133" b="0" i="0" u="none" strike="noStrike" dirty="0">
                <a:solidFill>
                  <a:srgbClr val="000000"/>
                </a:solidFill>
                <a:latin typeface="Arial" panose="020B0604020202020204" pitchFamily="34" charset="0"/>
              </a:rPr>
              <a:t>들에게 추천</a:t>
            </a:r>
            <a:endParaRPr lang="en" sz="2133" b="0" i="0" u="none" strike="noStrike" dirty="0">
              <a:solidFill>
                <a:srgbClr val="000000"/>
              </a:solidFill>
              <a:latin typeface="Arial" panose="020B0604020202020204" pitchFamily="34" charset="0"/>
            </a:endParaRPr>
          </a:p>
        </p:txBody>
      </p:sp>
      <p:sp>
        <p:nvSpPr>
          <p:cNvPr id="14" name="TextBox 14">
            <a:extLst>
              <a:ext uri="{FF2B5EF4-FFF2-40B4-BE49-F238E27FC236}">
                <a16:creationId xmlns:a16="http://schemas.microsoft.com/office/drawing/2014/main" id="{87831E2B-433C-CAC1-DB8B-88177FB9B2E1}"/>
              </a:ext>
            </a:extLst>
          </p:cNvPr>
          <p:cNvSpPr txBox="1"/>
          <p:nvPr/>
        </p:nvSpPr>
        <p:spPr>
          <a:xfrm>
            <a:off x="14693900" y="9144000"/>
            <a:ext cx="6870700" cy="469900"/>
          </a:xfrm>
          <a:prstGeom prst="rect">
            <a:avLst/>
          </a:prstGeom>
        </p:spPr>
        <p:txBody>
          <a:bodyPr rtlCol="0" anchor="t"/>
          <a:lstStyle/>
          <a:p>
            <a:pPr lvl="0" algn="l">
              <a:lnSpc>
                <a:spcPct val="122008"/>
              </a:lnSpc>
            </a:pPr>
            <a:r>
              <a:rPr lang="en-US" sz="2666" b="1" i="0" u="none" strike="noStrike" dirty="0">
                <a:solidFill>
                  <a:srgbClr val="000000"/>
                </a:solidFill>
                <a:latin typeface="Arial" panose="020B0604020202020204" pitchFamily="34" charset="0"/>
                <a:cs typeface="Arial" panose="020B0604020202020204" pitchFamily="34" charset="0"/>
              </a:rPr>
              <a:t>Method &amp; Deliverables</a:t>
            </a:r>
            <a:endParaRPr lang="en" sz="2666" b="1" i="0" u="none" strike="noStrike" dirty="0">
              <a:solidFill>
                <a:srgbClr val="000000"/>
              </a:solidFill>
              <a:latin typeface="Arial" panose="020B0604020202020204" pitchFamily="34" charset="0"/>
              <a:cs typeface="Arial" panose="020B0604020202020204" pitchFamily="34" charset="0"/>
            </a:endParaRPr>
          </a:p>
        </p:txBody>
      </p:sp>
      <p:sp>
        <p:nvSpPr>
          <p:cNvPr id="7" name="직각 삼각형 6">
            <a:extLst>
              <a:ext uri="{FF2B5EF4-FFF2-40B4-BE49-F238E27FC236}">
                <a16:creationId xmlns:a16="http://schemas.microsoft.com/office/drawing/2014/main" id="{BD27B521-D342-FE5D-104B-B11958B65810}"/>
              </a:ext>
            </a:extLst>
          </p:cNvPr>
          <p:cNvSpPr/>
          <p:nvPr/>
        </p:nvSpPr>
        <p:spPr>
          <a:xfrm>
            <a:off x="-190500" y="9393406"/>
            <a:ext cx="3746195" cy="49403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281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9448800"/>
            <a:ext cx="24384000" cy="4267200"/>
          </a:xfrm>
          <a:prstGeom prst="rect">
            <a:avLst/>
          </a:prstGeom>
        </p:spPr>
      </p:pic>
      <p:graphicFrame>
        <p:nvGraphicFramePr>
          <p:cNvPr id="3" name="Table 3"/>
          <p:cNvGraphicFramePr>
            <a:graphicFrameLocks noGrp="1"/>
          </p:cNvGraphicFramePr>
          <p:nvPr>
            <p:extLst>
              <p:ext uri="{D42A27DB-BD31-4B8C-83A1-F6EECF244321}">
                <p14:modId xmlns:p14="http://schemas.microsoft.com/office/powerpoint/2010/main" val="3516260742"/>
              </p:ext>
            </p:extLst>
          </p:nvPr>
        </p:nvGraphicFramePr>
        <p:xfrm>
          <a:off x="2590800" y="3962400"/>
          <a:ext cx="11410950" cy="8127702"/>
        </p:xfrm>
        <a:graphic>
          <a:graphicData uri="http://schemas.openxmlformats.org/drawingml/2006/table">
            <a:tbl>
              <a:tblPr/>
              <a:tblGrid>
                <a:gridCol w="2289180">
                  <a:extLst>
                    <a:ext uri="{9D8B030D-6E8A-4147-A177-3AD203B41FA5}">
                      <a16:colId xmlns:a16="http://schemas.microsoft.com/office/drawing/2014/main" val="20000"/>
                    </a:ext>
                  </a:extLst>
                </a:gridCol>
                <a:gridCol w="9121770">
                  <a:extLst>
                    <a:ext uri="{9D8B030D-6E8A-4147-A177-3AD203B41FA5}">
                      <a16:colId xmlns:a16="http://schemas.microsoft.com/office/drawing/2014/main" val="20001"/>
                    </a:ext>
                  </a:extLst>
                </a:gridCol>
              </a:tblGrid>
              <a:tr h="1113598">
                <a:tc>
                  <a:txBody>
                    <a:bodyPr/>
                    <a:lstStyle/>
                    <a:p>
                      <a:pPr algn="ctr">
                        <a:buNone/>
                      </a:pPr>
                      <a:r>
                        <a:rPr lang="en-US" altLang="ko-KR" sz="2800" b="1" dirty="0">
                          <a:solidFill>
                            <a:schemeClr val="bg1"/>
                          </a:solidFill>
                        </a:rPr>
                        <a:t>N</a:t>
                      </a:r>
                      <a:endParaRPr lang="ko-KR" altLang="en-US" sz="2800" b="1" dirty="0">
                        <a:solidFill>
                          <a:schemeClr val="bg1"/>
                        </a:solidFill>
                      </a:endParaRP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1E1B35"/>
                    </a:solidFill>
                  </a:tcPr>
                </a:tc>
                <a:tc>
                  <a:txBody>
                    <a:bodyPr/>
                    <a:lstStyle/>
                    <a:p>
                      <a:pPr algn="ctr">
                        <a:buNone/>
                      </a:pPr>
                      <a:r>
                        <a:rPr lang="ko-KR" altLang="en-US" sz="2800" b="1" dirty="0">
                          <a:solidFill>
                            <a:schemeClr val="bg1"/>
                          </a:solidFill>
                        </a:rPr>
                        <a:t>주제</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1E1B35"/>
                    </a:solidFill>
                  </a:tcPr>
                </a:tc>
                <a:extLst>
                  <a:ext uri="{0D108BD9-81ED-4DB2-BD59-A6C34878D82A}">
                    <a16:rowId xmlns:a16="http://schemas.microsoft.com/office/drawing/2014/main" val="10000"/>
                  </a:ext>
                </a:extLst>
              </a:tr>
              <a:tr h="1016846">
                <a:tc>
                  <a:txBody>
                    <a:bodyPr/>
                    <a:lstStyle/>
                    <a:p>
                      <a:pPr algn="ctr">
                        <a:buNone/>
                      </a:pPr>
                      <a:r>
                        <a:rPr lang="en-US" altLang="ko-KR" sz="2800" b="1"/>
                        <a:t>1</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tc>
                  <a:txBody>
                    <a:bodyPr/>
                    <a:lstStyle/>
                    <a:p>
                      <a:pPr algn="ctr">
                        <a:buNone/>
                      </a:pPr>
                      <a:r>
                        <a:rPr lang="en-US" sz="2800" b="1" dirty="0"/>
                        <a:t>IK vs ID, </a:t>
                      </a:r>
                      <a:r>
                        <a:rPr lang="en-US" altLang="ko-KR" sz="2800" b="1" dirty="0"/>
                        <a:t>Dynamic Equation</a:t>
                      </a:r>
                      <a:endParaRPr lang="en-US" sz="2800" b="1" dirty="0"/>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9263">
                <a:tc>
                  <a:txBody>
                    <a:bodyPr/>
                    <a:lstStyle/>
                    <a:p>
                      <a:pPr algn="ctr">
                        <a:buNone/>
                      </a:pPr>
                      <a:r>
                        <a:rPr lang="en-US" altLang="ko-KR" sz="2800" b="1"/>
                        <a:t>2</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tc>
                  <a:txBody>
                    <a:bodyPr/>
                    <a:lstStyle/>
                    <a:p>
                      <a:pPr algn="ctr">
                        <a:buNone/>
                      </a:pPr>
                      <a:r>
                        <a:rPr lang="en-US" sz="2800" b="1" dirty="0"/>
                        <a:t>Velocity/Accel/Torque Control</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3599">
                <a:tc>
                  <a:txBody>
                    <a:bodyPr/>
                    <a:lstStyle/>
                    <a:p>
                      <a:pPr algn="ctr">
                        <a:buNone/>
                      </a:pPr>
                      <a:r>
                        <a:rPr lang="en-US" altLang="ko-KR" sz="2800" b="1"/>
                        <a:t>3</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dirty="0"/>
                        <a:t>OSC</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3599">
                <a:tc>
                  <a:txBody>
                    <a:bodyPr/>
                    <a:lstStyle/>
                    <a:p>
                      <a:pPr algn="ctr">
                        <a:buNone/>
                      </a:pPr>
                      <a:r>
                        <a:rPr lang="en-US" altLang="ko-KR" sz="2800" b="1"/>
                        <a:t>4</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dirty="0"/>
                        <a:t>TSID</a:t>
                      </a:r>
                      <a:endParaRPr lang="ko-KR" altLang="en-US" sz="2800" b="1" dirty="0"/>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03599">
                <a:tc>
                  <a:txBody>
                    <a:bodyPr/>
                    <a:lstStyle/>
                    <a:p>
                      <a:pPr algn="ctr">
                        <a:buNone/>
                      </a:pPr>
                      <a:r>
                        <a:rPr lang="en-US" altLang="ko-KR" sz="2800" b="1"/>
                        <a:t>5</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dirty="0"/>
                        <a:t>Contact Constraints</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003599">
                <a:tc>
                  <a:txBody>
                    <a:bodyPr/>
                    <a:lstStyle/>
                    <a:p>
                      <a:pPr algn="ctr">
                        <a:buNone/>
                      </a:pPr>
                      <a:r>
                        <a:rPr lang="en-US" altLang="ko-KR" sz="2800" b="1"/>
                        <a:t>6</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dirty="0"/>
                        <a:t>QP</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003599">
                <a:tc>
                  <a:txBody>
                    <a:bodyPr/>
                    <a:lstStyle/>
                    <a:p>
                      <a:pPr algn="ctr">
                        <a:buNone/>
                      </a:pPr>
                      <a:r>
                        <a:rPr lang="en-US" altLang="ko-KR" sz="2800" b="1"/>
                        <a:t>7</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dirty="0"/>
                        <a:t>HQP</a:t>
                      </a:r>
                    </a:p>
                  </a:txBody>
                  <a:tcPr anchor="ct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Box 4"/>
          <p:cNvSpPr txBox="1"/>
          <p:nvPr/>
        </p:nvSpPr>
        <p:spPr>
          <a:xfrm>
            <a:off x="1231900" y="1905000"/>
            <a:ext cx="13258800" cy="1422400"/>
          </a:xfrm>
          <a:prstGeom prst="rect">
            <a:avLst/>
          </a:prstGeom>
        </p:spPr>
        <p:txBody>
          <a:bodyPr lIns="0" tIns="101600" rIns="0" bIns="0" rtlCol="0" anchor="t"/>
          <a:lstStyle/>
          <a:p>
            <a:pPr lvl="0" algn="l">
              <a:lnSpc>
                <a:spcPct val="99600"/>
              </a:lnSpc>
            </a:pPr>
            <a:r>
              <a:rPr lang="ko-KR" altLang="en-US" sz="8000" b="1" i="0" u="none" strike="noStrike" dirty="0">
                <a:solidFill>
                  <a:srgbClr val="000000"/>
                </a:solidFill>
                <a:latin typeface="Arial" panose="020B0604020202020204" pitchFamily="34" charset="0"/>
                <a:cs typeface="Arial" panose="020B0604020202020204" pitchFamily="34" charset="0"/>
              </a:rPr>
              <a:t>강의 내용</a:t>
            </a:r>
            <a:endParaRPr lang="en" sz="8000" b="1" i="0" u="none" strike="noStrike" dirty="0">
              <a:solidFill>
                <a:srgbClr val="000000"/>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직사각형 34">
            <a:extLst>
              <a:ext uri="{FF2B5EF4-FFF2-40B4-BE49-F238E27FC236}">
                <a16:creationId xmlns:a16="http://schemas.microsoft.com/office/drawing/2014/main" id="{D777DF7A-4527-D6A4-B8DC-3AE74E23942D}"/>
              </a:ext>
            </a:extLst>
          </p:cNvPr>
          <p:cNvSpPr/>
          <p:nvPr/>
        </p:nvSpPr>
        <p:spPr>
          <a:xfrm>
            <a:off x="4771"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381BDFB1-71E4-0325-125C-45052688FB84}"/>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D759DCBC-68C6-64BD-FD82-724A5AB0788A}"/>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 sz="6000" b="1" dirty="0">
                <a:solidFill>
                  <a:srgbClr val="000000"/>
                </a:solidFill>
                <a:latin typeface="Arial" panose="020B0604020202020204" pitchFamily="34" charset="0"/>
                <a:cs typeface="Arial" panose="020B0604020202020204" pitchFamily="34" charset="0"/>
              </a:rPr>
              <a:t>IK</a:t>
            </a:r>
            <a:r>
              <a:rPr lang="en" sz="6000" b="1" i="0" u="none" strike="noStrike" dirty="0">
                <a:solidFill>
                  <a:srgbClr val="000000"/>
                </a:solidFill>
                <a:latin typeface="Arial" panose="020B0604020202020204" pitchFamily="34" charset="0"/>
                <a:cs typeface="Arial" panose="020B0604020202020204" pitchFamily="34" charset="0"/>
              </a:rPr>
              <a:t> vs ID</a:t>
            </a:r>
          </a:p>
        </p:txBody>
      </p:sp>
      <p:sp>
        <p:nvSpPr>
          <p:cNvPr id="6" name="TextBox 5">
            <a:extLst>
              <a:ext uri="{FF2B5EF4-FFF2-40B4-BE49-F238E27FC236}">
                <a16:creationId xmlns:a16="http://schemas.microsoft.com/office/drawing/2014/main" id="{5AC2E7A8-8225-0E2B-B034-992C04AE491C}"/>
              </a:ext>
            </a:extLst>
          </p:cNvPr>
          <p:cNvSpPr txBox="1"/>
          <p:nvPr/>
        </p:nvSpPr>
        <p:spPr>
          <a:xfrm>
            <a:off x="1600200" y="2253735"/>
            <a:ext cx="21564600" cy="8122480"/>
          </a:xfrm>
          <a:prstGeom prst="rect">
            <a:avLst/>
          </a:prstGeom>
          <a:noFill/>
        </p:spPr>
        <p:txBody>
          <a:bodyPr wrap="square">
            <a:spAutoFit/>
          </a:bodyPr>
          <a:lstStyle/>
          <a:p>
            <a:pPr>
              <a:lnSpc>
                <a:spcPct val="150000"/>
              </a:lnSpc>
              <a:buNone/>
            </a:pPr>
            <a:r>
              <a:rPr lang="ko-KR" altLang="en-US" sz="3200" dirty="0"/>
              <a:t>로봇을 움직이기 위한 두 단계 </a:t>
            </a:r>
            <a:r>
              <a:rPr lang="en-US" altLang="ko-KR" sz="3200" dirty="0"/>
              <a:t>:</a:t>
            </a:r>
          </a:p>
          <a:p>
            <a:pPr>
              <a:lnSpc>
                <a:spcPct val="150000"/>
              </a:lnSpc>
              <a:buNone/>
            </a:pPr>
            <a:endParaRPr lang="en-US" altLang="ko-KR" sz="3200" dirty="0"/>
          </a:p>
          <a:p>
            <a:pPr marL="514350" indent="-514350">
              <a:lnSpc>
                <a:spcPct val="150000"/>
              </a:lnSpc>
              <a:buAutoNum type="arabicParenR"/>
            </a:pPr>
            <a:r>
              <a:rPr lang="ko-KR" altLang="en-US" sz="3200" dirty="0"/>
              <a:t>로봇이 어디에 어떠한 자세로 있을 것인가 </a:t>
            </a:r>
            <a:r>
              <a:rPr lang="en-US" altLang="ko-KR" sz="3200" dirty="0"/>
              <a:t>:   </a:t>
            </a:r>
            <a:r>
              <a:rPr lang="en-US" altLang="ko-KR" sz="3200" b="1" dirty="0"/>
              <a:t>End-Effector</a:t>
            </a:r>
            <a:r>
              <a:rPr lang="ko-KR" altLang="en-US" sz="3200" b="1" dirty="0"/>
              <a:t>의 위치</a:t>
            </a:r>
            <a:r>
              <a:rPr lang="en-US" altLang="ko-KR" sz="3200" b="1" dirty="0"/>
              <a:t>, </a:t>
            </a:r>
            <a:r>
              <a:rPr lang="ko-KR" altLang="en-US" sz="3200" b="1" dirty="0"/>
              <a:t>자세를 맞추는 문제</a:t>
            </a:r>
            <a:endParaRPr lang="en-US" altLang="ko-KR" sz="3200" b="1" dirty="0"/>
          </a:p>
          <a:p>
            <a:pPr marL="514350" indent="-514350">
              <a:lnSpc>
                <a:spcPct val="150000"/>
              </a:lnSpc>
              <a:buAutoNum type="arabicParenR"/>
            </a:pPr>
            <a:r>
              <a:rPr lang="ko-KR" altLang="en-US" sz="3200" dirty="0"/>
              <a:t>로봇을 실제로 움직이게 하는 힘이 필요 </a:t>
            </a:r>
            <a:r>
              <a:rPr lang="en-US" altLang="ko-KR" sz="3200" dirty="0"/>
              <a:t>:   </a:t>
            </a:r>
            <a:r>
              <a:rPr lang="ko-KR" altLang="en-US" sz="3200" b="1" dirty="0"/>
              <a:t>토크를 계산하는 문제</a:t>
            </a:r>
            <a:endParaRPr lang="en-US" altLang="ko-KR" sz="3200" b="1" dirty="0"/>
          </a:p>
          <a:p>
            <a:pPr marL="514350" indent="-514350">
              <a:lnSpc>
                <a:spcPct val="150000"/>
              </a:lnSpc>
              <a:buAutoNum type="arabicParenR"/>
            </a:pPr>
            <a:endParaRPr lang="en-US" altLang="ko-KR" sz="3200" b="1" dirty="0"/>
          </a:p>
          <a:p>
            <a:pPr marL="514350" indent="-514350">
              <a:lnSpc>
                <a:spcPct val="150000"/>
              </a:lnSpc>
              <a:buAutoNum type="arabicParenR"/>
            </a:pPr>
            <a:endParaRPr lang="en-US" altLang="ko-KR" sz="3200" b="1" dirty="0"/>
          </a:p>
          <a:p>
            <a:pPr marL="457200" indent="-457200">
              <a:lnSpc>
                <a:spcPct val="150000"/>
              </a:lnSpc>
              <a:buFontTx/>
              <a:buChar char="-"/>
            </a:pPr>
            <a:r>
              <a:rPr lang="ko-KR" altLang="en-US" sz="3200" dirty="0"/>
              <a:t>예시 </a:t>
            </a:r>
            <a:r>
              <a:rPr lang="en-US" altLang="ko-KR" sz="3200" dirty="0"/>
              <a:t>: 2DOF </a:t>
            </a:r>
            <a:r>
              <a:rPr lang="ko-KR" altLang="en-US" sz="3200" dirty="0"/>
              <a:t>로봇 팔</a:t>
            </a:r>
            <a:endParaRPr lang="en-US" altLang="ko-KR" sz="3200" dirty="0"/>
          </a:p>
          <a:p>
            <a:pPr marL="914400" lvl="1" indent="-457200">
              <a:lnSpc>
                <a:spcPct val="150000"/>
              </a:lnSpc>
              <a:buFont typeface="Arial" panose="020B0604020202020204" pitchFamily="34" charset="0"/>
              <a:buChar char="•"/>
            </a:pPr>
            <a:r>
              <a:rPr lang="ko-KR" altLang="en-US" sz="3200" dirty="0"/>
              <a:t>각 관절의     값들을 입력 </a:t>
            </a:r>
            <a:r>
              <a:rPr lang="en-US" altLang="ko-KR" sz="3200" dirty="0">
                <a:latin typeface="굴림" panose="020B0600000101010101" pitchFamily="50" charset="-127"/>
                <a:ea typeface="굴림" panose="020B0600000101010101" pitchFamily="50" charset="-127"/>
              </a:rPr>
              <a:t>→ </a:t>
            </a:r>
            <a:r>
              <a:rPr lang="en-US" altLang="ko-KR" sz="3200" dirty="0">
                <a:latin typeface="+mn-ea"/>
              </a:rPr>
              <a:t>End-Effector</a:t>
            </a:r>
            <a:r>
              <a:rPr lang="ko-KR" altLang="en-US" sz="3200" dirty="0">
                <a:latin typeface="+mn-ea"/>
              </a:rPr>
              <a:t>의 자세</a:t>
            </a:r>
            <a:r>
              <a:rPr lang="en-US" altLang="ko-KR" sz="3200" dirty="0">
                <a:latin typeface="+mn-ea"/>
              </a:rPr>
              <a:t>(  )</a:t>
            </a:r>
            <a:r>
              <a:rPr lang="ko-KR" altLang="en-US" sz="3200" dirty="0">
                <a:latin typeface="+mn-ea"/>
              </a:rPr>
              <a:t>를</a:t>
            </a:r>
            <a:r>
              <a:rPr lang="en-US" altLang="ko-KR" sz="3200" dirty="0">
                <a:latin typeface="+mn-ea"/>
              </a:rPr>
              <a:t> </a:t>
            </a:r>
            <a:r>
              <a:rPr lang="ko-KR" altLang="en-US" sz="3200" dirty="0">
                <a:latin typeface="+mn-ea"/>
              </a:rPr>
              <a:t>구하는 것 </a:t>
            </a:r>
            <a:r>
              <a:rPr lang="en-US" altLang="ko-KR" sz="3200" dirty="0">
                <a:latin typeface="+mn-ea"/>
              </a:rPr>
              <a:t>: Forward Kinematics</a:t>
            </a:r>
          </a:p>
          <a:p>
            <a:pPr marL="914400" lvl="1" indent="-457200">
              <a:lnSpc>
                <a:spcPct val="150000"/>
              </a:lnSpc>
              <a:buFont typeface="Arial" panose="020B0604020202020204" pitchFamily="34" charset="0"/>
              <a:buChar char="•"/>
            </a:pPr>
            <a:r>
              <a:rPr lang="en-US" altLang="ko-KR" sz="3200" dirty="0">
                <a:latin typeface="+mn-ea"/>
              </a:rPr>
              <a:t>End-Effector</a:t>
            </a:r>
            <a:r>
              <a:rPr lang="ko-KR" altLang="en-US" sz="3200" dirty="0">
                <a:latin typeface="+mn-ea"/>
              </a:rPr>
              <a:t>의 자세</a:t>
            </a:r>
            <a:r>
              <a:rPr lang="en-US" altLang="ko-KR" sz="3200" dirty="0">
                <a:latin typeface="+mn-ea"/>
              </a:rPr>
              <a:t>(  )</a:t>
            </a:r>
            <a:r>
              <a:rPr lang="ko-KR" altLang="en-US" sz="3200" dirty="0">
                <a:latin typeface="+mn-ea"/>
              </a:rPr>
              <a:t>를</a:t>
            </a:r>
            <a:r>
              <a:rPr lang="en-US" altLang="ko-KR" sz="3200" dirty="0">
                <a:latin typeface="+mn-ea"/>
              </a:rPr>
              <a:t> </a:t>
            </a:r>
            <a:r>
              <a:rPr lang="ko-KR" altLang="en-US" sz="3200" dirty="0">
                <a:latin typeface="+mn-ea"/>
              </a:rPr>
              <a:t>입력 </a:t>
            </a:r>
            <a:r>
              <a:rPr lang="en-US" altLang="ko-KR" sz="3200" dirty="0">
                <a:latin typeface="굴림" panose="020B0600000101010101" pitchFamily="50" charset="-127"/>
                <a:ea typeface="굴림" panose="020B0600000101010101" pitchFamily="50" charset="-127"/>
              </a:rPr>
              <a:t>→ </a:t>
            </a:r>
            <a:r>
              <a:rPr lang="ko-KR" altLang="en-US" sz="3200" dirty="0"/>
              <a:t>각 관절의     값들을 구하는 것 </a:t>
            </a:r>
            <a:r>
              <a:rPr lang="en-US" altLang="ko-KR" sz="3200" dirty="0">
                <a:latin typeface="+mn-ea"/>
              </a:rPr>
              <a:t>: Inverse Kinematics</a:t>
            </a:r>
          </a:p>
          <a:p>
            <a:pPr marL="914400" lvl="1" indent="-457200">
              <a:lnSpc>
                <a:spcPct val="150000"/>
              </a:lnSpc>
              <a:buFont typeface="Arial" panose="020B0604020202020204" pitchFamily="34" charset="0"/>
              <a:buChar char="•"/>
            </a:pPr>
            <a:r>
              <a:rPr lang="en-US" altLang="ko-KR" sz="3200" dirty="0">
                <a:latin typeface="+mn-ea"/>
              </a:rPr>
              <a:t>End-Effector</a:t>
            </a:r>
            <a:r>
              <a:rPr lang="ko-KR" altLang="en-US" sz="3200" dirty="0">
                <a:latin typeface="+mn-ea"/>
              </a:rPr>
              <a:t>의 자세</a:t>
            </a:r>
            <a:r>
              <a:rPr lang="en-US" altLang="ko-KR" sz="3200" dirty="0">
                <a:latin typeface="+mn-ea"/>
              </a:rPr>
              <a:t>(  )</a:t>
            </a:r>
            <a:r>
              <a:rPr lang="ko-KR" altLang="en-US" sz="3200" dirty="0">
                <a:latin typeface="+mn-ea"/>
              </a:rPr>
              <a:t>를 입력 </a:t>
            </a:r>
            <a:r>
              <a:rPr lang="en-US" altLang="ko-KR" sz="3200" dirty="0">
                <a:latin typeface="굴림" panose="020B0600000101010101" pitchFamily="50" charset="-127"/>
                <a:ea typeface="굴림" panose="020B0600000101010101" pitchFamily="50" charset="-127"/>
              </a:rPr>
              <a:t>→ </a:t>
            </a:r>
            <a:r>
              <a:rPr lang="ko-KR" altLang="en-US" sz="3200" dirty="0"/>
              <a:t>각 관절에 걸리는 힘</a:t>
            </a:r>
            <a:r>
              <a:rPr lang="en-US" altLang="ko-KR" sz="3200" dirty="0"/>
              <a:t>(    )</a:t>
            </a:r>
            <a:r>
              <a:rPr lang="ko-KR" altLang="en-US" sz="3200" dirty="0"/>
              <a:t>을 구하는 것 </a:t>
            </a:r>
            <a:r>
              <a:rPr lang="en-US" altLang="ko-KR" sz="3200" dirty="0"/>
              <a:t>: </a:t>
            </a:r>
            <a:r>
              <a:rPr lang="en-US" altLang="ko-KR" sz="3200" b="1" dirty="0">
                <a:latin typeface="+mn-ea"/>
              </a:rPr>
              <a:t>Inverse Dynamics</a:t>
            </a:r>
          </a:p>
          <a:p>
            <a:pPr marL="914400" lvl="1" indent="-457200">
              <a:lnSpc>
                <a:spcPct val="150000"/>
              </a:lnSpc>
              <a:buFont typeface="Arial" panose="020B0604020202020204" pitchFamily="34" charset="0"/>
              <a:buChar char="•"/>
            </a:pPr>
            <a:endParaRPr lang="en-US" altLang="ko-KR" sz="3200" dirty="0">
              <a:latin typeface="+mn-ea"/>
            </a:endParaRPr>
          </a:p>
        </p:txBody>
      </p:sp>
      <p:pic>
        <p:nvPicPr>
          <p:cNvPr id="13" name="그림 12" descr="\documentclass{article}&#10;\usepackage{amsmath}&#10;\pagestyle{empty}&#10;\begin{document}&#10;&#10;&#10;$&#10;\theta&#10;$&#10;&#10;\end{document}" title="IguanaTex Bitmap Display">
            <a:extLst>
              <a:ext uri="{FF2B5EF4-FFF2-40B4-BE49-F238E27FC236}">
                <a16:creationId xmlns:a16="http://schemas.microsoft.com/office/drawing/2014/main" id="{B53E609B-BEEA-95CE-84F4-6AC82A794123}"/>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4495800" y="7653210"/>
            <a:ext cx="186667" cy="317333"/>
          </a:xfrm>
          <a:prstGeom prst="rect">
            <a:avLst/>
          </a:prstGeom>
        </p:spPr>
      </p:pic>
      <p:pic>
        <p:nvPicPr>
          <p:cNvPr id="17" name="그림 16" descr="\documentclass{article}&#10;\usepackage{amsmath}&#10;\pagestyle{empty}&#10;\begin{document}&#10;&#10;&#10;$&#10;\theta&#10;$&#10;&#10;\end{document}" title="IguanaTex Bitmap Display">
            <a:extLst>
              <a:ext uri="{FF2B5EF4-FFF2-40B4-BE49-F238E27FC236}">
                <a16:creationId xmlns:a16="http://schemas.microsoft.com/office/drawing/2014/main" id="{3B2E8185-A791-B027-CF2B-83D953F00EDE}"/>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0668000" y="8369467"/>
            <a:ext cx="186667" cy="317333"/>
          </a:xfrm>
          <a:prstGeom prst="rect">
            <a:avLst/>
          </a:prstGeom>
        </p:spPr>
      </p:pic>
      <p:pic>
        <p:nvPicPr>
          <p:cNvPr id="23" name="그림 22" descr="\documentclass{article}&#10;\usepackage{amsmath}&#10;\pagestyle{empty}&#10;\begin{document}&#10;&#10;&#10;$&#10;\mathbf{x}&#10;$&#10;&#10;\end{document}" title="IguanaTex Bitmap Display">
            <a:extLst>
              <a:ext uri="{FF2B5EF4-FFF2-40B4-BE49-F238E27FC236}">
                <a16:creationId xmlns:a16="http://schemas.microsoft.com/office/drawing/2014/main" id="{1CEC0AF7-B97D-6B7F-41C1-55ADB7B99284}"/>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1277600" y="7745019"/>
            <a:ext cx="289524" cy="225524"/>
          </a:xfrm>
          <a:prstGeom prst="rect">
            <a:avLst/>
          </a:prstGeom>
        </p:spPr>
      </p:pic>
      <p:pic>
        <p:nvPicPr>
          <p:cNvPr id="24" name="그림 23" descr="\documentclass{article}&#10;\usepackage{amsmath}&#10;\pagestyle{empty}&#10;\begin{document}&#10;&#10;&#10;$&#10;\mathbf{x}&#10;$&#10;&#10;\end{document}" title="IguanaTex Bitmap Display">
            <a:extLst>
              <a:ext uri="{FF2B5EF4-FFF2-40B4-BE49-F238E27FC236}">
                <a16:creationId xmlns:a16="http://schemas.microsoft.com/office/drawing/2014/main" id="{568FA8B1-BC37-4054-AD0C-BE2A3FCA6545}"/>
              </a:ext>
            </a:extLst>
          </p:cNvPr>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6350562" y="8491386"/>
            <a:ext cx="289524" cy="225524"/>
          </a:xfrm>
          <a:prstGeom prst="rect">
            <a:avLst/>
          </a:prstGeom>
        </p:spPr>
      </p:pic>
      <p:pic>
        <p:nvPicPr>
          <p:cNvPr id="25" name="그림 24" descr="\documentclass{article}&#10;\usepackage{amsmath}&#10;\pagestyle{empty}&#10;\begin{document}&#10;&#10;&#10;$&#10;\mathbf{x}&#10;$&#10;&#10;\end{document}" title="IguanaTex Bitmap Display">
            <a:extLst>
              <a:ext uri="{FF2B5EF4-FFF2-40B4-BE49-F238E27FC236}">
                <a16:creationId xmlns:a16="http://schemas.microsoft.com/office/drawing/2014/main" id="{EBF0D10A-00B7-BC4A-3FEA-1FE50F626499}"/>
              </a:ext>
            </a:extLst>
          </p:cNvPr>
          <p:cNvPicPr>
            <a:picLocks noChangeAspect="1"/>
          </p:cNvPicPr>
          <p:nvPr>
            <p:custDataLst>
              <p:tags r:id="rId5"/>
            </p:custDataLst>
          </p:nvPr>
        </p:nvPicPr>
        <p:blipFill>
          <a:blip r:embed="rId9" cstate="print">
            <a:extLst>
              <a:ext uri="{28A0092B-C50C-407E-A947-70E740481C1C}">
                <a14:useLocalDpi xmlns:a14="http://schemas.microsoft.com/office/drawing/2010/main" val="0"/>
              </a:ext>
            </a:extLst>
          </a:blip>
          <a:stretch>
            <a:fillRect/>
          </a:stretch>
        </p:blipFill>
        <p:spPr>
          <a:xfrm>
            <a:off x="6350562" y="9208276"/>
            <a:ext cx="289524" cy="225524"/>
          </a:xfrm>
          <a:prstGeom prst="rect">
            <a:avLst/>
          </a:prstGeom>
        </p:spPr>
      </p:pic>
      <p:pic>
        <p:nvPicPr>
          <p:cNvPr id="29" name="그림 28" descr="\documentclass{article}&#10;\usepackage{amsmath}&#10;\pagestyle{empty}&#10;\begin{document}&#10;&#10;&#10;$&#10;\boldsymbol{\tau}&#10;$&#10;&#10;\end{document}" title="IguanaTex Bitmap Display">
            <a:extLst>
              <a:ext uri="{FF2B5EF4-FFF2-40B4-BE49-F238E27FC236}">
                <a16:creationId xmlns:a16="http://schemas.microsoft.com/office/drawing/2014/main" id="{480551BE-3C5E-5E5A-A4CA-119600E58961}"/>
              </a:ext>
            </a:extLst>
          </p:cNvPr>
          <p:cNvPicPr>
            <a:picLocks noChangeAspect="1"/>
          </p:cNvPicPr>
          <p:nvPr>
            <p:custDataLst>
              <p:tags r:id="rId6"/>
            </p:custDataLst>
          </p:nvPr>
        </p:nvPicPr>
        <p:blipFill>
          <a:blip r:embed="rId10" cstate="print">
            <a:extLst>
              <a:ext uri="{28A0092B-C50C-407E-A947-70E740481C1C}">
                <a14:useLocalDpi xmlns:a14="http://schemas.microsoft.com/office/drawing/2010/main" val="0"/>
              </a:ext>
            </a:extLst>
          </a:blip>
          <a:stretch>
            <a:fillRect/>
          </a:stretch>
        </p:blipFill>
        <p:spPr>
          <a:xfrm>
            <a:off x="12509500" y="9213762"/>
            <a:ext cx="277943" cy="220038"/>
          </a:xfrm>
          <a:prstGeom prst="rect">
            <a:avLst/>
          </a:prstGeom>
        </p:spPr>
      </p:pic>
      <p:pic>
        <p:nvPicPr>
          <p:cNvPr id="31" name="그림 30">
            <a:extLst>
              <a:ext uri="{FF2B5EF4-FFF2-40B4-BE49-F238E27FC236}">
                <a16:creationId xmlns:a16="http://schemas.microsoft.com/office/drawing/2014/main" id="{0063392A-A1C1-DEA0-D528-E3C7C5E5F58E}"/>
              </a:ext>
            </a:extLst>
          </p:cNvPr>
          <p:cNvPicPr>
            <a:picLocks noChangeAspect="1"/>
          </p:cNvPicPr>
          <p:nvPr/>
        </p:nvPicPr>
        <p:blipFill>
          <a:blip r:embed="rId11"/>
          <a:stretch>
            <a:fillRect/>
          </a:stretch>
        </p:blipFill>
        <p:spPr>
          <a:xfrm>
            <a:off x="2057400" y="10308287"/>
            <a:ext cx="9736442" cy="2690873"/>
          </a:xfrm>
          <a:prstGeom prst="rect">
            <a:avLst/>
          </a:prstGeom>
        </p:spPr>
      </p:pic>
      <p:pic>
        <p:nvPicPr>
          <p:cNvPr id="33" name="그림 32">
            <a:extLst>
              <a:ext uri="{FF2B5EF4-FFF2-40B4-BE49-F238E27FC236}">
                <a16:creationId xmlns:a16="http://schemas.microsoft.com/office/drawing/2014/main" id="{A3202678-E9C8-307E-22D1-46F3C47F3CE0}"/>
              </a:ext>
            </a:extLst>
          </p:cNvPr>
          <p:cNvPicPr>
            <a:picLocks noChangeAspect="1"/>
          </p:cNvPicPr>
          <p:nvPr/>
        </p:nvPicPr>
        <p:blipFill>
          <a:blip r:embed="rId12"/>
          <a:stretch>
            <a:fillRect/>
          </a:stretch>
        </p:blipFill>
        <p:spPr>
          <a:xfrm>
            <a:off x="13030200" y="10439400"/>
            <a:ext cx="10047851" cy="29046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5384-45E1-13B2-6CA5-75FDF916728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750D1E9F-2681-694B-1EF4-A70A533E51EE}"/>
              </a:ext>
            </a:extLst>
          </p:cNvPr>
          <p:cNvSpPr/>
          <p:nvPr/>
        </p:nvSpPr>
        <p:spPr>
          <a:xfrm>
            <a:off x="4771"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9" name="직각 삼각형 58">
            <a:extLst>
              <a:ext uri="{FF2B5EF4-FFF2-40B4-BE49-F238E27FC236}">
                <a16:creationId xmlns:a16="http://schemas.microsoft.com/office/drawing/2014/main" id="{C13DBB84-C67C-2382-DD90-B60E2C2B1317}"/>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A7EF4A5-AEFF-16B6-31B7-963AC234837F}"/>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 sz="6000" b="1" dirty="0">
                <a:solidFill>
                  <a:srgbClr val="000000"/>
                </a:solidFill>
                <a:latin typeface="Arial" panose="020B0604020202020204" pitchFamily="34" charset="0"/>
                <a:cs typeface="Arial" panose="020B0604020202020204" pitchFamily="34" charset="0"/>
              </a:rPr>
              <a:t>IK</a:t>
            </a:r>
            <a:r>
              <a:rPr lang="en" sz="6000" b="1" i="0" u="none" strike="noStrike" dirty="0">
                <a:solidFill>
                  <a:srgbClr val="000000"/>
                </a:solidFill>
                <a:latin typeface="Arial" panose="020B0604020202020204" pitchFamily="34" charset="0"/>
                <a:cs typeface="Arial" panose="020B0604020202020204" pitchFamily="34" charset="0"/>
              </a:rPr>
              <a:t> vs ID</a:t>
            </a:r>
          </a:p>
        </p:txBody>
      </p:sp>
      <p:sp>
        <p:nvSpPr>
          <p:cNvPr id="6" name="TextBox 5">
            <a:extLst>
              <a:ext uri="{FF2B5EF4-FFF2-40B4-BE49-F238E27FC236}">
                <a16:creationId xmlns:a16="http://schemas.microsoft.com/office/drawing/2014/main" id="{ADFB9515-7332-CA6B-0D54-456B327F4939}"/>
              </a:ext>
            </a:extLst>
          </p:cNvPr>
          <p:cNvSpPr txBox="1"/>
          <p:nvPr/>
        </p:nvSpPr>
        <p:spPr>
          <a:xfrm>
            <a:off x="1600200" y="2253735"/>
            <a:ext cx="21564600" cy="10707803"/>
          </a:xfrm>
          <a:prstGeom prst="rect">
            <a:avLst/>
          </a:prstGeom>
          <a:noFill/>
        </p:spPr>
        <p:txBody>
          <a:bodyPr wrap="square">
            <a:spAutoFit/>
          </a:bodyPr>
          <a:lstStyle/>
          <a:p>
            <a:pPr>
              <a:lnSpc>
                <a:spcPct val="150000"/>
              </a:lnSpc>
              <a:buNone/>
            </a:pPr>
            <a:r>
              <a:rPr lang="en-US" altLang="ko-KR" sz="4000" dirty="0"/>
              <a:t>Inverse Kinematics</a:t>
            </a:r>
          </a:p>
          <a:p>
            <a:pPr marL="914400" lvl="1" indent="-457200">
              <a:lnSpc>
                <a:spcPct val="150000"/>
              </a:lnSpc>
              <a:buFont typeface="Arial" panose="020B0604020202020204" pitchFamily="34" charset="0"/>
              <a:buChar char="•"/>
            </a:pPr>
            <a:r>
              <a:rPr lang="ko-KR" altLang="en-US" sz="3200" dirty="0"/>
              <a:t>빠르고 단순</a:t>
            </a:r>
            <a:r>
              <a:rPr lang="en-US" altLang="ko-KR" sz="3200" dirty="0"/>
              <a:t>, </a:t>
            </a:r>
            <a:r>
              <a:rPr lang="ko-KR" altLang="en-US" sz="3200" dirty="0"/>
              <a:t>구현하기 쉬움</a:t>
            </a:r>
            <a:endParaRPr lang="en-US" altLang="ko-KR" sz="3200" dirty="0"/>
          </a:p>
          <a:p>
            <a:pPr marL="914400" lvl="1" indent="-457200">
              <a:lnSpc>
                <a:spcPct val="150000"/>
              </a:lnSpc>
              <a:buFont typeface="Arial" panose="020B0604020202020204" pitchFamily="34" charset="0"/>
              <a:buChar char="•"/>
            </a:pPr>
            <a:r>
              <a:rPr lang="ko-KR" altLang="en-US" sz="3200" dirty="0"/>
              <a:t>특이점</a:t>
            </a:r>
            <a:r>
              <a:rPr lang="en-US" altLang="ko-KR" sz="3200" dirty="0"/>
              <a:t>(</a:t>
            </a:r>
            <a:r>
              <a:rPr lang="ko-KR" altLang="en-US" sz="3200" dirty="0"/>
              <a:t>팔이 쭉 펴진 상태 등</a:t>
            </a:r>
            <a:r>
              <a:rPr lang="en-US" altLang="ko-KR" sz="3200" dirty="0"/>
              <a:t>) </a:t>
            </a:r>
            <a:r>
              <a:rPr lang="ko-KR" altLang="en-US" sz="3200" dirty="0"/>
              <a:t>근처에서 수치가 나빠질 수 있음</a:t>
            </a:r>
            <a:endParaRPr lang="en-US" altLang="ko-KR" sz="3200" dirty="0"/>
          </a:p>
          <a:p>
            <a:pPr marL="914400" lvl="1" indent="-457200">
              <a:lnSpc>
                <a:spcPct val="150000"/>
              </a:lnSpc>
              <a:buFont typeface="Arial" panose="020B0604020202020204" pitchFamily="34" charset="0"/>
              <a:buChar char="•"/>
            </a:pPr>
            <a:r>
              <a:rPr lang="ko-KR" altLang="en-US" sz="3200" dirty="0"/>
              <a:t>무게</a:t>
            </a:r>
            <a:r>
              <a:rPr lang="en-US" altLang="ko-KR" sz="3200" dirty="0"/>
              <a:t>, </a:t>
            </a:r>
            <a:r>
              <a:rPr lang="ko-KR" altLang="en-US" sz="3200" dirty="0"/>
              <a:t>관성</a:t>
            </a:r>
            <a:r>
              <a:rPr lang="en-US" altLang="ko-KR" sz="3200" dirty="0"/>
              <a:t>, </a:t>
            </a:r>
            <a:r>
              <a:rPr lang="ko-KR" altLang="en-US" sz="3200" dirty="0"/>
              <a:t>마찰</a:t>
            </a:r>
            <a:r>
              <a:rPr lang="en-US" altLang="ko-KR" sz="3200" dirty="0"/>
              <a:t>, </a:t>
            </a:r>
            <a:r>
              <a:rPr lang="ko-KR" altLang="en-US" sz="3200" dirty="0"/>
              <a:t>접촉 등의 물리 제약을 직접적으로 다루지 않음</a:t>
            </a:r>
            <a:endParaRPr lang="en-US" altLang="ko-KR" sz="3200" dirty="0"/>
          </a:p>
          <a:p>
            <a:pPr marL="914400" lvl="1" indent="-457200">
              <a:lnSpc>
                <a:spcPct val="150000"/>
              </a:lnSpc>
              <a:buFont typeface="Arial" panose="020B0604020202020204" pitchFamily="34" charset="0"/>
              <a:buChar char="•"/>
            </a:pPr>
            <a:r>
              <a:rPr lang="en-US" altLang="ko-KR" sz="3200" dirty="0"/>
              <a:t>IK</a:t>
            </a:r>
            <a:r>
              <a:rPr lang="ko-KR" altLang="en-US" sz="3200" dirty="0"/>
              <a:t>로 충분한 상황</a:t>
            </a:r>
            <a:r>
              <a:rPr lang="en-US" altLang="ko-KR" sz="3200" dirty="0"/>
              <a:t>: </a:t>
            </a:r>
            <a:r>
              <a:rPr lang="ko-KR" altLang="en-US" sz="3200" dirty="0"/>
              <a:t>가볍고 느린 동작</a:t>
            </a:r>
            <a:r>
              <a:rPr lang="en-US" altLang="ko-KR" sz="3200" dirty="0"/>
              <a:t>, </a:t>
            </a:r>
            <a:r>
              <a:rPr lang="ko-KR" altLang="en-US" sz="3200" dirty="0"/>
              <a:t>접촉이 적고 정밀도 요구가 낮을 때</a:t>
            </a:r>
            <a:endParaRPr lang="en-US" altLang="ko-KR" sz="3200" dirty="0"/>
          </a:p>
          <a:p>
            <a:pPr marL="914400" lvl="1" indent="-457200">
              <a:lnSpc>
                <a:spcPct val="150000"/>
              </a:lnSpc>
              <a:buFont typeface="Arial" panose="020B0604020202020204" pitchFamily="34" charset="0"/>
              <a:buChar char="•"/>
            </a:pPr>
            <a:endParaRPr lang="en-US" altLang="ko-KR" sz="3200" dirty="0"/>
          </a:p>
          <a:p>
            <a:pPr marL="914400" lvl="1" indent="-457200">
              <a:lnSpc>
                <a:spcPct val="150000"/>
              </a:lnSpc>
              <a:buFont typeface="Arial" panose="020B0604020202020204" pitchFamily="34" charset="0"/>
              <a:buChar char="•"/>
            </a:pPr>
            <a:endParaRPr lang="en-US" altLang="ko-KR" sz="3200" dirty="0"/>
          </a:p>
          <a:p>
            <a:pPr>
              <a:lnSpc>
                <a:spcPct val="150000"/>
              </a:lnSpc>
              <a:buNone/>
            </a:pPr>
            <a:r>
              <a:rPr lang="en-US" altLang="ko-KR" sz="4000" dirty="0"/>
              <a:t>Inverse Dynamics</a:t>
            </a:r>
          </a:p>
          <a:p>
            <a:pPr marL="914400" lvl="1" indent="-457200">
              <a:lnSpc>
                <a:spcPct val="150000"/>
              </a:lnSpc>
              <a:buFont typeface="Arial" panose="020B0604020202020204" pitchFamily="34" charset="0"/>
              <a:buChar char="•"/>
            </a:pPr>
            <a:r>
              <a:rPr lang="ko-KR" altLang="en-US" sz="3200" dirty="0"/>
              <a:t>무거우면 더 많은 힘이 필요</a:t>
            </a:r>
            <a:r>
              <a:rPr lang="en-US" altLang="ko-KR" sz="3200" dirty="0"/>
              <a:t>, </a:t>
            </a:r>
            <a:r>
              <a:rPr lang="ko-KR" altLang="en-US" sz="3200" dirty="0"/>
              <a:t>빠르게 가속하기 위해서도 더 큰 힘이 필요 </a:t>
            </a:r>
            <a:r>
              <a:rPr lang="en-US" altLang="ko-KR" sz="3200" dirty="0"/>
              <a:t>&gt; </a:t>
            </a:r>
            <a:r>
              <a:rPr lang="ko-KR" altLang="en-US" sz="3200" dirty="0"/>
              <a:t>이러한 요구사항을 계산</a:t>
            </a:r>
            <a:endParaRPr lang="en-US" altLang="ko-KR" sz="3200" dirty="0"/>
          </a:p>
          <a:p>
            <a:pPr marL="914400" lvl="1" indent="-457200">
              <a:lnSpc>
                <a:spcPct val="150000"/>
              </a:lnSpc>
              <a:buFont typeface="Arial" panose="020B0604020202020204" pitchFamily="34" charset="0"/>
              <a:buChar char="•"/>
            </a:pPr>
            <a:r>
              <a:rPr lang="ko-KR" altLang="en-US" sz="3200" dirty="0"/>
              <a:t>바닥</a:t>
            </a:r>
            <a:r>
              <a:rPr lang="en-US" altLang="ko-KR" sz="3200" dirty="0"/>
              <a:t>/</a:t>
            </a:r>
            <a:r>
              <a:rPr lang="ko-KR" altLang="en-US" sz="3200" dirty="0"/>
              <a:t>벽과 힘을 주고 받는 상황 통제 가능</a:t>
            </a:r>
            <a:endParaRPr lang="en-US" altLang="ko-KR" sz="3200" dirty="0"/>
          </a:p>
          <a:p>
            <a:pPr marL="914400" lvl="1" indent="-457200">
              <a:lnSpc>
                <a:spcPct val="150000"/>
              </a:lnSpc>
              <a:buFont typeface="Arial" panose="020B0604020202020204" pitchFamily="34" charset="0"/>
              <a:buChar char="•"/>
            </a:pPr>
            <a:r>
              <a:rPr lang="ko-KR" altLang="en-US" sz="3200" dirty="0"/>
              <a:t>모터 자체의 토크 한계를 고려하여 계산 가능</a:t>
            </a:r>
            <a:endParaRPr lang="en-US" altLang="ko-KR" sz="3200" dirty="0"/>
          </a:p>
          <a:p>
            <a:pPr marL="914400" lvl="1" indent="-457200">
              <a:lnSpc>
                <a:spcPct val="150000"/>
              </a:lnSpc>
              <a:buFont typeface="Arial" panose="020B0604020202020204" pitchFamily="34" charset="0"/>
              <a:buChar char="•"/>
            </a:pPr>
            <a:r>
              <a:rPr lang="ko-KR" altLang="en-US" sz="3200" dirty="0"/>
              <a:t>기타 접촉</a:t>
            </a:r>
            <a:r>
              <a:rPr lang="en-US" altLang="ko-KR" sz="3200" dirty="0"/>
              <a:t>, </a:t>
            </a:r>
            <a:r>
              <a:rPr lang="ko-KR" altLang="en-US" sz="3200" dirty="0"/>
              <a:t>관절 한계 등의 현실 제약을 직접적으로 다루기 쉽다</a:t>
            </a:r>
            <a:endParaRPr lang="en-US" altLang="ko-KR" sz="3200" dirty="0"/>
          </a:p>
          <a:p>
            <a:pPr marL="914400" lvl="1" indent="-457200">
              <a:lnSpc>
                <a:spcPct val="150000"/>
              </a:lnSpc>
              <a:buFont typeface="Arial" panose="020B0604020202020204" pitchFamily="34" charset="0"/>
              <a:buChar char="•"/>
            </a:pPr>
            <a:endParaRPr lang="en-US" altLang="ko-KR" sz="3200" dirty="0"/>
          </a:p>
          <a:p>
            <a:pPr marL="914400" lvl="1" indent="-457200">
              <a:lnSpc>
                <a:spcPct val="150000"/>
              </a:lnSpc>
              <a:buFont typeface="Arial" panose="020B0604020202020204" pitchFamily="34" charset="0"/>
              <a:buChar char="•"/>
            </a:pPr>
            <a:endParaRPr lang="en-US" altLang="ko-KR" sz="3200" dirty="0">
              <a:latin typeface="+mn-ea"/>
            </a:endParaRPr>
          </a:p>
        </p:txBody>
      </p:sp>
    </p:spTree>
    <p:extLst>
      <p:ext uri="{BB962C8B-B14F-4D97-AF65-F5344CB8AC3E}">
        <p14:creationId xmlns:p14="http://schemas.microsoft.com/office/powerpoint/2010/main" val="2749490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FDD8-A6EE-3806-C618-009CAD32C445}"/>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DFFFB94-7288-9446-A4E3-2A901AAB88CF}"/>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53B530B1-FAB6-C50E-F100-47B45D4D1C50}"/>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F15C5C01-DB44-1405-78C2-653CF4042CA6}"/>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 sz="6000" b="1" dirty="0">
                <a:solidFill>
                  <a:srgbClr val="000000"/>
                </a:solidFill>
                <a:latin typeface="Arial" panose="020B0604020202020204" pitchFamily="34" charset="0"/>
                <a:cs typeface="Arial" panose="020B0604020202020204" pitchFamily="34" charset="0"/>
              </a:rPr>
              <a:t>Jacobian</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95C4C25-CFCF-C4BA-E163-4CD8289E433F}"/>
              </a:ext>
            </a:extLst>
          </p:cNvPr>
          <p:cNvSpPr txBox="1"/>
          <p:nvPr/>
        </p:nvSpPr>
        <p:spPr>
          <a:xfrm>
            <a:off x="1600200" y="2253735"/>
            <a:ext cx="21564600" cy="4244495"/>
          </a:xfrm>
          <a:prstGeom prst="rect">
            <a:avLst/>
          </a:prstGeom>
          <a:noFill/>
        </p:spPr>
        <p:txBody>
          <a:bodyPr wrap="square">
            <a:spAutoFit/>
          </a:bodyPr>
          <a:lstStyle/>
          <a:p>
            <a:pPr>
              <a:lnSpc>
                <a:spcPct val="150000"/>
              </a:lnSpc>
              <a:buNone/>
            </a:pPr>
            <a:r>
              <a:rPr lang="ko-KR" altLang="en-US" sz="4000" dirty="0"/>
              <a:t>로봇공학 복습 </a:t>
            </a:r>
            <a:r>
              <a:rPr lang="en-US" altLang="ko-KR" sz="4000" dirty="0"/>
              <a:t>:</a:t>
            </a:r>
          </a:p>
          <a:p>
            <a:pPr>
              <a:lnSpc>
                <a:spcPct val="150000"/>
              </a:lnSpc>
              <a:buNone/>
            </a:pPr>
            <a:endParaRPr lang="en-US" altLang="ko-KR" sz="4000" dirty="0"/>
          </a:p>
          <a:p>
            <a:pPr>
              <a:lnSpc>
                <a:spcPct val="150000"/>
              </a:lnSpc>
              <a:buNone/>
            </a:pPr>
            <a:endParaRPr lang="en-US" altLang="ko-KR" sz="4000" dirty="0"/>
          </a:p>
          <a:p>
            <a:pPr>
              <a:lnSpc>
                <a:spcPct val="150000"/>
              </a:lnSpc>
              <a:buNone/>
            </a:pPr>
            <a:r>
              <a:rPr lang="en-US" altLang="ko-KR" sz="3200" dirty="0"/>
              <a:t>			Chain rule </a:t>
            </a:r>
            <a:r>
              <a:rPr lang="ko-KR" altLang="en-US" sz="3200" dirty="0"/>
              <a:t>에 의해</a:t>
            </a:r>
            <a:endParaRPr lang="en-US" altLang="ko-KR" sz="3200" dirty="0"/>
          </a:p>
          <a:p>
            <a:pPr marL="914400" lvl="1" indent="-457200">
              <a:lnSpc>
                <a:spcPct val="150000"/>
              </a:lnSpc>
              <a:buFont typeface="Arial" panose="020B0604020202020204" pitchFamily="34" charset="0"/>
              <a:buChar char="•"/>
            </a:pPr>
            <a:endParaRPr lang="en-US" altLang="ko-KR" sz="3200" dirty="0">
              <a:latin typeface="+mn-ea"/>
            </a:endParaRPr>
          </a:p>
        </p:txBody>
      </p:sp>
      <p:pic>
        <p:nvPicPr>
          <p:cNvPr id="11" name="그림 10" descr="\documentclass{article}&#10;\usepackage{amsmath}&#10;\pagestyle{empty}&#10;\begin{document}&#10;&#10;&#10;$&#10;\mathbf{x} = f(\boldsymbol{\theta})&#10;$&#10;&#10;\end{document}" title="IguanaTex Bitmap Display">
            <a:extLst>
              <a:ext uri="{FF2B5EF4-FFF2-40B4-BE49-F238E27FC236}">
                <a16:creationId xmlns:a16="http://schemas.microsoft.com/office/drawing/2014/main" id="{9E450FEE-689E-8FFB-589F-172B572F2062}"/>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8458200" y="3860522"/>
            <a:ext cx="1824000" cy="483505"/>
          </a:xfrm>
          <a:prstGeom prst="rect">
            <a:avLst/>
          </a:prstGeom>
        </p:spPr>
      </p:pic>
      <p:pic>
        <p:nvPicPr>
          <p:cNvPr id="15" name="그림 14" descr="\documentclass{article}&#10;\usepackage{amsmath}&#10;\pagestyle{empty}&#10;\begin{document}&#10;&#10;&#10;$&#10;\delta \mathbf{x} \;=\; \frac{\partial f(\boldsymbol{\theta})}{\partial \boldsymbol{\theta}}\,\delta \boldsymbol{\theta}&#10;$&#10;&#10;\end{document}" title="IguanaTex Bitmap Display">
            <a:extLst>
              <a:ext uri="{FF2B5EF4-FFF2-40B4-BE49-F238E27FC236}">
                <a16:creationId xmlns:a16="http://schemas.microsoft.com/office/drawing/2014/main" id="{F5C481F8-F5B2-4720-106D-2FD6D77C4B42}"/>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829933" y="6169620"/>
            <a:ext cx="3080533" cy="657219"/>
          </a:xfrm>
          <a:prstGeom prst="rect">
            <a:avLst/>
          </a:prstGeom>
        </p:spPr>
      </p:pic>
      <p:pic>
        <p:nvPicPr>
          <p:cNvPr id="19" name="그림 18" descr="\documentclass{article}&#10;\usepackage{amsmath}&#10;\pagestyle{empty}&#10;\begin{document}&#10;&#10;&#10;$&#10;\begin{aligned}&#10;x_1 &amp;= f_1(\theta_1,\theta_2,\ldots,\theta_6),\\&#10;x_2 &amp;= f_2(\theta_1,\theta_2,\ldots,\theta_6),\\&#10;&amp;\;\;\vdots \\&#10;x_6 &amp;= f_6(\theta_1,\theta_2,\ldots,\theta_6).&#10;\end{aligned}&#10;$&#10;&#10;\end{document}" title="IguanaTex Bitmap Display">
            <a:extLst>
              <a:ext uri="{FF2B5EF4-FFF2-40B4-BE49-F238E27FC236}">
                <a16:creationId xmlns:a16="http://schemas.microsoft.com/office/drawing/2014/main" id="{5DC50483-C23A-3518-FB71-1766FFECD300}"/>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3673645" y="9189864"/>
            <a:ext cx="4649752" cy="3013943"/>
          </a:xfrm>
          <a:prstGeom prst="rect">
            <a:avLst/>
          </a:prstGeom>
        </p:spPr>
      </p:pic>
      <p:pic>
        <p:nvPicPr>
          <p:cNvPr id="21" name="그림 20" descr="\documentclass{article}&#10;\usepackage{amsmath}&#10;\pagestyle{empty}&#10;\begin{document}&#10;&#10;&#10;$&#10;\begin{aligned}&#10;\delta x_1 &amp;= \frac{\partial f_1}{\partial \theta_1}\,\delta\theta_1&#10;           + \frac{\partial f_1}{\partial \theta_2}\,\delta\theta_2&#10;           + \cdots&#10;           + \frac{\partial f_1}{\partial \theta_6}\,\delta\theta_6,\\&#10;\delta x_2 &amp;= \frac{\partial f_2}{\partial \theta_1}\,\delta\theta_1&#10;           + \frac{\partial f_2}{\partial \theta_2}\,\delta\theta_2&#10;           + \cdots&#10;           + \frac{\partial f_2}{\partial \theta_6}\,\delta\theta_6,\\&#10;&amp;\;\;\vdots \\&#10;\delta x_6 &amp;= \frac{\partial f_6}{\partial \theta_1}\,\delta\theta_1&#10;           + \frac{\partial f_6}{\partial \theta_2}\,\delta\theta_2&#10;           + \cdots&#10;           + \frac{\partial f_6}{\partial \theta_6}\,\delta\theta_6.&#10;\end{aligned}&#10;$&#10;&#10;\end{document}" title="IguanaTex Bitmap Display">
            <a:extLst>
              <a:ext uri="{FF2B5EF4-FFF2-40B4-BE49-F238E27FC236}">
                <a16:creationId xmlns:a16="http://schemas.microsoft.com/office/drawing/2014/main" id="{3486B69B-34CF-74A1-276C-7B340229090B}"/>
              </a:ext>
            </a:extLst>
          </p:cNvPr>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12560300" y="8259912"/>
            <a:ext cx="8569904" cy="4672914"/>
          </a:xfrm>
          <a:prstGeom prst="rect">
            <a:avLst/>
          </a:prstGeom>
        </p:spPr>
      </p:pic>
      <p:sp>
        <p:nvSpPr>
          <p:cNvPr id="22" name="화살표: 오른쪽 21">
            <a:extLst>
              <a:ext uri="{FF2B5EF4-FFF2-40B4-BE49-F238E27FC236}">
                <a16:creationId xmlns:a16="http://schemas.microsoft.com/office/drawing/2014/main" id="{BC25A0EC-6BAD-B325-24B6-31063C1875FC}"/>
              </a:ext>
            </a:extLst>
          </p:cNvPr>
          <p:cNvSpPr/>
          <p:nvPr/>
        </p:nvSpPr>
        <p:spPr>
          <a:xfrm>
            <a:off x="9821042" y="10287000"/>
            <a:ext cx="1295400" cy="657219"/>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01979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DBA30-E723-BF68-D36E-77271CF0EB7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2D4EC13-4B09-F6C9-8CFE-DB79E15A3E2C}"/>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808F1DA1-2C33-51A4-0E5B-9681C3404267}"/>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FE853D0-3604-040B-B5CC-D97BCB5DB863}"/>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 sz="6000" b="1" dirty="0">
                <a:solidFill>
                  <a:srgbClr val="000000"/>
                </a:solidFill>
                <a:latin typeface="Arial" panose="020B0604020202020204" pitchFamily="34" charset="0"/>
                <a:cs typeface="Arial" panose="020B0604020202020204" pitchFamily="34" charset="0"/>
              </a:rPr>
              <a:t>Jacobian</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3D2E41F-32AF-1331-72AB-AD2D9A62D1BF}"/>
              </a:ext>
            </a:extLst>
          </p:cNvPr>
          <p:cNvSpPr txBox="1"/>
          <p:nvPr/>
        </p:nvSpPr>
        <p:spPr>
          <a:xfrm>
            <a:off x="1600200" y="2253735"/>
            <a:ext cx="21564600" cy="7753148"/>
          </a:xfrm>
          <a:prstGeom prst="rect">
            <a:avLst/>
          </a:prstGeom>
          <a:noFill/>
        </p:spPr>
        <p:txBody>
          <a:bodyPr wrap="square">
            <a:spAutoFit/>
          </a:bodyPr>
          <a:lstStyle/>
          <a:p>
            <a:pPr>
              <a:lnSpc>
                <a:spcPct val="150000"/>
              </a:lnSpc>
              <a:buNone/>
            </a:pPr>
            <a:r>
              <a:rPr lang="ko-KR" altLang="en-US" sz="4000" dirty="0"/>
              <a:t>로봇공학 복습 </a:t>
            </a:r>
            <a:r>
              <a:rPr lang="en-US" altLang="ko-KR" sz="4000" dirty="0"/>
              <a:t>:</a:t>
            </a:r>
          </a:p>
          <a:p>
            <a:pPr>
              <a:lnSpc>
                <a:spcPct val="150000"/>
              </a:lnSpc>
              <a:buNone/>
            </a:pPr>
            <a:endParaRPr lang="en-US" altLang="ko-KR" sz="4000" dirty="0"/>
          </a:p>
          <a:p>
            <a:pPr>
              <a:lnSpc>
                <a:spcPct val="150000"/>
              </a:lnSpc>
            </a:pPr>
            <a:r>
              <a:rPr lang="en-US" altLang="ko-KR" sz="3200" dirty="0"/>
              <a:t>			</a:t>
            </a:r>
            <a:r>
              <a:rPr lang="ko-KR" altLang="en-US" sz="3200" dirty="0"/>
              <a:t>이를 행렬의 형태로 표기하면</a:t>
            </a:r>
            <a:endParaRPr lang="en-US" altLang="ko-KR" sz="3200" dirty="0"/>
          </a:p>
          <a:p>
            <a:pPr>
              <a:lnSpc>
                <a:spcPct val="150000"/>
              </a:lnSpc>
            </a:pPr>
            <a:endParaRPr lang="en-US" altLang="ko-KR" sz="3200" dirty="0"/>
          </a:p>
          <a:p>
            <a:pPr>
              <a:lnSpc>
                <a:spcPct val="150000"/>
              </a:lnSpc>
            </a:pPr>
            <a:endParaRPr lang="en-US" altLang="ko-KR" sz="3200" dirty="0"/>
          </a:p>
          <a:p>
            <a:pPr>
              <a:lnSpc>
                <a:spcPct val="150000"/>
              </a:lnSpc>
            </a:pPr>
            <a:endParaRPr lang="en-US" altLang="ko-KR" sz="3200" dirty="0"/>
          </a:p>
          <a:p>
            <a:pPr>
              <a:lnSpc>
                <a:spcPct val="150000"/>
              </a:lnSpc>
            </a:pPr>
            <a:endParaRPr lang="en-US" altLang="ko-KR" sz="3200" dirty="0"/>
          </a:p>
          <a:p>
            <a:pPr>
              <a:lnSpc>
                <a:spcPct val="150000"/>
              </a:lnSpc>
            </a:pPr>
            <a:r>
              <a:rPr lang="en-US" altLang="ko-KR" sz="3200" dirty="0"/>
              <a:t>			</a:t>
            </a:r>
            <a:r>
              <a:rPr lang="ko-KR" altLang="en-US" sz="3200" dirty="0"/>
              <a:t>즉</a:t>
            </a:r>
            <a:r>
              <a:rPr lang="en-US" altLang="ko-KR" sz="3200" dirty="0"/>
              <a:t>, </a:t>
            </a:r>
            <a:r>
              <a:rPr lang="ko-KR" altLang="en-US" sz="3200" dirty="0"/>
              <a:t>로봇에서 </a:t>
            </a:r>
            <a:r>
              <a:rPr lang="ko-KR" altLang="en-US" sz="3200" dirty="0" err="1"/>
              <a:t>자코비안이란</a:t>
            </a:r>
            <a:endParaRPr lang="en-US" altLang="ko-KR" sz="3200" dirty="0"/>
          </a:p>
          <a:p>
            <a:pPr>
              <a:lnSpc>
                <a:spcPct val="150000"/>
              </a:lnSpc>
            </a:pPr>
            <a:r>
              <a:rPr lang="en-US" altLang="ko-KR" sz="3200" b="1" dirty="0"/>
              <a:t>			</a:t>
            </a:r>
            <a:r>
              <a:rPr lang="ko-KR" altLang="en-US" sz="3200" b="1" dirty="0"/>
              <a:t>관절 속도가 말단 속도로 투영되는 선형 변환</a:t>
            </a:r>
            <a:r>
              <a:rPr lang="en-US" altLang="ko-KR" sz="3200" b="1" dirty="0"/>
              <a:t> </a:t>
            </a:r>
          </a:p>
          <a:p>
            <a:pPr>
              <a:lnSpc>
                <a:spcPct val="150000"/>
              </a:lnSpc>
            </a:pPr>
            <a:endParaRPr lang="en-US" altLang="ko-KR" sz="3200" dirty="0">
              <a:latin typeface="+mn-ea"/>
            </a:endParaRPr>
          </a:p>
        </p:txBody>
      </p:sp>
      <p:pic>
        <p:nvPicPr>
          <p:cNvPr id="5" name="그림 4" descr="\documentclass{article}&#10;\usepackage{amsmath}&#10;\pagestyle{empty}&#10;\begin{document}&#10;&#10;&#10;$&#10;\begin{bmatrix}&#10;\delta x_1\\[2pt]\delta x_2\\[2pt]\vdots\\[2pt]\delta x_6&#10;\end{bmatrix}&#10;=&#10;\underbrace{&#10;\begin{bmatrix}&#10;\frac{\partial f_1}{\partial \theta_1} &amp; \frac{\partial f_1}{\partial \theta_2} &amp; \cdots &amp; \frac{\partial f_1}{\partial \theta_6} \\&#10;\frac{\partial f_2}{\partial \theta_1} &amp; \frac{\partial f_2}{\partial \theta_2} &amp; \cdots &amp; \frac{\partial f_2}{\partial \theta_6} \\&#10;\vdots &amp; \vdots &amp; \ddots &amp; \vdots \\&#10;\frac{\partial f_6}{\partial \theta_1} &amp; \frac{\partial f_6}{\partial \theta_2} &amp; \cdots &amp; \frac{\partial f_6}{\partial \theta_6}&#10;\end{bmatrix}&#10;}_{\displaystyle \mathbf{J}(\boldsymbol{\theta})}&#10;\begin{bmatrix}&#10;\delta \theta_1\\[2pt]\delta \theta_2\\[2pt]\vdots\\[2pt]\delta \theta_6&#10;\end{bmatrix}.&#10;$&#10;&#10;\end{document}" title="IguanaTex Bitmap Display">
            <a:extLst>
              <a:ext uri="{FF2B5EF4-FFF2-40B4-BE49-F238E27FC236}">
                <a16:creationId xmlns:a16="http://schemas.microsoft.com/office/drawing/2014/main" id="{547AAD04-1107-280F-273D-B912861DCA73}"/>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1430000" y="3059448"/>
            <a:ext cx="8286171" cy="3798552"/>
          </a:xfrm>
          <a:prstGeom prst="rect">
            <a:avLst/>
          </a:prstGeom>
        </p:spPr>
      </p:pic>
      <p:pic>
        <p:nvPicPr>
          <p:cNvPr id="13" name="그림 12" descr="\documentclass{article}&#10;\usepackage{amsmath}&#10;\pagestyle{empty}&#10;\begin{document}&#10;&#10;&#10;$&#10;\dot{\mathbf{x}} \;=\; \mathbf{J}(\mathbf{q})\,\dot{\mathbf{q}}&#10;$&#10;&#10;\end{document}" title="IguanaTex Bitmap Display">
            <a:extLst>
              <a:ext uri="{FF2B5EF4-FFF2-40B4-BE49-F238E27FC236}">
                <a16:creationId xmlns:a16="http://schemas.microsoft.com/office/drawing/2014/main" id="{21CB30A1-1B89-B7C2-DA30-2AF06E5BC357}"/>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10215404" y="9904189"/>
            <a:ext cx="3953192" cy="760580"/>
          </a:xfrm>
          <a:prstGeom prst="rect">
            <a:avLst/>
          </a:prstGeom>
        </p:spPr>
      </p:pic>
    </p:spTree>
    <p:extLst>
      <p:ext uri="{BB962C8B-B14F-4D97-AF65-F5344CB8AC3E}">
        <p14:creationId xmlns:p14="http://schemas.microsoft.com/office/powerpoint/2010/main" val="1092273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23911-D2C7-EFDD-2C55-BA466463232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1B3628F7-CDA6-B48E-3780-60D42BAE36B0}"/>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83249D56-A53B-FFDB-3F84-145E93EF289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8327E653-C55E-0AC6-6DE5-B922F3A68AFD}"/>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로봇 운동방정식</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45912F2-EFE1-D5EB-C413-3C92B3824EB7}"/>
              </a:ext>
            </a:extLst>
          </p:cNvPr>
          <p:cNvSpPr txBox="1"/>
          <p:nvPr/>
        </p:nvSpPr>
        <p:spPr>
          <a:xfrm>
            <a:off x="1600200" y="2253735"/>
            <a:ext cx="21564600" cy="8122480"/>
          </a:xfrm>
          <a:prstGeom prst="rect">
            <a:avLst/>
          </a:prstGeom>
          <a:noFill/>
        </p:spPr>
        <p:txBody>
          <a:bodyPr wrap="square">
            <a:spAutoFit/>
          </a:bodyPr>
          <a:lstStyle/>
          <a:p>
            <a:pPr>
              <a:lnSpc>
                <a:spcPct val="150000"/>
              </a:lnSpc>
            </a:pPr>
            <a:endParaRPr lang="en-US" altLang="ko-KR" sz="3200" dirty="0">
              <a:latin typeface="+mn-ea"/>
            </a:endParaRPr>
          </a:p>
          <a:p>
            <a:pPr>
              <a:lnSpc>
                <a:spcPct val="150000"/>
              </a:lnSpc>
            </a:pPr>
            <a:endParaRPr lang="en-US" altLang="ko-KR" sz="3200" dirty="0">
              <a:latin typeface="+mn-ea"/>
            </a:endParaRPr>
          </a:p>
          <a:p>
            <a:pPr>
              <a:lnSpc>
                <a:spcPct val="150000"/>
              </a:lnSpc>
            </a:pPr>
            <a:r>
              <a:rPr lang="ko-KR" altLang="en-US" sz="3200" dirty="0">
                <a:latin typeface="+mn-ea"/>
              </a:rPr>
              <a:t>일반화 좌표</a:t>
            </a:r>
            <a:r>
              <a:rPr lang="en-US" altLang="ko-KR" sz="3200" dirty="0">
                <a:latin typeface="+mn-ea"/>
              </a:rPr>
              <a:t>(</a:t>
            </a:r>
            <a:r>
              <a:rPr lang="ko-KR" altLang="en-US" sz="3200" dirty="0">
                <a:latin typeface="+mn-ea"/>
              </a:rPr>
              <a:t>각도   </a:t>
            </a:r>
            <a:r>
              <a:rPr lang="en-US" altLang="ko-KR" sz="3200" dirty="0">
                <a:latin typeface="+mn-ea"/>
              </a:rPr>
              <a:t>) :       ex)</a:t>
            </a:r>
            <a:r>
              <a:rPr lang="ko-KR" altLang="en-US" sz="3200" dirty="0">
                <a:latin typeface="+mn-ea"/>
              </a:rPr>
              <a:t> </a:t>
            </a:r>
            <a:r>
              <a:rPr lang="en-US" altLang="ko-KR" sz="3200" dirty="0">
                <a:latin typeface="+mn-ea"/>
              </a:rPr>
              <a:t>2DOF</a:t>
            </a:r>
            <a:r>
              <a:rPr lang="ko-KR" altLang="en-US" sz="3200" dirty="0">
                <a:latin typeface="+mn-ea"/>
              </a:rPr>
              <a:t> </a:t>
            </a:r>
            <a:r>
              <a:rPr lang="ko-KR" altLang="en-US" sz="3200" dirty="0" err="1">
                <a:latin typeface="+mn-ea"/>
              </a:rPr>
              <a:t>로봇팔</a:t>
            </a:r>
            <a:r>
              <a:rPr lang="ko-KR" altLang="en-US" sz="3200" dirty="0">
                <a:latin typeface="+mn-ea"/>
              </a:rPr>
              <a:t> </a:t>
            </a:r>
            <a:r>
              <a:rPr lang="en-US" altLang="ko-KR" sz="3200" dirty="0">
                <a:latin typeface="+mn-ea"/>
              </a:rPr>
              <a:t>: </a:t>
            </a:r>
          </a:p>
          <a:p>
            <a:pPr>
              <a:lnSpc>
                <a:spcPct val="150000"/>
              </a:lnSpc>
            </a:pPr>
            <a:r>
              <a:rPr lang="ko-KR" altLang="en-US" sz="3200" dirty="0">
                <a:latin typeface="+mn-ea"/>
              </a:rPr>
              <a:t>속도 </a:t>
            </a:r>
            <a:r>
              <a:rPr lang="en-US" altLang="ko-KR" sz="3200" dirty="0">
                <a:latin typeface="+mn-ea"/>
              </a:rPr>
              <a:t>:      ,  </a:t>
            </a:r>
            <a:r>
              <a:rPr lang="ko-KR" altLang="en-US" sz="3200" dirty="0">
                <a:latin typeface="+mn-ea"/>
              </a:rPr>
              <a:t>가속도 </a:t>
            </a:r>
            <a:r>
              <a:rPr lang="en-US" altLang="ko-KR" sz="3200" dirty="0">
                <a:latin typeface="+mn-ea"/>
              </a:rPr>
              <a:t>: </a:t>
            </a:r>
          </a:p>
          <a:p>
            <a:pPr>
              <a:lnSpc>
                <a:spcPct val="150000"/>
              </a:lnSpc>
            </a:pPr>
            <a:r>
              <a:rPr lang="ko-KR" altLang="en-US" sz="3200" dirty="0">
                <a:latin typeface="+mn-ea"/>
              </a:rPr>
              <a:t>관성 행렬 </a:t>
            </a:r>
            <a:r>
              <a:rPr lang="en-US" altLang="ko-KR" sz="3200" dirty="0">
                <a:latin typeface="+mn-ea"/>
              </a:rPr>
              <a:t>: </a:t>
            </a:r>
          </a:p>
          <a:p>
            <a:pPr>
              <a:lnSpc>
                <a:spcPct val="150000"/>
              </a:lnSpc>
            </a:pPr>
            <a:r>
              <a:rPr lang="ko-KR" altLang="en-US" sz="3200" dirty="0" err="1">
                <a:latin typeface="+mn-ea"/>
              </a:rPr>
              <a:t>코리올리항</a:t>
            </a:r>
            <a:r>
              <a:rPr lang="ko-KR" altLang="en-US" sz="3200" dirty="0">
                <a:latin typeface="+mn-ea"/>
              </a:rPr>
              <a:t> </a:t>
            </a:r>
            <a:r>
              <a:rPr lang="en-US" altLang="ko-KR" sz="3200" dirty="0">
                <a:latin typeface="+mn-ea"/>
              </a:rPr>
              <a:t>:</a:t>
            </a:r>
          </a:p>
          <a:p>
            <a:pPr>
              <a:lnSpc>
                <a:spcPct val="150000"/>
              </a:lnSpc>
            </a:pPr>
            <a:r>
              <a:rPr lang="ko-KR" altLang="en-US" sz="3200" dirty="0" err="1">
                <a:latin typeface="+mn-ea"/>
              </a:rPr>
              <a:t>중력항</a:t>
            </a:r>
            <a:r>
              <a:rPr lang="ko-KR" altLang="en-US" sz="3200" dirty="0">
                <a:latin typeface="+mn-ea"/>
              </a:rPr>
              <a:t> </a:t>
            </a:r>
            <a:r>
              <a:rPr lang="en-US" altLang="ko-KR" sz="3200" dirty="0">
                <a:latin typeface="+mn-ea"/>
              </a:rPr>
              <a:t>:</a:t>
            </a:r>
          </a:p>
          <a:p>
            <a:pPr>
              <a:lnSpc>
                <a:spcPct val="150000"/>
              </a:lnSpc>
            </a:pPr>
            <a:r>
              <a:rPr lang="ko-KR" altLang="en-US" sz="3200" dirty="0">
                <a:latin typeface="+mn-ea"/>
              </a:rPr>
              <a:t>조인트 토크 </a:t>
            </a:r>
            <a:r>
              <a:rPr lang="en-US" altLang="ko-KR" sz="3200" dirty="0">
                <a:latin typeface="+mn-ea"/>
              </a:rPr>
              <a:t>:</a:t>
            </a:r>
          </a:p>
          <a:p>
            <a:pPr>
              <a:lnSpc>
                <a:spcPct val="150000"/>
              </a:lnSpc>
            </a:pPr>
            <a:r>
              <a:rPr lang="ko-KR" altLang="en-US" sz="3200" dirty="0">
                <a:latin typeface="+mn-ea"/>
              </a:rPr>
              <a:t>외력</a:t>
            </a:r>
            <a:r>
              <a:rPr lang="en-US" altLang="ko-KR" sz="3200" dirty="0">
                <a:latin typeface="+mn-ea"/>
              </a:rPr>
              <a:t>/</a:t>
            </a:r>
            <a:r>
              <a:rPr lang="ko-KR" altLang="en-US" sz="3200" dirty="0">
                <a:latin typeface="+mn-ea"/>
              </a:rPr>
              <a:t>접촉 </a:t>
            </a:r>
            <a:r>
              <a:rPr lang="en-US" altLang="ko-KR" sz="3200" dirty="0">
                <a:latin typeface="+mn-ea"/>
              </a:rPr>
              <a:t>:    </a:t>
            </a:r>
          </a:p>
          <a:p>
            <a:pPr>
              <a:lnSpc>
                <a:spcPct val="150000"/>
              </a:lnSpc>
            </a:pPr>
            <a:endParaRPr lang="en-US" altLang="ko-KR" sz="3200" dirty="0">
              <a:latin typeface="+mn-ea"/>
            </a:endParaRPr>
          </a:p>
          <a:p>
            <a:pPr>
              <a:lnSpc>
                <a:spcPct val="150000"/>
              </a:lnSpc>
            </a:pPr>
            <a:endParaRPr lang="en-US" altLang="ko-KR" sz="3200" dirty="0">
              <a:latin typeface="+mn-ea"/>
            </a:endParaRPr>
          </a:p>
        </p:txBody>
      </p:sp>
      <p:pic>
        <p:nvPicPr>
          <p:cNvPr id="7" name="그림 6" descr="\documentclass{article}&#10;\usepackage{amsmath}&#10;\pagestyle{empty}&#10;\begin{document}&#10;&#10;&#10;$&#10;M(q)\,\ddot q + C(q,\dot q)\,\dot q + g(q) = \tau + J^\top(q) f&#10;$&#10;&#10;\end{document}" title="IguanaTex Bitmap Display">
            <a:extLst>
              <a:ext uri="{FF2B5EF4-FFF2-40B4-BE49-F238E27FC236}">
                <a16:creationId xmlns:a16="http://schemas.microsoft.com/office/drawing/2014/main" id="{0724E66C-4F45-0FA7-1D01-011BF13DA911}"/>
              </a:ext>
            </a:extLst>
          </p:cNvPr>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7620000" y="2253735"/>
            <a:ext cx="10439400" cy="675296"/>
          </a:xfrm>
          <a:prstGeom prst="rect">
            <a:avLst/>
          </a:prstGeom>
        </p:spPr>
      </p:pic>
      <p:pic>
        <p:nvPicPr>
          <p:cNvPr id="9" name="그림 8" descr="\documentclass{article}&#10;\usepackage{amsmath}&#10;\pagestyle{empty}&#10;\begin{document}&#10;&#10;&#10;$&#10;\theta&#10;$&#10;&#10;\end{document}" title="IguanaTex Bitmap Display">
            <a:extLst>
              <a:ext uri="{FF2B5EF4-FFF2-40B4-BE49-F238E27FC236}">
                <a16:creationId xmlns:a16="http://schemas.microsoft.com/office/drawing/2014/main" id="{C90E07A1-EFEF-DB11-ED89-E11AD1AC6F38}"/>
              </a:ext>
            </a:extLst>
          </p:cNvPr>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4939846" y="4038600"/>
            <a:ext cx="170667" cy="290133"/>
          </a:xfrm>
          <a:prstGeom prst="rect">
            <a:avLst/>
          </a:prstGeom>
        </p:spPr>
      </p:pic>
      <p:pic>
        <p:nvPicPr>
          <p:cNvPr id="11" name="그림 10" descr="\documentclass{article}&#10;\usepackage{amsmath}&#10;\pagestyle{empty}&#10;\begin{document}&#10;&#10;&#10;$&#10;q&#10;$&#10;&#10;\end{document}" title="IguanaTex Bitmap Display">
            <a:extLst>
              <a:ext uri="{FF2B5EF4-FFF2-40B4-BE49-F238E27FC236}">
                <a16:creationId xmlns:a16="http://schemas.microsoft.com/office/drawing/2014/main" id="{4138AFE4-9591-93C8-FA2F-C5F4FB6F49FB}"/>
              </a:ext>
            </a:extLst>
          </p:cNvPr>
          <p:cNvPicPr>
            <a:picLocks noChangeAspect="1"/>
          </p:cNvPicPr>
          <p:nvPr>
            <p:custDataLst>
              <p:tags r:id="rId3"/>
            </p:custDataLst>
          </p:nvPr>
        </p:nvPicPr>
        <p:blipFill>
          <a:blip r:embed="rId15" cstate="print">
            <a:extLst>
              <a:ext uri="{28A0092B-C50C-407E-A947-70E740481C1C}">
                <a14:useLocalDpi xmlns:a14="http://schemas.microsoft.com/office/drawing/2010/main" val="0"/>
              </a:ext>
            </a:extLst>
          </a:blip>
          <a:stretch>
            <a:fillRect/>
          </a:stretch>
        </p:blipFill>
        <p:spPr>
          <a:xfrm>
            <a:off x="5927771" y="4055666"/>
            <a:ext cx="168229" cy="256000"/>
          </a:xfrm>
          <a:prstGeom prst="rect">
            <a:avLst/>
          </a:prstGeom>
        </p:spPr>
      </p:pic>
      <p:pic>
        <p:nvPicPr>
          <p:cNvPr id="14" name="그림 13" descr="\documentclass{article}&#10;\usepackage{amsmath}&#10;\pagestyle{empty}&#10;\begin{document}&#10;&#10;&#10;$&#10;\dot q&#10;$&#10;&#10;\end{document}" title="IguanaTex Bitmap Display">
            <a:extLst>
              <a:ext uri="{FF2B5EF4-FFF2-40B4-BE49-F238E27FC236}">
                <a16:creationId xmlns:a16="http://schemas.microsoft.com/office/drawing/2014/main" id="{16177C32-5381-2A76-94A2-8892CE48BC63}"/>
              </a:ext>
            </a:extLst>
          </p:cNvPr>
          <p:cNvPicPr>
            <a:picLocks noChangeAspect="1"/>
          </p:cNvPicPr>
          <p:nvPr>
            <p:custDataLst>
              <p:tags r:id="rId4"/>
            </p:custDataLst>
          </p:nvPr>
        </p:nvPicPr>
        <p:blipFill>
          <a:blip r:embed="rId16" cstate="print">
            <a:extLst>
              <a:ext uri="{28A0092B-C50C-407E-A947-70E740481C1C}">
                <a14:useLocalDpi xmlns:a14="http://schemas.microsoft.com/office/drawing/2010/main" val="0"/>
              </a:ext>
            </a:extLst>
          </a:blip>
          <a:stretch>
            <a:fillRect/>
          </a:stretch>
        </p:blipFill>
        <p:spPr>
          <a:xfrm>
            <a:off x="2976913" y="4724400"/>
            <a:ext cx="168229" cy="348648"/>
          </a:xfrm>
          <a:prstGeom prst="rect">
            <a:avLst/>
          </a:prstGeom>
        </p:spPr>
      </p:pic>
      <p:pic>
        <p:nvPicPr>
          <p:cNvPr id="16" name="그림 15" descr="\documentclass{article}&#10;\usepackage{amsmath}&#10;\pagestyle{empty}&#10;\begin{document}&#10;&#10;&#10;$&#10;\ddot q&#10;$&#10;&#10;\end{document}" title="IguanaTex Bitmap Display">
            <a:extLst>
              <a:ext uri="{FF2B5EF4-FFF2-40B4-BE49-F238E27FC236}">
                <a16:creationId xmlns:a16="http://schemas.microsoft.com/office/drawing/2014/main" id="{38000B70-F87D-AAEE-1394-4CEE5E31FAE0}"/>
              </a:ext>
            </a:extLst>
          </p:cNvPr>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5613219" y="4724400"/>
            <a:ext cx="177981" cy="348648"/>
          </a:xfrm>
          <a:prstGeom prst="rect">
            <a:avLst/>
          </a:prstGeom>
        </p:spPr>
      </p:pic>
      <p:pic>
        <p:nvPicPr>
          <p:cNvPr id="18" name="그림 17" descr="\documentclass{article}&#10;\usepackage{amsmath}&#10;\pagestyle{empty}&#10;\begin{document}&#10;&#10;&#10;$&#10;M(q)&#10;$&#10;&#10;\end{document}" title="IguanaTex Bitmap Display">
            <a:extLst>
              <a:ext uri="{FF2B5EF4-FFF2-40B4-BE49-F238E27FC236}">
                <a16:creationId xmlns:a16="http://schemas.microsoft.com/office/drawing/2014/main" id="{D3E460DF-32B9-6F12-BAFC-6A16C690315A}"/>
              </a:ext>
            </a:extLst>
          </p:cNvPr>
          <p:cNvPicPr>
            <a:picLocks noChangeAspect="1"/>
          </p:cNvPicPr>
          <p:nvPr>
            <p:custDataLst>
              <p:tags r:id="rId6"/>
            </p:custDataLst>
          </p:nvPr>
        </p:nvPicPr>
        <p:blipFill>
          <a:blip r:embed="rId18" cstate="print">
            <a:extLst>
              <a:ext uri="{28A0092B-C50C-407E-A947-70E740481C1C}">
                <a14:useLocalDpi xmlns:a14="http://schemas.microsoft.com/office/drawing/2010/main" val="0"/>
              </a:ext>
            </a:extLst>
          </a:blip>
          <a:stretch>
            <a:fillRect/>
          </a:stretch>
        </p:blipFill>
        <p:spPr>
          <a:xfrm>
            <a:off x="4037978" y="5486400"/>
            <a:ext cx="892343" cy="407162"/>
          </a:xfrm>
          <a:prstGeom prst="rect">
            <a:avLst/>
          </a:prstGeom>
        </p:spPr>
      </p:pic>
      <p:pic>
        <p:nvPicPr>
          <p:cNvPr id="20" name="그림 19" descr="\documentclass{article}&#10;\usepackage{amsmath}&#10;\pagestyle{empty}&#10;\begin{document}&#10;&#10;&#10;$&#10;C(q,\dot q)\,\dot q&#10;$&#10;&#10;\end{document}" title="IguanaTex Bitmap Display">
            <a:extLst>
              <a:ext uri="{FF2B5EF4-FFF2-40B4-BE49-F238E27FC236}">
                <a16:creationId xmlns:a16="http://schemas.microsoft.com/office/drawing/2014/main" id="{72B5FC88-CCDC-4F71-EB3D-C63C00577F41}"/>
              </a:ext>
            </a:extLst>
          </p:cNvPr>
          <p:cNvPicPr>
            <a:picLocks noChangeAspect="1"/>
          </p:cNvPicPr>
          <p:nvPr>
            <p:custDataLst>
              <p:tags r:id="rId7"/>
            </p:custDataLst>
          </p:nvPr>
        </p:nvPicPr>
        <p:blipFill>
          <a:blip r:embed="rId19" cstate="print">
            <a:extLst>
              <a:ext uri="{28A0092B-C50C-407E-A947-70E740481C1C}">
                <a14:useLocalDpi xmlns:a14="http://schemas.microsoft.com/office/drawing/2010/main" val="0"/>
              </a:ext>
            </a:extLst>
          </a:blip>
          <a:stretch>
            <a:fillRect/>
          </a:stretch>
        </p:blipFill>
        <p:spPr>
          <a:xfrm>
            <a:off x="4223046" y="6147994"/>
            <a:ext cx="1433600" cy="407162"/>
          </a:xfrm>
          <a:prstGeom prst="rect">
            <a:avLst/>
          </a:prstGeom>
        </p:spPr>
      </p:pic>
      <p:pic>
        <p:nvPicPr>
          <p:cNvPr id="22" name="그림 21" descr="\documentclass{article}&#10;\usepackage{amsmath}&#10;\pagestyle{empty}&#10;\begin{document}&#10;&#10;&#10;$&#10;g(q)&#10;$&#10;&#10;\end{document}" title="IguanaTex Bitmap Display">
            <a:extLst>
              <a:ext uri="{FF2B5EF4-FFF2-40B4-BE49-F238E27FC236}">
                <a16:creationId xmlns:a16="http://schemas.microsoft.com/office/drawing/2014/main" id="{78EDCB1A-BE79-D34C-C05A-02D5504DEBDF}"/>
              </a:ext>
            </a:extLst>
          </p:cNvPr>
          <p:cNvPicPr>
            <a:picLocks noChangeAspect="1"/>
          </p:cNvPicPr>
          <p:nvPr>
            <p:custDataLst>
              <p:tags r:id="rId8"/>
            </p:custDataLst>
          </p:nvPr>
        </p:nvPicPr>
        <p:blipFill>
          <a:blip r:embed="rId20" cstate="print">
            <a:extLst>
              <a:ext uri="{28A0092B-C50C-407E-A947-70E740481C1C}">
                <a14:useLocalDpi xmlns:a14="http://schemas.microsoft.com/office/drawing/2010/main" val="0"/>
              </a:ext>
            </a:extLst>
          </a:blip>
          <a:stretch>
            <a:fillRect/>
          </a:stretch>
        </p:blipFill>
        <p:spPr>
          <a:xfrm>
            <a:off x="3429000" y="6869716"/>
            <a:ext cx="799086" cy="483505"/>
          </a:xfrm>
          <a:prstGeom prst="rect">
            <a:avLst/>
          </a:prstGeom>
        </p:spPr>
      </p:pic>
      <p:pic>
        <p:nvPicPr>
          <p:cNvPr id="24" name="그림 23" descr="\documentclass{article}&#10;\usepackage{amsmath}&#10;\pagestyle{empty}&#10;\begin{document}&#10;&#10;&#10;$&#10;\tau&#10;$&#10;&#10;\end{document}" title="IguanaTex Bitmap Display">
            <a:extLst>
              <a:ext uri="{FF2B5EF4-FFF2-40B4-BE49-F238E27FC236}">
                <a16:creationId xmlns:a16="http://schemas.microsoft.com/office/drawing/2014/main" id="{8A0DB99A-6F58-BA78-9541-6ACCEA221DE9}"/>
              </a:ext>
            </a:extLst>
          </p:cNvPr>
          <p:cNvPicPr>
            <a:picLocks noChangeAspect="1"/>
          </p:cNvPicPr>
          <p:nvPr>
            <p:custDataLst>
              <p:tags r:id="rId9"/>
            </p:custDataLst>
          </p:nvPr>
        </p:nvPicPr>
        <p:blipFill>
          <a:blip r:embed="rId21" cstate="print">
            <a:extLst>
              <a:ext uri="{28A0092B-C50C-407E-A947-70E740481C1C}">
                <a14:useLocalDpi xmlns:a14="http://schemas.microsoft.com/office/drawing/2010/main" val="0"/>
              </a:ext>
            </a:extLst>
          </a:blip>
          <a:stretch>
            <a:fillRect/>
          </a:stretch>
        </p:blipFill>
        <p:spPr>
          <a:xfrm>
            <a:off x="4343400" y="7744381"/>
            <a:ext cx="197486" cy="180419"/>
          </a:xfrm>
          <a:prstGeom prst="rect">
            <a:avLst/>
          </a:prstGeom>
        </p:spPr>
      </p:pic>
      <p:pic>
        <p:nvPicPr>
          <p:cNvPr id="26" name="그림 25" descr="\documentclass{article}&#10;\usepackage{amsmath}&#10;\pagestyle{empty}&#10;\begin{document}&#10;&#10;&#10;$&#10;J^\top(q) f&#10;$&#10;&#10;\end{document}" title="IguanaTex Bitmap Display">
            <a:extLst>
              <a:ext uri="{FF2B5EF4-FFF2-40B4-BE49-F238E27FC236}">
                <a16:creationId xmlns:a16="http://schemas.microsoft.com/office/drawing/2014/main" id="{2EDCA193-9995-ED1B-27C9-5FB8EE6FA131}"/>
              </a:ext>
            </a:extLst>
          </p:cNvPr>
          <p:cNvPicPr>
            <a:picLocks noChangeAspect="1"/>
          </p:cNvPicPr>
          <p:nvPr>
            <p:custDataLst>
              <p:tags r:id="rId10"/>
            </p:custDataLst>
          </p:nvPr>
        </p:nvPicPr>
        <p:blipFill>
          <a:blip r:embed="rId22" cstate="print">
            <a:extLst>
              <a:ext uri="{28A0092B-C50C-407E-A947-70E740481C1C}">
                <a14:useLocalDpi xmlns:a14="http://schemas.microsoft.com/office/drawing/2010/main" val="0"/>
              </a:ext>
            </a:extLst>
          </a:blip>
          <a:stretch>
            <a:fillRect/>
          </a:stretch>
        </p:blipFill>
        <p:spPr>
          <a:xfrm>
            <a:off x="3980828" y="8374417"/>
            <a:ext cx="1245867" cy="446171"/>
          </a:xfrm>
          <a:prstGeom prst="rect">
            <a:avLst/>
          </a:prstGeom>
        </p:spPr>
      </p:pic>
      <p:pic>
        <p:nvPicPr>
          <p:cNvPr id="28" name="그림 27" descr="\documentclass{article}&#10;\usepackage{amsmath}&#10;\pagestyle{empty}&#10;\begin{document}&#10;&#10;&#10;$&#10;q = \begin{bmatrix} \theta_1 \\ \theta_2 \end{bmatrix}&#10;$&#10;&#10;\end{document}" title="IguanaTex Bitmap Display">
            <a:extLst>
              <a:ext uri="{FF2B5EF4-FFF2-40B4-BE49-F238E27FC236}">
                <a16:creationId xmlns:a16="http://schemas.microsoft.com/office/drawing/2014/main" id="{2322B55F-6B16-455F-0B46-F05B54D34C6C}"/>
              </a:ext>
            </a:extLst>
          </p:cNvPr>
          <p:cNvPicPr>
            <a:picLocks noChangeAspect="1"/>
          </p:cNvPicPr>
          <p:nvPr>
            <p:custDataLst>
              <p:tags r:id="rId11"/>
            </p:custDataLst>
          </p:nvPr>
        </p:nvPicPr>
        <p:blipFill>
          <a:blip r:embed="rId23" cstate="print">
            <a:extLst>
              <a:ext uri="{28A0092B-C50C-407E-A947-70E740481C1C}">
                <a14:useLocalDpi xmlns:a14="http://schemas.microsoft.com/office/drawing/2010/main" val="0"/>
              </a:ext>
            </a:extLst>
          </a:blip>
          <a:stretch>
            <a:fillRect/>
          </a:stretch>
        </p:blipFill>
        <p:spPr>
          <a:xfrm>
            <a:off x="10087229" y="3657600"/>
            <a:ext cx="1418971" cy="972800"/>
          </a:xfrm>
          <a:prstGeom prst="rect">
            <a:avLst/>
          </a:prstGeom>
        </p:spPr>
      </p:pic>
    </p:spTree>
    <p:extLst>
      <p:ext uri="{BB962C8B-B14F-4D97-AF65-F5344CB8AC3E}">
        <p14:creationId xmlns:p14="http://schemas.microsoft.com/office/powerpoint/2010/main" val="1732061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A93A1-3502-3CD5-6543-FF1500512303}"/>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69513D77-4B80-0DEA-87A8-644732302D78}"/>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89EB758E-05F6-02F8-5A8F-7C3B3E9E8CA2}"/>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DC4CA92-3ED5-2E4C-E273-2C5AC75546B5}"/>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로봇 운동방정식 유도</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CAA5923-1F79-F8D2-7FFD-918C60A1887E}"/>
              </a:ext>
            </a:extLst>
          </p:cNvPr>
          <p:cNvSpPr txBox="1"/>
          <p:nvPr/>
        </p:nvSpPr>
        <p:spPr>
          <a:xfrm>
            <a:off x="1524000" y="2029265"/>
            <a:ext cx="22326600" cy="11077135"/>
          </a:xfrm>
          <a:prstGeom prst="rect">
            <a:avLst/>
          </a:prstGeom>
          <a:noFill/>
        </p:spPr>
        <p:txBody>
          <a:bodyPr wrap="square">
            <a:spAutoFit/>
          </a:bodyPr>
          <a:lstStyle/>
          <a:p>
            <a:pPr>
              <a:lnSpc>
                <a:spcPct val="150000"/>
              </a:lnSpc>
            </a:pPr>
            <a:r>
              <a:rPr lang="ko-KR" altLang="en-US" sz="3200" b="1" dirty="0" err="1">
                <a:latin typeface="+mn-ea"/>
              </a:rPr>
              <a:t>라그랑지</a:t>
            </a:r>
            <a:r>
              <a:rPr lang="ko-KR" altLang="en-US" sz="3200" b="1" dirty="0">
                <a:latin typeface="+mn-ea"/>
              </a:rPr>
              <a:t> 방정식으로 통해 유도</a:t>
            </a:r>
            <a:endParaRPr lang="en-US" altLang="ko-KR" sz="3200" b="1" dirty="0">
              <a:latin typeface="+mn-ea"/>
            </a:endParaRPr>
          </a:p>
          <a:p>
            <a:pPr>
              <a:lnSpc>
                <a:spcPct val="150000"/>
              </a:lnSpc>
            </a:pPr>
            <a:endParaRPr lang="en-US" altLang="ko-KR" sz="3200" dirty="0">
              <a:latin typeface="+mn-ea"/>
            </a:endParaRPr>
          </a:p>
          <a:p>
            <a:pPr>
              <a:lnSpc>
                <a:spcPct val="150000"/>
              </a:lnSpc>
            </a:pPr>
            <a:endParaRPr lang="en-US" altLang="ko-KR" sz="3200" dirty="0">
              <a:latin typeface="+mn-ea"/>
            </a:endParaRPr>
          </a:p>
          <a:p>
            <a:pPr marL="514350" indent="-514350">
              <a:lnSpc>
                <a:spcPct val="150000"/>
              </a:lnSpc>
              <a:buAutoNum type="arabicPeriod"/>
            </a:pPr>
            <a:r>
              <a:rPr lang="ko-KR" altLang="en-US" sz="3200" dirty="0">
                <a:latin typeface="+mn-ea"/>
              </a:rPr>
              <a:t>운동 에너지 </a:t>
            </a:r>
            <a:r>
              <a:rPr lang="en-US" altLang="ko-KR" sz="3200" dirty="0">
                <a:latin typeface="+mn-ea"/>
              </a:rPr>
              <a:t>: </a:t>
            </a:r>
          </a:p>
          <a:p>
            <a:pPr marL="514350" indent="-514350">
              <a:lnSpc>
                <a:spcPct val="150000"/>
              </a:lnSpc>
              <a:buAutoNum type="arabicPeriod"/>
            </a:pPr>
            <a:r>
              <a:rPr lang="ko-KR" altLang="en-US" sz="3200" dirty="0">
                <a:latin typeface="+mn-ea"/>
              </a:rPr>
              <a:t>퍼텐셜 에너지 </a:t>
            </a:r>
            <a:r>
              <a:rPr lang="en-US" altLang="ko-KR" sz="3200" dirty="0">
                <a:latin typeface="+mn-ea"/>
              </a:rPr>
              <a:t>: </a:t>
            </a:r>
          </a:p>
          <a:p>
            <a:pPr>
              <a:lnSpc>
                <a:spcPct val="150000"/>
              </a:lnSpc>
            </a:pPr>
            <a:endParaRPr lang="en-US" altLang="ko-KR" sz="3200" dirty="0">
              <a:latin typeface="+mn-ea"/>
            </a:endParaRPr>
          </a:p>
          <a:p>
            <a:pPr>
              <a:lnSpc>
                <a:spcPct val="150000"/>
              </a:lnSpc>
            </a:pPr>
            <a:endParaRPr lang="en-US" altLang="ko-KR" sz="3200" dirty="0">
              <a:latin typeface="+mn-ea"/>
            </a:endParaRPr>
          </a:p>
          <a:p>
            <a:pPr>
              <a:lnSpc>
                <a:spcPct val="150000"/>
              </a:lnSpc>
            </a:pPr>
            <a:r>
              <a:rPr lang="ko-KR" altLang="en-US" sz="3200" b="1" dirty="0">
                <a:latin typeface="+mn-ea"/>
              </a:rPr>
              <a:t>운동 에너지 </a:t>
            </a:r>
            <a:r>
              <a:rPr lang="en-US" altLang="ko-KR" sz="3200" b="1" dirty="0">
                <a:latin typeface="+mn-ea"/>
              </a:rPr>
              <a:t>: </a:t>
            </a:r>
          </a:p>
          <a:p>
            <a:pPr marL="457200" indent="-457200">
              <a:lnSpc>
                <a:spcPct val="150000"/>
              </a:lnSpc>
              <a:buFont typeface="Arial" panose="020B0604020202020204" pitchFamily="34" charset="0"/>
              <a:buChar char="•"/>
            </a:pPr>
            <a:r>
              <a:rPr lang="ko-KR" altLang="en-US" sz="3200" dirty="0">
                <a:latin typeface="+mn-ea"/>
              </a:rPr>
              <a:t>운동에너지는 움직임으로 인해 발생</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기본적으로 속도의 제곱에 비례</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로봇처럼 여러 링크가 연결된 시스템에서는 각 링크의 자세에 따라 관성이 달라지기 때문에 자세    에도 영향을 받음 </a:t>
            </a:r>
            <a:endParaRPr lang="en-US" altLang="ko-KR" sz="3200" dirty="0">
              <a:latin typeface="+mn-ea"/>
            </a:endParaRPr>
          </a:p>
          <a:p>
            <a:pPr>
              <a:lnSpc>
                <a:spcPct val="150000"/>
              </a:lnSpc>
            </a:pPr>
            <a:r>
              <a:rPr lang="en-US" altLang="ko-KR" sz="3200" dirty="0">
                <a:latin typeface="+mn-ea"/>
              </a:rPr>
              <a:t> </a:t>
            </a:r>
          </a:p>
          <a:p>
            <a:pPr>
              <a:lnSpc>
                <a:spcPct val="150000"/>
              </a:lnSpc>
            </a:pPr>
            <a:r>
              <a:rPr lang="ko-KR" altLang="en-US" sz="3200" b="1" dirty="0" err="1">
                <a:latin typeface="+mn-ea"/>
              </a:rPr>
              <a:t>퍼펜셜</a:t>
            </a:r>
            <a:r>
              <a:rPr lang="ko-KR" altLang="en-US" sz="3200" b="1" dirty="0">
                <a:latin typeface="+mn-ea"/>
              </a:rPr>
              <a:t> 에너지 </a:t>
            </a:r>
            <a:r>
              <a:rPr lang="en-US" altLang="ko-KR" sz="3200" b="1" dirty="0">
                <a:latin typeface="+mn-ea"/>
              </a:rPr>
              <a:t>: </a:t>
            </a:r>
          </a:p>
          <a:p>
            <a:pPr marL="457200" indent="-457200">
              <a:lnSpc>
                <a:spcPct val="150000"/>
              </a:lnSpc>
              <a:buFont typeface="Arial" panose="020B0604020202020204" pitchFamily="34" charset="0"/>
              <a:buChar char="•"/>
            </a:pPr>
            <a:r>
              <a:rPr lang="ko-KR" altLang="en-US" sz="3200" dirty="0">
                <a:latin typeface="+mn-ea"/>
              </a:rPr>
              <a:t>보존력은 형상과 위치에 의해 결정</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속도와 무관</a:t>
            </a:r>
            <a:endParaRPr lang="en-US" altLang="ko-KR" sz="3200" dirty="0">
              <a:latin typeface="+mn-ea"/>
            </a:endParaRPr>
          </a:p>
        </p:txBody>
      </p:sp>
      <p:pic>
        <p:nvPicPr>
          <p:cNvPr id="10" name="그림 9" descr="\documentclass{article}&#10;\usepackage{amsmath}&#10;\pagestyle{empty}&#10;\begin{document}&#10;&#10;&#10;$&#10;\mathcal{L}(q,\dot q) = T(q,\dot q) - V(q)\\&#10;$&#10;&#10;\end{document}" title="IguanaTex Bitmap Display">
            <a:extLst>
              <a:ext uri="{FF2B5EF4-FFF2-40B4-BE49-F238E27FC236}">
                <a16:creationId xmlns:a16="http://schemas.microsoft.com/office/drawing/2014/main" id="{89FD73FD-865B-FE0B-636B-217A4FFF1ADD}"/>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286000" y="3462577"/>
            <a:ext cx="4939276" cy="483505"/>
          </a:xfrm>
          <a:prstGeom prst="rect">
            <a:avLst/>
          </a:prstGeom>
        </p:spPr>
      </p:pic>
      <p:pic>
        <p:nvPicPr>
          <p:cNvPr id="13" name="그림 12" descr="\documentclass{article}&#10;\usepackage{amsmath}&#10;\pagestyle{empty}&#10;\begin{document}&#10;&#10;&#10;$&#10;T(q,\dot q)  = \tfrac{1}{2}\,\dot q^\top M(q)\,\dot q&#10;$&#10;&#10;\end{document}" title="IguanaTex Bitmap Display">
            <a:extLst>
              <a:ext uri="{FF2B5EF4-FFF2-40B4-BE49-F238E27FC236}">
                <a16:creationId xmlns:a16="http://schemas.microsoft.com/office/drawing/2014/main" id="{32620F5E-E443-F805-76E5-53F02A77E65A}"/>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806564" y="4409116"/>
            <a:ext cx="4394971" cy="579048"/>
          </a:xfrm>
          <a:prstGeom prst="rect">
            <a:avLst/>
          </a:prstGeom>
        </p:spPr>
      </p:pic>
      <p:pic>
        <p:nvPicPr>
          <p:cNvPr id="17" name="그림 16" descr="\documentclass{article}&#10;\usepackage{amsmath}&#10;\pagestyle{empty}&#10;\begin{document}&#10;&#10;&#10;$&#10;V(q)&#10;$&#10;&#10;\end{document}" title="IguanaTex Bitmap Display">
            <a:extLst>
              <a:ext uri="{FF2B5EF4-FFF2-40B4-BE49-F238E27FC236}">
                <a16:creationId xmlns:a16="http://schemas.microsoft.com/office/drawing/2014/main" id="{7C6F2521-E878-D41B-A093-91D1897281AD}"/>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5181600" y="5274929"/>
            <a:ext cx="775314" cy="407162"/>
          </a:xfrm>
          <a:prstGeom prst="rect">
            <a:avLst/>
          </a:prstGeom>
        </p:spPr>
      </p:pic>
      <p:pic>
        <p:nvPicPr>
          <p:cNvPr id="25" name="그림 24" descr="\documentclass{article}&#10;\usepackage{amsmath}&#10;\pagestyle{empty}&#10;\begin{document}&#10;&#10;&#10;$&#10;q&#10;$&#10;&#10;\end{document}" title="IguanaTex Bitmap Display">
            <a:extLst>
              <a:ext uri="{FF2B5EF4-FFF2-40B4-BE49-F238E27FC236}">
                <a16:creationId xmlns:a16="http://schemas.microsoft.com/office/drawing/2014/main" id="{F6373A0D-E56F-6073-DEB2-05687EDD6B29}"/>
              </a:ext>
            </a:extLst>
          </p:cNvPr>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19812000" y="9649265"/>
            <a:ext cx="199771" cy="304000"/>
          </a:xfrm>
          <a:prstGeom prst="rect">
            <a:avLst/>
          </a:prstGeom>
        </p:spPr>
      </p:pic>
    </p:spTree>
    <p:extLst>
      <p:ext uri="{BB962C8B-B14F-4D97-AF65-F5344CB8AC3E}">
        <p14:creationId xmlns:p14="http://schemas.microsoft.com/office/powerpoint/2010/main" val="1089954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BCDEE-FFF4-8BB4-96B1-4285D484D768}"/>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4B9500B9-503E-9079-978A-F83AEAA78E0F}"/>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CAB55B72-74D8-9EA4-57F3-8C6E8F277A07}"/>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3170E4BF-D81A-ED42-84AC-E658E3A8C27B}"/>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로봇 운동방정식 유도</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9460A0C-475C-B763-D39C-2C487C338C89}"/>
              </a:ext>
            </a:extLst>
          </p:cNvPr>
          <p:cNvSpPr txBox="1"/>
          <p:nvPr/>
        </p:nvSpPr>
        <p:spPr>
          <a:xfrm>
            <a:off x="1524000" y="2029265"/>
            <a:ext cx="22326600" cy="735842"/>
          </a:xfrm>
          <a:prstGeom prst="rect">
            <a:avLst/>
          </a:prstGeom>
          <a:noFill/>
        </p:spPr>
        <p:txBody>
          <a:bodyPr wrap="square">
            <a:spAutoFit/>
          </a:bodyPr>
          <a:lstStyle/>
          <a:p>
            <a:pPr>
              <a:lnSpc>
                <a:spcPct val="150000"/>
              </a:lnSpc>
            </a:pPr>
            <a:r>
              <a:rPr lang="ko-KR" altLang="en-US" sz="3200" b="1" dirty="0" err="1">
                <a:latin typeface="+mn-ea"/>
              </a:rPr>
              <a:t>라그랑지</a:t>
            </a:r>
            <a:r>
              <a:rPr lang="ko-KR" altLang="en-US" sz="3200" b="1" dirty="0">
                <a:latin typeface="+mn-ea"/>
              </a:rPr>
              <a:t> 방정식으로 통해 유도</a:t>
            </a:r>
            <a:r>
              <a:rPr lang="en-US" altLang="ko-KR" sz="3200" b="1" dirty="0">
                <a:latin typeface="+mn-ea"/>
              </a:rPr>
              <a:t>(</a:t>
            </a:r>
            <a:r>
              <a:rPr lang="ko-KR" altLang="en-US" sz="3200" b="1" dirty="0">
                <a:latin typeface="+mn-ea"/>
              </a:rPr>
              <a:t>좌변</a:t>
            </a:r>
            <a:r>
              <a:rPr lang="en-US" altLang="ko-KR" sz="3200" b="1" dirty="0">
                <a:latin typeface="+mn-ea"/>
              </a:rPr>
              <a:t>)</a:t>
            </a:r>
          </a:p>
        </p:txBody>
      </p:sp>
      <p:pic>
        <p:nvPicPr>
          <p:cNvPr id="8" name="그림 7" descr="\documentclass{article}&#10;\usepackage{amsmath}&#10;\pagestyle{empty}&#10;\begin{document}&#10;&#10;&#10;$&#10; \frac{d}{dt}\!\left(\frac{\partial L}{\partial \dot q_i}\right)&#10;  - \frac{\partial L}{\partial q_i}&#10;  = Q_i,&#10;  \qquad&#10;  L = T - V&#10;$&#10;&#10;\end{document}" title="IguanaTex Bitmap Display">
            <a:extLst>
              <a:ext uri="{FF2B5EF4-FFF2-40B4-BE49-F238E27FC236}">
                <a16:creationId xmlns:a16="http://schemas.microsoft.com/office/drawing/2014/main" id="{0AABA0E4-A3AA-5750-75B9-5771F691627D}"/>
              </a:ext>
            </a:extLst>
          </p:cNvPr>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2590800" y="3072344"/>
            <a:ext cx="7533409" cy="865676"/>
          </a:xfrm>
          <a:prstGeom prst="rect">
            <a:avLst/>
          </a:prstGeom>
        </p:spPr>
      </p:pic>
      <p:pic>
        <p:nvPicPr>
          <p:cNvPr id="19" name="그림 18" descr="\documentclass{article}&#10;\usepackage{amsmath}&#10;\pagestyle{empty}&#10;\begin{document}&#10;&#10;&#10;$&#10;\frac{d}{dt}\!\left(\frac{\partial T}{\partial \dot q_i}\right)&#10;- \frac{\partial T}{\partial q_i}&#10;+ \frac{\partial V}{\partial q_i}&#10;= Q_i&#10;$&#10;&#10;\end{document}" title="IguanaTex Bitmap Display">
            <a:extLst>
              <a:ext uri="{FF2B5EF4-FFF2-40B4-BE49-F238E27FC236}">
                <a16:creationId xmlns:a16="http://schemas.microsoft.com/office/drawing/2014/main" id="{3163C8E5-6345-19FE-23BE-D648017AFFBD}"/>
              </a:ext>
            </a:extLst>
          </p:cNvPr>
          <p:cNvPicPr>
            <a:picLocks noChangeAspect="1"/>
          </p:cNvPicPr>
          <p:nvPr>
            <p:custDataLst>
              <p:tags r:id="rId2"/>
            </p:custDataLst>
          </p:nvPr>
        </p:nvPicPr>
        <p:blipFill>
          <a:blip r:embed="rId16" cstate="print">
            <a:extLst>
              <a:ext uri="{28A0092B-C50C-407E-A947-70E740481C1C}">
                <a14:useLocalDpi xmlns:a14="http://schemas.microsoft.com/office/drawing/2010/main" val="0"/>
              </a:ext>
            </a:extLst>
          </a:blip>
          <a:stretch>
            <a:fillRect/>
          </a:stretch>
        </p:blipFill>
        <p:spPr>
          <a:xfrm>
            <a:off x="2562497" y="4648200"/>
            <a:ext cx="5301181" cy="865676"/>
          </a:xfrm>
          <a:prstGeom prst="rect">
            <a:avLst/>
          </a:prstGeom>
        </p:spPr>
      </p:pic>
      <p:sp>
        <p:nvSpPr>
          <p:cNvPr id="20" name="TextBox 19">
            <a:extLst>
              <a:ext uri="{FF2B5EF4-FFF2-40B4-BE49-F238E27FC236}">
                <a16:creationId xmlns:a16="http://schemas.microsoft.com/office/drawing/2014/main" id="{EA964A5E-846D-ADBD-31F6-1AB218EE1184}"/>
              </a:ext>
            </a:extLst>
          </p:cNvPr>
          <p:cNvSpPr txBox="1"/>
          <p:nvPr/>
        </p:nvSpPr>
        <p:spPr>
          <a:xfrm>
            <a:off x="1600200" y="7741151"/>
            <a:ext cx="821042" cy="735842"/>
          </a:xfrm>
          <a:prstGeom prst="rect">
            <a:avLst/>
          </a:prstGeom>
          <a:noFill/>
        </p:spPr>
        <p:txBody>
          <a:bodyPr wrap="square">
            <a:spAutoFit/>
          </a:bodyPr>
          <a:lstStyle/>
          <a:p>
            <a:pPr>
              <a:lnSpc>
                <a:spcPct val="150000"/>
              </a:lnSpc>
            </a:pPr>
            <a:r>
              <a:rPr lang="en-US" altLang="ko-KR" sz="3200" dirty="0">
                <a:latin typeface="+mn-ea"/>
              </a:rPr>
              <a:t>1)</a:t>
            </a:r>
          </a:p>
        </p:txBody>
      </p:sp>
      <p:pic>
        <p:nvPicPr>
          <p:cNvPr id="29" name="그림 28" descr="\documentclass{article}&#10;\usepackage{amsmath}&#10;\pagestyle{empty}&#10;\begin{document}&#10;&#10;&#10;$&#10;\frac{\partial T}{\partial \dot q_i}&#10;= \frac{1}{2}\sum_{j=1}^{n}\sum_{k=1}^{n} M_{jk}\,&#10;\frac{\partial(\dot q_j \dot q_k)}{\partial \dot q_i}&#10;$&#10;&#10;\end{document}" title="IguanaTex Bitmap Display">
            <a:extLst>
              <a:ext uri="{FF2B5EF4-FFF2-40B4-BE49-F238E27FC236}">
                <a16:creationId xmlns:a16="http://schemas.microsoft.com/office/drawing/2014/main" id="{5C8C523F-BCAF-6824-9FAC-F278880406B6}"/>
              </a:ext>
            </a:extLst>
          </p:cNvPr>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2562497" y="7817351"/>
            <a:ext cx="6517181" cy="726705"/>
          </a:xfrm>
          <a:prstGeom prst="rect">
            <a:avLst/>
          </a:prstGeom>
        </p:spPr>
      </p:pic>
      <p:sp>
        <p:nvSpPr>
          <p:cNvPr id="30" name="사각형: 둥근 모서리 29">
            <a:extLst>
              <a:ext uri="{FF2B5EF4-FFF2-40B4-BE49-F238E27FC236}">
                <a16:creationId xmlns:a16="http://schemas.microsoft.com/office/drawing/2014/main" id="{6119A114-8C5C-8012-0A6F-35A322484CB4}"/>
              </a:ext>
            </a:extLst>
          </p:cNvPr>
          <p:cNvSpPr/>
          <p:nvPr/>
        </p:nvSpPr>
        <p:spPr>
          <a:xfrm>
            <a:off x="15544800" y="349851"/>
            <a:ext cx="8447055" cy="8096250"/>
          </a:xfrm>
          <a:prstGeom prst="roundRect">
            <a:avLst>
              <a:gd name="adj" fmla="val 8316"/>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pic>
        <p:nvPicPr>
          <p:cNvPr id="32" name="그림 31" descr="\documentclass{article}&#10;\usepackage{amsmath}&#10;\pagestyle{empty}&#10;\begin{document}&#10;&#10;&#10;$&#10;\dot{\mathbf q} = \begin{bmatrix} \dot q_{1} \\ \dot q_{2} \end{bmatrix},\qquad&#10;M = \begin{bmatrix} m_{11} &amp; m_{12} \\ m_{21} &amp; m_{22} \end{bmatrix}&#10;$&#10;&#10;\end{document}" title="IguanaTex Bitmap Display">
            <a:extLst>
              <a:ext uri="{FF2B5EF4-FFF2-40B4-BE49-F238E27FC236}">
                <a16:creationId xmlns:a16="http://schemas.microsoft.com/office/drawing/2014/main" id="{69CAA165-D5BC-9F03-2DF4-484744A30991}"/>
              </a:ext>
            </a:extLst>
          </p:cNvPr>
          <p:cNvPicPr>
            <a:picLocks noChangeAspect="1"/>
          </p:cNvPicPr>
          <p:nvPr>
            <p:custDataLst>
              <p:tags r:id="rId4"/>
            </p:custDataLst>
          </p:nvPr>
        </p:nvPicPr>
        <p:blipFill>
          <a:blip r:embed="rId18" cstate="print">
            <a:extLst>
              <a:ext uri="{28A0092B-C50C-407E-A947-70E740481C1C}">
                <a14:useLocalDpi xmlns:a14="http://schemas.microsoft.com/office/drawing/2010/main" val="0"/>
              </a:ext>
            </a:extLst>
          </a:blip>
          <a:stretch>
            <a:fillRect/>
          </a:stretch>
        </p:blipFill>
        <p:spPr>
          <a:xfrm>
            <a:off x="16372213" y="2254851"/>
            <a:ext cx="6792228" cy="1155200"/>
          </a:xfrm>
          <a:prstGeom prst="rect">
            <a:avLst/>
          </a:prstGeom>
        </p:spPr>
      </p:pic>
      <p:sp>
        <p:nvSpPr>
          <p:cNvPr id="33" name="TextBox 32">
            <a:extLst>
              <a:ext uri="{FF2B5EF4-FFF2-40B4-BE49-F238E27FC236}">
                <a16:creationId xmlns:a16="http://schemas.microsoft.com/office/drawing/2014/main" id="{3C80B681-08B2-9D11-3D94-02358EB1DD92}"/>
              </a:ext>
            </a:extLst>
          </p:cNvPr>
          <p:cNvSpPr txBox="1"/>
          <p:nvPr/>
        </p:nvSpPr>
        <p:spPr>
          <a:xfrm>
            <a:off x="17573897" y="673701"/>
            <a:ext cx="5181600" cy="735842"/>
          </a:xfrm>
          <a:prstGeom prst="rect">
            <a:avLst/>
          </a:prstGeom>
          <a:noFill/>
        </p:spPr>
        <p:txBody>
          <a:bodyPr wrap="square">
            <a:spAutoFit/>
          </a:bodyPr>
          <a:lstStyle/>
          <a:p>
            <a:pPr>
              <a:lnSpc>
                <a:spcPct val="150000"/>
              </a:lnSpc>
            </a:pPr>
            <a:r>
              <a:rPr lang="en-US" altLang="ko-KR" sz="3200" b="1" dirty="0">
                <a:latin typeface="+mn-ea"/>
              </a:rPr>
              <a:t>2x2 </a:t>
            </a:r>
            <a:r>
              <a:rPr lang="ko-KR" altLang="en-US" sz="3200" b="1" dirty="0">
                <a:latin typeface="+mn-ea"/>
              </a:rPr>
              <a:t>예시로 눈으로 보기</a:t>
            </a:r>
            <a:endParaRPr lang="en-US" altLang="ko-KR" sz="3200" b="1" dirty="0">
              <a:latin typeface="+mn-ea"/>
            </a:endParaRPr>
          </a:p>
        </p:txBody>
      </p:sp>
      <p:pic>
        <p:nvPicPr>
          <p:cNvPr id="35" name="그림 34" descr="\documentclass{article}&#10;\usepackage{amsmath}&#10;\pagestyle{empty}&#10;\begin{document}&#10;&#10;&#10;$&#10;\dot{\mathbf q}^{\top} M \dot{\mathbf q}&#10;= m_{11}\,\dot q_{1}^{2} + (m_{12}+m_{21})\,\dot q_{1}\dot q_{2} + m_{22}\,\dot q_{2}^{2}&#10;$&#10;&#10;\end{document}" title="IguanaTex Bitmap Display">
            <a:extLst>
              <a:ext uri="{FF2B5EF4-FFF2-40B4-BE49-F238E27FC236}">
                <a16:creationId xmlns:a16="http://schemas.microsoft.com/office/drawing/2014/main" id="{154F57B1-52B3-1557-0A85-BD12D3EDDEEA}"/>
              </a:ext>
            </a:extLst>
          </p:cNvPr>
          <p:cNvPicPr>
            <a:picLocks noChangeAspect="1"/>
          </p:cNvPicPr>
          <p:nvPr>
            <p:custDataLst>
              <p:tags r:id="rId5"/>
            </p:custDataLst>
          </p:nvPr>
        </p:nvPicPr>
        <p:blipFill>
          <a:blip r:embed="rId19" cstate="print">
            <a:extLst>
              <a:ext uri="{28A0092B-C50C-407E-A947-70E740481C1C}">
                <a14:useLocalDpi xmlns:a14="http://schemas.microsoft.com/office/drawing/2010/main" val="0"/>
              </a:ext>
            </a:extLst>
          </a:blip>
          <a:stretch>
            <a:fillRect/>
          </a:stretch>
        </p:blipFill>
        <p:spPr>
          <a:xfrm>
            <a:off x="15995534" y="4522746"/>
            <a:ext cx="7545585" cy="422923"/>
          </a:xfrm>
          <a:prstGeom prst="rect">
            <a:avLst/>
          </a:prstGeom>
        </p:spPr>
      </p:pic>
      <p:pic>
        <p:nvPicPr>
          <p:cNvPr id="37" name="그림 36" descr="\documentclass{article}&#10;\usepackage{amsmath}&#10;\pagestyle{empty}&#10;\begin{document}&#10;&#10;&#10;$&#10;\dot{\mathbf q}^{\top} M \dot{\mathbf q}&#10;= m_{11}\,\dot q_{1}^{2} + 2 m_{12}\,\dot q_{1}\dot q_{2} + m_{22}\,\dot q_{2}^{2}&#10;$&#10;&#10;\end{document}" title="IguanaTex Bitmap Display">
            <a:extLst>
              <a:ext uri="{FF2B5EF4-FFF2-40B4-BE49-F238E27FC236}">
                <a16:creationId xmlns:a16="http://schemas.microsoft.com/office/drawing/2014/main" id="{34004110-63B6-0BF6-A0FE-07175F99CB23}"/>
              </a:ext>
            </a:extLst>
          </p:cNvPr>
          <p:cNvPicPr>
            <a:picLocks noChangeAspect="1"/>
          </p:cNvPicPr>
          <p:nvPr>
            <p:custDataLst>
              <p:tags r:id="rId6"/>
            </p:custDataLst>
          </p:nvPr>
        </p:nvPicPr>
        <p:blipFill>
          <a:blip r:embed="rId20" cstate="print">
            <a:extLst>
              <a:ext uri="{28A0092B-C50C-407E-A947-70E740481C1C}">
                <a14:useLocalDpi xmlns:a14="http://schemas.microsoft.com/office/drawing/2010/main" val="0"/>
              </a:ext>
            </a:extLst>
          </a:blip>
          <a:stretch>
            <a:fillRect/>
          </a:stretch>
        </p:blipFill>
        <p:spPr>
          <a:xfrm>
            <a:off x="16215854" y="7297442"/>
            <a:ext cx="7104944" cy="473663"/>
          </a:xfrm>
          <a:prstGeom prst="rect">
            <a:avLst/>
          </a:prstGeom>
        </p:spPr>
      </p:pic>
      <p:sp>
        <p:nvSpPr>
          <p:cNvPr id="38" name="TextBox 37">
            <a:extLst>
              <a:ext uri="{FF2B5EF4-FFF2-40B4-BE49-F238E27FC236}">
                <a16:creationId xmlns:a16="http://schemas.microsoft.com/office/drawing/2014/main" id="{3FF4D0F5-0778-D246-9470-FFB099817CC8}"/>
              </a:ext>
            </a:extLst>
          </p:cNvPr>
          <p:cNvSpPr txBox="1"/>
          <p:nvPr/>
        </p:nvSpPr>
        <p:spPr>
          <a:xfrm>
            <a:off x="20193000" y="6064851"/>
            <a:ext cx="2156028" cy="735842"/>
          </a:xfrm>
          <a:prstGeom prst="rect">
            <a:avLst/>
          </a:prstGeom>
          <a:noFill/>
        </p:spPr>
        <p:txBody>
          <a:bodyPr wrap="square">
            <a:spAutoFit/>
          </a:bodyPr>
          <a:lstStyle/>
          <a:p>
            <a:pPr>
              <a:lnSpc>
                <a:spcPct val="150000"/>
              </a:lnSpc>
            </a:pPr>
            <a:r>
              <a:rPr lang="ko-KR" altLang="en-US" sz="3200" dirty="0">
                <a:latin typeface="+mn-ea"/>
              </a:rPr>
              <a:t>일 경우 </a:t>
            </a:r>
            <a:r>
              <a:rPr lang="en-US" altLang="ko-KR" sz="3200" dirty="0">
                <a:latin typeface="+mn-ea"/>
              </a:rPr>
              <a:t>:</a:t>
            </a:r>
          </a:p>
        </p:txBody>
      </p:sp>
      <p:pic>
        <p:nvPicPr>
          <p:cNvPr id="40" name="그림 39" descr="\documentclass{article}&#10;\usepackage{amsmath}&#10;\pagestyle{empty}&#10;\begin{document}&#10;&#10;&#10;$&#10;m_{12} = m_{21}&#10;$&#10;&#10;\end{document}" title="IguanaTex Bitmap Display">
            <a:extLst>
              <a:ext uri="{FF2B5EF4-FFF2-40B4-BE49-F238E27FC236}">
                <a16:creationId xmlns:a16="http://schemas.microsoft.com/office/drawing/2014/main" id="{40E809AF-2226-26AF-DD56-9E9F540F6991}"/>
              </a:ext>
            </a:extLst>
          </p:cNvPr>
          <p:cNvPicPr>
            <a:picLocks noChangeAspect="1"/>
          </p:cNvPicPr>
          <p:nvPr>
            <p:custDataLst>
              <p:tags r:id="rId7"/>
            </p:custDataLst>
          </p:nvPr>
        </p:nvPicPr>
        <p:blipFill>
          <a:blip r:embed="rId21" cstate="print">
            <a:extLst>
              <a:ext uri="{28A0092B-C50C-407E-A947-70E740481C1C}">
                <a14:useLocalDpi xmlns:a14="http://schemas.microsoft.com/office/drawing/2010/main" val="0"/>
              </a:ext>
            </a:extLst>
          </a:blip>
          <a:stretch>
            <a:fillRect/>
          </a:stretch>
        </p:blipFill>
        <p:spPr>
          <a:xfrm>
            <a:off x="17830800" y="6373030"/>
            <a:ext cx="2232228" cy="283733"/>
          </a:xfrm>
          <a:prstGeom prst="rect">
            <a:avLst/>
          </a:prstGeom>
        </p:spPr>
      </p:pic>
      <p:pic>
        <p:nvPicPr>
          <p:cNvPr id="46" name="그림 45" descr="\documentclass{article}&#10;\usepackage{amsmath}&#10;\pagestyle{empty}&#10;\begin{document}&#10;&#10;&#10;$&#10;= \frac{1}{2}\sum_{j=1}^{n}\sum_{k=1}^{n} M_{jk}\,&#10;\bigl(\delta_{ij}\,\dot q_{k} + \dot q_{j}\,\delta_{ik}\bigr)&#10;$&#10;&#10;\end{document}" title="IguanaTex Bitmap Display">
            <a:extLst>
              <a:ext uri="{FF2B5EF4-FFF2-40B4-BE49-F238E27FC236}">
                <a16:creationId xmlns:a16="http://schemas.microsoft.com/office/drawing/2014/main" id="{E125016B-ED1B-9B86-FEB2-2A0B53D699BA}"/>
              </a:ext>
            </a:extLst>
          </p:cNvPr>
          <p:cNvPicPr>
            <a:picLocks noChangeAspect="1"/>
          </p:cNvPicPr>
          <p:nvPr>
            <p:custDataLst>
              <p:tags r:id="rId8"/>
            </p:custDataLst>
          </p:nvPr>
        </p:nvPicPr>
        <p:blipFill>
          <a:blip r:embed="rId22" cstate="print">
            <a:extLst>
              <a:ext uri="{28A0092B-C50C-407E-A947-70E740481C1C}">
                <a14:useLocalDpi xmlns:a14="http://schemas.microsoft.com/office/drawing/2010/main" val="0"/>
              </a:ext>
            </a:extLst>
          </a:blip>
          <a:stretch>
            <a:fillRect/>
          </a:stretch>
        </p:blipFill>
        <p:spPr>
          <a:xfrm>
            <a:off x="3357400" y="9112751"/>
            <a:ext cx="7539200" cy="628267"/>
          </a:xfrm>
          <a:prstGeom prst="rect">
            <a:avLst/>
          </a:prstGeom>
        </p:spPr>
      </p:pic>
      <p:pic>
        <p:nvPicPr>
          <p:cNvPr id="48" name="그림 47" descr="\documentclass{article}&#10;\usepackage{amsmath}&#10;\pagestyle{empty}&#10;\begin{document}&#10;&#10;&#10;$&#10;= \sum_{j=1}^{n} M_{ij}\,\dot q_{j}&#10;$&#10;&#10;\end{document}" title="IguanaTex Bitmap Display">
            <a:extLst>
              <a:ext uri="{FF2B5EF4-FFF2-40B4-BE49-F238E27FC236}">
                <a16:creationId xmlns:a16="http://schemas.microsoft.com/office/drawing/2014/main" id="{9820044A-7144-A10F-EBB5-1189E53CB33B}"/>
              </a:ext>
            </a:extLst>
          </p:cNvPr>
          <p:cNvPicPr>
            <a:picLocks noChangeAspect="1"/>
          </p:cNvPicPr>
          <p:nvPr>
            <p:custDataLst>
              <p:tags r:id="rId9"/>
            </p:custDataLst>
          </p:nvPr>
        </p:nvPicPr>
        <p:blipFill>
          <a:blip r:embed="rId23" cstate="print">
            <a:extLst>
              <a:ext uri="{28A0092B-C50C-407E-A947-70E740481C1C}">
                <a14:useLocalDpi xmlns:a14="http://schemas.microsoft.com/office/drawing/2010/main" val="0"/>
              </a:ext>
            </a:extLst>
          </a:blip>
          <a:stretch>
            <a:fillRect/>
          </a:stretch>
        </p:blipFill>
        <p:spPr>
          <a:xfrm>
            <a:off x="3357400" y="10255091"/>
            <a:ext cx="3005257" cy="605105"/>
          </a:xfrm>
          <a:prstGeom prst="rect">
            <a:avLst/>
          </a:prstGeom>
        </p:spPr>
      </p:pic>
      <p:pic>
        <p:nvPicPr>
          <p:cNvPr id="50" name="그림 49" descr="\documentclass{article}&#10;\usepackage{amsmath}&#10;\pagestyle{empty}&#10;\begin{document}&#10;&#10;&#10;$&#10;\frac{d}{dt}\!\left(\frac{\partial T}{\partial \dot q_i}\right)&#10;= \sum_{j=1}^{n} M_{ij}\,\ddot q_{j}&#10;+ \sum_{j=1}^{n}\sum_{k=1}^{n}&#10;\frac{\partial M_{ij}}{\partial q_{k}}\,\dot q_{k}\,\dot q_{j}&#10;$&#10;&#10;\end{document}" title="IguanaTex Bitmap Display">
            <a:extLst>
              <a:ext uri="{FF2B5EF4-FFF2-40B4-BE49-F238E27FC236}">
                <a16:creationId xmlns:a16="http://schemas.microsoft.com/office/drawing/2014/main" id="{60B18638-BFA4-B21D-33BD-E154040E99B5}"/>
              </a:ext>
            </a:extLst>
          </p:cNvPr>
          <p:cNvPicPr>
            <a:picLocks noChangeAspect="1"/>
          </p:cNvPicPr>
          <p:nvPr>
            <p:custDataLst>
              <p:tags r:id="rId10"/>
            </p:custDataLst>
          </p:nvPr>
        </p:nvPicPr>
        <p:blipFill>
          <a:blip r:embed="rId24" cstate="print">
            <a:extLst>
              <a:ext uri="{28A0092B-C50C-407E-A947-70E740481C1C}">
                <a14:useLocalDpi xmlns:a14="http://schemas.microsoft.com/office/drawing/2010/main" val="0"/>
              </a:ext>
            </a:extLst>
          </a:blip>
          <a:stretch>
            <a:fillRect/>
          </a:stretch>
        </p:blipFill>
        <p:spPr>
          <a:xfrm>
            <a:off x="2421242" y="12012124"/>
            <a:ext cx="10029104" cy="865676"/>
          </a:xfrm>
          <a:prstGeom prst="rect">
            <a:avLst/>
          </a:prstGeom>
        </p:spPr>
      </p:pic>
      <p:pic>
        <p:nvPicPr>
          <p:cNvPr id="51" name="그림 50" descr="\documentclass{article}&#10;\usepackage{amsmath}&#10;\pagestyle{empty}&#10;\begin{document}&#10;&#10;&#10;$&#10;T(q,\dot q)  = \tfrac{1}{2}\,\dot q^\top M(q)\,\dot q&#10;$&#10;&#10;\end{document}" title="IguanaTex Bitmap Display">
            <a:extLst>
              <a:ext uri="{FF2B5EF4-FFF2-40B4-BE49-F238E27FC236}">
                <a16:creationId xmlns:a16="http://schemas.microsoft.com/office/drawing/2014/main" id="{338F196A-61CA-B11C-B5E8-EDDB0637D8CC}"/>
              </a:ext>
            </a:extLst>
          </p:cNvPr>
          <p:cNvPicPr>
            <a:picLocks noChangeAspect="1"/>
          </p:cNvPicPr>
          <p:nvPr>
            <p:custDataLst>
              <p:tags r:id="rId11"/>
            </p:custDataLst>
          </p:nvPr>
        </p:nvPicPr>
        <p:blipFill>
          <a:blip r:embed="rId25" cstate="print">
            <a:extLst>
              <a:ext uri="{28A0092B-C50C-407E-A947-70E740481C1C}">
                <a14:useLocalDpi xmlns:a14="http://schemas.microsoft.com/office/drawing/2010/main" val="0"/>
              </a:ext>
            </a:extLst>
          </a:blip>
          <a:stretch>
            <a:fillRect/>
          </a:stretch>
        </p:blipFill>
        <p:spPr>
          <a:xfrm>
            <a:off x="2562497" y="6248400"/>
            <a:ext cx="4394971" cy="579048"/>
          </a:xfrm>
          <a:prstGeom prst="rect">
            <a:avLst/>
          </a:prstGeom>
        </p:spPr>
      </p:pic>
      <p:sp>
        <p:nvSpPr>
          <p:cNvPr id="2" name="사각형: 둥근 모서리 1">
            <a:extLst>
              <a:ext uri="{FF2B5EF4-FFF2-40B4-BE49-F238E27FC236}">
                <a16:creationId xmlns:a16="http://schemas.microsoft.com/office/drawing/2014/main" id="{B6F52781-DF74-C7C7-7451-FC3A780B293C}"/>
              </a:ext>
            </a:extLst>
          </p:cNvPr>
          <p:cNvSpPr/>
          <p:nvPr/>
        </p:nvSpPr>
        <p:spPr>
          <a:xfrm>
            <a:off x="15534503" y="8875166"/>
            <a:ext cx="8447055" cy="4490983"/>
          </a:xfrm>
          <a:prstGeom prst="roundRect">
            <a:avLst>
              <a:gd name="adj" fmla="val 8316"/>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078DD667-521A-2D15-7BFB-368C980A9B25}"/>
              </a:ext>
            </a:extLst>
          </p:cNvPr>
          <p:cNvSpPr txBox="1"/>
          <p:nvPr/>
        </p:nvSpPr>
        <p:spPr>
          <a:xfrm>
            <a:off x="18213297" y="8961028"/>
            <a:ext cx="5181600" cy="735842"/>
          </a:xfrm>
          <a:prstGeom prst="rect">
            <a:avLst/>
          </a:prstGeom>
          <a:noFill/>
        </p:spPr>
        <p:txBody>
          <a:bodyPr wrap="square">
            <a:spAutoFit/>
          </a:bodyPr>
          <a:lstStyle/>
          <a:p>
            <a:pPr>
              <a:lnSpc>
                <a:spcPct val="150000"/>
              </a:lnSpc>
            </a:pPr>
            <a:r>
              <a:rPr lang="en-US" altLang="ko-KR" sz="3200" b="1" dirty="0">
                <a:latin typeface="+mn-ea"/>
              </a:rPr>
              <a:t>Kronecker delta</a:t>
            </a:r>
          </a:p>
        </p:txBody>
      </p:sp>
      <p:pic>
        <p:nvPicPr>
          <p:cNvPr id="9" name="그림 8" descr="\documentclass{article}&#10;\usepackage{amsmath}&#10;\pagestyle{empty}&#10;\begin{document}&#10;&#10;&#10;$&#10;\delta_{ij} =&#10;\begin{cases}&#10;1, &amp; \text{if } i = j, \\&#10;0, &amp; \text{if } i \neq j.&#10;\end{cases}&#10;$&#10;&#10;\end{document}" title="IguanaTex Bitmap Display">
            <a:extLst>
              <a:ext uri="{FF2B5EF4-FFF2-40B4-BE49-F238E27FC236}">
                <a16:creationId xmlns:a16="http://schemas.microsoft.com/office/drawing/2014/main" id="{C5202008-369B-E12B-3091-8B5B44F766BF}"/>
              </a:ext>
            </a:extLst>
          </p:cNvPr>
          <p:cNvPicPr>
            <a:picLocks noChangeAspect="1"/>
          </p:cNvPicPr>
          <p:nvPr>
            <p:custDataLst>
              <p:tags r:id="rId12"/>
            </p:custDataLst>
          </p:nvPr>
        </p:nvPicPr>
        <p:blipFill>
          <a:blip r:embed="rId26" cstate="print">
            <a:extLst>
              <a:ext uri="{28A0092B-C50C-407E-A947-70E740481C1C}">
                <a14:useLocalDpi xmlns:a14="http://schemas.microsoft.com/office/drawing/2010/main" val="0"/>
              </a:ext>
            </a:extLst>
          </a:blip>
          <a:stretch>
            <a:fillRect/>
          </a:stretch>
        </p:blipFill>
        <p:spPr>
          <a:xfrm>
            <a:off x="17244592" y="10734295"/>
            <a:ext cx="4377600" cy="1593600"/>
          </a:xfrm>
          <a:prstGeom prst="rect">
            <a:avLst/>
          </a:prstGeom>
        </p:spPr>
      </p:pic>
    </p:spTree>
    <p:extLst>
      <p:ext uri="{BB962C8B-B14F-4D97-AF65-F5344CB8AC3E}">
        <p14:creationId xmlns:p14="http://schemas.microsoft.com/office/powerpoint/2010/main" val="215295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CBFD3-CB3B-7DBF-2C52-CA261C405926}"/>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5D40A8A0-F62C-C1A1-0AF6-E697A37653F1}"/>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5CED8643-4C75-E159-7DCA-036E8CCDD24E}"/>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4BA6D4AF-DD8F-0B27-5167-AE28A92AC6A7}"/>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로봇 운동방정식 유도</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3138413-CEA1-94D3-6376-C60B41968562}"/>
              </a:ext>
            </a:extLst>
          </p:cNvPr>
          <p:cNvSpPr txBox="1"/>
          <p:nvPr/>
        </p:nvSpPr>
        <p:spPr>
          <a:xfrm>
            <a:off x="1524000" y="2029265"/>
            <a:ext cx="22326600" cy="735842"/>
          </a:xfrm>
          <a:prstGeom prst="rect">
            <a:avLst/>
          </a:prstGeom>
          <a:noFill/>
        </p:spPr>
        <p:txBody>
          <a:bodyPr wrap="square">
            <a:spAutoFit/>
          </a:bodyPr>
          <a:lstStyle/>
          <a:p>
            <a:pPr>
              <a:lnSpc>
                <a:spcPct val="150000"/>
              </a:lnSpc>
            </a:pPr>
            <a:r>
              <a:rPr lang="ko-KR" altLang="en-US" sz="3200" b="1" dirty="0" err="1">
                <a:latin typeface="+mn-ea"/>
              </a:rPr>
              <a:t>라그랑지</a:t>
            </a:r>
            <a:r>
              <a:rPr lang="ko-KR" altLang="en-US" sz="3200" b="1" dirty="0">
                <a:latin typeface="+mn-ea"/>
              </a:rPr>
              <a:t> 방정식으로 통해 유도</a:t>
            </a:r>
            <a:r>
              <a:rPr lang="en-US" altLang="ko-KR" sz="3200" b="1" dirty="0">
                <a:latin typeface="+mn-ea"/>
              </a:rPr>
              <a:t>(</a:t>
            </a:r>
            <a:r>
              <a:rPr lang="ko-KR" altLang="en-US" sz="3200" b="1" dirty="0">
                <a:latin typeface="+mn-ea"/>
              </a:rPr>
              <a:t>좌변</a:t>
            </a:r>
            <a:r>
              <a:rPr lang="en-US" altLang="ko-KR" sz="3200" b="1" dirty="0">
                <a:latin typeface="+mn-ea"/>
              </a:rPr>
              <a:t>)</a:t>
            </a:r>
          </a:p>
        </p:txBody>
      </p:sp>
      <p:pic>
        <p:nvPicPr>
          <p:cNvPr id="8" name="그림 7" descr="\documentclass{article}&#10;\usepackage{amsmath}&#10;\pagestyle{empty}&#10;\begin{document}&#10;&#10;&#10;$&#10; \frac{d}{dt}\!\left(\frac{\partial L}{\partial \dot q_i}\right)&#10;  - \frac{\partial L}{\partial q_i}&#10;  = Q_i,&#10;  \qquad&#10;  L = T - V&#10;$&#10;&#10;\end{document}" title="IguanaTex Bitmap Display">
            <a:extLst>
              <a:ext uri="{FF2B5EF4-FFF2-40B4-BE49-F238E27FC236}">
                <a16:creationId xmlns:a16="http://schemas.microsoft.com/office/drawing/2014/main" id="{57203C53-3454-3A65-144F-701CEE56575C}"/>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590800" y="3072344"/>
            <a:ext cx="7533409" cy="865676"/>
          </a:xfrm>
          <a:prstGeom prst="rect">
            <a:avLst/>
          </a:prstGeom>
        </p:spPr>
      </p:pic>
      <p:pic>
        <p:nvPicPr>
          <p:cNvPr id="19" name="그림 18" descr="\documentclass{article}&#10;\usepackage{amsmath}&#10;\pagestyle{empty}&#10;\begin{document}&#10;&#10;&#10;$&#10;\frac{d}{dt}\!\left(\frac{\partial T}{\partial \dot q_i}\right)&#10;- \frac{\partial T}{\partial q_i}&#10;+ \frac{\partial V}{\partial q_i}&#10;= Q_i&#10;$&#10;&#10;\end{document}" title="IguanaTex Bitmap Display">
            <a:extLst>
              <a:ext uri="{FF2B5EF4-FFF2-40B4-BE49-F238E27FC236}">
                <a16:creationId xmlns:a16="http://schemas.microsoft.com/office/drawing/2014/main" id="{BBB5E534-3EBA-BFE6-91C7-0CCB53A2BC2F}"/>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562497" y="4648200"/>
            <a:ext cx="5301181" cy="865676"/>
          </a:xfrm>
          <a:prstGeom prst="rect">
            <a:avLst/>
          </a:prstGeom>
        </p:spPr>
      </p:pic>
      <p:sp>
        <p:nvSpPr>
          <p:cNvPr id="20" name="TextBox 19">
            <a:extLst>
              <a:ext uri="{FF2B5EF4-FFF2-40B4-BE49-F238E27FC236}">
                <a16:creationId xmlns:a16="http://schemas.microsoft.com/office/drawing/2014/main" id="{B22C4AE8-D399-3A7A-43DD-349A1FF3A5E0}"/>
              </a:ext>
            </a:extLst>
          </p:cNvPr>
          <p:cNvSpPr txBox="1"/>
          <p:nvPr/>
        </p:nvSpPr>
        <p:spPr>
          <a:xfrm>
            <a:off x="1600200" y="7798558"/>
            <a:ext cx="821042" cy="735842"/>
          </a:xfrm>
          <a:prstGeom prst="rect">
            <a:avLst/>
          </a:prstGeom>
          <a:noFill/>
        </p:spPr>
        <p:txBody>
          <a:bodyPr wrap="square">
            <a:spAutoFit/>
          </a:bodyPr>
          <a:lstStyle/>
          <a:p>
            <a:pPr>
              <a:lnSpc>
                <a:spcPct val="150000"/>
              </a:lnSpc>
            </a:pPr>
            <a:r>
              <a:rPr lang="en-US" altLang="ko-KR" sz="3200" dirty="0">
                <a:latin typeface="+mn-ea"/>
              </a:rPr>
              <a:t>2)</a:t>
            </a:r>
          </a:p>
        </p:txBody>
      </p:sp>
      <p:pic>
        <p:nvPicPr>
          <p:cNvPr id="5" name="그림 4" descr="\documentclass{article}&#10;\usepackage{amsmath}&#10;\pagestyle{empty}&#10;\begin{document}&#10;&#10;&#10;$&#10;\frac{\partial T}{\partial q_i}&#10;= \frac{1}{2}\sum_{j=1}^{n}\sum_{k=1}^{n}&#10;\frac{\partial M_{jk}}{\partial q_{i}}\,\dot q_{j}\,\dot q_{k}&#10;$&#10;&#10;\end{document}" title="IguanaTex Bitmap Display">
            <a:extLst>
              <a:ext uri="{FF2B5EF4-FFF2-40B4-BE49-F238E27FC236}">
                <a16:creationId xmlns:a16="http://schemas.microsoft.com/office/drawing/2014/main" id="{5327B193-EF83-ADD5-1E7B-B561E1DE3051}"/>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2514600" y="7874758"/>
            <a:ext cx="6282666" cy="718019"/>
          </a:xfrm>
          <a:prstGeom prst="rect">
            <a:avLst/>
          </a:prstGeom>
        </p:spPr>
      </p:pic>
      <p:pic>
        <p:nvPicPr>
          <p:cNvPr id="7" name="그림 6" descr="\documentclass{article}&#10;\usepackage{amsmath}&#10;\pagestyle{empty}&#10;\begin{document}&#10;&#10;&#10;$&#10;T(q,\dot q)  = \tfrac{1}{2}\,\dot q^\top M(q)\,\dot q&#10;$&#10;&#10;\end{document}" title="IguanaTex Bitmap Display">
            <a:extLst>
              <a:ext uri="{FF2B5EF4-FFF2-40B4-BE49-F238E27FC236}">
                <a16:creationId xmlns:a16="http://schemas.microsoft.com/office/drawing/2014/main" id="{81381181-3CFA-0D8F-5641-F2C328A432E4}"/>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2562497" y="6248400"/>
            <a:ext cx="4394971" cy="579048"/>
          </a:xfrm>
          <a:prstGeom prst="rect">
            <a:avLst/>
          </a:prstGeom>
        </p:spPr>
      </p:pic>
      <p:sp>
        <p:nvSpPr>
          <p:cNvPr id="10" name="TextBox 9">
            <a:extLst>
              <a:ext uri="{FF2B5EF4-FFF2-40B4-BE49-F238E27FC236}">
                <a16:creationId xmlns:a16="http://schemas.microsoft.com/office/drawing/2014/main" id="{0AB2CD57-5E1C-9DD1-6520-04542E630822}"/>
              </a:ext>
            </a:extLst>
          </p:cNvPr>
          <p:cNvSpPr txBox="1"/>
          <p:nvPr/>
        </p:nvSpPr>
        <p:spPr>
          <a:xfrm>
            <a:off x="1600200" y="10084558"/>
            <a:ext cx="821042" cy="735842"/>
          </a:xfrm>
          <a:prstGeom prst="rect">
            <a:avLst/>
          </a:prstGeom>
          <a:noFill/>
        </p:spPr>
        <p:txBody>
          <a:bodyPr wrap="square">
            <a:spAutoFit/>
          </a:bodyPr>
          <a:lstStyle/>
          <a:p>
            <a:pPr>
              <a:lnSpc>
                <a:spcPct val="150000"/>
              </a:lnSpc>
            </a:pPr>
            <a:r>
              <a:rPr lang="en-US" altLang="ko-KR" sz="3200" dirty="0">
                <a:latin typeface="+mn-ea"/>
              </a:rPr>
              <a:t>3)</a:t>
            </a:r>
          </a:p>
        </p:txBody>
      </p:sp>
      <p:pic>
        <p:nvPicPr>
          <p:cNvPr id="12" name="그림 11" descr="\documentclass{article}&#10;\usepackage{amsmath}&#10;\pagestyle{empty}&#10;\begin{document}&#10;&#10;&#10;$&#10;\frac{\partial V}{\partial q_i} = g_i(q) \qquad (\;\mathbf{g}=\nabla V\;)&#10;$&#10;&#10;\end{document}" title="IguanaTex Bitmap Display">
            <a:extLst>
              <a:ext uri="{FF2B5EF4-FFF2-40B4-BE49-F238E27FC236}">
                <a16:creationId xmlns:a16="http://schemas.microsoft.com/office/drawing/2014/main" id="{937F5094-37C5-DBF8-5B84-9289FE63A8BB}"/>
              </a:ext>
            </a:extLst>
          </p:cNvPr>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2558143" y="10244627"/>
            <a:ext cx="4644572" cy="558324"/>
          </a:xfrm>
          <a:prstGeom prst="rect">
            <a:avLst/>
          </a:prstGeom>
        </p:spPr>
      </p:pic>
      <p:pic>
        <p:nvPicPr>
          <p:cNvPr id="14" name="그림 13" descr="\documentclass{article}&#10;\usepackage{amsmath}&#10;\pagestyle{empty}&#10;\begin{document}&#10;&#10;&#10;$&#10;\sum_{j=1}^{n} M_{ij}\,\ddot q_{j}&#10;+ \sum_{j=1}^{n}\sum_{k=1}^{n} \frac{\partial M_{ij}}{\partial q_{k}}\,\dot q_{k}\,\dot q_{j}&#10;- \frac{1}{2}\sum_{j=1}^{n}\sum_{k=1}^{n} \frac{\partial M_{jk}}{\partial q_{i}}\,\dot q_{j}\,\dot q_{k}&#10;+ g_i(q)&#10;= Q_i&#10;$&#10;&#10;\end{document}" title="IguanaTex Bitmap Display">
            <a:extLst>
              <a:ext uri="{FF2B5EF4-FFF2-40B4-BE49-F238E27FC236}">
                <a16:creationId xmlns:a16="http://schemas.microsoft.com/office/drawing/2014/main" id="{A66ABA4C-1FA9-4CCA-DF95-82FCED2DE452}"/>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4038600" y="11932717"/>
            <a:ext cx="15793523" cy="718019"/>
          </a:xfrm>
          <a:prstGeom prst="rect">
            <a:avLst/>
          </a:prstGeom>
        </p:spPr>
      </p:pic>
      <p:sp>
        <p:nvSpPr>
          <p:cNvPr id="15" name="TextBox 14">
            <a:extLst>
              <a:ext uri="{FF2B5EF4-FFF2-40B4-BE49-F238E27FC236}">
                <a16:creationId xmlns:a16="http://schemas.microsoft.com/office/drawing/2014/main" id="{8D2E1D76-D6EA-7929-54A9-FA1BF810BFC9}"/>
              </a:ext>
            </a:extLst>
          </p:cNvPr>
          <p:cNvSpPr txBox="1"/>
          <p:nvPr/>
        </p:nvSpPr>
        <p:spPr>
          <a:xfrm>
            <a:off x="1600200" y="11874340"/>
            <a:ext cx="2743200" cy="735842"/>
          </a:xfrm>
          <a:prstGeom prst="rect">
            <a:avLst/>
          </a:prstGeom>
          <a:noFill/>
        </p:spPr>
        <p:txBody>
          <a:bodyPr wrap="square">
            <a:spAutoFit/>
          </a:bodyPr>
          <a:lstStyle/>
          <a:p>
            <a:pPr>
              <a:lnSpc>
                <a:spcPct val="150000"/>
              </a:lnSpc>
            </a:pPr>
            <a:r>
              <a:rPr lang="ko-KR" altLang="en-US" sz="3200" dirty="0">
                <a:latin typeface="+mn-ea"/>
              </a:rPr>
              <a:t>최종 대입 </a:t>
            </a:r>
            <a:r>
              <a:rPr lang="en-US" altLang="ko-KR" sz="3200" dirty="0">
                <a:latin typeface="+mn-ea"/>
              </a:rPr>
              <a:t>:</a:t>
            </a:r>
          </a:p>
        </p:txBody>
      </p:sp>
    </p:spTree>
    <p:extLst>
      <p:ext uri="{BB962C8B-B14F-4D97-AF65-F5344CB8AC3E}">
        <p14:creationId xmlns:p14="http://schemas.microsoft.com/office/powerpoint/2010/main" val="3736211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771F-1046-0FB0-9DCC-2BF540CDC0A1}"/>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0653A8B-7E1B-42E1-8147-50E984C58B50}"/>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92B5D22A-26D6-5771-7F62-040912F26385}"/>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EF5E4F10-203E-B277-FF96-D2D057100C47}"/>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로봇 운동방정식 유도</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134CD9B-63C5-FC13-5DED-F25D3A6B540A}"/>
              </a:ext>
            </a:extLst>
          </p:cNvPr>
          <p:cNvSpPr txBox="1"/>
          <p:nvPr/>
        </p:nvSpPr>
        <p:spPr>
          <a:xfrm>
            <a:off x="1524000" y="2029265"/>
            <a:ext cx="22326600" cy="735842"/>
          </a:xfrm>
          <a:prstGeom prst="rect">
            <a:avLst/>
          </a:prstGeom>
          <a:noFill/>
        </p:spPr>
        <p:txBody>
          <a:bodyPr wrap="square">
            <a:spAutoFit/>
          </a:bodyPr>
          <a:lstStyle/>
          <a:p>
            <a:pPr>
              <a:lnSpc>
                <a:spcPct val="150000"/>
              </a:lnSpc>
            </a:pPr>
            <a:r>
              <a:rPr lang="ko-KR" altLang="en-US" sz="3200" b="1" dirty="0" err="1">
                <a:latin typeface="+mn-ea"/>
              </a:rPr>
              <a:t>라그랑지</a:t>
            </a:r>
            <a:r>
              <a:rPr lang="ko-KR" altLang="en-US" sz="3200" b="1" dirty="0">
                <a:latin typeface="+mn-ea"/>
              </a:rPr>
              <a:t> 방정식으로 통해 유도</a:t>
            </a:r>
            <a:r>
              <a:rPr lang="en-US" altLang="ko-KR" sz="3200" b="1" dirty="0">
                <a:latin typeface="+mn-ea"/>
              </a:rPr>
              <a:t>(</a:t>
            </a:r>
            <a:r>
              <a:rPr lang="ko-KR" altLang="en-US" sz="3200" b="1" dirty="0">
                <a:latin typeface="+mn-ea"/>
              </a:rPr>
              <a:t>좌변</a:t>
            </a:r>
            <a:r>
              <a:rPr lang="en-US" altLang="ko-KR" sz="3200" b="1" dirty="0">
                <a:latin typeface="+mn-ea"/>
              </a:rPr>
              <a:t>)</a:t>
            </a:r>
          </a:p>
        </p:txBody>
      </p:sp>
      <p:pic>
        <p:nvPicPr>
          <p:cNvPr id="14" name="그림 13" descr="\documentclass{article}&#10;\usepackage{amsmath}&#10;\pagestyle{empty}&#10;\begin{document}&#10;&#10;&#10;$&#10;\sum_{j=1}^{n} M_{ij}\,\ddot q_{j}&#10;+ \sum_{j=1}^{n}\sum_{k=1}^{n} \frac{\partial M_{ij}}{\partial q_{k}}\,\dot q_{k}\,\dot q_{j}&#10;- \frac{1}{2}\sum_{j=1}^{n}\sum_{k=1}^{n} \frac{\partial M_{jk}}{\partial q_{i}}\,\dot q_{j}\,\dot q_{k}&#10;+ g_i(q)&#10;= Q_i&#10;$&#10;&#10;\end{document}" title="IguanaTex Bitmap Display">
            <a:extLst>
              <a:ext uri="{FF2B5EF4-FFF2-40B4-BE49-F238E27FC236}">
                <a16:creationId xmlns:a16="http://schemas.microsoft.com/office/drawing/2014/main" id="{EDB782C2-C951-65C0-825F-9A51F4BF6CB4}"/>
              </a:ext>
            </a:extLst>
          </p:cNvPr>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2133600" y="3429000"/>
            <a:ext cx="15793523" cy="718019"/>
          </a:xfrm>
          <a:prstGeom prst="rect">
            <a:avLst/>
          </a:prstGeom>
        </p:spPr>
      </p:pic>
      <p:sp>
        <p:nvSpPr>
          <p:cNvPr id="2" name="직사각형 1">
            <a:extLst>
              <a:ext uri="{FF2B5EF4-FFF2-40B4-BE49-F238E27FC236}">
                <a16:creationId xmlns:a16="http://schemas.microsoft.com/office/drawing/2014/main" id="{6C6D8C63-5CC8-DB5C-6EA2-F96781E1279E}"/>
              </a:ext>
            </a:extLst>
          </p:cNvPr>
          <p:cNvSpPr/>
          <p:nvPr/>
        </p:nvSpPr>
        <p:spPr>
          <a:xfrm>
            <a:off x="4848760" y="3216509"/>
            <a:ext cx="10543639" cy="1143000"/>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pic>
        <p:nvPicPr>
          <p:cNvPr id="11" name="그림 10" descr="\documentclass{article}&#10;\usepackage{amsmath}&#10;\pagestyle{empty}&#10;\begin{document}&#10;&#10;&#10;$&#10;C_{ij}(q,\dot q) = \sum_{k=1}^{n} \Gamma_{ijk}(q)\,\dot q_{k}&#10;$&#10;&#10;\end{document}" title="IguanaTex Bitmap Display">
            <a:extLst>
              <a:ext uri="{FF2B5EF4-FFF2-40B4-BE49-F238E27FC236}">
                <a16:creationId xmlns:a16="http://schemas.microsoft.com/office/drawing/2014/main" id="{E6FF30CD-36D1-63C8-3B65-0D726FAF36F9}"/>
              </a:ext>
            </a:extLst>
          </p:cNvPr>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15063553" y="12247036"/>
            <a:ext cx="5053247" cy="485487"/>
          </a:xfrm>
          <a:prstGeom prst="rect">
            <a:avLst/>
          </a:prstGeom>
        </p:spPr>
      </p:pic>
      <p:pic>
        <p:nvPicPr>
          <p:cNvPr id="16" name="그림 15" descr="\documentclass{article}&#10;\usepackage{amsmath}&#10;\pagestyle{empty}&#10;\begin{document}&#10;&#10;&#10;$&#10;\Gamma_{ijk}(q) := \frac{1}{2}\!\left(&#10;\frac{\partial M_{ij}(q)}{\partial q_{k}} +&#10;\frac{\partial M_{ik}(q)}{\partial q_{j}} -&#10;\frac{\partial M_{jk}(q)}{\partial q_{i}}&#10;\right)&#10;$&#10;&#10;\end{document}" title="IguanaTex Bitmap Display">
            <a:extLst>
              <a:ext uri="{FF2B5EF4-FFF2-40B4-BE49-F238E27FC236}">
                <a16:creationId xmlns:a16="http://schemas.microsoft.com/office/drawing/2014/main" id="{13074810-CF39-7293-A530-B3FB48B481EB}"/>
              </a:ext>
            </a:extLst>
          </p:cNvPr>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5063553" y="10895378"/>
            <a:ext cx="8253647" cy="813127"/>
          </a:xfrm>
          <a:prstGeom prst="rect">
            <a:avLst/>
          </a:prstGeom>
        </p:spPr>
      </p:pic>
      <p:pic>
        <p:nvPicPr>
          <p:cNvPr id="18" name="그림 17" descr="\documentclass{article}&#10;\usepackage{amsmath}&#10;\pagestyle{empty}&#10;\begin{document}&#10;&#10;&#10;$&#10;=\sum_{j=1}^{n}\sum_{k=1}^{n}\Gamma_{ijk}(q)\,\dot q_{j}\,\dot q_{k}&#10;$&#10;&#10;\end{document}" title="IguanaTex Bitmap Display">
            <a:extLst>
              <a:ext uri="{FF2B5EF4-FFF2-40B4-BE49-F238E27FC236}">
                <a16:creationId xmlns:a16="http://schemas.microsoft.com/office/drawing/2014/main" id="{5768049F-C849-EFA3-6EEA-E31019C13EF6}"/>
              </a:ext>
            </a:extLst>
          </p:cNvPr>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7365760" y="4634667"/>
            <a:ext cx="5509638" cy="605105"/>
          </a:xfrm>
          <a:prstGeom prst="rect">
            <a:avLst/>
          </a:prstGeom>
        </p:spPr>
      </p:pic>
      <p:pic>
        <p:nvPicPr>
          <p:cNvPr id="28" name="그림 27" descr="\documentclass{article}&#10;\usepackage{amsmath}&#10;\pagestyle{empty}&#10;\begin{document}&#10;&#10;&#10;$&#10;=C(q,\dot q)\,\dot{q}&#10;$&#10;&#10;\end{document}" title="IguanaTex Bitmap Display">
            <a:extLst>
              <a:ext uri="{FF2B5EF4-FFF2-40B4-BE49-F238E27FC236}">
                <a16:creationId xmlns:a16="http://schemas.microsoft.com/office/drawing/2014/main" id="{42D4BD19-4CC7-68EB-17C1-C6C6C57D061A}"/>
              </a:ext>
            </a:extLst>
          </p:cNvPr>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7365760" y="5860374"/>
            <a:ext cx="2209067" cy="483505"/>
          </a:xfrm>
          <a:prstGeom prst="rect">
            <a:avLst/>
          </a:prstGeom>
        </p:spPr>
      </p:pic>
      <p:pic>
        <p:nvPicPr>
          <p:cNvPr id="30" name="그림 29" descr="\documentclass{article}&#10;\usepackage{amsmath}&#10;\pagestyle{empty}&#10;\begin{document}&#10;&#10;&#10;$&#10;M(q)\,\ddot q + C(q,\dot q)\,\dot q + g(q) = \tau + J^\top(q) f&#10;$&#10;&#10;\end{document}" title="IguanaTex Bitmap Display">
            <a:extLst>
              <a:ext uri="{FF2B5EF4-FFF2-40B4-BE49-F238E27FC236}">
                <a16:creationId xmlns:a16="http://schemas.microsoft.com/office/drawing/2014/main" id="{D643F395-07CF-B288-5D07-F9CC3AE93270}"/>
              </a:ext>
            </a:extLst>
          </p:cNvPr>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rcRect r="29927" b="-8966"/>
          <a:stretch>
            <a:fillRect/>
          </a:stretch>
        </p:blipFill>
        <p:spPr>
          <a:xfrm>
            <a:off x="1905001" y="9568982"/>
            <a:ext cx="7315199" cy="735842"/>
          </a:xfrm>
          <a:prstGeom prst="rect">
            <a:avLst/>
          </a:prstGeom>
        </p:spPr>
      </p:pic>
      <p:sp>
        <p:nvSpPr>
          <p:cNvPr id="5" name="TextBox 4">
            <a:extLst>
              <a:ext uri="{FF2B5EF4-FFF2-40B4-BE49-F238E27FC236}">
                <a16:creationId xmlns:a16="http://schemas.microsoft.com/office/drawing/2014/main" id="{1AA1ABA6-FC2C-3704-C2A0-5EA4D2AF212A}"/>
              </a:ext>
            </a:extLst>
          </p:cNvPr>
          <p:cNvSpPr txBox="1"/>
          <p:nvPr/>
        </p:nvSpPr>
        <p:spPr>
          <a:xfrm>
            <a:off x="9829800" y="5859588"/>
            <a:ext cx="4099296" cy="735842"/>
          </a:xfrm>
          <a:prstGeom prst="rect">
            <a:avLst/>
          </a:prstGeom>
          <a:noFill/>
        </p:spPr>
        <p:txBody>
          <a:bodyPr wrap="square">
            <a:spAutoFit/>
          </a:bodyPr>
          <a:lstStyle/>
          <a:p>
            <a:pPr>
              <a:lnSpc>
                <a:spcPct val="150000"/>
              </a:lnSpc>
            </a:pPr>
            <a:r>
              <a:rPr lang="ko-KR" altLang="en-US" sz="3200" b="1" dirty="0">
                <a:solidFill>
                  <a:srgbClr val="FF0000"/>
                </a:solidFill>
                <a:latin typeface="+mn-ea"/>
              </a:rPr>
              <a:t>코리올리힘</a:t>
            </a:r>
            <a:endParaRPr lang="en-US" altLang="ko-KR" sz="3200" b="1" dirty="0">
              <a:solidFill>
                <a:srgbClr val="FF0000"/>
              </a:solidFill>
              <a:latin typeface="+mn-ea"/>
            </a:endParaRPr>
          </a:p>
        </p:txBody>
      </p:sp>
      <p:pic>
        <p:nvPicPr>
          <p:cNvPr id="7" name="그림 6" descr="\documentclass{article}&#10;\usepackage{amsmath}&#10;\pagestyle{empty}&#10;\begin{document}&#10;&#10;&#10;$&#10;\sum_{j=1}^{n} M_{ij}\,\ddot q_{j}&#10;+ \sum_{j=1}^{n}\sum_{k=1}^{n} \frac{\partial M_{ij}}{\partial q_{k}}\,\dot q_{k}\,\dot q_{j}&#10;- \frac{1}{2}\sum_{j=1}^{n}\sum_{k=1}^{n} \frac{\partial M_{jk}}{\partial q_{i}}\,\dot q_{j}\,\dot q_{k}&#10;+ g_i(q)&#10;= Q_i&#10;$&#10;&#10;\end{document}" title="IguanaTex Bitmap Display">
            <a:extLst>
              <a:ext uri="{FF2B5EF4-FFF2-40B4-BE49-F238E27FC236}">
                <a16:creationId xmlns:a16="http://schemas.microsoft.com/office/drawing/2014/main" id="{6F1CFA32-E6AE-CC01-495D-02643CAA0846}"/>
              </a:ext>
            </a:extLst>
          </p:cNvPr>
          <p:cNvPicPr>
            <a:picLocks noChangeAspect="1"/>
          </p:cNvPicPr>
          <p:nvPr>
            <p:custDataLst>
              <p:tags r:id="rId7"/>
            </p:custDataLst>
          </p:nvPr>
        </p:nvPicPr>
        <p:blipFill>
          <a:blip r:embed="rId10" cstate="print">
            <a:extLst>
              <a:ext uri="{28A0092B-C50C-407E-A947-70E740481C1C}">
                <a14:useLocalDpi xmlns:a14="http://schemas.microsoft.com/office/drawing/2010/main" val="0"/>
              </a:ext>
            </a:extLst>
          </a:blip>
          <a:srcRect l="96621" t="-2482"/>
          <a:stretch>
            <a:fillRect/>
          </a:stretch>
        </p:blipFill>
        <p:spPr>
          <a:xfrm>
            <a:off x="9310421" y="9448800"/>
            <a:ext cx="671779" cy="926181"/>
          </a:xfrm>
          <a:prstGeom prst="rect">
            <a:avLst/>
          </a:prstGeom>
        </p:spPr>
      </p:pic>
      <p:sp>
        <p:nvSpPr>
          <p:cNvPr id="8" name="직사각형 7">
            <a:extLst>
              <a:ext uri="{FF2B5EF4-FFF2-40B4-BE49-F238E27FC236}">
                <a16:creationId xmlns:a16="http://schemas.microsoft.com/office/drawing/2014/main" id="{3606E487-6089-2943-1E27-99ACDB6D2D68}"/>
              </a:ext>
            </a:extLst>
          </p:cNvPr>
          <p:cNvSpPr/>
          <p:nvPr/>
        </p:nvSpPr>
        <p:spPr>
          <a:xfrm>
            <a:off x="4303007" y="9365403"/>
            <a:ext cx="4307593" cy="1143000"/>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pic>
        <p:nvPicPr>
          <p:cNvPr id="10" name="그림 9" descr="\documentclass{article}&#10;\usepackage{amsmath}&#10;\pagestyle{empty}&#10;\begin{document}&#10;&#10;&#10;$&#10;h&#10;$&#10;&#10;\end{document}" title="IguanaTex Bitmap Display">
            <a:extLst>
              <a:ext uri="{FF2B5EF4-FFF2-40B4-BE49-F238E27FC236}">
                <a16:creationId xmlns:a16="http://schemas.microsoft.com/office/drawing/2014/main" id="{ED7A0D75-9A7A-C9DB-1A6F-BB12295ED13D}"/>
              </a:ext>
            </a:extLst>
          </p:cNvPr>
          <p:cNvPicPr>
            <a:picLocks noChangeAspect="1"/>
          </p:cNvPicPr>
          <p:nvPr>
            <p:custDataLst>
              <p:tags r:id="rId8"/>
            </p:custDataLst>
          </p:nvPr>
        </p:nvPicPr>
        <p:blipFill>
          <a:blip r:embed="rId16">
            <a:extLst>
              <a:ext uri="{28A0092B-C50C-407E-A947-70E740481C1C}">
                <a14:useLocalDpi xmlns:a14="http://schemas.microsoft.com/office/drawing/2010/main" val="0"/>
              </a:ext>
            </a:extLst>
          </a:blip>
          <a:stretch>
            <a:fillRect/>
          </a:stretch>
        </p:blipFill>
        <p:spPr>
          <a:xfrm>
            <a:off x="6324600" y="10658794"/>
            <a:ext cx="353645" cy="504590"/>
          </a:xfrm>
          <a:prstGeom prst="rect">
            <a:avLst/>
          </a:prstGeom>
        </p:spPr>
      </p:pic>
    </p:spTree>
    <p:extLst>
      <p:ext uri="{BB962C8B-B14F-4D97-AF65-F5344CB8AC3E}">
        <p14:creationId xmlns:p14="http://schemas.microsoft.com/office/powerpoint/2010/main" val="1396941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7C21A-B5B8-170F-C83D-4064C42F05DB}"/>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73DAAA9B-357A-E2A2-729F-81AFEB558015}"/>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CB3D5A5B-0240-7715-C049-C8A8D3156346}"/>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E36417FE-2451-6109-B61D-1CF3D560DEA0}"/>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로봇 운동방정식 유도</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9C912FA-3446-3E9C-B0E6-4E5A28D95BFB}"/>
              </a:ext>
            </a:extLst>
          </p:cNvPr>
          <p:cNvSpPr txBox="1"/>
          <p:nvPr/>
        </p:nvSpPr>
        <p:spPr>
          <a:xfrm>
            <a:off x="1524000" y="2029265"/>
            <a:ext cx="22326600" cy="735842"/>
          </a:xfrm>
          <a:prstGeom prst="rect">
            <a:avLst/>
          </a:prstGeom>
          <a:noFill/>
        </p:spPr>
        <p:txBody>
          <a:bodyPr wrap="square">
            <a:spAutoFit/>
          </a:bodyPr>
          <a:lstStyle/>
          <a:p>
            <a:pPr>
              <a:lnSpc>
                <a:spcPct val="150000"/>
              </a:lnSpc>
            </a:pPr>
            <a:r>
              <a:rPr lang="ko-KR" altLang="en-US" sz="3200" b="1" dirty="0" err="1">
                <a:latin typeface="+mn-ea"/>
              </a:rPr>
              <a:t>라그랑지</a:t>
            </a:r>
            <a:r>
              <a:rPr lang="ko-KR" altLang="en-US" sz="3200" b="1" dirty="0">
                <a:latin typeface="+mn-ea"/>
              </a:rPr>
              <a:t> 방정식으로 통해 유도</a:t>
            </a:r>
            <a:r>
              <a:rPr lang="en-US" altLang="ko-KR" sz="3200" b="1" dirty="0">
                <a:latin typeface="+mn-ea"/>
              </a:rPr>
              <a:t>(</a:t>
            </a:r>
            <a:r>
              <a:rPr lang="ko-KR" altLang="en-US" sz="3200" b="1" dirty="0">
                <a:latin typeface="+mn-ea"/>
              </a:rPr>
              <a:t>우변</a:t>
            </a:r>
            <a:r>
              <a:rPr lang="en-US" altLang="ko-KR" sz="3200" b="1" dirty="0">
                <a:latin typeface="+mn-ea"/>
              </a:rPr>
              <a:t>)</a:t>
            </a:r>
          </a:p>
        </p:txBody>
      </p:sp>
      <p:pic>
        <p:nvPicPr>
          <p:cNvPr id="30" name="그림 29" descr="\documentclass{article}&#10;\usepackage{amsmath}&#10;\pagestyle{empty}&#10;\begin{document}&#10;&#10;&#10;$&#10;M(q)\,\ddot q + C(q,\dot q)\,\dot q + g(q) = \tau + J^\top(q) f&#10;$&#10;&#10;\end{document}" title="IguanaTex Bitmap Display">
            <a:extLst>
              <a:ext uri="{FF2B5EF4-FFF2-40B4-BE49-F238E27FC236}">
                <a16:creationId xmlns:a16="http://schemas.microsoft.com/office/drawing/2014/main" id="{650E6B55-EC74-12A5-575C-CBCCEF91E3DB}"/>
              </a:ext>
            </a:extLst>
          </p:cNvPr>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6972300" y="11686735"/>
            <a:ext cx="10439400" cy="675296"/>
          </a:xfrm>
          <a:prstGeom prst="rect">
            <a:avLst/>
          </a:prstGeom>
        </p:spPr>
      </p:pic>
      <p:pic>
        <p:nvPicPr>
          <p:cNvPr id="7" name="그림 6" descr="\documentclass{article}&#10;\usepackage{amsmath}&#10;\pagestyle{empty}&#10;\begin{document}&#10;&#10;&#10;$&#10;Q_{\text{motor}} = \tau&#10;$&#10;&#10;\end{document}" title="IguanaTex Bitmap Display">
            <a:extLst>
              <a:ext uri="{FF2B5EF4-FFF2-40B4-BE49-F238E27FC236}">
                <a16:creationId xmlns:a16="http://schemas.microsoft.com/office/drawing/2014/main" id="{8EB3FCE0-F111-F9AE-8AA1-685F4C796873}"/>
              </a:ext>
            </a:extLst>
          </p:cNvPr>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13868400" y="5267272"/>
            <a:ext cx="2266971" cy="431391"/>
          </a:xfrm>
          <a:prstGeom prst="rect">
            <a:avLst/>
          </a:prstGeom>
        </p:spPr>
      </p:pic>
      <p:sp>
        <p:nvSpPr>
          <p:cNvPr id="8" name="TextBox 7">
            <a:extLst>
              <a:ext uri="{FF2B5EF4-FFF2-40B4-BE49-F238E27FC236}">
                <a16:creationId xmlns:a16="http://schemas.microsoft.com/office/drawing/2014/main" id="{75785263-F130-3B19-BC27-79E0FE72B737}"/>
              </a:ext>
            </a:extLst>
          </p:cNvPr>
          <p:cNvSpPr txBox="1"/>
          <p:nvPr/>
        </p:nvSpPr>
        <p:spPr>
          <a:xfrm>
            <a:off x="2099156" y="3455445"/>
            <a:ext cx="22326600" cy="735842"/>
          </a:xfrm>
          <a:prstGeom prst="rect">
            <a:avLst/>
          </a:prstGeom>
          <a:noFill/>
        </p:spPr>
        <p:txBody>
          <a:bodyPr wrap="square">
            <a:spAutoFit/>
          </a:bodyPr>
          <a:lstStyle/>
          <a:p>
            <a:pPr>
              <a:lnSpc>
                <a:spcPct val="150000"/>
              </a:lnSpc>
            </a:pPr>
            <a:r>
              <a:rPr lang="ko-KR" altLang="en-US" sz="3200" dirty="0">
                <a:latin typeface="+mn-ea"/>
              </a:rPr>
              <a:t>는 </a:t>
            </a:r>
            <a:r>
              <a:rPr lang="ko-KR" altLang="en-US" sz="3200" dirty="0" err="1">
                <a:latin typeface="+mn-ea"/>
              </a:rPr>
              <a:t>일반화힘을</a:t>
            </a:r>
            <a:r>
              <a:rPr lang="ko-KR" altLang="en-US" sz="3200" dirty="0">
                <a:latin typeface="+mn-ea"/>
              </a:rPr>
              <a:t> 의미 </a:t>
            </a:r>
            <a:r>
              <a:rPr lang="en-US" altLang="ko-KR" sz="3200" dirty="0">
                <a:latin typeface="+mn-ea"/>
              </a:rPr>
              <a:t>:</a:t>
            </a:r>
          </a:p>
        </p:txBody>
      </p:sp>
      <p:pic>
        <p:nvPicPr>
          <p:cNvPr id="10" name="그림 9" descr="\documentclass{article}&#10;\usepackage{amsmath}&#10;\pagestyle{empty}&#10;\begin{document}&#10;&#10;&#10;$&#10;Q&#10;$&#10;&#10;\end{document}" title="IguanaTex Bitmap Display">
            <a:extLst>
              <a:ext uri="{FF2B5EF4-FFF2-40B4-BE49-F238E27FC236}">
                <a16:creationId xmlns:a16="http://schemas.microsoft.com/office/drawing/2014/main" id="{72E3035F-1A7C-2485-3CA3-10BE29315AD8}"/>
              </a:ext>
            </a:extLst>
          </p:cNvPr>
          <p:cNvPicPr>
            <a:picLocks noChangeAspect="1"/>
          </p:cNvPicPr>
          <p:nvPr>
            <p:custDataLst>
              <p:tags r:id="rId3"/>
            </p:custDataLst>
          </p:nvPr>
        </p:nvPicPr>
        <p:blipFill>
          <a:blip r:embed="rId15" cstate="print">
            <a:extLst>
              <a:ext uri="{28A0092B-C50C-407E-A947-70E740481C1C}">
                <a14:useLocalDpi xmlns:a14="http://schemas.microsoft.com/office/drawing/2010/main" val="0"/>
              </a:ext>
            </a:extLst>
          </a:blip>
          <a:stretch>
            <a:fillRect/>
          </a:stretch>
        </p:blipFill>
        <p:spPr>
          <a:xfrm>
            <a:off x="1676400" y="3657600"/>
            <a:ext cx="332952" cy="431391"/>
          </a:xfrm>
          <a:prstGeom prst="rect">
            <a:avLst/>
          </a:prstGeom>
        </p:spPr>
      </p:pic>
      <p:sp>
        <p:nvSpPr>
          <p:cNvPr id="15" name="TextBox 14">
            <a:extLst>
              <a:ext uri="{FF2B5EF4-FFF2-40B4-BE49-F238E27FC236}">
                <a16:creationId xmlns:a16="http://schemas.microsoft.com/office/drawing/2014/main" id="{F009BADC-0CB7-9127-6103-9FEF9D38BE71}"/>
              </a:ext>
            </a:extLst>
          </p:cNvPr>
          <p:cNvSpPr txBox="1"/>
          <p:nvPr/>
        </p:nvSpPr>
        <p:spPr>
          <a:xfrm>
            <a:off x="1676400" y="5083780"/>
            <a:ext cx="22326600" cy="735842"/>
          </a:xfrm>
          <a:prstGeom prst="rect">
            <a:avLst/>
          </a:prstGeom>
          <a:noFill/>
        </p:spPr>
        <p:txBody>
          <a:bodyPr wrap="square">
            <a:spAutoFit/>
          </a:bodyPr>
          <a:lstStyle/>
          <a:p>
            <a:pPr>
              <a:lnSpc>
                <a:spcPct val="150000"/>
              </a:lnSpc>
            </a:pPr>
            <a:r>
              <a:rPr lang="en-US" altLang="ko-KR" sz="3200" dirty="0">
                <a:latin typeface="+mn-ea"/>
              </a:rPr>
              <a:t>1. </a:t>
            </a:r>
            <a:r>
              <a:rPr lang="ko-KR" altLang="en-US" sz="3200" dirty="0">
                <a:latin typeface="+mn-ea"/>
              </a:rPr>
              <a:t>관절 </a:t>
            </a:r>
            <a:r>
              <a:rPr lang="en-US" altLang="ko-KR" sz="3200" dirty="0">
                <a:latin typeface="+mn-ea"/>
              </a:rPr>
              <a:t>  </a:t>
            </a:r>
            <a:r>
              <a:rPr lang="ko-KR" altLang="en-US" sz="3200" dirty="0">
                <a:latin typeface="+mn-ea"/>
              </a:rPr>
              <a:t>에 모터가 직접 토크를 걸면</a:t>
            </a:r>
            <a:r>
              <a:rPr lang="en-US" altLang="ko-KR" sz="3200" dirty="0">
                <a:latin typeface="+mn-ea"/>
              </a:rPr>
              <a:t>, </a:t>
            </a:r>
            <a:r>
              <a:rPr lang="ko-KR" altLang="en-US" sz="3200" dirty="0">
                <a:latin typeface="+mn-ea"/>
              </a:rPr>
              <a:t>그 좌표 자체가 </a:t>
            </a:r>
            <a:r>
              <a:rPr lang="en-US" altLang="ko-KR" sz="3200" dirty="0">
                <a:latin typeface="+mn-ea"/>
              </a:rPr>
              <a:t>   </a:t>
            </a:r>
            <a:r>
              <a:rPr lang="ko-KR" altLang="en-US" sz="3200" dirty="0">
                <a:latin typeface="+mn-ea"/>
              </a:rPr>
              <a:t>이므로</a:t>
            </a:r>
            <a:endParaRPr lang="en-US" altLang="ko-KR" sz="3200" dirty="0">
              <a:latin typeface="+mn-ea"/>
            </a:endParaRPr>
          </a:p>
        </p:txBody>
      </p:sp>
      <p:pic>
        <p:nvPicPr>
          <p:cNvPr id="21" name="그림 20" descr="\documentclass{article}&#10;\usepackage{amsmath}&#10;\pagestyle{empty}&#10;\begin{document}&#10;&#10;&#10;$&#10;q_i&#10;$&#10;&#10;\end{document}" title="IguanaTex Bitmap Display">
            <a:extLst>
              <a:ext uri="{FF2B5EF4-FFF2-40B4-BE49-F238E27FC236}">
                <a16:creationId xmlns:a16="http://schemas.microsoft.com/office/drawing/2014/main" id="{F9DB9EEC-31E9-4AE6-3316-A26BECB8A867}"/>
              </a:ext>
            </a:extLst>
          </p:cNvPr>
          <p:cNvPicPr>
            <a:picLocks noChangeAspect="1"/>
          </p:cNvPicPr>
          <p:nvPr>
            <p:custDataLst>
              <p:tags r:id="rId4"/>
            </p:custDataLst>
          </p:nvPr>
        </p:nvPicPr>
        <p:blipFill>
          <a:blip r:embed="rId16" cstate="print">
            <a:extLst>
              <a:ext uri="{28A0092B-C50C-407E-A947-70E740481C1C}">
                <a14:useLocalDpi xmlns:a14="http://schemas.microsoft.com/office/drawing/2010/main" val="0"/>
              </a:ext>
            </a:extLst>
          </a:blip>
          <a:stretch>
            <a:fillRect/>
          </a:stretch>
        </p:blipFill>
        <p:spPr>
          <a:xfrm>
            <a:off x="11582400" y="5362663"/>
            <a:ext cx="348800" cy="336000"/>
          </a:xfrm>
          <a:prstGeom prst="rect">
            <a:avLst/>
          </a:prstGeom>
        </p:spPr>
      </p:pic>
      <p:pic>
        <p:nvPicPr>
          <p:cNvPr id="23" name="그림 22" descr="\documentclass{article}&#10;\usepackage{amsmath}&#10;\pagestyle{empty}&#10;\begin{document}&#10;&#10;&#10;$&#10;i&#10;$&#10;&#10;\end{document}" title="IguanaTex Bitmap Display">
            <a:extLst>
              <a:ext uri="{FF2B5EF4-FFF2-40B4-BE49-F238E27FC236}">
                <a16:creationId xmlns:a16="http://schemas.microsoft.com/office/drawing/2014/main" id="{D0ACA9AD-1C70-AD61-F618-F635BABAD4DF}"/>
              </a:ext>
            </a:extLst>
          </p:cNvPr>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3200400" y="5343463"/>
            <a:ext cx="144000" cy="355200"/>
          </a:xfrm>
          <a:prstGeom prst="rect">
            <a:avLst/>
          </a:prstGeom>
        </p:spPr>
      </p:pic>
      <p:sp>
        <p:nvSpPr>
          <p:cNvPr id="24" name="TextBox 23">
            <a:extLst>
              <a:ext uri="{FF2B5EF4-FFF2-40B4-BE49-F238E27FC236}">
                <a16:creationId xmlns:a16="http://schemas.microsoft.com/office/drawing/2014/main" id="{935D9C56-B910-0179-9994-98FA6C1F54D4}"/>
              </a:ext>
            </a:extLst>
          </p:cNvPr>
          <p:cNvSpPr txBox="1"/>
          <p:nvPr/>
        </p:nvSpPr>
        <p:spPr>
          <a:xfrm>
            <a:off x="1676400" y="6509960"/>
            <a:ext cx="22326600" cy="2213170"/>
          </a:xfrm>
          <a:prstGeom prst="rect">
            <a:avLst/>
          </a:prstGeom>
          <a:noFill/>
        </p:spPr>
        <p:txBody>
          <a:bodyPr wrap="square">
            <a:spAutoFit/>
          </a:bodyPr>
          <a:lstStyle/>
          <a:p>
            <a:pPr>
              <a:lnSpc>
                <a:spcPct val="150000"/>
              </a:lnSpc>
            </a:pPr>
            <a:r>
              <a:rPr lang="en-US" altLang="ko-KR" sz="3200" dirty="0">
                <a:latin typeface="+mn-ea"/>
              </a:rPr>
              <a:t>2. </a:t>
            </a:r>
            <a:r>
              <a:rPr lang="ko-KR" altLang="en-US" sz="3200" dirty="0">
                <a:latin typeface="+mn-ea"/>
              </a:rPr>
              <a:t>말단의 위치를                 라고 하면</a:t>
            </a:r>
            <a:r>
              <a:rPr lang="en-US" altLang="ko-KR" sz="3200" dirty="0">
                <a:latin typeface="+mn-ea"/>
              </a:rPr>
              <a:t>, </a:t>
            </a:r>
            <a:r>
              <a:rPr lang="ko-KR" altLang="en-US" sz="3200" dirty="0">
                <a:latin typeface="+mn-ea"/>
              </a:rPr>
              <a:t>미소 변형은</a:t>
            </a:r>
            <a:endParaRPr lang="en-US" altLang="ko-KR" sz="3200" dirty="0">
              <a:latin typeface="+mn-ea"/>
            </a:endParaRPr>
          </a:p>
          <a:p>
            <a:pPr>
              <a:lnSpc>
                <a:spcPct val="150000"/>
              </a:lnSpc>
            </a:pPr>
            <a:endParaRPr lang="en-US" altLang="ko-KR" sz="3200" dirty="0">
              <a:latin typeface="+mn-ea"/>
            </a:endParaRPr>
          </a:p>
          <a:p>
            <a:pPr>
              <a:lnSpc>
                <a:spcPct val="150000"/>
              </a:lnSpc>
            </a:pPr>
            <a:r>
              <a:rPr lang="ko-KR" altLang="en-US" sz="3200" dirty="0">
                <a:latin typeface="+mn-ea"/>
              </a:rPr>
              <a:t>   말단에 외력    가 가해지면</a:t>
            </a:r>
            <a:r>
              <a:rPr lang="en-US" altLang="ko-KR" sz="3200" dirty="0">
                <a:latin typeface="+mn-ea"/>
              </a:rPr>
              <a:t>, </a:t>
            </a:r>
            <a:r>
              <a:rPr lang="ko-KR" altLang="en-US" sz="3200" dirty="0">
                <a:latin typeface="+mn-ea"/>
              </a:rPr>
              <a:t>외력이 한 일은   </a:t>
            </a:r>
            <a:endParaRPr lang="en-US" altLang="ko-KR" sz="3200" dirty="0">
              <a:latin typeface="+mn-ea"/>
            </a:endParaRPr>
          </a:p>
        </p:txBody>
      </p:sp>
      <p:pic>
        <p:nvPicPr>
          <p:cNvPr id="26" name="그림 25" descr="\documentclass{article}&#10;\usepackage{amsmath}&#10;\pagestyle{empty}&#10;\begin{document}&#10;&#10;&#10;$&#10;x = \boldsymbol{\phi}(q)&#10;$&#10;&#10;\end{document}" title="IguanaTex Bitmap Display">
            <a:extLst>
              <a:ext uri="{FF2B5EF4-FFF2-40B4-BE49-F238E27FC236}">
                <a16:creationId xmlns:a16="http://schemas.microsoft.com/office/drawing/2014/main" id="{B3EF53C0-2BEA-C76E-1B4E-37D1AAF3DFEF}"/>
              </a:ext>
            </a:extLst>
          </p:cNvPr>
          <p:cNvPicPr>
            <a:picLocks noChangeAspect="1"/>
          </p:cNvPicPr>
          <p:nvPr>
            <p:custDataLst>
              <p:tags r:id="rId6"/>
            </p:custDataLst>
          </p:nvPr>
        </p:nvPicPr>
        <p:blipFill>
          <a:blip r:embed="rId18" cstate="print">
            <a:extLst>
              <a:ext uri="{28A0092B-C50C-407E-A947-70E740481C1C}">
                <a14:useLocalDpi xmlns:a14="http://schemas.microsoft.com/office/drawing/2010/main" val="0"/>
              </a:ext>
            </a:extLst>
          </a:blip>
          <a:stretch>
            <a:fillRect/>
          </a:stretch>
        </p:blipFill>
        <p:spPr>
          <a:xfrm>
            <a:off x="5168567" y="6687790"/>
            <a:ext cx="1803733" cy="483505"/>
          </a:xfrm>
          <a:prstGeom prst="rect">
            <a:avLst/>
          </a:prstGeom>
        </p:spPr>
      </p:pic>
      <p:pic>
        <p:nvPicPr>
          <p:cNvPr id="29" name="그림 28" descr="\documentclass{article}&#10;\usepackage{amsmath}&#10;\pagestyle{empty}&#10;\begin{document}&#10;&#10;&#10;$&#10;\delta x \;=\; \frac{\partial \boldsymbol{\phi}}{\partial q}\,\delta q \;=\; J(q)\,\delta q&#10;$&#10;&#10;\end{document}" title="IguanaTex Bitmap Display">
            <a:extLst>
              <a:ext uri="{FF2B5EF4-FFF2-40B4-BE49-F238E27FC236}">
                <a16:creationId xmlns:a16="http://schemas.microsoft.com/office/drawing/2014/main" id="{CAA5BBAA-59F2-3A9A-AE3E-CC3786D32DDB}"/>
              </a:ext>
            </a:extLst>
          </p:cNvPr>
          <p:cNvPicPr>
            <a:picLocks noChangeAspect="1"/>
          </p:cNvPicPr>
          <p:nvPr>
            <p:custDataLst>
              <p:tags r:id="rId7"/>
            </p:custDataLst>
          </p:nvPr>
        </p:nvPicPr>
        <p:blipFill>
          <a:blip r:embed="rId19" cstate="print">
            <a:extLst>
              <a:ext uri="{28A0092B-C50C-407E-A947-70E740481C1C}">
                <a14:useLocalDpi xmlns:a14="http://schemas.microsoft.com/office/drawing/2010/main" val="0"/>
              </a:ext>
            </a:extLst>
          </a:blip>
          <a:stretch>
            <a:fillRect/>
          </a:stretch>
        </p:blipFill>
        <p:spPr>
          <a:xfrm>
            <a:off x="11756800" y="6667973"/>
            <a:ext cx="4132572" cy="577829"/>
          </a:xfrm>
          <a:prstGeom prst="rect">
            <a:avLst/>
          </a:prstGeom>
        </p:spPr>
      </p:pic>
      <p:pic>
        <p:nvPicPr>
          <p:cNvPr id="32" name="그림 31" descr="\documentclass{article}&#10;\usepackage{amsmath}&#10;\pagestyle{empty}&#10;\begin{document}&#10;&#10;&#10;$&#10;\delta W \;=\; f^{\top}\,\delta x \;=\; f^{\top} J(q)\,\delta q&#10;$&#10;&#10;\end{document}" title="IguanaTex Bitmap Display">
            <a:extLst>
              <a:ext uri="{FF2B5EF4-FFF2-40B4-BE49-F238E27FC236}">
                <a16:creationId xmlns:a16="http://schemas.microsoft.com/office/drawing/2014/main" id="{9B145311-6135-1DA3-E308-F34E6902AEDA}"/>
              </a:ext>
            </a:extLst>
          </p:cNvPr>
          <p:cNvPicPr>
            <a:picLocks noChangeAspect="1"/>
          </p:cNvPicPr>
          <p:nvPr>
            <p:custDataLst>
              <p:tags r:id="rId8"/>
            </p:custDataLst>
          </p:nvPr>
        </p:nvPicPr>
        <p:blipFill>
          <a:blip r:embed="rId20" cstate="print">
            <a:extLst>
              <a:ext uri="{28A0092B-C50C-407E-A947-70E740481C1C}">
                <a14:useLocalDpi xmlns:a14="http://schemas.microsoft.com/office/drawing/2010/main" val="0"/>
              </a:ext>
            </a:extLst>
          </a:blip>
          <a:stretch>
            <a:fillRect/>
          </a:stretch>
        </p:blipFill>
        <p:spPr>
          <a:xfrm>
            <a:off x="10358532" y="8149213"/>
            <a:ext cx="5807847" cy="529829"/>
          </a:xfrm>
          <a:prstGeom prst="rect">
            <a:avLst/>
          </a:prstGeom>
        </p:spPr>
      </p:pic>
      <p:pic>
        <p:nvPicPr>
          <p:cNvPr id="34" name="그림 33" descr="\documentclass{article}&#10;\usepackage{amsmath}&#10;\pagestyle{empty}&#10;\begin{document}&#10;&#10;&#10;$&#10;f&#10;$&#10;&#10;\end{document}" title="IguanaTex Bitmap Display">
            <a:extLst>
              <a:ext uri="{FF2B5EF4-FFF2-40B4-BE49-F238E27FC236}">
                <a16:creationId xmlns:a16="http://schemas.microsoft.com/office/drawing/2014/main" id="{BC07C200-3415-C8A4-344A-9411EECF6A39}"/>
              </a:ext>
            </a:extLst>
          </p:cNvPr>
          <p:cNvPicPr>
            <a:picLocks noChangeAspect="1"/>
          </p:cNvPicPr>
          <p:nvPr>
            <p:custDataLst>
              <p:tags r:id="rId9"/>
            </p:custDataLst>
          </p:nvPr>
        </p:nvPicPr>
        <p:blipFill>
          <a:blip r:embed="rId21" cstate="print">
            <a:extLst>
              <a:ext uri="{28A0092B-C50C-407E-A947-70E740481C1C}">
                <a14:useLocalDpi xmlns:a14="http://schemas.microsoft.com/office/drawing/2010/main" val="0"/>
              </a:ext>
            </a:extLst>
          </a:blip>
          <a:stretch>
            <a:fillRect/>
          </a:stretch>
        </p:blipFill>
        <p:spPr>
          <a:xfrm>
            <a:off x="4572000" y="8230052"/>
            <a:ext cx="204800" cy="368152"/>
          </a:xfrm>
          <a:prstGeom prst="rect">
            <a:avLst/>
          </a:prstGeom>
        </p:spPr>
      </p:pic>
      <p:pic>
        <p:nvPicPr>
          <p:cNvPr id="40" name="그림 39" descr="\documentclass{article}&#10;\usepackage{amsmath}&#10;\pagestyle{empty}&#10;\begin{document}&#10;&#10;&#10;$&#10;Q_i \;=\; \frac{\delta W}{\delta q_i}&#10;$&#10;&#10;\end{document}" title="IguanaTex Bitmap Display">
            <a:extLst>
              <a:ext uri="{FF2B5EF4-FFF2-40B4-BE49-F238E27FC236}">
                <a16:creationId xmlns:a16="http://schemas.microsoft.com/office/drawing/2014/main" id="{286B04DF-FC15-08FE-185C-CF125D8EB6C0}"/>
              </a:ext>
            </a:extLst>
          </p:cNvPr>
          <p:cNvPicPr>
            <a:picLocks noChangeAspect="1"/>
          </p:cNvPicPr>
          <p:nvPr>
            <p:custDataLst>
              <p:tags r:id="rId10"/>
            </p:custDataLst>
          </p:nvPr>
        </p:nvPicPr>
        <p:blipFill>
          <a:blip r:embed="rId22" cstate="print">
            <a:extLst>
              <a:ext uri="{28A0092B-C50C-407E-A947-70E740481C1C}">
                <a14:useLocalDpi xmlns:a14="http://schemas.microsoft.com/office/drawing/2010/main" val="0"/>
              </a:ext>
            </a:extLst>
          </a:blip>
          <a:stretch>
            <a:fillRect/>
          </a:stretch>
        </p:blipFill>
        <p:spPr>
          <a:xfrm>
            <a:off x="6629400" y="3546355"/>
            <a:ext cx="2286000" cy="730250"/>
          </a:xfrm>
          <a:prstGeom prst="rect">
            <a:avLst/>
          </a:prstGeom>
        </p:spPr>
      </p:pic>
      <p:pic>
        <p:nvPicPr>
          <p:cNvPr id="42" name="그림 41" descr="\documentclass{article}&#10;\usepackage{amsmath}&#10;\pagestyle{empty}&#10;\begin{document}&#10;&#10;&#10;$&#10;Q_{\text{contact}} \;=\; J(q)^{\top} f&#10;$&#10;&#10;\end{document}" title="IguanaTex Bitmap Display">
            <a:extLst>
              <a:ext uri="{FF2B5EF4-FFF2-40B4-BE49-F238E27FC236}">
                <a16:creationId xmlns:a16="http://schemas.microsoft.com/office/drawing/2014/main" id="{5C575FB4-7BD8-6AE1-E1CE-F4F95E202467}"/>
              </a:ext>
            </a:extLst>
          </p:cNvPr>
          <p:cNvPicPr>
            <a:picLocks noChangeAspect="1"/>
          </p:cNvPicPr>
          <p:nvPr>
            <p:custDataLst>
              <p:tags r:id="rId11"/>
            </p:custDataLst>
          </p:nvPr>
        </p:nvPicPr>
        <p:blipFill>
          <a:blip r:embed="rId23" cstate="print">
            <a:extLst>
              <a:ext uri="{28A0092B-C50C-407E-A947-70E740481C1C}">
                <a14:useLocalDpi xmlns:a14="http://schemas.microsoft.com/office/drawing/2010/main" val="0"/>
              </a:ext>
            </a:extLst>
          </a:blip>
          <a:stretch>
            <a:fillRect/>
          </a:stretch>
        </p:blipFill>
        <p:spPr>
          <a:xfrm>
            <a:off x="10358532" y="9547619"/>
            <a:ext cx="4024381" cy="529829"/>
          </a:xfrm>
          <a:prstGeom prst="rect">
            <a:avLst/>
          </a:prstGeom>
        </p:spPr>
      </p:pic>
    </p:spTree>
    <p:extLst>
      <p:ext uri="{BB962C8B-B14F-4D97-AF65-F5344CB8AC3E}">
        <p14:creationId xmlns:p14="http://schemas.microsoft.com/office/powerpoint/2010/main" val="1151840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1E47-BFCD-A985-13C7-7AE6D1F7150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6972EBF0-A1B4-A873-2F06-9443770E7AA7}"/>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2FA810BF-E6CB-DB8B-C2F1-3FF2B37A3E5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B37A910-4EB7-5690-6096-F6A26FF55DE0}"/>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Thank</a:t>
            </a:r>
            <a:r>
              <a:rPr lang="en-US" sz="6000" b="1" dirty="0">
                <a:solidFill>
                  <a:srgbClr val="000000"/>
                </a:solidFill>
                <a:latin typeface="Arial" panose="020B0604020202020204" pitchFamily="34" charset="0"/>
                <a:cs typeface="Arial" panose="020B0604020202020204" pitchFamily="34" charset="0"/>
              </a:rPr>
              <a:t> you</a:t>
            </a:r>
            <a:endParaRPr lang="en" sz="6000" b="1" i="0" u="none" strike="noStrike"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2902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89.23882"/>
  <p:tag name="ORIGINALWIDTH" val="52.49347"/>
  <p:tag name="LATEXADDIN" val="\documentclass{article}&#10;\usepackage{amsmath}&#10;\pagestyle{empty}&#10;\begin{document}&#10;&#10;&#10;$&#10;\theta&#10;$&#10;&#10;\end{document}"/>
  <p:tag name="IGUANATEXSIZE" val="35"/>
  <p:tag name="IGUANATEXCURSOR" val="90"/>
  <p:tag name="TRANSPARENCY" val="True"/>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89.23882"/>
  <p:tag name="ORIGINALWIDTH" val="52.49347"/>
  <p:tag name="LATEXADDIN" val="\documentclass{article}&#10;\usepackage{amsmath}&#10;\pagestyle{empty}&#10;\begin{document}&#10;&#10;&#10;$&#10;\theta&#10;$&#10;&#10;\end{document}"/>
  <p:tag name="IGUANATEXSIZE" val="35"/>
  <p:tag name="IGUANATEXCURSOR" val="90"/>
  <p:tag name="TRANSPARENCY" val="True"/>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71.2411"/>
  <p:tag name="LATEXADDIN" val="\documentclass{article}&#10;\usepackage{amsmath}&#10;\pagestyle{empty}&#10;\begin{document}&#10;&#10;&#10;$&#10;\mathbf{x}&#10;$&#10;&#10;\end{document}"/>
  <p:tag name="IGUANATEXSIZE" val="40"/>
  <p:tag name="IGUANATEXCURSOR" val="94"/>
  <p:tag name="TRANSPARENCY" val="True"/>
  <p:tag name="LATEXENGINEID" val="0"/>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71.2411"/>
  <p:tag name="LATEXADDIN" val="\documentclass{article}&#10;\usepackage{amsmath}&#10;\pagestyle{empty}&#10;\begin{document}&#10;&#10;&#10;$&#10;\mathbf{x}&#10;$&#10;&#10;\end{document}"/>
  <p:tag name="IGUANATEXSIZE" val="40"/>
  <p:tag name="IGUANATEXCURSOR" val="94"/>
  <p:tag name="TRANSPARENCY" val="True"/>
  <p:tag name="LATEXENGINEID" val="0"/>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71.2411"/>
  <p:tag name="LATEXADDIN" val="\documentclass{article}&#10;\usepackage{amsmath}&#10;\pagestyle{empty}&#10;\begin{document}&#10;&#10;&#10;$&#10;\mathbf{x}&#10;$&#10;&#10;\end{document}"/>
  <p:tag name="IGUANATEXSIZE" val="40"/>
  <p:tag name="IGUANATEXCURSOR" val="94"/>
  <p:tag name="TRANSPARENCY" val="True"/>
  <p:tag name="LATEXENGINEID" val="0"/>
  <p:tag name="TEMPFOLDER" val="c:\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56.99291"/>
  <p:tag name="ORIGINALWIDTH" val="71.99102"/>
  <p:tag name="LATEXADDIN" val="\documentclass{article}&#10;\usepackage{amsmath}&#10;\pagestyle{empty}&#10;\begin{document}&#10;&#10;&#10;$&#10;\boldsymbol{\tau}&#10;$&#10;&#10;\end{document}"/>
  <p:tag name="IGUANATEXSIZE" val="38"/>
  <p:tag name="IGUANATEXCURSOR" val="101"/>
  <p:tag name="TRANSPARENCY" val="True"/>
  <p:tag name="LATEXENGINEID" val="0"/>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72.4409"/>
  <p:tag name="LATEXADDIN" val="\documentclass{article}&#10;\usepackage{amsmath}&#10;\pagestyle{empty}&#10;\begin{document}&#10;&#10;&#10;$&#10;\mathbf{x} = f(\boldsymbol{\theta})&#10;$&#10;&#10;\end{document}"/>
  <p:tag name="IGUANATEXSIZE" val="38"/>
  <p:tag name="IGUANATEXCURSOR" val="119"/>
  <p:tag name="TRANSPARENCY" val="True"/>
  <p:tag name="LATEXENGINEID" val="0"/>
  <p:tag name="TEMPFOLDER" val="c:\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70.2287"/>
  <p:tag name="ORIGINALWIDTH" val="797.9002"/>
  <p:tag name="LATEXADDIN" val="\documentclass{article}&#10;\usepackage{amsmath}&#10;\pagestyle{empty}&#10;\begin{document}&#10;&#10;&#10;$&#10;\delta \mathbf{x} \;=\; \frac{\partial f(\boldsymbol{\theta})}{\partial \boldsymbol{\theta}}\,\delta \boldsymbol{\theta}&#10;$&#10;&#10;\end{document}"/>
  <p:tag name="IGUANATEXSIZE" val="38"/>
  <p:tag name="IGUANATEXCURSOR" val="204"/>
  <p:tag name="TRANSPARENCY" val="True"/>
  <p:tag name="LATEXENGINEID" val="0"/>
  <p:tag name="TEMPFOLDER" val="c:\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780.6525"/>
  <p:tag name="ORIGINALWIDTH" val="1204.349"/>
  <p:tag name="LATEXADDIN" val="\documentclass{article}&#10;\usepackage{amsmath}&#10;\pagestyle{empty}&#10;\begin{document}&#10;&#10;&#10;$&#10;\begin{aligned}&#10;x_1 &amp;= f_1(\theta_1,\theta_2,\ldots,\theta_6),\\&#10;x_2 &amp;= f_2(\theta_1,\theta_2,\ldots,\theta_6),\\&#10;&amp;\;\;\vdots \\&#10;x_6 &amp;= f_6(\theta_1,\theta_2,\ldots,\theta_6).&#10;\end{aligned}&#10;$&#10;&#10;\end{document}"/>
  <p:tag name="IGUANATEXSIZE" val="38"/>
  <p:tag name="IGUANATEXCURSOR" val="273"/>
  <p:tag name="TRANSPARENCY" val="True"/>
  <p:tag name="LATEXENGINEID" val="0"/>
  <p:tag name="TEMPFOLDER" val="c:\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210.349"/>
  <p:tag name="ORIGINALWIDTH" val="2219.722"/>
  <p:tag name="LATEXADDIN" val="\documentclass{article}&#10;\usepackage{amsmath}&#10;\pagestyle{empty}&#10;\begin{document}&#10;&#10;&#10;$&#10;\begin{aligned}&#10;\delta x_1 &amp;= \frac{\partial f_1}{\partial \theta_1}\,\delta\theta_1&#10;           + \frac{\partial f_1}{\partial \theta_2}\,\delta\theta_2&#10;           + \cdots&#10;           + \frac{\partial f_1}{\partial \theta_6}\,\delta\theta_6,\\&#10;\delta x_2 &amp;= \frac{\partial f_2}{\partial \theta_1}\,\delta\theta_1&#10;           + \frac{\partial f_2}{\partial \theta_2}\,\delta\theta_2&#10;           + \cdots&#10;           + \frac{\partial f_2}{\partial \theta_6}\,\delta\theta_6,\\&#10;&amp;\;\;\vdots \\&#10;\delta x_6 &amp;= \frac{\partial f_6}{\partial \theta_1}\,\delta\theta_1&#10;           + \frac{\partial f_6}{\partial \theta_2}\,\delta\theta_2&#10;           + \cdots&#10;           + \frac{\partial f_6}{\partial \theta_6}\,\delta\theta_6.&#10;\end{aligned}&#10;$&#10;&#10;\end{document}"/>
  <p:tag name="IGUANATEXSIZE" val="38"/>
  <p:tag name="IGUANATEXCURSOR" val="810"/>
  <p:tag name="TRANSPARENCY" val="True"/>
  <p:tag name="LATEXENGINEID" val="0"/>
  <p:tag name="TEMPFOLDER" val="c:\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983.877"/>
  <p:tag name="ORIGINALWIDTH" val="2146.232"/>
  <p:tag name="LATEXADDIN" val="\documentclass{article}&#10;\usepackage{amsmath}&#10;\pagestyle{empty}&#10;\begin{document}&#10;&#10;&#10;$&#10;\begin{bmatrix}&#10;\delta x_1\\[2pt]\delta x_2\\[2pt]\vdots\\[2pt]\delta x_6&#10;\end{bmatrix}&#10;=&#10;\underbrace{&#10;\begin{bmatrix}&#10;\frac{\partial f_1}{\partial \theta_1} &amp; \frac{\partial f_1}{\partial \theta_2} &amp; \cdots &amp; \frac{\partial f_1}{\partial \theta_6} \\&#10;\frac{\partial f_2}{\partial \theta_1} &amp; \frac{\partial f_2}{\partial \theta_2} &amp; \cdots &amp; \frac{\partial f_2}{\partial \theta_6} \\&#10;\vdots &amp; \vdots &amp; \ddots &amp; \vdots \\&#10;\frac{\partial f_6}{\partial \theta_1} &amp; \frac{\partial f_6}{\partial \theta_2} &amp; \cdots &amp; \frac{\partial f_6}{\partial \theta_6}&#10;\end{bmatrix}&#10;}_{\displaystyle \mathbf{J}(\boldsymbol{\theta})}&#10;\begin{bmatrix}&#10;\delta \theta_1\\[2pt]\delta \theta_2\\[2pt]\vdots\\[2pt]\delta \theta_6&#10;\end{bmatrix}.&#10;$&#10;&#10;\end{document}"/>
  <p:tag name="IGUANATEXSIZE" val="38"/>
  <p:tag name="IGUANATEXCURSOR" val="803"/>
  <p:tag name="TRANSPARENCY" val="True"/>
  <p:tag name="LATEXENGINEID" val="0"/>
  <p:tag name="TEMPFOLDER" val="c:\temp\"/>
  <p:tag name="LATEXFORMHEIGHT" val="312"/>
  <p:tag name="LATEXFORMWIDTH" val="384"/>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50.9186"/>
  <p:tag name="LATEXADDIN" val="\documentclass{article}&#10;\usepackage{amsmath}&#10;\pagestyle{empty}&#10;\begin{document}&#10;&#10;&#10;$&#10;\dot{\mathbf{x}} \;=\; \mathbf{J}(\mathbf{q})\,\dot{\mathbf{q}}&#10;$&#10;&#10;\end{document}"/>
  <p:tag name="IGUANATEXSIZE" val="38"/>
  <p:tag name="IGUANATEXCURSOR" val="147"/>
  <p:tag name="TRANSPARENCY" val="True"/>
  <p:tag name="LATEXENGINEID" val="0"/>
  <p:tag name="TEMPFOLDER" val="c:\temp\"/>
  <p:tag name="LATEXFORMHEIGHT" val="312"/>
  <p:tag name="LATEXFORMWIDTH" val="384"/>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2121.485"/>
  <p:tag name="LATEXADDIN" val="\documentclass{article}&#10;\usepackage{amsmath}&#10;\pagestyle{empty}&#10;\begin{document}&#10;&#10;&#10;$&#10;M(q)\,\ddot q + C(q,\dot q)\,\dot q + g(q) = \tau + J^\top(q) f&#10;$&#10;&#10;\end{document}"/>
  <p:tag name="IGUANATEXSIZE" val="38"/>
  <p:tag name="IGUANATEXCURSOR" val="147"/>
  <p:tag name="TRANSPARENCY" val="True"/>
  <p:tag name="LATEXENGINEID" val="0"/>
  <p:tag name="TEMPFOLDER" val="c:\temp\"/>
  <p:tag name="LATEXFORMHEIGHT" val="312"/>
  <p:tag name="LATEXFORMWIDTH" val="384"/>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89.23882"/>
  <p:tag name="ORIGINALWIDTH" val="52.49347"/>
  <p:tag name="LATEXADDIN" val="\documentclass{article}&#10;\usepackage{amsmath}&#10;\pagestyle{empty}&#10;\begin{document}&#10;&#10;&#10;$&#10;\theta&#10;$&#10;&#10;\end{document}"/>
  <p:tag name="IGUANATEXSIZE" val="32"/>
  <p:tag name="IGUANATEXCURSOR" val="90"/>
  <p:tag name="TRANSPARENCY" val="True"/>
  <p:tag name="LATEXENGINEID" val="0"/>
  <p:tag name="TEMPFOLDER" val="c:\temp\"/>
  <p:tag name="LATEXFORMHEIGHT" val="312"/>
  <p:tag name="LATEXFORMWIDTH" val="384"/>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51.74354"/>
  <p:tag name="LATEXADDIN" val="\documentclass{article}&#10;\usepackage{amsmath}&#10;\pagestyle{empty}&#10;\begin{document}&#10;&#10;&#10;$&#10;q&#10;$&#10;&#10;\end{document}"/>
  <p:tag name="IGUANATEXSIZE" val="32"/>
  <p:tag name="IGUANATEXCURSOR" val="85"/>
  <p:tag name="TRANSPARENCY" val="True"/>
  <p:tag name="LATEXENGINEID" val="0"/>
  <p:tag name="TEMPFOLDER" val="c:\temp\"/>
  <p:tag name="LATEXFORMHEIGHT" val="312"/>
  <p:tag name="LATEXFORMWIDTH" val="384"/>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51.74354"/>
  <p:tag name="LATEXADDIN" val="\documentclass{article}&#10;\usepackage{amsmath}&#10;\pagestyle{empty}&#10;\begin{document}&#10;&#10;&#10;$&#10;\dot q&#10;$&#10;&#10;\end{document}"/>
  <p:tag name="IGUANATEXSIZE" val="32"/>
  <p:tag name="IGUANATEXCURSOR" val="90"/>
  <p:tag name="TRANSPARENCY" val="True"/>
  <p:tag name="LATEXENGINEID" val="0"/>
  <p:tag name="TEMPFOLDER" val="c:\temp\"/>
  <p:tag name="LATEXFORMHEIGHT" val="312"/>
  <p:tag name="LATEXFORMWIDTH" val="384"/>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54.74315"/>
  <p:tag name="LATEXADDIN" val="\documentclass{article}&#10;\usepackage{amsmath}&#10;\pagestyle{empty}&#10;\begin{document}&#10;&#10;&#10;$&#10;\ddot q&#10;$&#10;&#10;\end{document}"/>
  <p:tag name="IGUANATEXSIZE" val="32"/>
  <p:tag name="IGUANATEXCURSOR" val="91"/>
  <p:tag name="TRANSPARENCY" val="True"/>
  <p:tag name="LATEXENGINEID" val="0"/>
  <p:tag name="TEMPFOLDER" val="c:\temp\"/>
  <p:tag name="LATEXFORMHEIGHT" val="312"/>
  <p:tag name="LATEXFORMWIDTH" val="384"/>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74.4657"/>
  <p:tag name="LATEXADDIN" val="\documentclass{article}&#10;\usepackage{amsmath}&#10;\pagestyle{empty}&#10;\begin{document}&#10;&#10;&#10;$&#10;M(q)&#10;$&#10;&#10;\end{document}"/>
  <p:tag name="IGUANATEXSIZE" val="32"/>
  <p:tag name="IGUANATEXCURSOR" val="88"/>
  <p:tag name="TRANSPARENCY" val="True"/>
  <p:tag name="LATEXENGINEID" val="0"/>
  <p:tag name="TEMPFOLDER" val="c:\temp\"/>
  <p:tag name="LATEXFORMHEIGHT" val="312"/>
  <p:tag name="LATEXFORMWIDTH" val="384"/>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40.9449"/>
  <p:tag name="LATEXADDIN" val="\documentclass{article}&#10;\usepackage{amsmath}&#10;\pagestyle{empty}&#10;\begin{document}&#10;&#10;&#10;$&#10;C(q,\dot q)\,\dot q&#10;$&#10;&#10;\end{document}"/>
  <p:tag name="IGUANATEXSIZE" val="32"/>
  <p:tag name="IGUANATEXCURSOR" val="103"/>
  <p:tag name="TRANSPARENCY" val="True"/>
  <p:tag name="LATEXENGINEID" val="0"/>
  <p:tag name="TEMPFOLDER" val="c:\temp\"/>
  <p:tag name="LATEXFORMHEIGHT" val="312"/>
  <p:tag name="LATEXFORMWIDTH" val="384"/>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06.9741"/>
  <p:tag name="LATEXADDIN" val="\documentclass{article}&#10;\usepackage{amsmath}&#10;\pagestyle{empty}&#10;\begin{document}&#10;&#10;&#10;$&#10;g(q)&#10;$&#10;&#10;\end{document}"/>
  <p:tag name="IGUANATEXSIZE" val="38"/>
  <p:tag name="IGUANATEXCURSOR" val="88"/>
  <p:tag name="TRANSPARENCY" val="True"/>
  <p:tag name="LATEXENGINEID" val="0"/>
  <p:tag name="TEMPFOLDER" val="c:\temp\"/>
  <p:tag name="LATEXFORMHEIGHT" val="312"/>
  <p:tag name="LATEXFORMWIDTH" val="384"/>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60.74244"/>
  <p:tag name="LATEXADDIN" val="\documentclass{article}&#10;\usepackage{amsmath}&#10;\pagestyle{empty}&#10;\begin{document}&#10;&#10;&#10;$&#10;\tau&#10;$&#10;&#10;\end{document}"/>
  <p:tag name="IGUANATEXSIZE" val="32"/>
  <p:tag name="IGUANATEXCURSOR" val="88"/>
  <p:tag name="TRANSPARENCY" val="True"/>
  <p:tag name="LATEXENGINEID" val="0"/>
  <p:tag name="TEMPFOLDER" val="c:\temp\"/>
  <p:tag name="LATEXFORMHEIGHT" val="312"/>
  <p:tag name="LATEXFORMWIDTH" val="384"/>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383.2021"/>
  <p:tag name="LATEXADDIN" val="\documentclass{article}&#10;\usepackage{amsmath}&#10;\pagestyle{empty}&#10;\begin{document}&#10;&#10;&#10;$&#10;J^\top(q) f&#10;$&#10;&#10;\end{document}"/>
  <p:tag name="IGUANATEXSIZE" val="32"/>
  <p:tag name="IGUANATEXCURSOR" val="95"/>
  <p:tag name="TRANSPARENCY" val="True"/>
  <p:tag name="LATEXENGINEID" val="0"/>
  <p:tag name="TEMPFOLDER" val="c:\temp\"/>
  <p:tag name="LATEXFORMHEIGHT" val="312"/>
  <p:tag name="LATEXFORMWIDTH" val="384"/>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436.4454"/>
  <p:tag name="LATEXADDIN" val="\documentclass{article}&#10;\usepackage{amsmath}&#10;\pagestyle{empty}&#10;\begin{document}&#10;&#10;&#10;$&#10;q = \begin{bmatrix} \theta_1 \\ \theta_2 \end{bmatrix}&#10;$&#10;&#10;\end{document}"/>
  <p:tag name="IGUANATEXSIZE" val="32"/>
  <p:tag name="IGUANATEXCURSOR" val="138"/>
  <p:tag name="TRANSPARENCY" val="True"/>
  <p:tag name="LATEXENGINEID" val="0"/>
  <p:tag name="TEMPFOLDER" val="c:\temp\"/>
  <p:tag name="LATEXFORMHEIGHT" val="312"/>
  <p:tag name="LATEXFORMWIDTH" val="384"/>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79.34"/>
  <p:tag name="LATEXADDIN" val="\documentclass{article}&#10;\usepackage{amsmath}&#10;\pagestyle{empty}&#10;\begin{document}&#10;&#10;&#10;$&#10;\mathcal{L}(q,\dot q) = T(q,\dot q) - V(q)\\&#10;$&#10;&#10;\end{document}"/>
  <p:tag name="IGUANATEXSIZE" val="38"/>
  <p:tag name="IGUANATEXCURSOR" val="128"/>
  <p:tag name="TRANSPARENCY" val="True"/>
  <p:tag name="LATEXENGINEID" val="0"/>
  <p:tag name="TEMPFOLDER" val="c:\temp\"/>
  <p:tag name="LATEXFORMHEIGHT" val="312"/>
  <p:tag name="LATEXFORMWIDTH" val="384"/>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1138.358"/>
  <p:tag name="LATEXADDIN" val="\documentclass{article}&#10;\usepackage{amsmath}&#10;\pagestyle{empty}&#10;\begin{document}&#10;&#10;&#10;$&#10;T(q,\dot q)  = \tfrac{1}{2}\,\dot q^\top M(q)\,\dot q&#10;$&#10;&#10;\end{document}"/>
  <p:tag name="IGUANATEXSIZE" val="38"/>
  <p:tag name="IGUANATEXCURSOR" val="96"/>
  <p:tag name="TRANSPARENCY" val="True"/>
  <p:tag name="LATEXENGINEID" val="0"/>
  <p:tag name="TEMPFOLDER" val="c:\temp\"/>
  <p:tag name="LATEXFORMHEIGHT" val="312"/>
  <p:tag name="LATEXFORMWIDTH" val="384"/>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38.4702"/>
  <p:tag name="LATEXADDIN" val="\documentclass{article}&#10;\usepackage{amsmath}&#10;\pagestyle{empty}&#10;\begin{document}&#10;&#10;&#10;$&#10;V(q)&#10;$&#10;&#10;\end{document}"/>
  <p:tag name="IGUANATEXSIZE" val="32"/>
  <p:tag name="IGUANATEXCURSOR" val="88"/>
  <p:tag name="TRANSPARENCY" val="True"/>
  <p:tag name="LATEXENGINEID" val="0"/>
  <p:tag name="TEMPFOLDER" val="c:\temp\"/>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51.74354"/>
  <p:tag name="LATEXADDIN" val="\documentclass{article}&#10;\usepackage{amsmath}&#10;\pagestyle{empty}&#10;\begin{document}&#10;&#10;&#10;$&#10;q&#10;$&#10;&#10;\end{document}"/>
  <p:tag name="IGUANATEXSIZE" val="38"/>
  <p:tag name="IGUANATEXCURSOR" val="85"/>
  <p:tag name="TRANSPARENCY" val="True"/>
  <p:tag name="LATEXENGINEID" val="0"/>
  <p:tag name="TEMPFOLDER" val="c:\temp\"/>
  <p:tag name="LATEXFORMHEIGHT" val="312"/>
  <p:tag name="LATEXFORMWIDTH" val="384"/>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1951.256"/>
  <p:tag name="LATEXADDIN" val="\documentclass{article}&#10;\usepackage{amsmath}&#10;\pagestyle{empty}&#10;\begin{document}&#10;&#10;&#10;$&#10; \frac{d}{dt}\!\left(\frac{\partial L}{\partial \dot q_i}\right)&#10;  - \frac{\partial L}{\partial q_i}&#10;  = Q_i,&#10;  \qquad&#10;  L = T - V&#10;$&#10;&#10;\end{document}"/>
  <p:tag name="IGUANATEXSIZE" val="38"/>
  <p:tag name="IGUANATEXCURSOR" val="214"/>
  <p:tag name="TRANSPARENCY" val="True"/>
  <p:tag name="LATEXENGINEID" val="0"/>
  <p:tag name="TEMPFOLDER" val="c:\temp\"/>
  <p:tag name="LATEXFORMHEIGHT" val="312"/>
  <p:tag name="LATEXFORMWIDTH" val="384"/>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1373.078"/>
  <p:tag name="LATEXADDIN" val="\documentclass{article}&#10;\usepackage{amsmath}&#10;\pagestyle{empty}&#10;\begin{document}&#10;&#10;&#10;$&#10;\frac{d}{dt}\!\left(\frac{\partial T}{\partial \dot q_i}\right)&#10;- \frac{\partial T}{\partial q_i}&#10;+ \frac{\partial V}{\partial q_i}&#10;= Q_i&#10;$&#10;&#10;\end{document}"/>
  <p:tag name="IGUANATEXSIZE" val="38"/>
  <p:tag name="IGUANATEXCURSOR" val="221"/>
  <p:tag name="TRANSPARENCY" val="True"/>
  <p:tag name="LATEXENGINEID" val="0"/>
  <p:tag name="TEMPFOLDER" val="c:\temp\"/>
  <p:tag name="LATEXFORMHEIGHT" val="312"/>
  <p:tag name="LATEXFORMWIDTH" val="384"/>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88.2265"/>
  <p:tag name="ORIGINALWIDTH" val="1688.039"/>
  <p:tag name="LATEXADDIN" val="\documentclass{article}&#10;\usepackage{amsmath}&#10;\pagestyle{empty}&#10;\begin{document}&#10;&#10;&#10;$&#10;\frac{\partial T}{\partial \dot q_i}&#10;= \frac{1}{2}\sum_{j=1}^{n}\sum_{k=1}^{n} M_{jk}\,&#10;\frac{\partial(\dot q_j \dot q_k)}{\partial \dot q_i}&#10;$&#10;&#10;\end{document}"/>
  <p:tag name="IGUANATEXSIZE" val="38"/>
  <p:tag name="IGUANATEXCURSOR" val="228"/>
  <p:tag name="TRANSPARENCY" val="True"/>
  <p:tag name="LATEXENGINEID" val="0"/>
  <p:tag name="TEMPFOLDER" val="c:\temp\"/>
  <p:tag name="LATEXFORMHEIGHT" val="312"/>
  <p:tag name="LATEXFORMWIDTH" val="384"/>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759.28"/>
  <p:tag name="LATEXADDIN" val="\documentclass{article}&#10;\usepackage{amsmath}&#10;\pagestyle{empty}&#10;\begin{document}&#10;&#10;&#10;$&#10;\dot{\mathbf q} = \begin{bmatrix} \dot q_{1} \\ \dot q_{2} \end{bmatrix},\qquad&#10;M = \begin{bmatrix} m_{11} &amp; m_{12} \\ m_{21} &amp; m_{22} \end{bmatrix}&#10;$&#10;&#10;\end{document}"/>
  <p:tag name="IGUANATEXSIZE" val="38"/>
  <p:tag name="IGUANATEXCURSOR" val="232"/>
  <p:tag name="TRANSPARENCY" val="True"/>
  <p:tag name="LATEXENGINEID" val="0"/>
  <p:tag name="TEMPFOLDER" val="c:\temp\"/>
  <p:tag name="LATEXFORMHEIGHT" val="312"/>
  <p:tag name="LATEXFORMWIDTH" val="384"/>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2448.444"/>
  <p:tag name="LATEXADDIN" val="\documentclass{article}&#10;\usepackage{amsmath}&#10;\pagestyle{empty}&#10;\begin{document}&#10;&#10;&#10;$&#10;\dot{\mathbf q}^{\top} M \dot{\mathbf q}&#10;= m_{11}\,\dot q_{1}^{2} + (m_{12}+m_{21})\,\dot q_{1}\dot q_{2} + m_{22}\,\dot q_{2}^{2}&#10;$&#10;&#10;\end{document}"/>
  <p:tag name="IGUANATEXSIZE" val="38"/>
  <p:tag name="IGUANATEXCURSOR" val="214"/>
  <p:tag name="TRANSPARENCY" val="True"/>
  <p:tag name="LATEXENGINEID" val="0"/>
  <p:tag name="TEMPFOLDER" val="c:\temp\"/>
  <p:tag name="LATEXFORMHEIGHT" val="312"/>
  <p:tag name="LATEXFORMWIDTH" val="384"/>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136.4829"/>
  <p:tag name="ORIGINALWIDTH" val="2047.244"/>
  <p:tag name="LATEXADDIN" val="\documentclass{article}&#10;\usepackage{amsmath}&#10;\pagestyle{empty}&#10;\begin{document}&#10;&#10;&#10;$&#10;\dot{\mathbf q}^{\top} M \dot{\mathbf q}&#10;= m_{11}\,\dot q_{1}^{2} + 2 m_{12}\,\dot q_{1}\dot q_{2} + m_{22}\,\dot q_{2}^{2}&#10;$&#10;&#10;\end{document}"/>
  <p:tag name="IGUANATEXSIZE" val="38"/>
  <p:tag name="IGUANATEXCURSOR" val="207"/>
  <p:tag name="TRANSPARENCY" val="True"/>
  <p:tag name="LATEXENGINEID" val="0"/>
  <p:tag name="TEMPFOLDER" val="c:\temp\"/>
  <p:tag name="LATEXFORMHEIGHT" val="312"/>
  <p:tag name="LATEXFORMWIDTH" val="384"/>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578.1777"/>
  <p:tag name="LATEXADDIN" val="\documentclass{article}&#10;\usepackage{amsmath}&#10;\pagestyle{empty}&#10;\begin{document}&#10;&#10;&#10;$&#10;m_{12} = m_{21}&#10;$&#10;&#10;\end{document}"/>
  <p:tag name="IGUANATEXSIZE" val="38"/>
  <p:tag name="IGUANATEXCURSOR" val="99"/>
  <p:tag name="TRANSPARENCY" val="True"/>
  <p:tag name="LATEXENGINEID" val="0"/>
  <p:tag name="TEMPFOLDER" val="c:\temp\"/>
  <p:tag name="LATEXFORMHEIGHT" val="312"/>
  <p:tag name="LATEXFORMWIDTH" val="384"/>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162.7297"/>
  <p:tag name="ORIGINALWIDTH" val="1952.756"/>
  <p:tag name="LATEXADDIN" val="\documentclass{article}&#10;\usepackage{amsmath}&#10;\pagestyle{empty}&#10;\begin{document}&#10;&#10;&#10;$&#10;= \frac{1}{2}\sum_{j=1}^{n}\sum_{k=1}^{n} M_{jk}\,&#10;\bigl(\delta_{ij}\,\dot q_{k} + \dot q_{j}\,\delta_{ik}\bigr)&#10;$&#10;&#10;\end{document}"/>
  <p:tag name="IGUANATEXSIZE" val="38"/>
  <p:tag name="IGUANATEXCURSOR" val="84"/>
  <p:tag name="TRANSPARENCY" val="True"/>
  <p:tag name="LATEXENGINEID" val="0"/>
  <p:tag name="TEMPFOLDER" val="c:\temp\"/>
  <p:tag name="LATEXFORMHEIGHT" val="312"/>
  <p:tag name="LATEXFORMWIDTH" val="384"/>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56.7304"/>
  <p:tag name="ORIGINALWIDTH" val="778.4026"/>
  <p:tag name="LATEXADDIN" val="\documentclass{article}&#10;\usepackage{amsmath}&#10;\pagestyle{empty}&#10;\begin{document}&#10;&#10;&#10;$&#10;= \sum_{j=1}^{n} M_{ij}\,\dot q_{j}&#10;$&#10;&#10;\end{document}"/>
  <p:tag name="IGUANATEXSIZE" val="38"/>
  <p:tag name="IGUANATEXCURSOR" val="119"/>
  <p:tag name="TRANSPARENCY" val="True"/>
  <p:tag name="LATEXENGINEID" val="0"/>
  <p:tag name="TEMPFOLDER" val="c:\temp\"/>
  <p:tag name="LATEXFORMHEIGHT" val="312"/>
  <p:tag name="LATEXFORMWIDTH" val="384"/>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2597.675"/>
  <p:tag name="LATEXADDIN" val="\documentclass{article}&#10;\usepackage{amsmath}&#10;\pagestyle{empty}&#10;\begin{document}&#10;&#10;&#10;$&#10;\frac{d}{dt}\!\left(\frac{\partial T}{\partial \dot q_i}\right)&#10;= \sum_{j=1}^{n} M_{ij}\,\ddot q_{j}&#10;+ \sum_{j=1}^{n}\sum_{k=1}^{n}&#10;\frac{\partial M_{ij}}{\partial q_{k}}\,\dot q_{k}\,\dot q_{j}&#10;$&#10;&#10;\end{document}"/>
  <p:tag name="IGUANATEXSIZE" val="38"/>
  <p:tag name="IGUANATEXCURSOR" val="278"/>
  <p:tag name="TRANSPARENCY" val="True"/>
  <p:tag name="LATEXENGINEID" val="0"/>
  <p:tag name="TEMPFOLDER" val="c:\temp\"/>
  <p:tag name="LATEXFORMHEIGHT" val="312"/>
  <p:tag name="LATEXFORMWIDTH" val="384"/>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1138.358"/>
  <p:tag name="LATEXADDIN" val="\documentclass{article}&#10;\usepackage{amsmath}&#10;\pagestyle{empty}&#10;\begin{document}&#10;&#10;&#10;$&#10;T(q,\dot q)  = \tfrac{1}{2}\,\dot q^\top M(q)\,\dot q&#10;$&#10;&#10;\end{document}"/>
  <p:tag name="IGUANATEXSIZE" val="38"/>
  <p:tag name="IGUANATEXCURSOR" val="96"/>
  <p:tag name="TRANSPARENCY" val="True"/>
  <p:tag name="LATEXENGINEID" val="0"/>
  <p:tag name="TEMPFOLDER" val="c:\temp\"/>
  <p:tag name="LATEXFORMHEIGHT" val="312"/>
  <p:tag name="LATEXFORMWIDTH" val="384"/>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1025.872"/>
  <p:tag name="LATEXADDIN" val="\documentclass{article}&#10;\usepackage{amsmath}&#10;\pagestyle{empty}&#10;\begin{document}&#10;&#10;&#10;$&#10;\delta_{ij} =&#10;\begin{cases}&#10;1, &amp; \text{if } i = j, \\&#10;0, &amp; \text{if } i \neq j.&#10;\end{cases}&#10;$&#10;&#10;\end{document}"/>
  <p:tag name="IGUANATEXSIZE" val="42"/>
  <p:tag name="IGUANATEXCURSOR" val="175"/>
  <p:tag name="TRANSPARENCY" val="True"/>
  <p:tag name="LATEXENGINEID" val="0"/>
  <p:tag name="TEMPFOLDER" val="c:\temp\"/>
  <p:tag name="LATEXFORMHEIGHT" val="312"/>
  <p:tag name="LATEXFORMWIDTH" val="384"/>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1951.256"/>
  <p:tag name="LATEXADDIN" val="\documentclass{article}&#10;\usepackage{amsmath}&#10;\pagestyle{empty}&#10;\begin{document}&#10;&#10;&#10;$&#10; \frac{d}{dt}\!\left(\frac{\partial L}{\partial \dot q_i}\right)&#10;  - \frac{\partial L}{\partial q_i}&#10;  = Q_i,&#10;  \qquad&#10;  L = T - V&#10;$&#10;&#10;\end{document}"/>
  <p:tag name="IGUANATEXSIZE" val="38"/>
  <p:tag name="IGUANATEXCURSOR" val="214"/>
  <p:tag name="TRANSPARENCY" val="True"/>
  <p:tag name="LATEXENGINEID" val="0"/>
  <p:tag name="TEMPFOLDER" val="c:\temp\"/>
  <p:tag name="LATEXFORMHEIGHT" val="312"/>
  <p:tag name="LATEXFORMWIDTH" val="384"/>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1373.078"/>
  <p:tag name="LATEXADDIN" val="\documentclass{article}&#10;\usepackage{amsmath}&#10;\pagestyle{empty}&#10;\begin{document}&#10;&#10;&#10;$&#10;\frac{d}{dt}\!\left(\frac{\partial T}{\partial \dot q_i}\right)&#10;- \frac{\partial T}{\partial q_i}&#10;+ \frac{\partial V}{\partial q_i}&#10;= Q_i&#10;$&#10;&#10;\end{document}"/>
  <p:tag name="IGUANATEXSIZE" val="38"/>
  <p:tag name="IGUANATEXCURSOR" val="221"/>
  <p:tag name="TRANSPARENCY" val="True"/>
  <p:tag name="LATEXENGINEID" val="0"/>
  <p:tag name="TEMPFOLDER" val="c:\temp\"/>
  <p:tag name="LATEXFORMHEIGHT" val="312"/>
  <p:tag name="LATEXFORMWIDTH" val="384"/>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185.9768"/>
  <p:tag name="ORIGINALWIDTH" val="1627.297"/>
  <p:tag name="LATEXADDIN" val="\documentclass{article}&#10;\usepackage{amsmath}&#10;\pagestyle{empty}&#10;\begin{document}&#10;&#10;&#10;$&#10;\frac{\partial T}{\partial q_i}&#10;= \frac{1}{2}\sum_{j=1}^{n}\sum_{k=1}^{n}&#10;\frac{\partial M_{jk}}{\partial q_{i}}\,\dot q_{j}\,\dot q_{k}&#10;$&#10;&#10;\end{document}"/>
  <p:tag name="IGUANATEXSIZE" val="38"/>
  <p:tag name="IGUANATEXCURSOR" val="220"/>
  <p:tag name="TRANSPARENCY" val="True"/>
  <p:tag name="LATEXENGINEID" val="0"/>
  <p:tag name="TEMPFOLDER" val="c:\temp\"/>
  <p:tag name="LATEXFORMHEIGHT" val="312"/>
  <p:tag name="LATEXFORMWIDTH" val="384"/>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1138.358"/>
  <p:tag name="LATEXADDIN" val="\documentclass{article}&#10;\usepackage{amsmath}&#10;\pagestyle{empty}&#10;\begin{document}&#10;&#10;&#10;$&#10;T(q,\dot q)  = \tfrac{1}{2}\,\dot q^\top M(q)\,\dot q&#10;$&#10;&#10;\end{document}"/>
  <p:tag name="IGUANATEXSIZE" val="38"/>
  <p:tag name="IGUANATEXCURSOR" val="96"/>
  <p:tag name="TRANSPARENCY" val="True"/>
  <p:tag name="LATEXENGINEID" val="0"/>
  <p:tag name="TEMPFOLDER" val="c:\temp\"/>
  <p:tag name="LATEXFORMHEIGHT" val="312"/>
  <p:tag name="LATEXFORMWIDTH" val="384"/>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171.7285"/>
  <p:tag name="ORIGINALWIDTH" val="1428.571"/>
  <p:tag name="LATEXADDIN" val="\documentclass{article}&#10;\usepackage{amsmath}&#10;\pagestyle{empty}&#10;\begin{document}&#10;&#10;&#10;$&#10;\frac{\partial V}{\partial q_i} = g_i(q) \qquad (\;\mathbf{g}=\nabla V\;)&#10;$&#10;&#10;\end{document}"/>
  <p:tag name="IGUANATEXSIZE" val="32"/>
  <p:tag name="IGUANATEXCURSOR" val="157"/>
  <p:tag name="TRANSPARENCY" val="True"/>
  <p:tag name="LATEXENGINEID" val="0"/>
  <p:tag name="TEMPFOLDER" val="c:\temp\"/>
  <p:tag name="LATEXFORMHEIGHT" val="312"/>
  <p:tag name="LATEXFORMWIDTH" val="384"/>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185.9768"/>
  <p:tag name="ORIGINALWIDTH" val="4090.739"/>
  <p:tag name="LATEXADDIN" val="\documentclass{article}&#10;\usepackage{amsmath}&#10;\pagestyle{empty}&#10;\begin{document}&#10;&#10;&#10;$&#10;\sum_{j=1}^{n} M_{ij}\,\ddot q_{j}&#10;+ \sum_{j=1}^{n}\sum_{k=1}^{n} \frac{\partial M_{ij}}{\partial q_{k}}\,\dot q_{k}\,\dot q_{j}&#10;- \frac{1}{2}\sum_{j=1}^{n}\sum_{k=1}^{n} \frac{\partial M_{jk}}{\partial q_{i}}\,\dot q_{j}\,\dot q_{k}&#10;+ g_i(q)&#10;= Q_i&#10;$&#10;&#10;\end{document}"/>
  <p:tag name="IGUANATEXSIZE" val="38"/>
  <p:tag name="IGUANATEXCURSOR" val="332"/>
  <p:tag name="TRANSPARENCY" val="True"/>
  <p:tag name="LATEXENGINEID" val="0"/>
  <p:tag name="TEMPFOLDER" val="c:\temp\"/>
  <p:tag name="LATEXFORMHEIGHT" val="312"/>
  <p:tag name="LATEXFORMWIDTH" val="384"/>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85.9768"/>
  <p:tag name="ORIGINALWIDTH" val="4090.739"/>
  <p:tag name="LATEXADDIN" val="\documentclass{article}&#10;\usepackage{amsmath}&#10;\pagestyle{empty}&#10;\begin{document}&#10;&#10;&#10;$&#10;\sum_{j=1}^{n} M_{ij}\,\ddot q_{j}&#10;+ \sum_{j=1}^{n}\sum_{k=1}^{n} \frac{\partial M_{ij}}{\partial q_{k}}\,\dot q_{k}\,\dot q_{j}&#10;- \frac{1}{2}\sum_{j=1}^{n}\sum_{k=1}^{n} \frac{\partial M_{jk}}{\partial q_{i}}\,\dot q_{j}\,\dot q_{k}&#10;+ g_i(q)&#10;= Q_i&#10;$&#10;&#10;\end{document}"/>
  <p:tag name="IGUANATEXSIZE" val="38"/>
  <p:tag name="IGUANATEXCURSOR" val="332"/>
  <p:tag name="TRANSPARENCY" val="True"/>
  <p:tag name="LATEXENGINEID" val="0"/>
  <p:tag name="TEMPFOLDER" val="c:\temp\"/>
  <p:tag name="LATEXFORMHEIGHT" val="312"/>
  <p:tag name="LATEXFORMWIDTH" val="384"/>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39.4826"/>
  <p:tag name="ORIGINALWIDTH" val="1451.819"/>
  <p:tag name="LATEXADDIN" val="\documentclass{article}&#10;\usepackage{amsmath}&#10;\pagestyle{empty}&#10;\begin{document}&#10;&#10;&#10;$&#10;C_{ij}(q,\dot q) = \sum_{k=1}^{n} \Gamma_{ijk}(q)\,\dot q_{k}&#10;$&#10;&#10;\end{document}"/>
  <p:tag name="IGUANATEXSIZE" val="38"/>
  <p:tag name="IGUANATEXCURSOR" val="101"/>
  <p:tag name="TRANSPARENCY" val="True"/>
  <p:tag name="LATEXENGINEID" val="0"/>
  <p:tag name="TEMPFOLDER" val="c:\temp\"/>
  <p:tag name="LATEXFORMHEIGHT" val="312"/>
  <p:tag name="LATEXFORMWIDTH" val="384"/>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2275.966"/>
  <p:tag name="LATEXADDIN" val="\documentclass{article}&#10;\usepackage{amsmath}&#10;\pagestyle{empty}&#10;\begin{document}&#10;&#10;&#10;$&#10;\Gamma_{ijk}(q) := \frac{1}{2}\!\left(&#10;\frac{\partial M_{ij}(q)}{\partial q_{k}} +&#10;\frac{\partial M_{ik}(q)}{\partial q_{j}} -&#10;\frac{\partial M_{jk}(q)}{\partial q_{i}}&#10;\right)&#10;$&#10;&#10;\end{document}"/>
  <p:tag name="IGUANATEXSIZE" val="38"/>
  <p:tag name="IGUANATEXCURSOR" val="260"/>
  <p:tag name="TRANSPARENCY" val="True"/>
  <p:tag name="LATEXENGINEID" val="0"/>
  <p:tag name="TEMPFOLDER" val="c:\temp\"/>
  <p:tag name="LATEXFORMHEIGHT" val="312"/>
  <p:tag name="LATEXFORMWIDTH" val="384"/>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156.7304"/>
  <p:tag name="ORIGINALWIDTH" val="1427.072"/>
  <p:tag name="LATEXADDIN" val="\documentclass{article}&#10;\usepackage{amsmath}&#10;\pagestyle{empty}&#10;\begin{document}&#10;&#10;&#10;$&#10;=\sum_{j=1}^{n}\sum_{k=1}^{n}\Gamma_{ijk}(q)\,\dot q_{j}\,\dot q_{k}&#10;$&#10;&#10;\end{document}"/>
  <p:tag name="IGUANATEXSIZE" val="38"/>
  <p:tag name="IGUANATEXCURSOR" val="152"/>
  <p:tag name="TRANSPARENCY" val="True"/>
  <p:tag name="LATEXENGINEID" val="0"/>
  <p:tag name="TEMPFOLDER" val="c:\temp\"/>
  <p:tag name="LATEXFORMHEIGHT" val="312"/>
  <p:tag name="LATEXFORMWIDTH" val="384"/>
  <p:tag name="LATEXFORMWRAP" val="True"/>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572.1785"/>
  <p:tag name="LATEXADDIN" val="\documentclass{article}&#10;\usepackage{amsmath}&#10;\pagestyle{empty}&#10;\begin{document}&#10;&#10;&#10;$&#10;=C(q,\dot q)\,\dot{q}&#10;$&#10;&#10;\end{document}"/>
  <p:tag name="IGUANATEXSIZE" val="38"/>
  <p:tag name="IGUANATEXCURSOR" val="85"/>
  <p:tag name="TRANSPARENCY" val="True"/>
  <p:tag name="LATEXENGINEID" val="0"/>
  <p:tag name="TEMPFOLDER" val="c:\temp\"/>
  <p:tag name="LATEXFORMHEIGHT" val="312"/>
  <p:tag name="LATEXFORMWIDTH" val="384"/>
  <p:tag name="LATEXFORMWRAP" val="True"/>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2121.485"/>
  <p:tag name="LATEXADDIN" val="\documentclass{article}&#10;\usepackage{amsmath}&#10;\pagestyle{empty}&#10;\begin{document}&#10;&#10;&#10;$&#10;M(q)\,\ddot q + C(q,\dot q)\,\dot q + g(q) = \tau + J^\top(q) f&#10;$&#10;&#10;\end{document}"/>
  <p:tag name="IGUANATEXSIZE" val="38"/>
  <p:tag name="IGUANATEXCURSOR" val="147"/>
  <p:tag name="TRANSPARENCY" val="True"/>
  <p:tag name="LATEXENGINEID" val="0"/>
  <p:tag name="TEMPFOLDER" val="c:\temp\"/>
  <p:tag name="LATEXFORMHEIGHT" val="312"/>
  <p:tag name="LATEXFORMWIDTH" val="384"/>
  <p:tag name="LATEXFORMWRAP" val="True"/>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185.9768"/>
  <p:tag name="ORIGINALWIDTH" val="4090.739"/>
  <p:tag name="LATEXADDIN" val="\documentclass{article}&#10;\usepackage{amsmath}&#10;\pagestyle{empty}&#10;\begin{document}&#10;&#10;&#10;$&#10;\sum_{j=1}^{n} M_{ij}\,\ddot q_{j}&#10;+ \sum_{j=1}^{n}\sum_{k=1}^{n} \frac{\partial M_{ij}}{\partial q_{k}}\,\dot q_{k}\,\dot q_{j}&#10;- \frac{1}{2}\sum_{j=1}^{n}\sum_{k=1}^{n} \frac{\partial M_{jk}}{\partial q_{i}}\,\dot q_{j}\,\dot q_{k}&#10;+ g_i(q)&#10;= Q_i&#10;$&#10;&#10;\end{document}"/>
  <p:tag name="IGUANATEXSIZE" val="38"/>
  <p:tag name="IGUANATEXCURSOR" val="332"/>
  <p:tag name="TRANSPARENCY" val="True"/>
  <p:tag name="LATEXENGINEID" val="0"/>
  <p:tag name="TEMPFOLDER" val="c:\temp\"/>
  <p:tag name="LATEXFORMHEIGHT" val="312"/>
  <p:tag name="LATEXFORMWIDTH" val="384"/>
  <p:tag name="LATEXFORMWRAP" val="True"/>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61.49228"/>
  <p:tag name="LATEXADDIN" val="\documentclass{article}&#10;\usepackage{amsmath}&#10;\pagestyle{empty}&#10;\begin{document}&#10;&#10;&#10;$&#10;h&#10;$&#10;&#10;\end{document}"/>
  <p:tag name="IGUANATEXSIZE" val="42"/>
  <p:tag name="IGUANATEXCURSOR" val="85"/>
  <p:tag name="TRANSPARENCY" val="True"/>
  <p:tag name="LATEXENGINEID" val="0"/>
  <p:tag name="TEMPFOLDER" val="c:\temp\"/>
  <p:tag name="LATEXFORMHEIGHT" val="312"/>
  <p:tag name="LATEXFORMWIDTH" val="384"/>
  <p:tag name="LATEXFORMWRAP" val="True"/>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2121.485"/>
  <p:tag name="LATEXADDIN" val="\documentclass{article}&#10;\usepackage{amsmath}&#10;\pagestyle{empty}&#10;\begin{document}&#10;&#10;&#10;$&#10;M(q)\,\ddot q + C(q,\dot q)\,\dot q + g(q) = \tau + J^\top(q) f&#10;$&#10;&#10;\end{document}"/>
  <p:tag name="IGUANATEXSIZE" val="38"/>
  <p:tag name="IGUANATEXCURSOR" val="147"/>
  <p:tag name="TRANSPARENCY" val="True"/>
  <p:tag name="LATEXENGINEID" val="0"/>
  <p:tag name="TEMPFOLDER" val="c:\temp\"/>
  <p:tag name="LATEXFORMHEIGHT" val="312"/>
  <p:tag name="LATEXFORMWIDTH" val="384"/>
  <p:tag name="LATEXFORMWRAP" val="True"/>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587.1766"/>
  <p:tag name="LATEXADDIN" val="\documentclass{article}&#10;\usepackage{amsmath}&#10;\pagestyle{empty}&#10;\begin{document}&#10;&#10;&#10;$&#10;Q_{\text{motor}} = \tau&#10;$&#10;&#10;\end{document}"/>
  <p:tag name="IGUANATEXSIZE" val="38"/>
  <p:tag name="IGUANATEXCURSOR" val="107"/>
  <p:tag name="TRANSPARENCY" val="True"/>
  <p:tag name="LATEXENGINEID" val="0"/>
  <p:tag name="TEMPFOLDER" val="c:\temp\"/>
  <p:tag name="LATEXFORMHEIGHT" val="312"/>
  <p:tag name="LATEXFORMWIDTH" val="384"/>
  <p:tag name="LATEXFORMWRAP" val="True"/>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23921"/>
  <p:tag name="LATEXADDIN" val="\documentclass{article}&#10;\usepackage{amsmath}&#10;\pagestyle{empty}&#10;\begin{document}&#10;&#10;&#10;$&#10;Q&#10;$&#10;&#10;\end{document}"/>
  <p:tag name="IGUANATEXSIZE" val="38"/>
  <p:tag name="IGUANATEXCURSOR" val="85"/>
  <p:tag name="TRANSPARENCY" val="True"/>
  <p:tag name="LATEXENGINEID" val="0"/>
  <p:tag name="TEMPFOLDER" val="c:\temp\"/>
  <p:tag name="LATEXFORMHEIGHT" val="312"/>
  <p:tag name="LATEXFORMWIDTH" val="384"/>
  <p:tag name="LATEXFORMWRAP" val="True"/>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81.73976"/>
  <p:tag name="LATEXADDIN" val="\documentclass{article}&#10;\usepackage{amsmath}&#10;\pagestyle{empty}&#10;\begin{document}&#10;&#10;&#10;$&#10;q_i&#10;$&#10;&#10;\end{document}"/>
  <p:tag name="IGUANATEXSIZE" val="42"/>
  <p:tag name="IGUANATEXCURSOR" val="87"/>
  <p:tag name="TRANSPARENCY" val="True"/>
  <p:tag name="LATEXENGINEID" val="0"/>
  <p:tag name="TEMPFOLDER" val="c:\temp\"/>
  <p:tag name="LATEXFORMHEIGHT" val="312"/>
  <p:tag name="LATEXFORMWIDTH" val="384"/>
  <p:tag name="LATEXFORMWRAP" val="True"/>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83.23961"/>
  <p:tag name="ORIGINALWIDTH" val="33.74575"/>
  <p:tag name="LATEXADDIN" val="\documentclass{article}&#10;\usepackage{amsmath}&#10;\pagestyle{empty}&#10;\begin{document}&#10;&#10;&#10;$&#10;i&#10;$&#10;&#10;\end{document}"/>
  <p:tag name="IGUANATEXSIZE" val="42"/>
  <p:tag name="IGUANATEXCURSOR" val="85"/>
  <p:tag name="TRANSPARENCY" val="True"/>
  <p:tag name="LATEXENGINEID" val="0"/>
  <p:tag name="TEMPFOLDER" val="c:\temp\"/>
  <p:tag name="LATEXFORMHEIGHT" val="312"/>
  <p:tag name="LATEXFORMWIDTH" val="384"/>
  <p:tag name="LATEXFORMWRAP" val="True"/>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67.1916"/>
  <p:tag name="LATEXADDIN" val="\documentclass{article}&#10;\usepackage{amsmath}&#10;\pagestyle{empty}&#10;\begin{document}&#10;&#10;&#10;$&#10;x = \boldsymbol{\phi}(q)&#10;$&#10;&#10;\end{document}"/>
  <p:tag name="IGUANATEXSIZE" val="38"/>
  <p:tag name="IGUANATEXCURSOR" val="108"/>
  <p:tag name="TRANSPARENCY" val="True"/>
  <p:tag name="LATEXENGINEID" val="0"/>
  <p:tag name="TEMPFOLDER" val="c:\temp\"/>
  <p:tag name="LATEXFORMHEIGHT" val="312"/>
  <p:tag name="LATEXFORMWIDTH" val="384"/>
  <p:tag name="LATEXFORMWRAP" val="True"/>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177.7278"/>
  <p:tag name="ORIGINALWIDTH" val="1271.091"/>
  <p:tag name="LATEXADDIN" val="\documentclass{article}&#10;\usepackage{amsmath}&#10;\pagestyle{empty}&#10;\begin{document}&#10;&#10;&#10;$&#10;\delta x \;=\; \frac{\partial \boldsymbol{\phi}}{\partial q}\,\delta q \;=\; J(q)\,\delta q&#10;$&#10;&#10;\end{document}"/>
  <p:tag name="IGUANATEXSIZE" val="32"/>
  <p:tag name="IGUANATEXCURSOR" val="175"/>
  <p:tag name="TRANSPARENCY" val="True"/>
  <p:tag name="LATEXENGINEID" val="0"/>
  <p:tag name="TEMPFOLDER" val="c:\temp\"/>
  <p:tag name="LATEXFORMHEIGHT" val="312"/>
  <p:tag name="LATEXFORMWIDTH" val="384"/>
  <p:tag name="LATEXFORMWRAP" val="True"/>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1504.312"/>
  <p:tag name="LATEXADDIN" val="\documentclass{article}&#10;\usepackage{amsmath}&#10;\pagestyle{empty}&#10;\begin{document}&#10;&#10;&#10;$&#10;\delta W \;=\; f^{\top}\,\delta x \;=\; f^{\top} J(q)\,\delta q&#10;$&#10;&#10;\end{document}"/>
  <p:tag name="IGUANATEXSIZE" val="38"/>
  <p:tag name="IGUANATEXCURSOR" val="147"/>
  <p:tag name="TRANSPARENCY" val="True"/>
  <p:tag name="LATEXENGINEID" val="0"/>
  <p:tag name="TEMPFOLDER" val="c:\temp\"/>
  <p:tag name="LATEXFORMHEIGHT" val="312"/>
  <p:tag name="LATEXFORMWIDTH" val="384"/>
  <p:tag name="LATEXFORMWRAP" val="True"/>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2.99213"/>
  <p:tag name="LATEXADDIN" val="\documentclass{article}&#10;\usepackage{amsmath}&#10;\pagestyle{empty}&#10;\begin{document}&#10;&#10;&#10;$&#10;f&#10;$&#10;&#10;\end{document}"/>
  <p:tag name="IGUANATEXSIZE" val="32"/>
  <p:tag name="IGUANATEXCURSOR" val="85"/>
  <p:tag name="TRANSPARENCY" val="True"/>
  <p:tag name="LATEXENGINEID" val="0"/>
  <p:tag name="TEMPFOLDER" val="c:\temp\"/>
  <p:tag name="LATEXFORMHEIGHT" val="312"/>
  <p:tag name="LATEXFORMWIDTH" val="384"/>
  <p:tag name="LATEXFORMWRAP" val="True"/>
  <p:tag name="BITMAPVECTOR" val="0"/>
</p:tagLst>
</file>

<file path=ppt/tags/tag63.xml><?xml version="1.0" encoding="utf-8"?>
<p:tagLst xmlns:a="http://schemas.openxmlformats.org/drawingml/2006/main" xmlns:r="http://schemas.openxmlformats.org/officeDocument/2006/relationships" xmlns:p="http://schemas.openxmlformats.org/presentationml/2006/main">
  <p:tag name="OUTPUTDPI" val="1200"/>
  <p:tag name="ORIGINALHEIGHT" val="172.4784"/>
  <p:tag name="ORIGINALWIDTH" val="539.9325"/>
  <p:tag name="LATEXADDIN" val="\documentclass{article}&#10;\usepackage{amsmath}&#10;\pagestyle{empty}&#10;\begin{document}&#10;&#10;&#10;$&#10;Q_i \;=\; \frac{\delta W}{\delta q_i}&#10;$&#10;&#10;\end{document}"/>
  <p:tag name="IGUANATEXSIZE" val="38"/>
  <p:tag name="IGUANATEXCURSOR" val="121"/>
  <p:tag name="TRANSPARENCY" val="True"/>
  <p:tag name="LATEXENGINEID" val="0"/>
  <p:tag name="TEMPFOLDER" val="c:\temp\"/>
  <p:tag name="LATEXFORMHEIGHT" val="312"/>
  <p:tag name="LATEXFORMWIDTH" val="384"/>
  <p:tag name="LATEXFORMWRAP" val="True"/>
  <p:tag name="BITMAPVECTOR" val="0"/>
</p:tagLst>
</file>

<file path=ppt/tags/tag64.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1042.37"/>
  <p:tag name="LATEXADDIN" val="\documentclass{article}&#10;\usepackage{amsmath}&#10;\pagestyle{empty}&#10;\begin{document}&#10;&#10;&#10;$&#10;Q_{\text{contact}} \;=\; J(q)^{\top} f&#10;$&#10;&#10;\end{document}"/>
  <p:tag name="IGUANATEXSIZE" val="38"/>
  <p:tag name="IGUANATEXCURSOR" val="122"/>
  <p:tag name="TRANSPARENCY" val="True"/>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2150</TotalTime>
  <Words>743</Words>
  <Application>Microsoft Office PowerPoint</Application>
  <PresentationFormat>사용자 지정</PresentationFormat>
  <Paragraphs>129</Paragraphs>
  <Slides>15</Slides>
  <Notes>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Arial</vt:lpstr>
      <vt:lpstr>Calibri</vt:lpstr>
      <vt:lpstr>굴림</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강민 이</cp:lastModifiedBy>
  <cp:revision>183</cp:revision>
  <dcterms:created xsi:type="dcterms:W3CDTF">2006-08-16T00:00:00Z</dcterms:created>
  <dcterms:modified xsi:type="dcterms:W3CDTF">2025-11-18T11:02:43Z</dcterms:modified>
</cp:coreProperties>
</file>