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2.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3.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notesSlides/notesSlide4.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notesSlides/notesSlide5.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notesSlides/notesSlide6.xml" ContentType="application/vnd.openxmlformats-officedocument.presentationml.notesSlide+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notesSlides/notesSlide7.xml" ContentType="application/vnd.openxmlformats-officedocument.presentationml.notesSlide+xml"/>
  <Override PartName="/ppt/tags/tag38.xml" ContentType="application/vnd.openxmlformats-officedocument.presentationml.tags+xml"/>
  <Override PartName="/ppt/notesSlides/notesSlide8.xml" ContentType="application/vnd.openxmlformats-officedocument.presentationml.notesSlide+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notesSlides/notesSlide9.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notesSlides/notesSlide10.xml" ContentType="application/vnd.openxmlformats-officedocument.presentationml.notesSlide+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notesSlides/notesSlide11.xml" ContentType="application/vnd.openxmlformats-officedocument.presentationml.notesSlide+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8"/>
  </p:notesMasterIdLst>
  <p:sldIdLst>
    <p:sldId id="321" r:id="rId2"/>
    <p:sldId id="322" r:id="rId3"/>
    <p:sldId id="324" r:id="rId4"/>
    <p:sldId id="325" r:id="rId5"/>
    <p:sldId id="326" r:id="rId6"/>
    <p:sldId id="327" r:id="rId7"/>
    <p:sldId id="330" r:id="rId8"/>
    <p:sldId id="338" r:id="rId9"/>
    <p:sldId id="339" r:id="rId10"/>
    <p:sldId id="340" r:id="rId11"/>
    <p:sldId id="341" r:id="rId12"/>
    <p:sldId id="331" r:id="rId13"/>
    <p:sldId id="332" r:id="rId14"/>
    <p:sldId id="333" r:id="rId15"/>
    <p:sldId id="334" r:id="rId16"/>
    <p:sldId id="342" r:id="rId17"/>
  </p:sldIdLst>
  <p:sldSz cx="24384000" cy="13716000"/>
  <p:notesSz cx="6858000" cy="9144000"/>
  <p:embeddedFontLst>
    <p:embeddedFont>
      <p:font typeface="Cambria Math" panose="02040503050406030204" pitchFamily="18" charset="0"/>
      <p:regular r:id="rId19"/>
    </p:embeddedFont>
    <p:embeddedFont>
      <p:font typeface="맑은 고딕" panose="020B0503020000020004" pitchFamily="50" charset="-127"/>
      <p:regular r:id="rId20"/>
      <p:bold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F4E05D"/>
    <a:srgbClr val="FFFFFF"/>
    <a:srgbClr val="1E1B35"/>
    <a:srgbClr val="001D58"/>
    <a:srgbClr val="000E2A"/>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530" autoAdjust="0"/>
    <p:restoredTop sz="88685" autoAdjust="0"/>
  </p:normalViewPr>
  <p:slideViewPr>
    <p:cSldViewPr>
      <p:cViewPr>
        <p:scale>
          <a:sx n="25" d="100"/>
          <a:sy n="25" d="100"/>
        </p:scale>
        <p:origin x="1524" y="6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5130ED-C0B9-4FC1-BB2D-D58A566FAF25}" type="datetimeFigureOut">
              <a:rPr lang="ko-KR" altLang="en-US" smtClean="0"/>
              <a:t>2025-11-18</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8FB9C9-7C23-4F4E-9852-726E7DBF3378}" type="slidenum">
              <a:rPr lang="ko-KR" altLang="en-US" smtClean="0"/>
              <a:t>‹#›</a:t>
            </a:fld>
            <a:endParaRPr lang="ko-KR" altLang="en-US"/>
          </a:p>
        </p:txBody>
      </p:sp>
    </p:spTree>
    <p:extLst>
      <p:ext uri="{BB962C8B-B14F-4D97-AF65-F5344CB8AC3E}">
        <p14:creationId xmlns:p14="http://schemas.microsoft.com/office/powerpoint/2010/main" val="812639357"/>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9E58C-59FB-F6D6-4A3C-159822DF827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34E1F857-3665-13E4-5778-D567A697A9FC}"/>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D7019A89-7D3F-DA52-AE57-EFE6D35CF666}"/>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DC63334A-DC05-590B-BD95-7C5746FE79E8}"/>
              </a:ext>
            </a:extLst>
          </p:cNvPr>
          <p:cNvSpPr>
            <a:spLocks noGrp="1"/>
          </p:cNvSpPr>
          <p:nvPr>
            <p:ph type="sldNum" sz="quarter" idx="5"/>
          </p:nvPr>
        </p:nvSpPr>
        <p:spPr/>
        <p:txBody>
          <a:bodyPr/>
          <a:lstStyle/>
          <a:p>
            <a:fld id="{818FB9C9-7C23-4F4E-9852-726E7DBF3378}" type="slidenum">
              <a:rPr lang="ko-KR" altLang="en-US" smtClean="0"/>
              <a:t>1</a:t>
            </a:fld>
            <a:endParaRPr lang="ko-KR" altLang="en-US"/>
          </a:p>
        </p:txBody>
      </p:sp>
    </p:spTree>
    <p:extLst>
      <p:ext uri="{BB962C8B-B14F-4D97-AF65-F5344CB8AC3E}">
        <p14:creationId xmlns:p14="http://schemas.microsoft.com/office/powerpoint/2010/main" val="1415633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818FB9C9-7C23-4F4E-9852-726E7DBF3378}" type="slidenum">
              <a:rPr lang="ko-KR" altLang="en-US" smtClean="0"/>
              <a:t>4</a:t>
            </a:fld>
            <a:endParaRPr lang="ko-KR" altLang="en-US"/>
          </a:p>
        </p:txBody>
      </p:sp>
    </p:spTree>
    <p:extLst>
      <p:ext uri="{BB962C8B-B14F-4D97-AF65-F5344CB8AC3E}">
        <p14:creationId xmlns:p14="http://schemas.microsoft.com/office/powerpoint/2010/main" val="29013716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F85D2-C10A-2176-23A6-783777FE857A}"/>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AD3E969E-3282-85D3-3912-89D7EE7E8BA9}"/>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76DEE77-92D3-2AD1-FACF-234D4F9D4E86}"/>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1E26749E-A555-582F-7B7A-A51B62FF85F0}"/>
              </a:ext>
            </a:extLst>
          </p:cNvPr>
          <p:cNvSpPr>
            <a:spLocks noGrp="1"/>
          </p:cNvSpPr>
          <p:nvPr>
            <p:ph type="sldNum" sz="quarter" idx="5"/>
          </p:nvPr>
        </p:nvSpPr>
        <p:spPr/>
        <p:txBody>
          <a:bodyPr/>
          <a:lstStyle/>
          <a:p>
            <a:fld id="{818FB9C9-7C23-4F4E-9852-726E7DBF3378}" type="slidenum">
              <a:rPr lang="ko-KR" altLang="en-US" smtClean="0"/>
              <a:t>5</a:t>
            </a:fld>
            <a:endParaRPr lang="ko-KR" altLang="en-US"/>
          </a:p>
        </p:txBody>
      </p:sp>
    </p:spTree>
    <p:extLst>
      <p:ext uri="{BB962C8B-B14F-4D97-AF65-F5344CB8AC3E}">
        <p14:creationId xmlns:p14="http://schemas.microsoft.com/office/powerpoint/2010/main" val="19423635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300E8-9210-E0C0-2E62-9570F93B2956}"/>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EECE36B5-58EA-A7EF-D0F3-8822A31A7A92}"/>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A9DC313-7A89-D958-2075-A952DF77356C}"/>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74AD9A2F-4A64-5B27-0FEF-36336DFA4C24}"/>
              </a:ext>
            </a:extLst>
          </p:cNvPr>
          <p:cNvSpPr>
            <a:spLocks noGrp="1"/>
          </p:cNvSpPr>
          <p:nvPr>
            <p:ph type="sldNum" sz="quarter" idx="5"/>
          </p:nvPr>
        </p:nvSpPr>
        <p:spPr/>
        <p:txBody>
          <a:bodyPr/>
          <a:lstStyle/>
          <a:p>
            <a:fld id="{818FB9C9-7C23-4F4E-9852-726E7DBF3378}" type="slidenum">
              <a:rPr lang="ko-KR" altLang="en-US" smtClean="0"/>
              <a:t>6</a:t>
            </a:fld>
            <a:endParaRPr lang="ko-KR" altLang="en-US"/>
          </a:p>
        </p:txBody>
      </p:sp>
    </p:spTree>
    <p:extLst>
      <p:ext uri="{BB962C8B-B14F-4D97-AF65-F5344CB8AC3E}">
        <p14:creationId xmlns:p14="http://schemas.microsoft.com/office/powerpoint/2010/main" val="2134593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F809F-5D30-CA1E-A1F7-789BBC2E0004}"/>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74862439-18AF-EB9D-EB7F-274BC5C78915}"/>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0E0099C4-BB77-0D20-0D58-1BF8AB32C487}"/>
              </a:ext>
            </a:extLst>
          </p:cNvPr>
          <p:cNvSpPr>
            <a:spLocks noGrp="1"/>
          </p:cNvSpPr>
          <p:nvPr>
            <p:ph type="body" idx="1"/>
          </p:nvPr>
        </p:nvSpPr>
        <p:spPr/>
        <p:txBody>
          <a:bodyPr/>
          <a:lstStyle/>
          <a:p>
            <a:r>
              <a:rPr lang="ko-KR" altLang="en-US" dirty="0"/>
              <a:t>이러한 토크를 구해 제어하는 것이 </a:t>
            </a:r>
            <a:r>
              <a:rPr lang="en-US" altLang="ko-KR" dirty="0"/>
              <a:t>OSC, TSID </a:t>
            </a:r>
            <a:r>
              <a:rPr lang="ko-KR" altLang="en-US" dirty="0"/>
              <a:t>등이 있다</a:t>
            </a:r>
            <a:r>
              <a:rPr lang="en-US" altLang="ko-KR" dirty="0"/>
              <a:t>.</a:t>
            </a:r>
            <a:endParaRPr lang="ko-KR" altLang="en-US" dirty="0"/>
          </a:p>
        </p:txBody>
      </p:sp>
      <p:sp>
        <p:nvSpPr>
          <p:cNvPr id="4" name="슬라이드 번호 개체 틀 3">
            <a:extLst>
              <a:ext uri="{FF2B5EF4-FFF2-40B4-BE49-F238E27FC236}">
                <a16:creationId xmlns:a16="http://schemas.microsoft.com/office/drawing/2014/main" id="{453E3870-F932-B5D0-DF50-3B6D4AB49901}"/>
              </a:ext>
            </a:extLst>
          </p:cNvPr>
          <p:cNvSpPr>
            <a:spLocks noGrp="1"/>
          </p:cNvSpPr>
          <p:nvPr>
            <p:ph type="sldNum" sz="quarter" idx="5"/>
          </p:nvPr>
        </p:nvSpPr>
        <p:spPr/>
        <p:txBody>
          <a:bodyPr/>
          <a:lstStyle/>
          <a:p>
            <a:fld id="{818FB9C9-7C23-4F4E-9852-726E7DBF3378}" type="slidenum">
              <a:rPr lang="ko-KR" altLang="en-US" smtClean="0"/>
              <a:t>7</a:t>
            </a:fld>
            <a:endParaRPr lang="ko-KR" altLang="en-US"/>
          </a:p>
        </p:txBody>
      </p:sp>
    </p:spTree>
    <p:extLst>
      <p:ext uri="{BB962C8B-B14F-4D97-AF65-F5344CB8AC3E}">
        <p14:creationId xmlns:p14="http://schemas.microsoft.com/office/powerpoint/2010/main" val="22927026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1B3F06-D1A0-2C72-98D9-CEC619BC2CB8}"/>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B5AA105-FD5C-6917-A2C3-680284CA6CEF}"/>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05BD8FA0-A7F7-E18F-CC0A-097CD0A57C95}"/>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AC7167ED-9834-0877-34C7-8253FBE2DE0D}"/>
              </a:ext>
            </a:extLst>
          </p:cNvPr>
          <p:cNvSpPr>
            <a:spLocks noGrp="1"/>
          </p:cNvSpPr>
          <p:nvPr>
            <p:ph type="sldNum" sz="quarter" idx="5"/>
          </p:nvPr>
        </p:nvSpPr>
        <p:spPr/>
        <p:txBody>
          <a:bodyPr/>
          <a:lstStyle/>
          <a:p>
            <a:fld id="{818FB9C9-7C23-4F4E-9852-726E7DBF3378}" type="slidenum">
              <a:rPr lang="ko-KR" altLang="en-US" smtClean="0"/>
              <a:t>8</a:t>
            </a:fld>
            <a:endParaRPr lang="ko-KR" altLang="en-US"/>
          </a:p>
        </p:txBody>
      </p:sp>
    </p:spTree>
    <p:extLst>
      <p:ext uri="{BB962C8B-B14F-4D97-AF65-F5344CB8AC3E}">
        <p14:creationId xmlns:p14="http://schemas.microsoft.com/office/powerpoint/2010/main" val="19612251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D05F0-BE4E-1C25-C057-1A0569FAA4E0}"/>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9B2F121E-835F-BBBA-2E34-0E62F1ED40B0}"/>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C1E4C9DE-FF46-6923-87C4-065A604C16DA}"/>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EDD50B7E-0517-5719-66CD-011255E59F04}"/>
              </a:ext>
            </a:extLst>
          </p:cNvPr>
          <p:cNvSpPr>
            <a:spLocks noGrp="1"/>
          </p:cNvSpPr>
          <p:nvPr>
            <p:ph type="sldNum" sz="quarter" idx="5"/>
          </p:nvPr>
        </p:nvSpPr>
        <p:spPr/>
        <p:txBody>
          <a:bodyPr/>
          <a:lstStyle/>
          <a:p>
            <a:fld id="{818FB9C9-7C23-4F4E-9852-726E7DBF3378}" type="slidenum">
              <a:rPr lang="ko-KR" altLang="en-US" smtClean="0"/>
              <a:t>9</a:t>
            </a:fld>
            <a:endParaRPr lang="ko-KR" altLang="en-US"/>
          </a:p>
        </p:txBody>
      </p:sp>
    </p:spTree>
    <p:extLst>
      <p:ext uri="{BB962C8B-B14F-4D97-AF65-F5344CB8AC3E}">
        <p14:creationId xmlns:p14="http://schemas.microsoft.com/office/powerpoint/2010/main" val="41322227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A419F-E4E3-3B52-BCE5-FF4B7C9B290F}"/>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52246949-E0CC-3EB5-BE27-25E7640F39B4}"/>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5899FF7-3455-ADD0-ED4C-020C2C482876}"/>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23CA4F33-153D-5CF2-D200-39468AB683A0}"/>
              </a:ext>
            </a:extLst>
          </p:cNvPr>
          <p:cNvSpPr>
            <a:spLocks noGrp="1"/>
          </p:cNvSpPr>
          <p:nvPr>
            <p:ph type="sldNum" sz="quarter" idx="5"/>
          </p:nvPr>
        </p:nvSpPr>
        <p:spPr/>
        <p:txBody>
          <a:bodyPr/>
          <a:lstStyle/>
          <a:p>
            <a:fld id="{818FB9C9-7C23-4F4E-9852-726E7DBF3378}" type="slidenum">
              <a:rPr lang="ko-KR" altLang="en-US" smtClean="0"/>
              <a:t>10</a:t>
            </a:fld>
            <a:endParaRPr lang="ko-KR" altLang="en-US"/>
          </a:p>
        </p:txBody>
      </p:sp>
    </p:spTree>
    <p:extLst>
      <p:ext uri="{BB962C8B-B14F-4D97-AF65-F5344CB8AC3E}">
        <p14:creationId xmlns:p14="http://schemas.microsoft.com/office/powerpoint/2010/main" val="34095339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AB7B4-8D16-35FB-B942-206EF9E5765B}"/>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5DDDB53F-7CA3-F81C-B649-C81CEC45075A}"/>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98D5EEAF-B490-B8E1-2338-913AA2950AEB}"/>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09FC797F-7044-8DF7-A8A8-87AA14A35CED}"/>
              </a:ext>
            </a:extLst>
          </p:cNvPr>
          <p:cNvSpPr>
            <a:spLocks noGrp="1"/>
          </p:cNvSpPr>
          <p:nvPr>
            <p:ph type="sldNum" sz="quarter" idx="5"/>
          </p:nvPr>
        </p:nvSpPr>
        <p:spPr/>
        <p:txBody>
          <a:bodyPr/>
          <a:lstStyle/>
          <a:p>
            <a:fld id="{818FB9C9-7C23-4F4E-9852-726E7DBF3378}" type="slidenum">
              <a:rPr lang="ko-KR" altLang="en-US" smtClean="0"/>
              <a:t>11</a:t>
            </a:fld>
            <a:endParaRPr lang="ko-KR" altLang="en-US"/>
          </a:p>
        </p:txBody>
      </p:sp>
    </p:spTree>
    <p:extLst>
      <p:ext uri="{BB962C8B-B14F-4D97-AF65-F5344CB8AC3E}">
        <p14:creationId xmlns:p14="http://schemas.microsoft.com/office/powerpoint/2010/main" val="8637545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1D441-F24B-DEE4-F31B-09E97BB3563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7C8AB5CE-0EBC-C617-2CCC-BE44F9B81BAA}"/>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A2A21768-BA37-2355-C09B-4C1A6B17EDC2}"/>
              </a:ext>
            </a:extLst>
          </p:cNvPr>
          <p:cNvSpPr>
            <a:spLocks noGrp="1"/>
          </p:cNvSpPr>
          <p:nvPr>
            <p:ph type="body" idx="1"/>
          </p:nvPr>
        </p:nvSpPr>
        <p:spPr/>
        <p:txBody>
          <a:bodyPr/>
          <a:lstStyle/>
          <a:p>
            <a:r>
              <a:rPr lang="en-US" altLang="ko-KR" dirty="0"/>
              <a:t>Y</a:t>
            </a:r>
            <a:r>
              <a:rPr lang="ko-KR" altLang="en-US" dirty="0"/>
              <a:t>는 </a:t>
            </a:r>
            <a:r>
              <a:rPr lang="en-US" altLang="ko-KR" dirty="0" err="1"/>
              <a:t>ddot</a:t>
            </a:r>
            <a:r>
              <a:rPr lang="en-US" altLang="ko-KR" dirty="0"/>
              <a:t>(q)</a:t>
            </a:r>
            <a:r>
              <a:rPr lang="ko-KR" altLang="en-US" dirty="0"/>
              <a:t>의 목표치 이다</a:t>
            </a:r>
            <a:r>
              <a:rPr lang="en-US" altLang="ko-KR" dirty="0"/>
              <a:t>, </a:t>
            </a:r>
            <a:r>
              <a:rPr lang="ko-KR" altLang="en-US" dirty="0"/>
              <a:t>라고만 말하면 됨</a:t>
            </a:r>
            <a:r>
              <a:rPr lang="en-US" altLang="ko-KR" dirty="0"/>
              <a:t>. </a:t>
            </a:r>
            <a:r>
              <a:rPr lang="ko-KR" altLang="en-US" dirty="0"/>
              <a:t>로봇 운동방정식에서 좌변이 그냥 </a:t>
            </a:r>
            <a:r>
              <a:rPr lang="en-US" altLang="ko-KR" dirty="0"/>
              <a:t>u</a:t>
            </a:r>
            <a:r>
              <a:rPr lang="ko-KR" altLang="en-US" dirty="0"/>
              <a:t>로만 쓰임</a:t>
            </a:r>
            <a:r>
              <a:rPr lang="en-US" altLang="ko-KR" dirty="0"/>
              <a:t>, </a:t>
            </a:r>
            <a:r>
              <a:rPr lang="ko-KR" altLang="en-US" dirty="0"/>
              <a:t>즉 이상적</a:t>
            </a:r>
            <a:r>
              <a:rPr lang="en-US" altLang="ko-KR" dirty="0"/>
              <a:t>, </a:t>
            </a:r>
            <a:r>
              <a:rPr lang="ko-KR" altLang="en-US" dirty="0"/>
              <a:t>무제한 상황이다</a:t>
            </a:r>
            <a:r>
              <a:rPr lang="en-US" altLang="ko-KR" dirty="0"/>
              <a:t>. (</a:t>
            </a:r>
            <a:r>
              <a:rPr lang="ko-KR" altLang="en-US" dirty="0"/>
              <a:t>이 페이지에서는 수식 증명이 아니라</a:t>
            </a:r>
            <a:r>
              <a:rPr lang="en-US" altLang="ko-KR" dirty="0"/>
              <a:t>, </a:t>
            </a:r>
            <a:r>
              <a:rPr lang="ko-KR" altLang="en-US" dirty="0"/>
              <a:t>이런 수식들이 </a:t>
            </a:r>
            <a:r>
              <a:rPr lang="ko-KR" altLang="en-US" dirty="0" err="1"/>
              <a:t>있다까지만</a:t>
            </a:r>
            <a:r>
              <a:rPr lang="ko-KR" altLang="en-US" dirty="0"/>
              <a:t> 얘기하는 소개</a:t>
            </a:r>
            <a:r>
              <a:rPr lang="en-US" altLang="ko-KR" dirty="0"/>
              <a:t>)</a:t>
            </a:r>
            <a:endParaRPr lang="ko-KR" altLang="en-US" dirty="0"/>
          </a:p>
        </p:txBody>
      </p:sp>
      <p:sp>
        <p:nvSpPr>
          <p:cNvPr id="4" name="슬라이드 번호 개체 틀 3">
            <a:extLst>
              <a:ext uri="{FF2B5EF4-FFF2-40B4-BE49-F238E27FC236}">
                <a16:creationId xmlns:a16="http://schemas.microsoft.com/office/drawing/2014/main" id="{3D46BFDE-0D4C-7C8B-836F-857B220FC520}"/>
              </a:ext>
            </a:extLst>
          </p:cNvPr>
          <p:cNvSpPr>
            <a:spLocks noGrp="1"/>
          </p:cNvSpPr>
          <p:nvPr>
            <p:ph type="sldNum" sz="quarter" idx="5"/>
          </p:nvPr>
        </p:nvSpPr>
        <p:spPr/>
        <p:txBody>
          <a:bodyPr/>
          <a:lstStyle/>
          <a:p>
            <a:fld id="{818FB9C9-7C23-4F4E-9852-726E7DBF3378}" type="slidenum">
              <a:rPr lang="ko-KR" altLang="en-US" smtClean="0"/>
              <a:t>12</a:t>
            </a:fld>
            <a:endParaRPr lang="ko-KR" altLang="en-US"/>
          </a:p>
        </p:txBody>
      </p:sp>
    </p:spTree>
    <p:extLst>
      <p:ext uri="{BB962C8B-B14F-4D97-AF65-F5344CB8AC3E}">
        <p14:creationId xmlns:p14="http://schemas.microsoft.com/office/powerpoint/2010/main" val="7760638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44D167-9985-5DA6-D2B9-1FD4CBD11E3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95093859-D345-BEC9-8B57-E1FC6C4D0310}"/>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8ECB1233-6210-E9BA-C0E4-7F09EF8DF771}"/>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13306FA1-76CD-25FD-51AF-9BDC3E5C95E0}"/>
              </a:ext>
            </a:extLst>
          </p:cNvPr>
          <p:cNvSpPr>
            <a:spLocks noGrp="1"/>
          </p:cNvSpPr>
          <p:nvPr>
            <p:ph type="sldNum" sz="quarter" idx="5"/>
          </p:nvPr>
        </p:nvSpPr>
        <p:spPr/>
        <p:txBody>
          <a:bodyPr/>
          <a:lstStyle/>
          <a:p>
            <a:fld id="{818FB9C9-7C23-4F4E-9852-726E7DBF3378}" type="slidenum">
              <a:rPr lang="ko-KR" altLang="en-US" smtClean="0"/>
              <a:t>13</a:t>
            </a:fld>
            <a:endParaRPr lang="ko-KR" altLang="en-US"/>
          </a:p>
        </p:txBody>
      </p:sp>
    </p:spTree>
    <p:extLst>
      <p:ext uri="{BB962C8B-B14F-4D97-AF65-F5344CB8AC3E}">
        <p14:creationId xmlns:p14="http://schemas.microsoft.com/office/powerpoint/2010/main" val="23850145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5390F-4CAF-2B37-37E4-62030CB3E0DE}"/>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39667B82-0E99-7BF7-D6F8-B21EF8738086}"/>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F24C2640-189B-418D-0F69-4C9C8AABA2AB}"/>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818A7EB2-09E2-0E60-7162-523A059B7FC8}"/>
              </a:ext>
            </a:extLst>
          </p:cNvPr>
          <p:cNvSpPr>
            <a:spLocks noGrp="1"/>
          </p:cNvSpPr>
          <p:nvPr>
            <p:ph type="sldNum" sz="quarter" idx="5"/>
          </p:nvPr>
        </p:nvSpPr>
        <p:spPr/>
        <p:txBody>
          <a:bodyPr/>
          <a:lstStyle/>
          <a:p>
            <a:fld id="{818FB9C9-7C23-4F4E-9852-726E7DBF3378}" type="slidenum">
              <a:rPr lang="ko-KR" altLang="en-US" smtClean="0"/>
              <a:t>14</a:t>
            </a:fld>
            <a:endParaRPr lang="ko-KR" altLang="en-US"/>
          </a:p>
        </p:txBody>
      </p:sp>
    </p:spTree>
    <p:extLst>
      <p:ext uri="{BB962C8B-B14F-4D97-AF65-F5344CB8AC3E}">
        <p14:creationId xmlns:p14="http://schemas.microsoft.com/office/powerpoint/2010/main" val="26813625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8CFDB-A135-D5A4-2316-6C69C95B8BA8}"/>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6ACFA9FC-7439-7743-A18D-482414B33187}"/>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4797ECD5-007D-551C-4C24-57D141BA5093}"/>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B889DE33-BC4D-4BFC-0069-C7BA95944EC1}"/>
              </a:ext>
            </a:extLst>
          </p:cNvPr>
          <p:cNvSpPr>
            <a:spLocks noGrp="1"/>
          </p:cNvSpPr>
          <p:nvPr>
            <p:ph type="sldNum" sz="quarter" idx="5"/>
          </p:nvPr>
        </p:nvSpPr>
        <p:spPr/>
        <p:txBody>
          <a:bodyPr/>
          <a:lstStyle/>
          <a:p>
            <a:fld id="{818FB9C9-7C23-4F4E-9852-726E7DBF3378}" type="slidenum">
              <a:rPr lang="ko-KR" altLang="en-US" smtClean="0"/>
              <a:t>15</a:t>
            </a:fld>
            <a:endParaRPr lang="ko-KR" altLang="en-US"/>
          </a:p>
        </p:txBody>
      </p:sp>
    </p:spTree>
    <p:extLst>
      <p:ext uri="{BB962C8B-B14F-4D97-AF65-F5344CB8AC3E}">
        <p14:creationId xmlns:p14="http://schemas.microsoft.com/office/powerpoint/2010/main" val="1386572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tags" Target="../tags/tag10.xml"/><Relationship Id="rId13" Type="http://schemas.openxmlformats.org/officeDocument/2006/relationships/image" Target="../media/image4.png"/><Relationship Id="rId18" Type="http://schemas.openxmlformats.org/officeDocument/2006/relationships/image" Target="../media/image9.png"/><Relationship Id="rId3" Type="http://schemas.openxmlformats.org/officeDocument/2006/relationships/tags" Target="../tags/tag5.xml"/><Relationship Id="rId7" Type="http://schemas.openxmlformats.org/officeDocument/2006/relationships/tags" Target="../tags/tag9.xml"/><Relationship Id="rId12" Type="http://schemas.openxmlformats.org/officeDocument/2006/relationships/image" Target="../media/image3.png"/><Relationship Id="rId17" Type="http://schemas.openxmlformats.org/officeDocument/2006/relationships/image" Target="../media/image8.png"/><Relationship Id="rId2" Type="http://schemas.openxmlformats.org/officeDocument/2006/relationships/tags" Target="../tags/tag4.xml"/><Relationship Id="rId16" Type="http://schemas.openxmlformats.org/officeDocument/2006/relationships/image" Target="../media/image7.png"/><Relationship Id="rId1" Type="http://schemas.openxmlformats.org/officeDocument/2006/relationships/tags" Target="../tags/tag3.xml"/><Relationship Id="rId6" Type="http://schemas.openxmlformats.org/officeDocument/2006/relationships/tags" Target="../tags/tag8.xml"/><Relationship Id="rId11" Type="http://schemas.openxmlformats.org/officeDocument/2006/relationships/image" Target="../media/image2.png"/><Relationship Id="rId5" Type="http://schemas.openxmlformats.org/officeDocument/2006/relationships/tags" Target="../tags/tag7.xml"/><Relationship Id="rId15" Type="http://schemas.openxmlformats.org/officeDocument/2006/relationships/image" Target="../media/image6.png"/><Relationship Id="rId10" Type="http://schemas.openxmlformats.org/officeDocument/2006/relationships/slideLayout" Target="../slideLayouts/slideLayout7.xml"/><Relationship Id="rId4" Type="http://schemas.openxmlformats.org/officeDocument/2006/relationships/tags" Target="../tags/tag6.xml"/><Relationship Id="rId9" Type="http://schemas.openxmlformats.org/officeDocument/2006/relationships/tags" Target="../tags/tag11.xml"/><Relationship Id="rId1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2.xml"/><Relationship Id="rId13" Type="http://schemas.openxmlformats.org/officeDocument/2006/relationships/image" Target="../media/image14.png"/><Relationship Id="rId3" Type="http://schemas.openxmlformats.org/officeDocument/2006/relationships/tags" Target="../tags/tag14.xml"/><Relationship Id="rId7" Type="http://schemas.openxmlformats.org/officeDocument/2006/relationships/slideLayout" Target="../slideLayouts/slideLayout7.xml"/><Relationship Id="rId12" Type="http://schemas.openxmlformats.org/officeDocument/2006/relationships/image" Target="../media/image13.png"/><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tags" Target="../tags/tag17.xml"/><Relationship Id="rId11" Type="http://schemas.openxmlformats.org/officeDocument/2006/relationships/image" Target="../media/image12.png"/><Relationship Id="rId5" Type="http://schemas.openxmlformats.org/officeDocument/2006/relationships/tags" Target="../tags/tag16.xml"/><Relationship Id="rId10" Type="http://schemas.openxmlformats.org/officeDocument/2006/relationships/image" Target="../media/image11.png"/><Relationship Id="rId4" Type="http://schemas.openxmlformats.org/officeDocument/2006/relationships/tags" Target="../tags/tag15.xml"/><Relationship Id="rId9" Type="http://schemas.openxmlformats.org/officeDocument/2006/relationships/image" Target="../media/image10.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tags" Target="../tags/tag20.xml"/><Relationship Id="rId7" Type="http://schemas.openxmlformats.org/officeDocument/2006/relationships/image" Target="../media/image16.pn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image" Target="../media/image10.png"/><Relationship Id="rId5" Type="http://schemas.openxmlformats.org/officeDocument/2006/relationships/notesSlide" Target="../notesSlides/notesSlide3.xml"/><Relationship Id="rId4"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4.xml"/><Relationship Id="rId13" Type="http://schemas.openxmlformats.org/officeDocument/2006/relationships/image" Target="../media/image21.png"/><Relationship Id="rId3" Type="http://schemas.openxmlformats.org/officeDocument/2006/relationships/tags" Target="../tags/tag23.xml"/><Relationship Id="rId7" Type="http://schemas.openxmlformats.org/officeDocument/2006/relationships/slideLayout" Target="../slideLayouts/slideLayout7.xml"/><Relationship Id="rId12" Type="http://schemas.openxmlformats.org/officeDocument/2006/relationships/image" Target="../media/image20.png"/><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tags" Target="../tags/tag26.xml"/><Relationship Id="rId11" Type="http://schemas.openxmlformats.org/officeDocument/2006/relationships/image" Target="../media/image19.png"/><Relationship Id="rId5" Type="http://schemas.openxmlformats.org/officeDocument/2006/relationships/tags" Target="../tags/tag25.xml"/><Relationship Id="rId10" Type="http://schemas.openxmlformats.org/officeDocument/2006/relationships/image" Target="../media/image18.png"/><Relationship Id="rId4" Type="http://schemas.openxmlformats.org/officeDocument/2006/relationships/tags" Target="../tags/tag24.xml"/><Relationship Id="rId9" Type="http://schemas.openxmlformats.org/officeDocument/2006/relationships/image" Target="../media/image17.png"/><Relationship Id="rId14" Type="http://schemas.openxmlformats.org/officeDocument/2006/relationships/image" Target="../media/image22.png"/></Relationships>
</file>

<file path=ppt/slides/_rels/slide7.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tags" Target="../tags/tag29.xml"/><Relationship Id="rId7" Type="http://schemas.openxmlformats.org/officeDocument/2006/relationships/image" Target="../media/image23.png"/><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notesSlide" Target="../notesSlides/notesSlide5.xml"/><Relationship Id="rId5" Type="http://schemas.openxmlformats.org/officeDocument/2006/relationships/slideLayout" Target="../slideLayouts/slideLayout7.xml"/><Relationship Id="rId10" Type="http://schemas.openxmlformats.org/officeDocument/2006/relationships/image" Target="../media/image26.png"/><Relationship Id="rId4" Type="http://schemas.openxmlformats.org/officeDocument/2006/relationships/tags" Target="../tags/tag30.xml"/><Relationship Id="rId9" Type="http://schemas.openxmlformats.org/officeDocument/2006/relationships/image" Target="../media/image25.png"/></Relationships>
</file>

<file path=ppt/slides/_rels/slide8.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tags" Target="../tags/tag33.xml"/><Relationship Id="rId7" Type="http://schemas.openxmlformats.org/officeDocument/2006/relationships/image" Target="../media/image27.png"/><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notesSlide" Target="../notesSlides/notesSlide6.xml"/><Relationship Id="rId5" Type="http://schemas.openxmlformats.org/officeDocument/2006/relationships/slideLayout" Target="../slideLayouts/slideLayout7.xml"/><Relationship Id="rId10" Type="http://schemas.openxmlformats.org/officeDocument/2006/relationships/image" Target="../media/image30.png"/><Relationship Id="rId4" Type="http://schemas.openxmlformats.org/officeDocument/2006/relationships/tags" Target="../tags/tag34.xml"/><Relationship Id="rId9" Type="http://schemas.openxmlformats.org/officeDocument/2006/relationships/image" Target="../media/image29.png"/></Relationships>
</file>

<file path=ppt/slides/_rels/slide9.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tags" Target="../tags/tag37.xml"/><Relationship Id="rId7" Type="http://schemas.openxmlformats.org/officeDocument/2006/relationships/image" Target="../media/image31.png"/><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image" Target="../media/image27.png"/><Relationship Id="rId5" Type="http://schemas.openxmlformats.org/officeDocument/2006/relationships/notesSlide" Target="../notesSlides/notesSlide7.xml"/><Relationship Id="rId4"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tags" Target="../tags/tag38.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1.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tags" Target="../tags/tag41.xml"/><Relationship Id="rId7" Type="http://schemas.openxmlformats.org/officeDocument/2006/relationships/image" Target="../media/image32.png"/><Relationship Id="rId12" Type="http://schemas.openxmlformats.org/officeDocument/2006/relationships/image" Target="../media/image37.png"/><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notesSlide" Target="../notesSlides/notesSlide9.xml"/><Relationship Id="rId11" Type="http://schemas.openxmlformats.org/officeDocument/2006/relationships/image" Target="../media/image36.png"/><Relationship Id="rId5" Type="http://schemas.openxmlformats.org/officeDocument/2006/relationships/slideLayout" Target="../slideLayouts/slideLayout7.xml"/><Relationship Id="rId10" Type="http://schemas.openxmlformats.org/officeDocument/2006/relationships/image" Target="../media/image35.png"/><Relationship Id="rId4" Type="http://schemas.openxmlformats.org/officeDocument/2006/relationships/tags" Target="../tags/tag42.xml"/><Relationship Id="rId9" Type="http://schemas.openxmlformats.org/officeDocument/2006/relationships/image" Target="../media/image34.png"/></Relationships>
</file>

<file path=ppt/slides/_rels/slide12.xml.rels><?xml version="1.0" encoding="UTF-8" standalone="yes"?>
<Relationships xmlns="http://schemas.openxmlformats.org/package/2006/relationships"><Relationship Id="rId8" Type="http://schemas.openxmlformats.org/officeDocument/2006/relationships/notesSlide" Target="../notesSlides/notesSlide10.xml"/><Relationship Id="rId13" Type="http://schemas.openxmlformats.org/officeDocument/2006/relationships/image" Target="../media/image41.png"/><Relationship Id="rId3" Type="http://schemas.openxmlformats.org/officeDocument/2006/relationships/tags" Target="../tags/tag45.xml"/><Relationship Id="rId7" Type="http://schemas.openxmlformats.org/officeDocument/2006/relationships/slideLayout" Target="../slideLayouts/slideLayout7.xml"/><Relationship Id="rId12" Type="http://schemas.openxmlformats.org/officeDocument/2006/relationships/image" Target="../media/image40.png"/><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11" Type="http://schemas.openxmlformats.org/officeDocument/2006/relationships/image" Target="../media/image39.png"/><Relationship Id="rId5" Type="http://schemas.openxmlformats.org/officeDocument/2006/relationships/tags" Target="../tags/tag47.xml"/><Relationship Id="rId10" Type="http://schemas.openxmlformats.org/officeDocument/2006/relationships/image" Target="../media/image38.png"/><Relationship Id="rId4" Type="http://schemas.openxmlformats.org/officeDocument/2006/relationships/tags" Target="../tags/tag46.xml"/><Relationship Id="rId9" Type="http://schemas.openxmlformats.org/officeDocument/2006/relationships/image" Target="../media/image3.png"/><Relationship Id="rId14" Type="http://schemas.openxmlformats.org/officeDocument/2006/relationships/image" Target="../media/image42.png"/></Relationships>
</file>

<file path=ppt/slides/_rels/slide13.xml.rels><?xml version="1.0" encoding="UTF-8" standalone="yes"?>
<Relationships xmlns="http://schemas.openxmlformats.org/package/2006/relationships"><Relationship Id="rId8" Type="http://schemas.openxmlformats.org/officeDocument/2006/relationships/tags" Target="../tags/tag56.xml"/><Relationship Id="rId13" Type="http://schemas.openxmlformats.org/officeDocument/2006/relationships/image" Target="../media/image43.png"/><Relationship Id="rId18" Type="http://schemas.openxmlformats.org/officeDocument/2006/relationships/image" Target="../media/image48.png"/><Relationship Id="rId3" Type="http://schemas.openxmlformats.org/officeDocument/2006/relationships/tags" Target="../tags/tag51.xml"/><Relationship Id="rId21" Type="http://schemas.openxmlformats.org/officeDocument/2006/relationships/image" Target="../media/image51.png"/><Relationship Id="rId7" Type="http://schemas.openxmlformats.org/officeDocument/2006/relationships/tags" Target="../tags/tag55.xml"/><Relationship Id="rId12" Type="http://schemas.openxmlformats.org/officeDocument/2006/relationships/image" Target="../media/image980.png"/><Relationship Id="rId17" Type="http://schemas.openxmlformats.org/officeDocument/2006/relationships/image" Target="../media/image47.png"/><Relationship Id="rId2" Type="http://schemas.openxmlformats.org/officeDocument/2006/relationships/tags" Target="../tags/tag50.xml"/><Relationship Id="rId16" Type="http://schemas.openxmlformats.org/officeDocument/2006/relationships/image" Target="../media/image46.png"/><Relationship Id="rId20" Type="http://schemas.openxmlformats.org/officeDocument/2006/relationships/image" Target="../media/image50.png"/><Relationship Id="rId1" Type="http://schemas.openxmlformats.org/officeDocument/2006/relationships/tags" Target="../tags/tag49.xml"/><Relationship Id="rId6" Type="http://schemas.openxmlformats.org/officeDocument/2006/relationships/tags" Target="../tags/tag54.xml"/><Relationship Id="rId11" Type="http://schemas.openxmlformats.org/officeDocument/2006/relationships/notesSlide" Target="../notesSlides/notesSlide11.xml"/><Relationship Id="rId5" Type="http://schemas.openxmlformats.org/officeDocument/2006/relationships/tags" Target="../tags/tag53.xml"/><Relationship Id="rId15" Type="http://schemas.openxmlformats.org/officeDocument/2006/relationships/image" Target="../media/image45.png"/><Relationship Id="rId10" Type="http://schemas.openxmlformats.org/officeDocument/2006/relationships/slideLayout" Target="../slideLayouts/slideLayout7.xml"/><Relationship Id="rId19" Type="http://schemas.openxmlformats.org/officeDocument/2006/relationships/image" Target="../media/image49.png"/><Relationship Id="rId4" Type="http://schemas.openxmlformats.org/officeDocument/2006/relationships/tags" Target="../tags/tag52.xml"/><Relationship Id="rId9" Type="http://schemas.openxmlformats.org/officeDocument/2006/relationships/tags" Target="../tags/tag57.xml"/><Relationship Id="rId14" Type="http://schemas.openxmlformats.org/officeDocument/2006/relationships/image" Target="../media/image44.png"/></Relationships>
</file>

<file path=ppt/slides/_rels/slide14.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tags" Target="../tags/tag60.xml"/><Relationship Id="rId7" Type="http://schemas.openxmlformats.org/officeDocument/2006/relationships/image" Target="../media/image1040.png"/><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notesSlide" Target="../notesSlides/notesSlide12.xml"/><Relationship Id="rId11" Type="http://schemas.openxmlformats.org/officeDocument/2006/relationships/image" Target="../media/image42.png"/><Relationship Id="rId5" Type="http://schemas.openxmlformats.org/officeDocument/2006/relationships/slideLayout" Target="../slideLayouts/slideLayout7.xml"/><Relationship Id="rId10" Type="http://schemas.openxmlformats.org/officeDocument/2006/relationships/image" Target="../media/image47.png"/><Relationship Id="rId4" Type="http://schemas.openxmlformats.org/officeDocument/2006/relationships/tags" Target="../tags/tag61.xml"/><Relationship Id="rId9" Type="http://schemas.openxmlformats.org/officeDocument/2006/relationships/image" Target="../media/image46.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E5A02-5793-0700-270E-36EE85837AA2}"/>
            </a:ext>
          </a:extLst>
        </p:cNvPr>
        <p:cNvGrpSpPr/>
        <p:nvPr/>
      </p:nvGrpSpPr>
      <p:grpSpPr>
        <a:xfrm>
          <a:off x="0" y="0"/>
          <a:ext cx="0" cy="0"/>
          <a:chOff x="0" y="0"/>
          <a:chExt cx="0" cy="0"/>
        </a:xfrm>
      </p:grpSpPr>
      <p:pic>
        <p:nvPicPr>
          <p:cNvPr id="13" name="그림 12">
            <a:extLst>
              <a:ext uri="{FF2B5EF4-FFF2-40B4-BE49-F238E27FC236}">
                <a16:creationId xmlns:a16="http://schemas.microsoft.com/office/drawing/2014/main" id="{42B531CA-F3FE-F89E-0AD1-AAAF994CE312}"/>
              </a:ext>
            </a:extLst>
          </p:cNvPr>
          <p:cNvPicPr>
            <a:picLocks noChangeAspect="1"/>
          </p:cNvPicPr>
          <p:nvPr/>
        </p:nvPicPr>
        <p:blipFill>
          <a:blip r:embed="rId3"/>
          <a:stretch>
            <a:fillRect/>
          </a:stretch>
        </p:blipFill>
        <p:spPr>
          <a:xfrm flipH="1">
            <a:off x="-36232" y="20319"/>
            <a:ext cx="24420232" cy="13695681"/>
          </a:xfrm>
          <a:prstGeom prst="rect">
            <a:avLst/>
          </a:prstGeom>
        </p:spPr>
      </p:pic>
      <p:sp>
        <p:nvSpPr>
          <p:cNvPr id="14" name="직사각형 13">
            <a:extLst>
              <a:ext uri="{FF2B5EF4-FFF2-40B4-BE49-F238E27FC236}">
                <a16:creationId xmlns:a16="http://schemas.microsoft.com/office/drawing/2014/main" id="{480E5789-C990-0E89-D9E8-42624063C688}"/>
              </a:ext>
            </a:extLst>
          </p:cNvPr>
          <p:cNvSpPr/>
          <p:nvPr/>
        </p:nvSpPr>
        <p:spPr>
          <a:xfrm>
            <a:off x="-25400" y="2286001"/>
            <a:ext cx="16027400" cy="9570720"/>
          </a:xfrm>
          <a:prstGeom prst="rect">
            <a:avLst/>
          </a:prstGeom>
          <a:solidFill>
            <a:srgbClr val="F2F2F2">
              <a:alpha val="8784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TextBox 4">
            <a:extLst>
              <a:ext uri="{FF2B5EF4-FFF2-40B4-BE49-F238E27FC236}">
                <a16:creationId xmlns:a16="http://schemas.microsoft.com/office/drawing/2014/main" id="{85B1ADF0-5447-EC38-3615-4ADB117024EC}"/>
              </a:ext>
            </a:extLst>
          </p:cNvPr>
          <p:cNvSpPr txBox="1"/>
          <p:nvPr/>
        </p:nvSpPr>
        <p:spPr>
          <a:xfrm>
            <a:off x="1371600" y="4279900"/>
            <a:ext cx="15405100" cy="4406900"/>
          </a:xfrm>
          <a:prstGeom prst="rect">
            <a:avLst/>
          </a:prstGeom>
        </p:spPr>
        <p:txBody>
          <a:bodyPr lIns="0" tIns="169333" rIns="0" bIns="0" rtlCol="0" anchor="t"/>
          <a:lstStyle/>
          <a:p>
            <a:pPr lvl="0" algn="l">
              <a:lnSpc>
                <a:spcPct val="99600"/>
              </a:lnSpc>
            </a:pPr>
            <a:r>
              <a:rPr lang="en" sz="11100" b="1" i="0" u="none" strike="noStrike" dirty="0">
                <a:solidFill>
                  <a:srgbClr val="002060"/>
                </a:solidFill>
                <a:latin typeface="Arial" panose="020B0604020202020204" pitchFamily="34" charset="0"/>
                <a:cs typeface="Arial" panose="020B0604020202020204" pitchFamily="34" charset="0"/>
              </a:rPr>
              <a:t>Inverse-Dynamics</a:t>
            </a:r>
          </a:p>
          <a:p>
            <a:pPr lvl="0" algn="l">
              <a:lnSpc>
                <a:spcPct val="99600"/>
              </a:lnSpc>
            </a:pPr>
            <a:r>
              <a:rPr lang="en" sz="11100" b="0" i="0" u="none" strike="noStrike" dirty="0">
                <a:solidFill>
                  <a:srgbClr val="002060"/>
                </a:solidFill>
                <a:latin typeface="Arial" panose="020B0604020202020204" pitchFamily="34" charset="0"/>
                <a:cs typeface="Arial" panose="020B0604020202020204" pitchFamily="34" charset="0"/>
              </a:rPr>
              <a:t>Tutorial</a:t>
            </a:r>
            <a:endParaRPr lang="en" sz="4000" i="0" u="none" strike="noStrike" dirty="0">
              <a:solidFill>
                <a:srgbClr val="002060"/>
              </a:solidFill>
              <a:latin typeface="Arial" panose="020B0604020202020204" pitchFamily="34" charset="0"/>
              <a:cs typeface="Arial" panose="020B0604020202020204" pitchFamily="34" charset="0"/>
            </a:endParaRPr>
          </a:p>
        </p:txBody>
      </p:sp>
      <p:sp>
        <p:nvSpPr>
          <p:cNvPr id="5" name="TextBox 5">
            <a:extLst>
              <a:ext uri="{FF2B5EF4-FFF2-40B4-BE49-F238E27FC236}">
                <a16:creationId xmlns:a16="http://schemas.microsoft.com/office/drawing/2014/main" id="{C5E87B03-0572-4B7E-E816-38E857D7B885}"/>
              </a:ext>
            </a:extLst>
          </p:cNvPr>
          <p:cNvSpPr txBox="1"/>
          <p:nvPr/>
        </p:nvSpPr>
        <p:spPr>
          <a:xfrm>
            <a:off x="1447800" y="3111500"/>
            <a:ext cx="13754100" cy="952500"/>
          </a:xfrm>
          <a:prstGeom prst="rect">
            <a:avLst/>
          </a:prstGeom>
        </p:spPr>
        <p:txBody>
          <a:bodyPr lIns="0" tIns="67733" rIns="0" bIns="0" rtlCol="0" anchor="t"/>
          <a:lstStyle/>
          <a:p>
            <a:pPr lvl="0" algn="l">
              <a:lnSpc>
                <a:spcPct val="99600"/>
              </a:lnSpc>
            </a:pPr>
            <a:r>
              <a:rPr lang="en-US" sz="5333" spc="426" dirty="0">
                <a:solidFill>
                  <a:schemeClr val="tx1">
                    <a:lumMod val="75000"/>
                    <a:lumOff val="25000"/>
                  </a:schemeClr>
                </a:solidFill>
                <a:latin typeface="Arial" panose="020B0604020202020204" pitchFamily="34" charset="0"/>
                <a:cs typeface="Arial" panose="020B0604020202020204" pitchFamily="34" charset="0"/>
              </a:rPr>
              <a:t>Week 2</a:t>
            </a:r>
            <a:endParaRPr lang="en" sz="5333" b="0" i="0" u="none" strike="noStrike" spc="426"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6" name="TextBox 6">
            <a:extLst>
              <a:ext uri="{FF2B5EF4-FFF2-40B4-BE49-F238E27FC236}">
                <a16:creationId xmlns:a16="http://schemas.microsoft.com/office/drawing/2014/main" id="{CA58BBE0-DC5F-882E-F011-A1D9E8169D77}"/>
              </a:ext>
            </a:extLst>
          </p:cNvPr>
          <p:cNvSpPr txBox="1"/>
          <p:nvPr/>
        </p:nvSpPr>
        <p:spPr>
          <a:xfrm>
            <a:off x="1447800" y="8686800"/>
            <a:ext cx="13677900" cy="596900"/>
          </a:xfrm>
          <a:prstGeom prst="rect">
            <a:avLst/>
          </a:prstGeom>
        </p:spPr>
        <p:txBody>
          <a:bodyPr lIns="0" tIns="42333" rIns="0" bIns="0" rtlCol="0" anchor="t"/>
          <a:lstStyle/>
          <a:p>
            <a:pPr lvl="0" algn="l">
              <a:lnSpc>
                <a:spcPct val="99600"/>
              </a:lnSpc>
            </a:pPr>
            <a:r>
              <a:rPr lang="en-US" altLang="ko-KR" sz="3333" b="1" dirty="0" err="1">
                <a:solidFill>
                  <a:schemeClr val="tx1">
                    <a:lumMod val="75000"/>
                    <a:lumOff val="25000"/>
                  </a:schemeClr>
                </a:solidFill>
                <a:latin typeface="Arial" panose="020B0604020202020204" pitchFamily="34" charset="0"/>
                <a:cs typeface="Arial" panose="020B0604020202020204" pitchFamily="34" charset="0"/>
              </a:rPr>
              <a:t>Kangmin</a:t>
            </a:r>
            <a:r>
              <a:rPr lang="en-US" altLang="ko-KR" sz="3333" b="1" dirty="0">
                <a:solidFill>
                  <a:schemeClr val="tx1">
                    <a:lumMod val="75000"/>
                    <a:lumOff val="25000"/>
                  </a:schemeClr>
                </a:solidFill>
                <a:latin typeface="Arial" panose="020B0604020202020204" pitchFamily="34" charset="0"/>
                <a:cs typeface="Arial" panose="020B0604020202020204" pitchFamily="34" charset="0"/>
              </a:rPr>
              <a:t> Lee </a:t>
            </a:r>
          </a:p>
        </p:txBody>
      </p:sp>
      <p:sp>
        <p:nvSpPr>
          <p:cNvPr id="9" name="TextBox 9">
            <a:extLst>
              <a:ext uri="{FF2B5EF4-FFF2-40B4-BE49-F238E27FC236}">
                <a16:creationId xmlns:a16="http://schemas.microsoft.com/office/drawing/2014/main" id="{70E07BA4-F69F-C8B3-6F3C-44300A792DBD}"/>
              </a:ext>
            </a:extLst>
          </p:cNvPr>
          <p:cNvSpPr txBox="1"/>
          <p:nvPr/>
        </p:nvSpPr>
        <p:spPr>
          <a:xfrm>
            <a:off x="1371600" y="9753600"/>
            <a:ext cx="13106400" cy="1607821"/>
          </a:xfrm>
          <a:prstGeom prst="rect">
            <a:avLst/>
          </a:prstGeom>
        </p:spPr>
        <p:txBody>
          <a:bodyPr rtlCol="0" anchor="t"/>
          <a:lstStyle/>
          <a:p>
            <a:pPr lvl="0">
              <a:lnSpc>
                <a:spcPct val="124499"/>
              </a:lnSpc>
            </a:pPr>
            <a:r>
              <a:rPr lang="en-US" altLang="ko-KR" sz="2400" dirty="0">
                <a:solidFill>
                  <a:schemeClr val="tx1">
                    <a:lumMod val="65000"/>
                    <a:lumOff val="35000"/>
                  </a:schemeClr>
                </a:solidFill>
              </a:rPr>
              <a:t>This tutorial covers inverse-dynamics from Operational Space Control to QP, HQP, and TSID focusing on the math, intuition, and practical design patterns behind them. Through code and simulation, you’ll learn to formulate tasks and constraints and compute constraint-satisfying torques suitable for robots.</a:t>
            </a:r>
            <a:endParaRPr lang="en" sz="2266" b="0" i="0" u="none" strike="noStrike" dirty="0">
              <a:solidFill>
                <a:schemeClr val="tx1">
                  <a:lumMod val="65000"/>
                  <a:lumOff val="35000"/>
                </a:schemeClr>
              </a:solidFill>
              <a:latin typeface="Arial" panose="020B0604020202020204" pitchFamily="34" charset="0"/>
            </a:endParaRPr>
          </a:p>
        </p:txBody>
      </p:sp>
    </p:spTree>
    <p:extLst>
      <p:ext uri="{BB962C8B-B14F-4D97-AF65-F5344CB8AC3E}">
        <p14:creationId xmlns:p14="http://schemas.microsoft.com/office/powerpoint/2010/main" val="12589708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6AE9B-07B6-0CCE-4555-127CC368BE25}"/>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2C203FED-9587-CF2D-5891-3FCE9EE24B3B}"/>
              </a:ext>
            </a:extLst>
          </p:cNvPr>
          <p:cNvSpPr/>
          <p:nvPr/>
        </p:nvSpPr>
        <p:spPr>
          <a:xfrm>
            <a:off x="0" y="0"/>
            <a:ext cx="821042" cy="13716000"/>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231425A9-D0CD-F0F8-4A51-AC11994602A8}"/>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0AFE65CB-56FD-0D57-724A-4C9E57DD78F1}"/>
              </a:ext>
            </a:extLst>
          </p:cNvPr>
          <p:cNvSpPr txBox="1"/>
          <p:nvPr/>
        </p:nvSpPr>
        <p:spPr>
          <a:xfrm>
            <a:off x="1600200" y="609600"/>
            <a:ext cx="13182600" cy="990600"/>
          </a:xfrm>
          <a:prstGeom prst="rect">
            <a:avLst/>
          </a:prstGeom>
        </p:spPr>
        <p:txBody>
          <a:bodyPr lIns="0" tIns="101600" rIns="0" bIns="0" rtlCol="0" anchor="t"/>
          <a:lstStyle/>
          <a:p>
            <a:pPr lvl="0" algn="l">
              <a:lnSpc>
                <a:spcPct val="99600"/>
              </a:lnSpc>
            </a:pPr>
            <a:r>
              <a:rPr lang="en-US" sz="6000" b="1" i="0" u="none" strike="noStrike" dirty="0">
                <a:solidFill>
                  <a:srgbClr val="000000"/>
                </a:solidFill>
                <a:latin typeface="Arial" panose="020B0604020202020204" pitchFamily="34" charset="0"/>
                <a:cs typeface="Arial" panose="020B0604020202020204" pitchFamily="34" charset="0"/>
              </a:rPr>
              <a:t>Notation &amp; Definitions (</a:t>
            </a:r>
            <a:r>
              <a:rPr lang="ko-KR" altLang="en-US" sz="6000" b="1" i="0" u="none" strike="noStrike" dirty="0">
                <a:solidFill>
                  <a:srgbClr val="000000"/>
                </a:solidFill>
                <a:latin typeface="Arial" panose="020B0604020202020204" pitchFamily="34" charset="0"/>
                <a:cs typeface="Arial" panose="020B0604020202020204" pitchFamily="34" charset="0"/>
              </a:rPr>
              <a:t>기호와 정의</a:t>
            </a:r>
            <a:r>
              <a:rPr lang="en-US" altLang="ko-KR" sz="6000" b="1" i="0" u="none" strike="noStrike" dirty="0">
                <a:solidFill>
                  <a:srgbClr val="000000"/>
                </a:solidFill>
                <a:latin typeface="Arial" panose="020B0604020202020204" pitchFamily="34" charset="0"/>
                <a:cs typeface="Arial" panose="020B0604020202020204" pitchFamily="34" charset="0"/>
              </a:rPr>
              <a:t>)</a:t>
            </a:r>
            <a:endParaRPr lang="en" sz="6000" b="1" i="0" u="none" strike="noStrike" dirty="0">
              <a:solidFill>
                <a:srgbClr val="00000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31232199-1DDD-35B8-5ED6-FEFB839B408B}"/>
              </a:ext>
            </a:extLst>
          </p:cNvPr>
          <p:cNvSpPr txBox="1"/>
          <p:nvPr/>
        </p:nvSpPr>
        <p:spPr>
          <a:xfrm>
            <a:off x="2086897" y="2244213"/>
            <a:ext cx="21154103" cy="10892469"/>
          </a:xfrm>
          <a:prstGeom prst="rect">
            <a:avLst/>
          </a:prstGeom>
          <a:noFill/>
        </p:spPr>
        <p:txBody>
          <a:bodyPr wrap="square">
            <a:spAutoFit/>
          </a:bodyPr>
          <a:lstStyle/>
          <a:p>
            <a:pPr>
              <a:lnSpc>
                <a:spcPct val="150000"/>
              </a:lnSpc>
            </a:pPr>
            <a:r>
              <a:rPr lang="ko-KR" altLang="en-US" sz="4000" b="1" dirty="0"/>
              <a:t>표기</a:t>
            </a:r>
            <a:endParaRPr lang="en-US" altLang="ko-KR" sz="4000" b="1" dirty="0"/>
          </a:p>
          <a:p>
            <a:pPr marL="457200" indent="-457200">
              <a:lnSpc>
                <a:spcPct val="150000"/>
              </a:lnSpc>
              <a:buFont typeface="Arial" panose="020B0604020202020204" pitchFamily="34" charset="0"/>
              <a:buChar char="•"/>
            </a:pPr>
            <a:r>
              <a:rPr lang="ko-KR" altLang="en-US" sz="3200" dirty="0"/>
              <a:t>시스템의 상태</a:t>
            </a:r>
            <a:r>
              <a:rPr lang="en-US" altLang="ko-KR" sz="3200" dirty="0"/>
              <a:t>(state)</a:t>
            </a:r>
            <a:r>
              <a:rPr lang="ko-KR" altLang="en-US" sz="3200" dirty="0"/>
              <a:t>는        로 표기</a:t>
            </a:r>
            <a:endParaRPr lang="en-US" altLang="ko-KR" sz="3200" dirty="0"/>
          </a:p>
          <a:p>
            <a:pPr marL="457200" indent="-457200">
              <a:lnSpc>
                <a:spcPct val="150000"/>
              </a:lnSpc>
              <a:buFont typeface="Arial" panose="020B0604020202020204" pitchFamily="34" charset="0"/>
              <a:buChar char="•"/>
            </a:pPr>
            <a:r>
              <a:rPr lang="ko-KR" altLang="en-US" sz="3200" dirty="0">
                <a:latin typeface="+mn-ea"/>
              </a:rPr>
              <a:t>제어 입력</a:t>
            </a:r>
            <a:r>
              <a:rPr lang="en-US" altLang="ko-KR" sz="3200" dirty="0">
                <a:latin typeface="+mn-ea"/>
              </a:rPr>
              <a:t>(input)</a:t>
            </a:r>
            <a:r>
              <a:rPr lang="ko-KR" altLang="en-US" sz="3200" dirty="0">
                <a:latin typeface="+mn-ea"/>
              </a:rPr>
              <a:t>은     로 표기</a:t>
            </a:r>
            <a:endParaRPr lang="en-US" altLang="ko-KR" sz="3200" dirty="0">
              <a:latin typeface="+mn-ea"/>
            </a:endParaRPr>
          </a:p>
          <a:p>
            <a:pPr marL="457200" indent="-457200">
              <a:lnSpc>
                <a:spcPct val="150000"/>
              </a:lnSpc>
              <a:buFont typeface="Arial" panose="020B0604020202020204" pitchFamily="34" charset="0"/>
              <a:buChar char="•"/>
            </a:pPr>
            <a:endParaRPr lang="en-US" altLang="ko-KR" sz="3200" dirty="0">
              <a:latin typeface="+mn-ea"/>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ko-KR" altLang="en-US" sz="4000" b="1" dirty="0">
                <a:solidFill>
                  <a:prstClr val="black"/>
                </a:solidFill>
                <a:latin typeface="Calibri"/>
                <a:ea typeface="맑은 고딕" panose="020B0503020000020004" pitchFamily="50" charset="-127"/>
              </a:rPr>
              <a:t>구동기 구성</a:t>
            </a:r>
            <a:endParaRPr kumimoji="0" lang="en-US" altLang="ko-KR" sz="4000" b="1" i="0" u="none" strike="noStrike" kern="1200" cap="none" spc="0" normalizeH="0" baseline="0" noProof="0" dirty="0">
              <a:ln>
                <a:noFill/>
              </a:ln>
              <a:solidFill>
                <a:prstClr val="black"/>
              </a:solidFill>
              <a:effectLst/>
              <a:uLnTx/>
              <a:uFillTx/>
              <a:latin typeface="Calibri"/>
              <a:ea typeface="맑은 고딕" panose="020B0503020000020004" pitchFamily="50" charset="-127"/>
              <a:cs typeface="+mn-cs"/>
            </a:endParaRPr>
          </a:p>
          <a:p>
            <a:pPr marL="457200" indent="-457200">
              <a:lnSpc>
                <a:spcPct val="150000"/>
              </a:lnSpc>
              <a:buFont typeface="Arial" panose="020B0604020202020204" pitchFamily="34" charset="0"/>
              <a:buChar char="•"/>
            </a:pPr>
            <a:r>
              <a:rPr lang="ko-KR" altLang="en-US" sz="3200" b="1" dirty="0">
                <a:latin typeface="+mn-ea"/>
              </a:rPr>
              <a:t>완전 구동</a:t>
            </a:r>
            <a:r>
              <a:rPr lang="en-US" altLang="ko-KR" sz="3200" b="1" dirty="0">
                <a:latin typeface="+mn-ea"/>
              </a:rPr>
              <a:t>(Fully actuated): </a:t>
            </a:r>
            <a:r>
              <a:rPr lang="ko-KR" altLang="en-US" sz="3200" dirty="0">
                <a:latin typeface="+mn-ea"/>
              </a:rPr>
              <a:t>구동기</a:t>
            </a:r>
            <a:r>
              <a:rPr lang="en-US" altLang="ko-KR" sz="3200" dirty="0">
                <a:latin typeface="+mn-ea"/>
              </a:rPr>
              <a:t>(</a:t>
            </a:r>
            <a:r>
              <a:rPr lang="ko-KR" altLang="en-US" sz="3200" dirty="0" err="1">
                <a:latin typeface="+mn-ea"/>
              </a:rPr>
              <a:t>액추에이터</a:t>
            </a:r>
            <a:r>
              <a:rPr lang="en-US" altLang="ko-KR" sz="3200" dirty="0">
                <a:latin typeface="+mn-ea"/>
              </a:rPr>
              <a:t>) </a:t>
            </a:r>
            <a:r>
              <a:rPr lang="ko-KR" altLang="en-US" sz="3200" dirty="0">
                <a:latin typeface="+mn-ea"/>
              </a:rPr>
              <a:t>수 </a:t>
            </a:r>
            <a:r>
              <a:rPr lang="en-US" altLang="ko-KR" sz="3200" dirty="0">
                <a:latin typeface="+mn-ea"/>
              </a:rPr>
              <a:t>= </a:t>
            </a:r>
            <a:r>
              <a:rPr lang="ko-KR" altLang="en-US" sz="3200" dirty="0">
                <a:latin typeface="+mn-ea"/>
              </a:rPr>
              <a:t>자유도 수</a:t>
            </a:r>
            <a:endParaRPr lang="en-US" altLang="ko-KR" sz="3200" dirty="0">
              <a:latin typeface="+mn-ea"/>
            </a:endParaRPr>
          </a:p>
          <a:p>
            <a:pPr>
              <a:lnSpc>
                <a:spcPct val="150000"/>
              </a:lnSpc>
            </a:pPr>
            <a:r>
              <a:rPr lang="en-US" altLang="ko-KR" sz="3200" dirty="0">
                <a:latin typeface="+mn-ea"/>
              </a:rPr>
              <a:t>	- ex) </a:t>
            </a:r>
            <a:r>
              <a:rPr lang="ko-KR" altLang="en-US" sz="3200" dirty="0">
                <a:latin typeface="+mn-ea"/>
              </a:rPr>
              <a:t>대부분의 산업용 </a:t>
            </a:r>
            <a:r>
              <a:rPr lang="ko-KR" altLang="en-US" sz="3200" dirty="0" err="1">
                <a:latin typeface="+mn-ea"/>
              </a:rPr>
              <a:t>매니퓰레이터</a:t>
            </a:r>
            <a:endParaRPr lang="en-US" altLang="ko-KR" sz="3200" dirty="0">
              <a:latin typeface="+mn-ea"/>
            </a:endParaRPr>
          </a:p>
          <a:p>
            <a:pPr marL="457200" indent="-457200">
              <a:lnSpc>
                <a:spcPct val="150000"/>
              </a:lnSpc>
              <a:buFont typeface="Arial" panose="020B0604020202020204" pitchFamily="34" charset="0"/>
              <a:buChar char="•"/>
            </a:pPr>
            <a:r>
              <a:rPr lang="ko-KR" altLang="en-US" sz="3200" b="1" dirty="0">
                <a:latin typeface="+mn-ea"/>
              </a:rPr>
              <a:t>부분</a:t>
            </a:r>
            <a:r>
              <a:rPr lang="en-US" altLang="ko-KR" sz="3200" b="1" dirty="0">
                <a:latin typeface="+mn-ea"/>
              </a:rPr>
              <a:t>/</a:t>
            </a:r>
            <a:r>
              <a:rPr lang="ko-KR" altLang="en-US" sz="3200" b="1" dirty="0" err="1">
                <a:latin typeface="+mn-ea"/>
              </a:rPr>
              <a:t>미완전</a:t>
            </a:r>
            <a:r>
              <a:rPr lang="ko-KR" altLang="en-US" sz="3200" b="1" dirty="0">
                <a:latin typeface="+mn-ea"/>
              </a:rPr>
              <a:t> 구동</a:t>
            </a:r>
            <a:r>
              <a:rPr lang="en-US" altLang="ko-KR" sz="3200" b="1" dirty="0">
                <a:latin typeface="+mn-ea"/>
              </a:rPr>
              <a:t>(Underactuated): </a:t>
            </a:r>
            <a:r>
              <a:rPr lang="ko-KR" altLang="en-US" sz="3200" dirty="0">
                <a:latin typeface="+mn-ea"/>
              </a:rPr>
              <a:t>구동기 수 </a:t>
            </a:r>
            <a:r>
              <a:rPr lang="en-US" altLang="ko-KR" sz="3200" dirty="0">
                <a:latin typeface="+mn-ea"/>
              </a:rPr>
              <a:t>&lt; </a:t>
            </a:r>
            <a:r>
              <a:rPr lang="ko-KR" altLang="en-US" sz="3200" dirty="0">
                <a:latin typeface="+mn-ea"/>
              </a:rPr>
              <a:t>자유도 수</a:t>
            </a:r>
            <a:endParaRPr lang="en-US" altLang="ko-KR" sz="3200" dirty="0">
              <a:latin typeface="+mn-ea"/>
            </a:endParaRPr>
          </a:p>
          <a:p>
            <a:pPr>
              <a:lnSpc>
                <a:spcPct val="150000"/>
              </a:lnSpc>
            </a:pPr>
            <a:r>
              <a:rPr lang="en-US" altLang="ko-KR" sz="3200" dirty="0">
                <a:latin typeface="+mn-ea"/>
              </a:rPr>
              <a:t>	- ex)</a:t>
            </a:r>
            <a:r>
              <a:rPr lang="ko-KR" altLang="en-US" sz="3200" dirty="0">
                <a:latin typeface="+mn-ea"/>
              </a:rPr>
              <a:t> </a:t>
            </a:r>
            <a:r>
              <a:rPr lang="ko-KR" altLang="en-US" sz="3200" dirty="0" err="1">
                <a:latin typeface="+mn-ea"/>
              </a:rPr>
              <a:t>다족</a:t>
            </a:r>
            <a:r>
              <a:rPr lang="ko-KR" altLang="en-US" sz="3200" dirty="0">
                <a:latin typeface="+mn-ea"/>
              </a:rPr>
              <a:t> 보행 로봇</a:t>
            </a:r>
            <a:r>
              <a:rPr lang="en-US" altLang="ko-KR" sz="3200" dirty="0">
                <a:latin typeface="+mn-ea"/>
              </a:rPr>
              <a:t>, </a:t>
            </a:r>
            <a:r>
              <a:rPr lang="ko-KR" altLang="en-US" sz="3200" dirty="0" err="1">
                <a:latin typeface="+mn-ea"/>
              </a:rPr>
              <a:t>쿼드로터</a:t>
            </a:r>
            <a:r>
              <a:rPr lang="en-US" altLang="ko-KR" sz="3200" dirty="0">
                <a:latin typeface="+mn-ea"/>
              </a:rPr>
              <a:t>, </a:t>
            </a:r>
            <a:r>
              <a:rPr lang="ko-KR" altLang="en-US" sz="3200" dirty="0">
                <a:latin typeface="+mn-ea"/>
              </a:rPr>
              <a:t>비행기</a:t>
            </a:r>
            <a:endParaRPr lang="en-US" altLang="ko-KR" sz="3200" dirty="0">
              <a:latin typeface="+mn-ea"/>
            </a:endParaRPr>
          </a:p>
          <a:p>
            <a:pPr>
              <a:lnSpc>
                <a:spcPct val="150000"/>
              </a:lnSpc>
            </a:pPr>
            <a:endParaRPr lang="en-US" altLang="ko-KR" sz="3200" dirty="0">
              <a:latin typeface="+mn-ea"/>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ko-KR" altLang="en-US" sz="4000" b="1" i="0" u="none" strike="noStrike" kern="1200" cap="none" spc="0" normalizeH="0" baseline="0" noProof="0" dirty="0">
                <a:ln>
                  <a:noFill/>
                </a:ln>
                <a:solidFill>
                  <a:prstClr val="black"/>
                </a:solidFill>
                <a:effectLst/>
                <a:uLnTx/>
                <a:uFillTx/>
                <a:latin typeface="Calibri"/>
                <a:ea typeface="맑은 고딕" panose="020B0503020000020004" pitchFamily="50" charset="-127"/>
                <a:cs typeface="+mn-cs"/>
              </a:rPr>
              <a:t>로봇 모델</a:t>
            </a:r>
            <a:endParaRPr kumimoji="0" lang="en-US" altLang="ko-KR" sz="4000" b="1" i="0" u="none" strike="noStrike" kern="1200" cap="none" spc="0" normalizeH="0" baseline="0" noProof="0" dirty="0">
              <a:ln>
                <a:noFill/>
              </a:ln>
              <a:solidFill>
                <a:prstClr val="black"/>
              </a:solidFill>
              <a:effectLst/>
              <a:uLnTx/>
              <a:uFillTx/>
              <a:latin typeface="Calibri"/>
              <a:ea typeface="맑은 고딕" panose="020B0503020000020004" pitchFamily="50" charset="-127"/>
              <a:cs typeface="+mn-cs"/>
            </a:endParaRPr>
          </a:p>
          <a:p>
            <a:pPr marL="457200" indent="-457200">
              <a:lnSpc>
                <a:spcPct val="150000"/>
              </a:lnSpc>
              <a:buFont typeface="Arial" panose="020B0604020202020204" pitchFamily="34" charset="0"/>
              <a:buChar char="•"/>
            </a:pPr>
            <a:r>
              <a:rPr lang="ko-KR" altLang="en-US" sz="3200" dirty="0">
                <a:solidFill>
                  <a:prstClr val="black"/>
                </a:solidFill>
                <a:latin typeface="맑은 고딕" panose="020B0503020000020004" pitchFamily="50" charset="-127"/>
                <a:ea typeface="맑은 고딕" panose="020B0503020000020004" pitchFamily="50" charset="-127"/>
              </a:rPr>
              <a:t>모델은 로봇의 특성과 과정</a:t>
            </a:r>
            <a:r>
              <a:rPr lang="en-US" altLang="ko-KR" sz="3200" dirty="0">
                <a:solidFill>
                  <a:prstClr val="black"/>
                </a:solidFill>
                <a:latin typeface="맑은 고딕" panose="020B0503020000020004" pitchFamily="50" charset="-127"/>
                <a:ea typeface="맑은 고딕" panose="020B0503020000020004" pitchFamily="50" charset="-127"/>
              </a:rPr>
              <a:t>(task)</a:t>
            </a:r>
            <a:r>
              <a:rPr lang="ko-KR" altLang="en-US" sz="3200" dirty="0">
                <a:solidFill>
                  <a:prstClr val="black"/>
                </a:solidFill>
                <a:latin typeface="맑은 고딕" panose="020B0503020000020004" pitchFamily="50" charset="-127"/>
                <a:ea typeface="맑은 고딕" panose="020B0503020000020004" pitchFamily="50" charset="-127"/>
              </a:rPr>
              <a:t>에 맞춰 선택</a:t>
            </a:r>
            <a:endParaRPr lang="en-US" altLang="ko-KR" sz="3200" dirty="0">
              <a:solidFill>
                <a:prstClr val="black"/>
              </a:solidFill>
              <a:latin typeface="맑은 고딕" panose="020B0503020000020004" pitchFamily="50" charset="-127"/>
              <a:ea typeface="맑은 고딕" panose="020B0503020000020004" pitchFamily="50" charset="-127"/>
            </a:endParaRPr>
          </a:p>
          <a:p>
            <a:pPr>
              <a:lnSpc>
                <a:spcPct val="150000"/>
              </a:lnSpc>
            </a:pPr>
            <a:r>
              <a:rPr lang="en-US" altLang="ko-KR" sz="3200" dirty="0">
                <a:solidFill>
                  <a:prstClr val="black"/>
                </a:solidFill>
                <a:latin typeface="맑은 고딕" panose="020B0503020000020004" pitchFamily="50" charset="-127"/>
                <a:ea typeface="맑은 고딕" panose="020B0503020000020004" pitchFamily="50" charset="-127"/>
              </a:rPr>
              <a:t>	- </a:t>
            </a:r>
            <a:r>
              <a:rPr lang="ko-KR" altLang="en-US" sz="3200" dirty="0">
                <a:solidFill>
                  <a:prstClr val="black"/>
                </a:solidFill>
                <a:latin typeface="맑은 고딕" panose="020B0503020000020004" pitchFamily="50" charset="-127"/>
                <a:ea typeface="맑은 고딕" panose="020B0503020000020004" pitchFamily="50" charset="-127"/>
              </a:rPr>
              <a:t>복잡한 모델 </a:t>
            </a:r>
            <a:r>
              <a:rPr lang="en-US" altLang="ko-KR" sz="3200" dirty="0">
                <a:solidFill>
                  <a:prstClr val="black"/>
                </a:solidFill>
                <a:latin typeface="맑은 고딕" panose="020B0503020000020004" pitchFamily="50" charset="-127"/>
                <a:ea typeface="맑은 고딕" panose="020B0503020000020004" pitchFamily="50" charset="-127"/>
              </a:rPr>
              <a:t>vs </a:t>
            </a:r>
            <a:r>
              <a:rPr lang="ko-KR" altLang="en-US" sz="3200" dirty="0">
                <a:solidFill>
                  <a:prstClr val="black"/>
                </a:solidFill>
                <a:latin typeface="맑은 고딕" panose="020B0503020000020004" pitchFamily="50" charset="-127"/>
                <a:ea typeface="맑은 고딕" panose="020B0503020000020004" pitchFamily="50" charset="-127"/>
              </a:rPr>
              <a:t>단순화</a:t>
            </a:r>
            <a:r>
              <a:rPr lang="en-US" altLang="ko-KR" sz="3200" dirty="0">
                <a:solidFill>
                  <a:prstClr val="black"/>
                </a:solidFill>
                <a:latin typeface="맑은 고딕" panose="020B0503020000020004" pitchFamily="50" charset="-127"/>
                <a:ea typeface="맑은 고딕" panose="020B0503020000020004" pitchFamily="50" charset="-127"/>
              </a:rPr>
              <a:t> </a:t>
            </a:r>
            <a:r>
              <a:rPr lang="ko-KR" altLang="en-US" sz="3200" dirty="0">
                <a:solidFill>
                  <a:prstClr val="black"/>
                </a:solidFill>
                <a:latin typeface="맑은 고딕" panose="020B0503020000020004" pitchFamily="50" charset="-127"/>
                <a:ea typeface="맑은 고딕" panose="020B0503020000020004" pitchFamily="50" charset="-127"/>
              </a:rPr>
              <a:t>모델</a:t>
            </a:r>
            <a:endParaRPr lang="en-US" altLang="ko-KR" sz="3200" dirty="0">
              <a:solidFill>
                <a:prstClr val="black"/>
              </a:solidFill>
              <a:latin typeface="맑은 고딕" panose="020B0503020000020004" pitchFamily="50" charset="-127"/>
              <a:ea typeface="맑은 고딕" panose="020B0503020000020004" pitchFamily="50" charset="-127"/>
            </a:endParaRPr>
          </a:p>
          <a:p>
            <a:pPr>
              <a:lnSpc>
                <a:spcPct val="150000"/>
              </a:lnSpc>
            </a:pPr>
            <a:r>
              <a:rPr lang="en-US" altLang="ko-KR" sz="3200" dirty="0">
                <a:solidFill>
                  <a:prstClr val="black"/>
                </a:solidFill>
                <a:latin typeface="맑은 고딕" panose="020B0503020000020004" pitchFamily="50" charset="-127"/>
                <a:ea typeface="맑은 고딕" panose="020B0503020000020004" pitchFamily="50" charset="-127"/>
              </a:rPr>
              <a:t>	- </a:t>
            </a:r>
            <a:r>
              <a:rPr lang="ko-KR" altLang="en-US" sz="3200" dirty="0">
                <a:solidFill>
                  <a:prstClr val="black"/>
                </a:solidFill>
                <a:latin typeface="맑은 고딕" panose="020B0503020000020004" pitchFamily="50" charset="-127"/>
                <a:ea typeface="맑은 고딕" panose="020B0503020000020004" pitchFamily="50" charset="-127"/>
              </a:rPr>
              <a:t>접촉</a:t>
            </a:r>
            <a:r>
              <a:rPr lang="en-US" altLang="ko-KR" sz="3200" dirty="0">
                <a:solidFill>
                  <a:prstClr val="black"/>
                </a:solidFill>
                <a:latin typeface="맑은 고딕" panose="020B0503020000020004" pitchFamily="50" charset="-127"/>
                <a:ea typeface="맑은 고딕" panose="020B0503020000020004" pitchFamily="50" charset="-127"/>
              </a:rPr>
              <a:t>, </a:t>
            </a:r>
            <a:r>
              <a:rPr lang="ko-KR" altLang="en-US" sz="3200" dirty="0">
                <a:solidFill>
                  <a:prstClr val="black"/>
                </a:solidFill>
                <a:latin typeface="맑은 고딕" panose="020B0503020000020004" pitchFamily="50" charset="-127"/>
                <a:ea typeface="맑은 고딕" panose="020B0503020000020004" pitchFamily="50" charset="-127"/>
              </a:rPr>
              <a:t>마찰 등 모델 포함 여부</a:t>
            </a:r>
            <a:r>
              <a:rPr lang="en-US" altLang="ko-KR" sz="3200" dirty="0">
                <a:solidFill>
                  <a:prstClr val="black"/>
                </a:solidFill>
                <a:latin typeface="맑은 고딕" panose="020B0503020000020004" pitchFamily="50" charset="-127"/>
                <a:ea typeface="맑은 고딕" panose="020B0503020000020004" pitchFamily="50" charset="-127"/>
              </a:rPr>
              <a:t>, </a:t>
            </a:r>
            <a:r>
              <a:rPr lang="ko-KR" altLang="en-US" sz="3200" dirty="0" err="1">
                <a:solidFill>
                  <a:prstClr val="black"/>
                </a:solidFill>
                <a:latin typeface="맑은 고딕" panose="020B0503020000020004" pitchFamily="50" charset="-127"/>
                <a:ea typeface="맑은 고딕" panose="020B0503020000020004" pitchFamily="50" charset="-127"/>
              </a:rPr>
              <a:t>제약식</a:t>
            </a:r>
            <a:r>
              <a:rPr lang="ko-KR" altLang="en-US" sz="3200" dirty="0">
                <a:solidFill>
                  <a:prstClr val="black"/>
                </a:solidFill>
                <a:latin typeface="맑은 고딕" panose="020B0503020000020004" pitchFamily="50" charset="-127"/>
                <a:ea typeface="맑은 고딕" panose="020B0503020000020004" pitchFamily="50" charset="-127"/>
              </a:rPr>
              <a:t> 반영 수준</a:t>
            </a:r>
            <a:endParaRPr lang="en-US" altLang="ko-KR" sz="3200" dirty="0">
              <a:latin typeface="+mn-ea"/>
            </a:endParaRPr>
          </a:p>
        </p:txBody>
      </p:sp>
      <p:pic>
        <p:nvPicPr>
          <p:cNvPr id="13" name="그림 12" descr="\documentclass{article}&#10;\usepackage{amsmath}&#10;\pagestyle{empty}&#10;\begin{document}&#10;&#10;&#10;$&#10;\mathbf{x}&#10;$&#10;&#10;\end{document}" title="IguanaTex Bitmap Display">
            <a:extLst>
              <a:ext uri="{FF2B5EF4-FFF2-40B4-BE49-F238E27FC236}">
                <a16:creationId xmlns:a16="http://schemas.microsoft.com/office/drawing/2014/main" id="{35AF089B-F5B4-A7CF-3AC6-C26BA5148360}"/>
              </a:ext>
            </a:extLst>
          </p:cNvPr>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6963697" y="3519713"/>
            <a:ext cx="275048" cy="214248"/>
          </a:xfrm>
          <a:prstGeom prst="rect">
            <a:avLst/>
          </a:prstGeom>
        </p:spPr>
      </p:pic>
      <p:pic>
        <p:nvPicPr>
          <p:cNvPr id="18" name="그림 17" descr="\documentclass{article}&#10;\usepackage{amsmath}&#10;\pagestyle{empty}&#10;\begin{document}&#10;&#10;&#10;$&#10;\mathbf{u}&#10;$&#10;&#10;\end{document}" title="IguanaTex Bitmap Display">
            <a:extLst>
              <a:ext uri="{FF2B5EF4-FFF2-40B4-BE49-F238E27FC236}">
                <a16:creationId xmlns:a16="http://schemas.microsoft.com/office/drawing/2014/main" id="{F95DFCA3-C957-1B10-D5A5-A51770083049}"/>
              </a:ext>
            </a:extLst>
          </p:cNvPr>
          <p:cNvPicPr>
            <a:picLocks noChangeAspect="1"/>
          </p:cNvPicPr>
          <p:nvPr>
            <p:custDataLst>
              <p:tags r:id="rId2"/>
            </p:custDataLst>
          </p:nvPr>
        </p:nvPicPr>
        <p:blipFill>
          <a:blip r:embed="rId5" cstate="print">
            <a:extLst>
              <a:ext uri="{28A0092B-C50C-407E-A947-70E740481C1C}">
                <a14:useLocalDpi xmlns:a14="http://schemas.microsoft.com/office/drawing/2010/main" val="0"/>
              </a:ext>
            </a:extLst>
          </a:blip>
          <a:stretch>
            <a:fillRect/>
          </a:stretch>
        </p:blipFill>
        <p:spPr>
          <a:xfrm>
            <a:off x="6304754" y="4233974"/>
            <a:ext cx="277943" cy="220038"/>
          </a:xfrm>
          <a:prstGeom prst="rect">
            <a:avLst/>
          </a:prstGeom>
        </p:spPr>
      </p:pic>
    </p:spTree>
    <p:extLst>
      <p:ext uri="{BB962C8B-B14F-4D97-AF65-F5344CB8AC3E}">
        <p14:creationId xmlns:p14="http://schemas.microsoft.com/office/powerpoint/2010/main" val="16557035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F887D-0870-CDF9-66EF-D166A53EF078}"/>
            </a:ext>
          </a:extLst>
        </p:cNvPr>
        <p:cNvGrpSpPr/>
        <p:nvPr/>
      </p:nvGrpSpPr>
      <p:grpSpPr>
        <a:xfrm>
          <a:off x="0" y="0"/>
          <a:ext cx="0" cy="0"/>
          <a:chOff x="0" y="0"/>
          <a:chExt cx="0" cy="0"/>
        </a:xfrm>
      </p:grpSpPr>
      <p:sp>
        <p:nvSpPr>
          <p:cNvPr id="25" name="사각형: 둥근 모서리 24">
            <a:extLst>
              <a:ext uri="{FF2B5EF4-FFF2-40B4-BE49-F238E27FC236}">
                <a16:creationId xmlns:a16="http://schemas.microsoft.com/office/drawing/2014/main" id="{1ECCE223-7192-E034-2D00-EE09EAB9F2EA}"/>
              </a:ext>
            </a:extLst>
          </p:cNvPr>
          <p:cNvSpPr/>
          <p:nvPr/>
        </p:nvSpPr>
        <p:spPr>
          <a:xfrm>
            <a:off x="1143000" y="8210860"/>
            <a:ext cx="10867103" cy="5138802"/>
          </a:xfrm>
          <a:prstGeom prst="roundRect">
            <a:avLst>
              <a:gd name="adj" fmla="val 8316"/>
            </a:avLst>
          </a:prstGeom>
          <a:ln w="76200"/>
        </p:spPr>
        <p:style>
          <a:lnRef idx="2">
            <a:schemeClr val="accent6"/>
          </a:lnRef>
          <a:fillRef idx="1">
            <a:schemeClr val="lt1"/>
          </a:fillRef>
          <a:effectRef idx="0">
            <a:schemeClr val="accent6"/>
          </a:effectRef>
          <a:fontRef idx="minor">
            <a:schemeClr val="dk1"/>
          </a:fontRef>
        </p:style>
        <p:txBody>
          <a:bodyPr rtlCol="0" anchor="ctr"/>
          <a:lstStyle/>
          <a:p>
            <a:pPr algn="ctr"/>
            <a:endParaRPr lang="ko-KR" altLang="en-US"/>
          </a:p>
        </p:txBody>
      </p:sp>
      <p:sp>
        <p:nvSpPr>
          <p:cNvPr id="4" name="직사각형 3">
            <a:extLst>
              <a:ext uri="{FF2B5EF4-FFF2-40B4-BE49-F238E27FC236}">
                <a16:creationId xmlns:a16="http://schemas.microsoft.com/office/drawing/2014/main" id="{895B6F0B-0B12-37DF-B480-1A91A75B19A9}"/>
              </a:ext>
            </a:extLst>
          </p:cNvPr>
          <p:cNvSpPr/>
          <p:nvPr/>
        </p:nvSpPr>
        <p:spPr>
          <a:xfrm>
            <a:off x="0" y="0"/>
            <a:ext cx="821042" cy="13716000"/>
          </a:xfrm>
          <a:prstGeom prst="rect">
            <a:avLst/>
          </a:prstGeom>
          <a:solidFill>
            <a:srgbClr val="F4E0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E490FAEC-8BB9-95F8-B087-8EDFDB214677}"/>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936C8969-43E2-DD58-FFB7-499DDAEADB8F}"/>
              </a:ext>
            </a:extLst>
          </p:cNvPr>
          <p:cNvSpPr txBox="1"/>
          <p:nvPr/>
        </p:nvSpPr>
        <p:spPr>
          <a:xfrm>
            <a:off x="1600200" y="609600"/>
            <a:ext cx="13182600" cy="990600"/>
          </a:xfrm>
          <a:prstGeom prst="rect">
            <a:avLst/>
          </a:prstGeom>
        </p:spPr>
        <p:txBody>
          <a:bodyPr lIns="0" tIns="101600" rIns="0" bIns="0" rtlCol="0" anchor="t"/>
          <a:lstStyle/>
          <a:p>
            <a:pPr lvl="0" algn="l">
              <a:lnSpc>
                <a:spcPct val="99600"/>
              </a:lnSpc>
            </a:pPr>
            <a:r>
              <a:rPr lang="en-US" sz="6000" b="1" dirty="0">
                <a:solidFill>
                  <a:srgbClr val="000000"/>
                </a:solidFill>
                <a:latin typeface="Arial" panose="020B0604020202020204" pitchFamily="34" charset="0"/>
                <a:cs typeface="Arial" panose="020B0604020202020204" pitchFamily="34" charset="0"/>
              </a:rPr>
              <a:t>Velocity</a:t>
            </a:r>
            <a:r>
              <a:rPr lang="ko-KR" altLang="en-US" sz="6000" b="1" dirty="0">
                <a:solidFill>
                  <a:srgbClr val="000000"/>
                </a:solidFill>
                <a:latin typeface="Arial" panose="020B0604020202020204" pitchFamily="34" charset="0"/>
                <a:cs typeface="Arial" panose="020B0604020202020204" pitchFamily="34" charset="0"/>
              </a:rPr>
              <a:t> </a:t>
            </a:r>
            <a:r>
              <a:rPr lang="en-US" altLang="ko-KR" sz="6000" b="1" dirty="0">
                <a:solidFill>
                  <a:srgbClr val="000000"/>
                </a:solidFill>
                <a:latin typeface="Arial" panose="020B0604020202020204" pitchFamily="34" charset="0"/>
                <a:cs typeface="Arial" panose="020B0604020202020204" pitchFamily="34" charset="0"/>
              </a:rPr>
              <a:t>Control (</a:t>
            </a:r>
            <a:r>
              <a:rPr lang="ko-KR" altLang="en-US" sz="6000" b="1" dirty="0">
                <a:solidFill>
                  <a:srgbClr val="000000"/>
                </a:solidFill>
                <a:latin typeface="Arial" panose="020B0604020202020204" pitchFamily="34" charset="0"/>
                <a:cs typeface="Arial" panose="020B0604020202020204" pitchFamily="34" charset="0"/>
              </a:rPr>
              <a:t>속도 제어</a:t>
            </a:r>
            <a:r>
              <a:rPr lang="en-US" altLang="ko-KR" sz="6000" b="1" dirty="0">
                <a:solidFill>
                  <a:srgbClr val="000000"/>
                </a:solidFill>
                <a:latin typeface="Arial" panose="020B0604020202020204" pitchFamily="34" charset="0"/>
                <a:cs typeface="Arial" panose="020B0604020202020204" pitchFamily="34" charset="0"/>
              </a:rPr>
              <a:t>)</a:t>
            </a:r>
            <a:endParaRPr lang="en" sz="6000" b="1" i="0" u="none" strike="noStrike" dirty="0">
              <a:solidFill>
                <a:srgbClr val="00000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784F1304-6A10-FDA1-E76E-CF8B07341E9F}"/>
              </a:ext>
            </a:extLst>
          </p:cNvPr>
          <p:cNvSpPr txBox="1"/>
          <p:nvPr/>
        </p:nvSpPr>
        <p:spPr>
          <a:xfrm>
            <a:off x="2086897" y="2244213"/>
            <a:ext cx="21154103" cy="6645152"/>
          </a:xfrm>
          <a:prstGeom prst="rect">
            <a:avLst/>
          </a:prstGeom>
          <a:noFill/>
        </p:spPr>
        <p:txBody>
          <a:bodyPr wrap="square">
            <a:spAutoFit/>
          </a:bodyPr>
          <a:lstStyle/>
          <a:p>
            <a:pPr marL="457200" indent="-457200">
              <a:lnSpc>
                <a:spcPct val="150000"/>
              </a:lnSpc>
              <a:buFont typeface="Arial" panose="020B0604020202020204" pitchFamily="34" charset="0"/>
              <a:buChar char="•"/>
            </a:pPr>
            <a:r>
              <a:rPr lang="ko-KR" altLang="en-US" sz="3200" dirty="0"/>
              <a:t>로봇의 상태      는       로 표현된다</a:t>
            </a:r>
            <a:endParaRPr lang="en-US" altLang="ko-KR" sz="3200" dirty="0"/>
          </a:p>
          <a:p>
            <a:pPr marL="457200" indent="-457200">
              <a:lnSpc>
                <a:spcPct val="150000"/>
              </a:lnSpc>
              <a:buFont typeface="Arial" panose="020B0604020202020204" pitchFamily="34" charset="0"/>
              <a:buChar char="•"/>
            </a:pPr>
            <a:r>
              <a:rPr lang="ko-KR" altLang="en-US" sz="3200" dirty="0">
                <a:latin typeface="+mn-ea"/>
              </a:rPr>
              <a:t>제어 입력</a:t>
            </a:r>
            <a:r>
              <a:rPr lang="en-US" altLang="ko-KR" sz="3200" dirty="0">
                <a:latin typeface="+mn-ea"/>
              </a:rPr>
              <a:t>    </a:t>
            </a:r>
            <a:r>
              <a:rPr lang="ko-KR" altLang="en-US" sz="3200" dirty="0">
                <a:latin typeface="+mn-ea"/>
              </a:rPr>
              <a:t>는 로봇 관절의 속도      로 표기</a:t>
            </a:r>
            <a:endParaRPr lang="en-US" altLang="ko-KR" sz="3200" dirty="0">
              <a:latin typeface="+mn-ea"/>
            </a:endParaRPr>
          </a:p>
          <a:p>
            <a:pPr marL="457200" indent="-457200">
              <a:lnSpc>
                <a:spcPct val="150000"/>
              </a:lnSpc>
              <a:buFont typeface="Arial" panose="020B0604020202020204" pitchFamily="34" charset="0"/>
              <a:buChar char="•"/>
            </a:pPr>
            <a:endParaRPr lang="en-US" altLang="ko-KR" sz="3200" dirty="0">
              <a:latin typeface="+mn-ea"/>
            </a:endParaRPr>
          </a:p>
          <a:p>
            <a:pPr marL="457200" indent="-457200">
              <a:lnSpc>
                <a:spcPct val="150000"/>
              </a:lnSpc>
              <a:buFont typeface="Arial" panose="020B0604020202020204" pitchFamily="34" charset="0"/>
              <a:buChar char="•"/>
            </a:pPr>
            <a:endParaRPr lang="en-US" altLang="ko-KR" sz="3200" dirty="0">
              <a:latin typeface="+mn-ea"/>
            </a:endParaRPr>
          </a:p>
          <a:p>
            <a:pPr marL="457200" indent="-457200">
              <a:lnSpc>
                <a:spcPct val="150000"/>
              </a:lnSpc>
              <a:buFont typeface="Arial" panose="020B0604020202020204" pitchFamily="34" charset="0"/>
              <a:buChar char="•"/>
            </a:pPr>
            <a:endParaRPr lang="en-US" altLang="ko-KR" sz="3200" dirty="0">
              <a:latin typeface="+mn-ea"/>
            </a:endParaRPr>
          </a:p>
          <a:p>
            <a:pPr marL="457200" indent="-457200">
              <a:lnSpc>
                <a:spcPct val="150000"/>
              </a:lnSpc>
              <a:buFont typeface="Arial" panose="020B0604020202020204" pitchFamily="34" charset="0"/>
              <a:buChar char="•"/>
            </a:pPr>
            <a:endParaRPr lang="en-US" altLang="ko-KR" sz="3200" dirty="0">
              <a:latin typeface="+mn-ea"/>
            </a:endParaRPr>
          </a:p>
          <a:p>
            <a:pPr marL="457200" indent="-457200">
              <a:lnSpc>
                <a:spcPct val="150000"/>
              </a:lnSpc>
              <a:buFont typeface="Arial" panose="020B0604020202020204" pitchFamily="34" charset="0"/>
              <a:buChar char="•"/>
            </a:pPr>
            <a:r>
              <a:rPr lang="ko-KR" altLang="en-US" sz="3200" dirty="0">
                <a:latin typeface="+mn-ea"/>
              </a:rPr>
              <a:t>    </a:t>
            </a:r>
            <a:r>
              <a:rPr lang="ko-KR" altLang="en-US" sz="3200" dirty="0" err="1">
                <a:latin typeface="+mn-ea"/>
              </a:rPr>
              <a:t>를</a:t>
            </a:r>
            <a:r>
              <a:rPr lang="ko-KR" altLang="en-US" sz="3200" dirty="0">
                <a:latin typeface="+mn-ea"/>
              </a:rPr>
              <a:t> 적분하면    </a:t>
            </a:r>
            <a:r>
              <a:rPr lang="ko-KR" altLang="en-US" sz="3200" dirty="0" err="1">
                <a:latin typeface="+mn-ea"/>
              </a:rPr>
              <a:t>를</a:t>
            </a:r>
            <a:r>
              <a:rPr lang="ko-KR" altLang="en-US" sz="3200" dirty="0">
                <a:latin typeface="+mn-ea"/>
              </a:rPr>
              <a:t> 알 수 있기 때문에 단순 적분기에 해당</a:t>
            </a:r>
            <a:endParaRPr lang="en-US" altLang="ko-KR" sz="3200" dirty="0">
              <a:latin typeface="+mn-ea"/>
            </a:endParaRPr>
          </a:p>
          <a:p>
            <a:pPr marL="457200" indent="-457200">
              <a:lnSpc>
                <a:spcPct val="150000"/>
              </a:lnSpc>
              <a:buFont typeface="Arial" panose="020B0604020202020204" pitchFamily="34" charset="0"/>
              <a:buChar char="•"/>
            </a:pPr>
            <a:endParaRPr lang="en-US" altLang="ko-KR" sz="3200" dirty="0">
              <a:latin typeface="+mn-ea"/>
            </a:endParaRPr>
          </a:p>
          <a:p>
            <a:pPr marL="457200" indent="-457200">
              <a:lnSpc>
                <a:spcPct val="150000"/>
              </a:lnSpc>
              <a:buFont typeface="Arial" panose="020B0604020202020204" pitchFamily="34" charset="0"/>
              <a:buChar char="•"/>
            </a:pPr>
            <a:endParaRPr lang="en-US" altLang="ko-KR" sz="3200" dirty="0">
              <a:latin typeface="+mn-ea"/>
            </a:endParaRPr>
          </a:p>
        </p:txBody>
      </p:sp>
      <p:pic>
        <p:nvPicPr>
          <p:cNvPr id="13" name="그림 12" descr="\documentclass{article}&#10;\usepackage{amsmath}&#10;\pagestyle{empty}&#10;\begin{document}&#10;&#10;&#10;$&#10;\mathbf{x}&#10;$&#10;&#10;\end{document}" title="IguanaTex Bitmap Display">
            <a:extLst>
              <a:ext uri="{FF2B5EF4-FFF2-40B4-BE49-F238E27FC236}">
                <a16:creationId xmlns:a16="http://schemas.microsoft.com/office/drawing/2014/main" id="{40C199B8-DE68-6E38-2D3B-F3970CEA4C38}"/>
              </a:ext>
            </a:extLst>
          </p:cNvPr>
          <p:cNvPicPr>
            <a:picLocks noChangeAspect="1"/>
          </p:cNvPicPr>
          <p:nvPr>
            <p:custDataLst>
              <p:tags r:id="rId1"/>
            </p:custDataLst>
          </p:nvPr>
        </p:nvPicPr>
        <p:blipFill>
          <a:blip r:embed="rId11" cstate="print">
            <a:extLst>
              <a:ext uri="{28A0092B-C50C-407E-A947-70E740481C1C}">
                <a14:useLocalDpi xmlns:a14="http://schemas.microsoft.com/office/drawing/2010/main" val="0"/>
              </a:ext>
            </a:extLst>
          </a:blip>
          <a:stretch>
            <a:fillRect/>
          </a:stretch>
        </p:blipFill>
        <p:spPr>
          <a:xfrm>
            <a:off x="4953000" y="2590800"/>
            <a:ext cx="275048" cy="214248"/>
          </a:xfrm>
          <a:prstGeom prst="rect">
            <a:avLst/>
          </a:prstGeom>
        </p:spPr>
      </p:pic>
      <p:pic>
        <p:nvPicPr>
          <p:cNvPr id="18" name="그림 17" descr="\documentclass{article}&#10;\usepackage{amsmath}&#10;\pagestyle{empty}&#10;\begin{document}&#10;&#10;&#10;$&#10;\mathbf{u}&#10;$&#10;&#10;\end{document}" title="IguanaTex Bitmap Display">
            <a:extLst>
              <a:ext uri="{FF2B5EF4-FFF2-40B4-BE49-F238E27FC236}">
                <a16:creationId xmlns:a16="http://schemas.microsoft.com/office/drawing/2014/main" id="{296CA231-EE1F-CF43-0570-43DF24D23BCD}"/>
              </a:ext>
            </a:extLst>
          </p:cNvPr>
          <p:cNvPicPr>
            <a:picLocks noChangeAspect="1"/>
          </p:cNvPicPr>
          <p:nvPr>
            <p:custDataLst>
              <p:tags r:id="rId2"/>
            </p:custDataLst>
          </p:nvPr>
        </p:nvPicPr>
        <p:blipFill>
          <a:blip r:embed="rId12" cstate="print">
            <a:extLst>
              <a:ext uri="{28A0092B-C50C-407E-A947-70E740481C1C}">
                <a14:useLocalDpi xmlns:a14="http://schemas.microsoft.com/office/drawing/2010/main" val="0"/>
              </a:ext>
            </a:extLst>
          </a:blip>
          <a:stretch>
            <a:fillRect/>
          </a:stretch>
        </p:blipFill>
        <p:spPr>
          <a:xfrm>
            <a:off x="2819400" y="7010400"/>
            <a:ext cx="277943" cy="220038"/>
          </a:xfrm>
          <a:prstGeom prst="rect">
            <a:avLst/>
          </a:prstGeom>
        </p:spPr>
      </p:pic>
      <p:pic>
        <p:nvPicPr>
          <p:cNvPr id="10" name="그림 9" descr="\documentclass{article}&#10;\usepackage{amsmath}&#10;\pagestyle{empty}&#10;\begin{document}&#10;&#10;&#10;$&#10;\mathbf{v}_{q}&#10;$&#10;&#10;\end{document}" title="IguanaTex Bitmap Display">
            <a:extLst>
              <a:ext uri="{FF2B5EF4-FFF2-40B4-BE49-F238E27FC236}">
                <a16:creationId xmlns:a16="http://schemas.microsoft.com/office/drawing/2014/main" id="{9B4FF3B8-6BAE-D62B-9A9D-1907CD004C84}"/>
              </a:ext>
            </a:extLst>
          </p:cNvPr>
          <p:cNvPicPr>
            <a:picLocks noChangeAspect="1"/>
          </p:cNvPicPr>
          <p:nvPr>
            <p:custDataLst>
              <p:tags r:id="rId3"/>
            </p:custDataLst>
          </p:nvPr>
        </p:nvPicPr>
        <p:blipFill>
          <a:blip r:embed="rId13" cstate="print">
            <a:extLst>
              <a:ext uri="{28A0092B-C50C-407E-A947-70E740481C1C}">
                <a14:useLocalDpi xmlns:a14="http://schemas.microsoft.com/office/drawing/2010/main" val="0"/>
              </a:ext>
            </a:extLst>
          </a:blip>
          <a:stretch>
            <a:fillRect/>
          </a:stretch>
        </p:blipFill>
        <p:spPr>
          <a:xfrm>
            <a:off x="8839200" y="3267619"/>
            <a:ext cx="502400" cy="390400"/>
          </a:xfrm>
          <a:prstGeom prst="rect">
            <a:avLst/>
          </a:prstGeom>
        </p:spPr>
      </p:pic>
      <p:pic>
        <p:nvPicPr>
          <p:cNvPr id="16" name="그림 15" descr="\documentclass{article}&#10;\usepackage{amsmath}&#10;\pagestyle{empty}&#10;\begin{document}&#10;&#10;&#10;$&#10;q = \begin{bmatrix} \theta_1 \\ \theta_2 \end{bmatrix}&#10;$&#10;&#10;\end{document}" title="IguanaTex Bitmap Display">
            <a:extLst>
              <a:ext uri="{FF2B5EF4-FFF2-40B4-BE49-F238E27FC236}">
                <a16:creationId xmlns:a16="http://schemas.microsoft.com/office/drawing/2014/main" id="{298CF1D7-CF60-BAE2-2C31-67E6A7D369CF}"/>
              </a:ext>
            </a:extLst>
          </p:cNvPr>
          <p:cNvPicPr>
            <a:picLocks noChangeAspect="1"/>
          </p:cNvPicPr>
          <p:nvPr>
            <p:custDataLst>
              <p:tags r:id="rId4"/>
            </p:custDataLst>
          </p:nvPr>
        </p:nvPicPr>
        <p:blipFill>
          <a:blip r:embed="rId14" cstate="print">
            <a:extLst>
              <a:ext uri="{28A0092B-C50C-407E-A947-70E740481C1C}">
                <a14:useLocalDpi xmlns:a14="http://schemas.microsoft.com/office/drawing/2010/main" val="0"/>
              </a:ext>
            </a:extLst>
          </a:blip>
          <a:stretch>
            <a:fillRect/>
          </a:stretch>
        </p:blipFill>
        <p:spPr>
          <a:xfrm>
            <a:off x="12758966" y="4038600"/>
            <a:ext cx="2041731" cy="1399744"/>
          </a:xfrm>
          <a:prstGeom prst="rect">
            <a:avLst/>
          </a:prstGeom>
        </p:spPr>
      </p:pic>
      <p:pic>
        <p:nvPicPr>
          <p:cNvPr id="19" name="그림 18" descr="\documentclass{article}&#10;\usepackage{amsmath}&#10;\pagestyle{empty}&#10;\begin{document}&#10;&#10;&#10;$&#10;\mathbf{u} = \mathbf{v}_{q} = \dot{q}&#10;$&#10;&#10;\end{document}" title="IguanaTex Bitmap Display">
            <a:extLst>
              <a:ext uri="{FF2B5EF4-FFF2-40B4-BE49-F238E27FC236}">
                <a16:creationId xmlns:a16="http://schemas.microsoft.com/office/drawing/2014/main" id="{CA962874-2465-A58E-79EE-2D41DE3C424D}"/>
              </a:ext>
            </a:extLst>
          </p:cNvPr>
          <p:cNvPicPr>
            <a:picLocks noChangeAspect="1"/>
          </p:cNvPicPr>
          <p:nvPr>
            <p:custDataLst>
              <p:tags r:id="rId5"/>
            </p:custDataLst>
          </p:nvPr>
        </p:nvPicPr>
        <p:blipFill>
          <a:blip r:embed="rId15" cstate="print">
            <a:extLst>
              <a:ext uri="{28A0092B-C50C-407E-A947-70E740481C1C}">
                <a14:useLocalDpi xmlns:a14="http://schemas.microsoft.com/office/drawing/2010/main" val="0"/>
              </a:ext>
            </a:extLst>
          </a:blip>
          <a:stretch>
            <a:fillRect/>
          </a:stretch>
        </p:blipFill>
        <p:spPr>
          <a:xfrm>
            <a:off x="8832669" y="4546643"/>
            <a:ext cx="2651733" cy="533029"/>
          </a:xfrm>
          <a:prstGeom prst="rect">
            <a:avLst/>
          </a:prstGeom>
        </p:spPr>
      </p:pic>
      <p:pic>
        <p:nvPicPr>
          <p:cNvPr id="21" name="그림 20" descr="\documentclass{article}&#10;\usepackage{amsmath}&#10;\pagestyle{empty}&#10;\begin{document}&#10;&#10;&#10;$&#10;q&#10;$&#10;&#10;\end{document}" title="IguanaTex Bitmap Display">
            <a:extLst>
              <a:ext uri="{FF2B5EF4-FFF2-40B4-BE49-F238E27FC236}">
                <a16:creationId xmlns:a16="http://schemas.microsoft.com/office/drawing/2014/main" id="{9615CD0A-CC8E-F49C-5286-4AE09E6D0CD8}"/>
              </a:ext>
            </a:extLst>
          </p:cNvPr>
          <p:cNvPicPr>
            <a:picLocks noChangeAspect="1"/>
          </p:cNvPicPr>
          <p:nvPr>
            <p:custDataLst>
              <p:tags r:id="rId6"/>
            </p:custDataLst>
          </p:nvPr>
        </p:nvPicPr>
        <p:blipFill>
          <a:blip r:embed="rId16" cstate="print">
            <a:extLst>
              <a:ext uri="{28A0092B-C50C-407E-A947-70E740481C1C}">
                <a14:useLocalDpi xmlns:a14="http://schemas.microsoft.com/office/drawing/2010/main" val="0"/>
              </a:ext>
            </a:extLst>
          </a:blip>
          <a:stretch>
            <a:fillRect/>
          </a:stretch>
        </p:blipFill>
        <p:spPr>
          <a:xfrm>
            <a:off x="6019800" y="2514600"/>
            <a:ext cx="220800" cy="336000"/>
          </a:xfrm>
          <a:prstGeom prst="rect">
            <a:avLst/>
          </a:prstGeom>
        </p:spPr>
      </p:pic>
      <p:pic>
        <p:nvPicPr>
          <p:cNvPr id="22" name="그림 21" descr="\documentclass{article}&#10;\usepackage{amsmath}&#10;\pagestyle{empty}&#10;\begin{document}&#10;&#10;&#10;$&#10;q&#10;$&#10;&#10;\end{document}" title="IguanaTex Bitmap Display">
            <a:extLst>
              <a:ext uri="{FF2B5EF4-FFF2-40B4-BE49-F238E27FC236}">
                <a16:creationId xmlns:a16="http://schemas.microsoft.com/office/drawing/2014/main" id="{CFA6E3D6-CD5D-0C10-4B4D-55C6B0B86115}"/>
              </a:ext>
            </a:extLst>
          </p:cNvPr>
          <p:cNvPicPr>
            <a:picLocks noChangeAspect="1"/>
          </p:cNvPicPr>
          <p:nvPr>
            <p:custDataLst>
              <p:tags r:id="rId7"/>
            </p:custDataLst>
          </p:nvPr>
        </p:nvPicPr>
        <p:blipFill>
          <a:blip r:embed="rId16" cstate="print">
            <a:extLst>
              <a:ext uri="{28A0092B-C50C-407E-A947-70E740481C1C}">
                <a14:useLocalDpi xmlns:a14="http://schemas.microsoft.com/office/drawing/2010/main" val="0"/>
              </a:ext>
            </a:extLst>
          </a:blip>
          <a:stretch>
            <a:fillRect/>
          </a:stretch>
        </p:blipFill>
        <p:spPr>
          <a:xfrm>
            <a:off x="5638800" y="6935804"/>
            <a:ext cx="220800" cy="336000"/>
          </a:xfrm>
          <a:prstGeom prst="rect">
            <a:avLst/>
          </a:prstGeom>
        </p:spPr>
      </p:pic>
      <p:sp>
        <p:nvSpPr>
          <p:cNvPr id="24" name="TextBox 23">
            <a:extLst>
              <a:ext uri="{FF2B5EF4-FFF2-40B4-BE49-F238E27FC236}">
                <a16:creationId xmlns:a16="http://schemas.microsoft.com/office/drawing/2014/main" id="{1F2571B2-BBD2-7F69-FF35-773CAE6F10C4}"/>
              </a:ext>
            </a:extLst>
          </p:cNvPr>
          <p:cNvSpPr txBox="1"/>
          <p:nvPr/>
        </p:nvSpPr>
        <p:spPr>
          <a:xfrm>
            <a:off x="1630680" y="8458556"/>
            <a:ext cx="10104120" cy="4429161"/>
          </a:xfrm>
          <a:prstGeom prst="rect">
            <a:avLst/>
          </a:prstGeom>
          <a:noFill/>
        </p:spPr>
        <p:txBody>
          <a:bodyPr wrap="square">
            <a:spAutoFit/>
          </a:bodyPr>
          <a:lstStyle/>
          <a:p>
            <a:pPr>
              <a:lnSpc>
                <a:spcPct val="150000"/>
              </a:lnSpc>
            </a:pPr>
            <a:r>
              <a:rPr lang="ko-KR" altLang="en-US" sz="3200" b="1" dirty="0">
                <a:solidFill>
                  <a:prstClr val="black"/>
                </a:solidFill>
              </a:rPr>
              <a:t>유압 </a:t>
            </a:r>
            <a:r>
              <a:rPr lang="ko-KR" altLang="en-US" sz="3200" b="1" dirty="0" err="1">
                <a:solidFill>
                  <a:prstClr val="black"/>
                </a:solidFill>
              </a:rPr>
              <a:t>액추에이터</a:t>
            </a:r>
            <a:r>
              <a:rPr lang="ko-KR" altLang="en-US" sz="3200" b="1" dirty="0">
                <a:solidFill>
                  <a:prstClr val="black"/>
                </a:solidFill>
              </a:rPr>
              <a:t> </a:t>
            </a:r>
            <a:r>
              <a:rPr lang="en-US" altLang="ko-KR" sz="3200" b="1" dirty="0">
                <a:solidFill>
                  <a:prstClr val="black"/>
                </a:solidFill>
              </a:rPr>
              <a:t>:</a:t>
            </a:r>
            <a:endParaRPr lang="en-US" altLang="ko-KR" sz="3200" dirty="0">
              <a:latin typeface="+mn-ea"/>
            </a:endParaRPr>
          </a:p>
          <a:p>
            <a:pPr marL="457200" indent="-457200">
              <a:lnSpc>
                <a:spcPct val="150000"/>
              </a:lnSpc>
              <a:buFont typeface="Arial" panose="020B0604020202020204" pitchFamily="34" charset="0"/>
              <a:buChar char="•"/>
            </a:pPr>
            <a:r>
              <a:rPr lang="ko-KR" altLang="en-US" sz="3200" dirty="0">
                <a:latin typeface="+mn-ea"/>
              </a:rPr>
              <a:t>유량 제어를 통한 빠른 속도 응답</a:t>
            </a:r>
          </a:p>
          <a:p>
            <a:pPr marL="457200" indent="-457200">
              <a:lnSpc>
                <a:spcPct val="150000"/>
              </a:lnSpc>
              <a:buFont typeface="Arial" panose="020B0604020202020204" pitchFamily="34" charset="0"/>
              <a:buChar char="•"/>
            </a:pPr>
            <a:r>
              <a:rPr lang="ko-KR" altLang="en-US" sz="3200" dirty="0">
                <a:latin typeface="+mn-ea"/>
              </a:rPr>
              <a:t>큰 관성 부하에서도 속도 명령 추종이 우수</a:t>
            </a:r>
          </a:p>
          <a:p>
            <a:pPr marL="457200" indent="-457200">
              <a:lnSpc>
                <a:spcPct val="150000"/>
              </a:lnSpc>
              <a:buFont typeface="Arial" panose="020B0604020202020204" pitchFamily="34" charset="0"/>
              <a:buChar char="•"/>
            </a:pPr>
            <a:r>
              <a:rPr lang="ko-KR" altLang="en-US" sz="3200" dirty="0" err="1">
                <a:latin typeface="+mn-ea"/>
              </a:rPr>
              <a:t>외란에도</a:t>
            </a:r>
            <a:r>
              <a:rPr lang="ko-KR" altLang="en-US" sz="3200" dirty="0">
                <a:latin typeface="+mn-ea"/>
              </a:rPr>
              <a:t> 속도 유지 능력↑ </a:t>
            </a:r>
            <a:endParaRPr lang="en-US" altLang="ko-KR" sz="3200" dirty="0">
              <a:latin typeface="+mn-ea"/>
            </a:endParaRPr>
          </a:p>
          <a:p>
            <a:pPr marL="457200" indent="-457200">
              <a:lnSpc>
                <a:spcPct val="150000"/>
              </a:lnSpc>
              <a:buFont typeface="Arial" panose="020B0604020202020204" pitchFamily="34" charset="0"/>
              <a:buChar char="•"/>
            </a:pPr>
            <a:r>
              <a:rPr lang="ko-KR" altLang="en-US" sz="3200" dirty="0">
                <a:latin typeface="+mn-ea"/>
              </a:rPr>
              <a:t>유압은 본질적으로 유량</a:t>
            </a:r>
            <a:r>
              <a:rPr lang="en-US" altLang="ko-KR" sz="3200" dirty="0">
                <a:latin typeface="+mn-ea"/>
              </a:rPr>
              <a:t>(=</a:t>
            </a:r>
            <a:r>
              <a:rPr lang="ko-KR" altLang="en-US" sz="3200" dirty="0">
                <a:latin typeface="+mn-ea"/>
              </a:rPr>
              <a:t>속도</a:t>
            </a:r>
            <a:r>
              <a:rPr lang="en-US" altLang="ko-KR" sz="3200" dirty="0">
                <a:latin typeface="+mn-ea"/>
              </a:rPr>
              <a:t>)</a:t>
            </a:r>
            <a:r>
              <a:rPr lang="ko-KR" altLang="en-US" sz="3200" dirty="0">
                <a:latin typeface="+mn-ea"/>
              </a:rPr>
              <a:t>에 민감해 속도 제어 특성이 강함</a:t>
            </a:r>
            <a:endParaRPr lang="en-US" altLang="ko-KR" sz="3200" dirty="0">
              <a:latin typeface="+mn-ea"/>
            </a:endParaRPr>
          </a:p>
        </p:txBody>
      </p:sp>
      <p:sp>
        <p:nvSpPr>
          <p:cNvPr id="26" name="사각형: 둥근 모서리 25">
            <a:extLst>
              <a:ext uri="{FF2B5EF4-FFF2-40B4-BE49-F238E27FC236}">
                <a16:creationId xmlns:a16="http://schemas.microsoft.com/office/drawing/2014/main" id="{8ECFDF1B-8D75-61D4-15B8-423533FBDBAD}"/>
              </a:ext>
            </a:extLst>
          </p:cNvPr>
          <p:cNvSpPr/>
          <p:nvPr/>
        </p:nvSpPr>
        <p:spPr>
          <a:xfrm>
            <a:off x="12578513" y="8204272"/>
            <a:ext cx="10867103" cy="5138802"/>
          </a:xfrm>
          <a:prstGeom prst="roundRect">
            <a:avLst>
              <a:gd name="adj" fmla="val 8316"/>
            </a:avLst>
          </a:prstGeom>
          <a:ln w="76200"/>
        </p:spPr>
        <p:style>
          <a:lnRef idx="2">
            <a:schemeClr val="accent6"/>
          </a:lnRef>
          <a:fillRef idx="1">
            <a:schemeClr val="lt1"/>
          </a:fillRef>
          <a:effectRef idx="0">
            <a:schemeClr val="accent6"/>
          </a:effectRef>
          <a:fontRef idx="minor">
            <a:schemeClr val="dk1"/>
          </a:fontRef>
        </p:style>
        <p:txBody>
          <a:bodyPr rtlCol="0" anchor="ctr"/>
          <a:lstStyle/>
          <a:p>
            <a:pPr algn="ctr"/>
            <a:endParaRPr lang="ko-KR" altLang="en-US"/>
          </a:p>
        </p:txBody>
      </p:sp>
      <p:sp>
        <p:nvSpPr>
          <p:cNvPr id="27" name="TextBox 26">
            <a:extLst>
              <a:ext uri="{FF2B5EF4-FFF2-40B4-BE49-F238E27FC236}">
                <a16:creationId xmlns:a16="http://schemas.microsoft.com/office/drawing/2014/main" id="{B52A3E2C-DB59-286F-448A-D4AA70553773}"/>
              </a:ext>
            </a:extLst>
          </p:cNvPr>
          <p:cNvSpPr txBox="1"/>
          <p:nvPr/>
        </p:nvSpPr>
        <p:spPr>
          <a:xfrm>
            <a:off x="12767675" y="8451968"/>
            <a:ext cx="10104120" cy="4429161"/>
          </a:xfrm>
          <a:prstGeom prst="rect">
            <a:avLst/>
          </a:prstGeom>
          <a:noFill/>
        </p:spPr>
        <p:txBody>
          <a:bodyPr wrap="square">
            <a:spAutoFit/>
          </a:bodyPr>
          <a:lstStyle/>
          <a:p>
            <a:pPr>
              <a:lnSpc>
                <a:spcPct val="150000"/>
              </a:lnSpc>
            </a:pPr>
            <a:r>
              <a:rPr lang="ko-KR" altLang="en-US" sz="3200" b="1" dirty="0">
                <a:solidFill>
                  <a:prstClr val="black"/>
                </a:solidFill>
              </a:rPr>
              <a:t>일부 전기 모터 </a:t>
            </a:r>
            <a:endParaRPr lang="en-US" altLang="ko-KR" sz="3200" dirty="0">
              <a:latin typeface="+mn-ea"/>
            </a:endParaRPr>
          </a:p>
          <a:p>
            <a:pPr marL="457200" indent="-457200">
              <a:lnSpc>
                <a:spcPct val="150000"/>
              </a:lnSpc>
              <a:buFont typeface="Arial" panose="020B0604020202020204" pitchFamily="34" charset="0"/>
              <a:buChar char="•"/>
            </a:pPr>
            <a:r>
              <a:rPr lang="ko-KR" altLang="en-US" sz="3200" dirty="0">
                <a:latin typeface="+mn-ea"/>
              </a:rPr>
              <a:t>산업용 </a:t>
            </a:r>
            <a:r>
              <a:rPr lang="ko-KR" altLang="en-US" sz="3200" dirty="0" err="1">
                <a:latin typeface="+mn-ea"/>
              </a:rPr>
              <a:t>매니퓰레이터</a:t>
            </a:r>
            <a:endParaRPr lang="en-US" altLang="ko-KR" sz="3200" dirty="0">
              <a:latin typeface="+mn-ea"/>
            </a:endParaRPr>
          </a:p>
          <a:p>
            <a:pPr marL="457200" indent="-457200">
              <a:lnSpc>
                <a:spcPct val="150000"/>
              </a:lnSpc>
              <a:buFont typeface="Arial" panose="020B0604020202020204" pitchFamily="34" charset="0"/>
              <a:buChar char="•"/>
            </a:pPr>
            <a:r>
              <a:rPr lang="ko-KR" altLang="en-US" sz="3200" dirty="0">
                <a:latin typeface="+mn-ea"/>
              </a:rPr>
              <a:t>마찰</a:t>
            </a:r>
            <a:r>
              <a:rPr lang="en-US" altLang="ko-KR" sz="3200" dirty="0">
                <a:latin typeface="+mn-ea"/>
              </a:rPr>
              <a:t>/</a:t>
            </a:r>
            <a:r>
              <a:rPr lang="ko-KR" altLang="en-US" sz="3200" dirty="0">
                <a:latin typeface="+mn-ea"/>
              </a:rPr>
              <a:t>유연성 영향 작음</a:t>
            </a:r>
          </a:p>
          <a:p>
            <a:pPr>
              <a:lnSpc>
                <a:spcPct val="150000"/>
              </a:lnSpc>
            </a:pPr>
            <a:r>
              <a:rPr lang="ko-KR" altLang="en-US" sz="3200" dirty="0">
                <a:latin typeface="+mn-ea"/>
              </a:rPr>
              <a:t>     → </a:t>
            </a:r>
            <a:r>
              <a:rPr lang="ko-KR" altLang="en-US" sz="3200" dirty="0" err="1">
                <a:latin typeface="+mn-ea"/>
              </a:rPr>
              <a:t>속도원</a:t>
            </a:r>
            <a:r>
              <a:rPr lang="ko-KR" altLang="en-US" sz="3200" dirty="0">
                <a:latin typeface="+mn-ea"/>
              </a:rPr>
              <a:t> 근사 대체로 유효</a:t>
            </a:r>
          </a:p>
          <a:p>
            <a:pPr marL="457200" indent="-457200">
              <a:lnSpc>
                <a:spcPct val="150000"/>
              </a:lnSpc>
              <a:buFont typeface="Arial" panose="020B0604020202020204" pitchFamily="34" charset="0"/>
              <a:buChar char="•"/>
            </a:pPr>
            <a:r>
              <a:rPr lang="ko-KR" altLang="en-US" sz="3200" dirty="0">
                <a:latin typeface="+mn-ea"/>
              </a:rPr>
              <a:t>상호작용</a:t>
            </a:r>
            <a:r>
              <a:rPr lang="en-US" altLang="ko-KR" sz="3200" dirty="0">
                <a:latin typeface="+mn-ea"/>
              </a:rPr>
              <a:t>/</a:t>
            </a:r>
            <a:r>
              <a:rPr lang="ko-KR" altLang="en-US" sz="3200" dirty="0">
                <a:latin typeface="+mn-ea"/>
              </a:rPr>
              <a:t>충격</a:t>
            </a:r>
            <a:r>
              <a:rPr lang="en-US" altLang="ko-KR" sz="3200" dirty="0">
                <a:latin typeface="+mn-ea"/>
              </a:rPr>
              <a:t>/</a:t>
            </a:r>
            <a:r>
              <a:rPr lang="ko-KR" altLang="en-US" sz="3200" dirty="0">
                <a:latin typeface="+mn-ea"/>
              </a:rPr>
              <a:t>유연성이 크면 한계</a:t>
            </a:r>
          </a:p>
          <a:p>
            <a:pPr marL="457200" indent="-457200">
              <a:lnSpc>
                <a:spcPct val="150000"/>
              </a:lnSpc>
              <a:buFont typeface="Arial" panose="020B0604020202020204" pitchFamily="34" charset="0"/>
              <a:buChar char="•"/>
            </a:pPr>
            <a:r>
              <a:rPr lang="ko-KR" altLang="en-US" sz="3200" dirty="0">
                <a:latin typeface="+mn-ea"/>
              </a:rPr>
              <a:t>공장 </a:t>
            </a:r>
            <a:r>
              <a:rPr lang="ko-KR" altLang="en-US" sz="3200" dirty="0" err="1">
                <a:latin typeface="+mn-ea"/>
              </a:rPr>
              <a:t>로봇팔처럼</a:t>
            </a:r>
            <a:r>
              <a:rPr lang="ko-KR" altLang="en-US" sz="3200" dirty="0">
                <a:latin typeface="+mn-ea"/>
              </a:rPr>
              <a:t> 안정된 환경에서 유리</a:t>
            </a:r>
            <a:endParaRPr lang="en-US" altLang="ko-KR" sz="3200" dirty="0">
              <a:latin typeface="+mn-ea"/>
            </a:endParaRPr>
          </a:p>
        </p:txBody>
      </p:sp>
      <p:pic>
        <p:nvPicPr>
          <p:cNvPr id="33" name="그림 32" descr="\documentclass{article}&#10;\usepackage{amsmath}&#10;\pagestyle{empty}&#10;\begin{document}&#10;&#10;&#10;$&#10;q = q(0) + \int \mathbf{u}&#10;$&#10;&#10;\end{document}" title="IguanaTex Bitmap Display">
            <a:extLst>
              <a:ext uri="{FF2B5EF4-FFF2-40B4-BE49-F238E27FC236}">
                <a16:creationId xmlns:a16="http://schemas.microsoft.com/office/drawing/2014/main" id="{E73E157B-5030-4BC8-DFAF-2AF57DF3429E}"/>
              </a:ext>
            </a:extLst>
          </p:cNvPr>
          <p:cNvPicPr>
            <a:picLocks noChangeAspect="1"/>
          </p:cNvPicPr>
          <p:nvPr>
            <p:custDataLst>
              <p:tags r:id="rId8"/>
            </p:custDataLst>
          </p:nvPr>
        </p:nvPicPr>
        <p:blipFill>
          <a:blip r:embed="rId17" cstate="print">
            <a:extLst>
              <a:ext uri="{28A0092B-C50C-407E-A947-70E740481C1C}">
                <a14:useLocalDpi xmlns:a14="http://schemas.microsoft.com/office/drawing/2010/main" val="0"/>
              </a:ext>
            </a:extLst>
          </a:blip>
          <a:stretch>
            <a:fillRect/>
          </a:stretch>
        </p:blipFill>
        <p:spPr>
          <a:xfrm>
            <a:off x="14020800" y="6716000"/>
            <a:ext cx="3302400" cy="588800"/>
          </a:xfrm>
          <a:prstGeom prst="rect">
            <a:avLst/>
          </a:prstGeom>
        </p:spPr>
      </p:pic>
      <p:pic>
        <p:nvPicPr>
          <p:cNvPr id="2" name="그림 1" descr="\documentclass{article}&#10;\usepackage{amsmath}&#10;\pagestyle{empty}&#10;\begin{document}&#10;&#10;&#10;$&#10;\mathbf{u} = \boldsymbol{\tau}&#10;$&#10;&#10;\end{document}" title="IguanaTex Bitmap Display">
            <a:extLst>
              <a:ext uri="{FF2B5EF4-FFF2-40B4-BE49-F238E27FC236}">
                <a16:creationId xmlns:a16="http://schemas.microsoft.com/office/drawing/2014/main" id="{E4573911-D3F3-8A05-139E-69FBA6054ACA}"/>
              </a:ext>
            </a:extLst>
          </p:cNvPr>
          <p:cNvPicPr>
            <a:picLocks noChangeAspect="1"/>
          </p:cNvPicPr>
          <p:nvPr>
            <p:custDataLst>
              <p:tags r:id="rId9"/>
            </p:custDataLst>
          </p:nvPr>
        </p:nvPicPr>
        <p:blipFill>
          <a:blip r:embed="rId18" cstate="print">
            <a:extLst>
              <a:ext uri="{28A0092B-C50C-407E-A947-70E740481C1C}">
                <a14:useLocalDpi xmlns:a14="http://schemas.microsoft.com/office/drawing/2010/main" val="0"/>
              </a:ext>
            </a:extLst>
          </a:blip>
          <a:srcRect l="-10618" t="-121636" r="80199" b="-50724"/>
          <a:stretch>
            <a:fillRect/>
          </a:stretch>
        </p:blipFill>
        <p:spPr>
          <a:xfrm>
            <a:off x="4475033" y="2966208"/>
            <a:ext cx="449392" cy="734174"/>
          </a:xfrm>
          <a:prstGeom prst="rect">
            <a:avLst/>
          </a:prstGeom>
        </p:spPr>
      </p:pic>
    </p:spTree>
    <p:extLst>
      <p:ext uri="{BB962C8B-B14F-4D97-AF65-F5344CB8AC3E}">
        <p14:creationId xmlns:p14="http://schemas.microsoft.com/office/powerpoint/2010/main" val="26268449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013BC-681C-7B3B-5721-F9D482C30554}"/>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85709B5B-E88E-C03E-9268-55A2AAEB959B}"/>
              </a:ext>
            </a:extLst>
          </p:cNvPr>
          <p:cNvSpPr/>
          <p:nvPr/>
        </p:nvSpPr>
        <p:spPr>
          <a:xfrm>
            <a:off x="0" y="0"/>
            <a:ext cx="821042" cy="13716000"/>
          </a:xfrm>
          <a:prstGeom prst="rect">
            <a:avLst/>
          </a:prstGeom>
          <a:solidFill>
            <a:srgbClr val="F4E0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C753905B-9C49-4352-F257-5493041D7325}"/>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4AFF26B4-9564-7DA7-709C-AEE0FF363A1D}"/>
              </a:ext>
            </a:extLst>
          </p:cNvPr>
          <p:cNvSpPr txBox="1"/>
          <p:nvPr/>
        </p:nvSpPr>
        <p:spPr>
          <a:xfrm>
            <a:off x="1600200" y="609600"/>
            <a:ext cx="13182600" cy="990600"/>
          </a:xfrm>
          <a:prstGeom prst="rect">
            <a:avLst/>
          </a:prstGeom>
        </p:spPr>
        <p:txBody>
          <a:bodyPr lIns="0" tIns="101600" rIns="0" bIns="0" rtlCol="0" anchor="t"/>
          <a:lstStyle/>
          <a:p>
            <a:pPr lvl="0" algn="l">
              <a:lnSpc>
                <a:spcPct val="99600"/>
              </a:lnSpc>
            </a:pPr>
            <a:r>
              <a:rPr lang="en-US" altLang="ko-KR" sz="6000" b="1" dirty="0">
                <a:solidFill>
                  <a:srgbClr val="000000"/>
                </a:solidFill>
                <a:latin typeface="Arial" panose="020B0604020202020204" pitchFamily="34" charset="0"/>
                <a:cs typeface="Arial" panose="020B0604020202020204" pitchFamily="34" charset="0"/>
              </a:rPr>
              <a:t>Acceleration</a:t>
            </a:r>
            <a:r>
              <a:rPr lang="ko-KR" altLang="en-US" sz="6000" b="1" dirty="0">
                <a:solidFill>
                  <a:srgbClr val="000000"/>
                </a:solidFill>
                <a:latin typeface="Arial" panose="020B0604020202020204" pitchFamily="34" charset="0"/>
                <a:cs typeface="Arial" panose="020B0604020202020204" pitchFamily="34" charset="0"/>
              </a:rPr>
              <a:t> </a:t>
            </a:r>
            <a:r>
              <a:rPr lang="en-US" altLang="ko-KR" sz="6000" b="1" dirty="0">
                <a:solidFill>
                  <a:srgbClr val="000000"/>
                </a:solidFill>
                <a:latin typeface="Arial" panose="020B0604020202020204" pitchFamily="34" charset="0"/>
                <a:cs typeface="Arial" panose="020B0604020202020204" pitchFamily="34" charset="0"/>
              </a:rPr>
              <a:t>Control (</a:t>
            </a:r>
            <a:r>
              <a:rPr lang="ko-KR" altLang="en-US" sz="6000" b="1" dirty="0">
                <a:solidFill>
                  <a:srgbClr val="000000"/>
                </a:solidFill>
                <a:latin typeface="Arial" panose="020B0604020202020204" pitchFamily="34" charset="0"/>
                <a:cs typeface="Arial" panose="020B0604020202020204" pitchFamily="34" charset="0"/>
              </a:rPr>
              <a:t>가속도 제어</a:t>
            </a:r>
            <a:r>
              <a:rPr lang="en-US" altLang="ko-KR" sz="6000" b="1" dirty="0">
                <a:solidFill>
                  <a:srgbClr val="000000"/>
                </a:solidFill>
                <a:latin typeface="Arial" panose="020B0604020202020204" pitchFamily="34" charset="0"/>
                <a:cs typeface="Arial" panose="020B0604020202020204" pitchFamily="34" charset="0"/>
              </a:rPr>
              <a:t>)</a:t>
            </a:r>
            <a:endParaRPr lang="en" sz="6000" b="1" i="0" u="none" strike="noStrike" dirty="0">
              <a:solidFill>
                <a:srgbClr val="00000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AD068330-DDE2-EB72-1BC3-E76BAD08B763}"/>
              </a:ext>
            </a:extLst>
          </p:cNvPr>
          <p:cNvSpPr txBox="1"/>
          <p:nvPr/>
        </p:nvSpPr>
        <p:spPr>
          <a:xfrm>
            <a:off x="2086897" y="2244213"/>
            <a:ext cx="21154103" cy="11077135"/>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altLang="ko-KR" sz="3200" dirty="0">
                <a:latin typeface="+mn-ea"/>
              </a:rPr>
              <a:t> </a:t>
            </a:r>
          </a:p>
          <a:p>
            <a:pPr marL="457200" indent="-457200">
              <a:lnSpc>
                <a:spcPct val="150000"/>
              </a:lnSpc>
              <a:buFont typeface="Arial" panose="020B0604020202020204" pitchFamily="34" charset="0"/>
              <a:buChar char="•"/>
            </a:pPr>
            <a:endParaRPr lang="en-US" altLang="ko-KR" sz="3200" dirty="0">
              <a:latin typeface="+mn-ea"/>
            </a:endParaRPr>
          </a:p>
          <a:p>
            <a:pPr marL="457200" indent="-457200">
              <a:lnSpc>
                <a:spcPct val="150000"/>
              </a:lnSpc>
              <a:buFont typeface="Arial" panose="020B0604020202020204" pitchFamily="34" charset="0"/>
              <a:buChar char="•"/>
            </a:pPr>
            <a:r>
              <a:rPr lang="en-US" altLang="ko-KR" sz="3200" dirty="0">
                <a:latin typeface="+mn-ea"/>
              </a:rPr>
              <a:t> </a:t>
            </a:r>
          </a:p>
          <a:p>
            <a:pPr marL="457200" indent="-457200">
              <a:lnSpc>
                <a:spcPct val="150000"/>
              </a:lnSpc>
              <a:buFont typeface="Arial" panose="020B0604020202020204" pitchFamily="34" charset="0"/>
              <a:buChar char="•"/>
            </a:pPr>
            <a:endParaRPr lang="en-US" altLang="ko-KR" sz="3200" dirty="0">
              <a:latin typeface="+mn-ea"/>
            </a:endParaRPr>
          </a:p>
          <a:p>
            <a:pPr marL="457200" indent="-457200">
              <a:lnSpc>
                <a:spcPct val="150000"/>
              </a:lnSpc>
              <a:buFont typeface="Arial" panose="020B0604020202020204" pitchFamily="34" charset="0"/>
              <a:buChar char="•"/>
            </a:pPr>
            <a:r>
              <a:rPr lang="en-US" altLang="ko-KR" sz="3200" dirty="0">
                <a:latin typeface="+mn-ea"/>
              </a:rPr>
              <a:t> </a:t>
            </a:r>
          </a:p>
          <a:p>
            <a:pPr marL="457200" indent="-457200">
              <a:lnSpc>
                <a:spcPct val="150000"/>
              </a:lnSpc>
              <a:buFont typeface="Arial" panose="020B0604020202020204" pitchFamily="34" charset="0"/>
              <a:buChar char="•"/>
            </a:pPr>
            <a:endParaRPr lang="en-US" altLang="ko-KR" sz="3200" dirty="0">
              <a:latin typeface="+mn-ea"/>
            </a:endParaRPr>
          </a:p>
          <a:p>
            <a:pPr marL="457200" indent="-457200">
              <a:lnSpc>
                <a:spcPct val="150000"/>
              </a:lnSpc>
              <a:buFont typeface="Arial" panose="020B0604020202020204" pitchFamily="34" charset="0"/>
              <a:buChar char="•"/>
            </a:pPr>
            <a:endParaRPr lang="en-US" altLang="ko-KR" sz="3200" dirty="0">
              <a:latin typeface="+mn-ea"/>
            </a:endParaRPr>
          </a:p>
          <a:p>
            <a:pPr marL="457200" indent="-457200">
              <a:lnSpc>
                <a:spcPct val="150000"/>
              </a:lnSpc>
              <a:buFont typeface="Arial" panose="020B0604020202020204" pitchFamily="34" charset="0"/>
              <a:buChar char="•"/>
            </a:pPr>
            <a:endParaRPr lang="en-US" altLang="ko-KR" sz="3200" dirty="0">
              <a:latin typeface="+mn-ea"/>
            </a:endParaRPr>
          </a:p>
          <a:p>
            <a:pPr marL="457200" indent="-457200">
              <a:lnSpc>
                <a:spcPct val="150000"/>
              </a:lnSpc>
              <a:buFont typeface="Arial" panose="020B0604020202020204" pitchFamily="34" charset="0"/>
              <a:buChar char="•"/>
            </a:pPr>
            <a:endParaRPr lang="en-US" altLang="ko-KR" sz="3200" dirty="0">
              <a:latin typeface="+mn-ea"/>
            </a:endParaRPr>
          </a:p>
          <a:p>
            <a:pPr marL="457200" indent="-457200">
              <a:lnSpc>
                <a:spcPct val="150000"/>
              </a:lnSpc>
              <a:buFont typeface="Arial" panose="020B0604020202020204" pitchFamily="34" charset="0"/>
              <a:buChar char="•"/>
            </a:pPr>
            <a:endParaRPr lang="en-US" altLang="ko-KR" sz="3200" dirty="0">
              <a:latin typeface="+mn-ea"/>
            </a:endParaRPr>
          </a:p>
          <a:p>
            <a:pPr marL="457200" indent="-457200">
              <a:lnSpc>
                <a:spcPct val="150000"/>
              </a:lnSpc>
              <a:buFont typeface="Arial" panose="020B0604020202020204" pitchFamily="34" charset="0"/>
              <a:buChar char="•"/>
            </a:pPr>
            <a:endParaRPr lang="en-US" altLang="ko-KR" sz="3200" dirty="0">
              <a:latin typeface="+mn-ea"/>
            </a:endParaRPr>
          </a:p>
          <a:p>
            <a:pPr marL="457200" indent="-457200">
              <a:lnSpc>
                <a:spcPct val="150000"/>
              </a:lnSpc>
              <a:buFont typeface="Arial" panose="020B0604020202020204" pitchFamily="34" charset="0"/>
              <a:buChar char="•"/>
            </a:pPr>
            <a:endParaRPr lang="en-US" altLang="ko-KR" sz="3200" dirty="0">
              <a:latin typeface="+mn-ea"/>
            </a:endParaRPr>
          </a:p>
          <a:p>
            <a:pPr marL="457200" indent="-457200">
              <a:lnSpc>
                <a:spcPct val="150000"/>
              </a:lnSpc>
              <a:buFont typeface="Arial" panose="020B0604020202020204" pitchFamily="34" charset="0"/>
              <a:buChar char="•"/>
            </a:pPr>
            <a:endParaRPr lang="en-US" altLang="ko-KR" sz="3200" dirty="0">
              <a:latin typeface="+mn-ea"/>
            </a:endParaRPr>
          </a:p>
          <a:p>
            <a:pPr>
              <a:lnSpc>
                <a:spcPct val="150000"/>
              </a:lnSpc>
            </a:pPr>
            <a:r>
              <a:rPr lang="ko-KR" altLang="en-US" sz="3200" b="1" dirty="0">
                <a:solidFill>
                  <a:prstClr val="black"/>
                </a:solidFill>
              </a:rPr>
              <a:t>전기 모터 </a:t>
            </a:r>
            <a:r>
              <a:rPr lang="en-US" altLang="ko-KR" sz="3200" b="1" dirty="0">
                <a:solidFill>
                  <a:prstClr val="black"/>
                </a:solidFill>
              </a:rPr>
              <a:t>:</a:t>
            </a:r>
            <a:endParaRPr lang="en-US" altLang="ko-KR" sz="3200" dirty="0">
              <a:latin typeface="+mn-ea"/>
            </a:endParaRPr>
          </a:p>
          <a:p>
            <a:pPr marL="457200" indent="-457200">
              <a:lnSpc>
                <a:spcPct val="150000"/>
              </a:lnSpc>
              <a:buFont typeface="Arial" panose="020B0604020202020204" pitchFamily="34" charset="0"/>
              <a:buChar char="•"/>
            </a:pPr>
            <a:r>
              <a:rPr lang="ko-KR" altLang="en-US" sz="3200" dirty="0">
                <a:latin typeface="+mn-ea"/>
              </a:rPr>
              <a:t>큰 </a:t>
            </a:r>
            <a:r>
              <a:rPr lang="ko-KR" altLang="en-US" sz="3200" dirty="0" err="1">
                <a:latin typeface="+mn-ea"/>
              </a:rPr>
              <a:t>접촉력이</a:t>
            </a:r>
            <a:r>
              <a:rPr lang="ko-KR" altLang="en-US" sz="3200" dirty="0">
                <a:latin typeface="+mn-ea"/>
              </a:rPr>
              <a:t> 없는 경우 제어가 잘 됨</a:t>
            </a:r>
            <a:endParaRPr lang="en-US" altLang="ko-KR" sz="3200" dirty="0">
              <a:latin typeface="+mn-ea"/>
            </a:endParaRPr>
          </a:p>
        </p:txBody>
      </p:sp>
      <p:sp>
        <p:nvSpPr>
          <p:cNvPr id="26" name="사각형: 둥근 모서리 25">
            <a:extLst>
              <a:ext uri="{FF2B5EF4-FFF2-40B4-BE49-F238E27FC236}">
                <a16:creationId xmlns:a16="http://schemas.microsoft.com/office/drawing/2014/main" id="{C5D1D596-5A74-00AA-5DD2-B773CCA7868E}"/>
              </a:ext>
            </a:extLst>
          </p:cNvPr>
          <p:cNvSpPr/>
          <p:nvPr/>
        </p:nvSpPr>
        <p:spPr>
          <a:xfrm>
            <a:off x="13716000" y="5809227"/>
            <a:ext cx="10257503" cy="7297173"/>
          </a:xfrm>
          <a:prstGeom prst="roundRect">
            <a:avLst>
              <a:gd name="adj" fmla="val 8316"/>
            </a:avLst>
          </a:prstGeom>
          <a:ln w="76200"/>
        </p:spPr>
        <p:style>
          <a:lnRef idx="2">
            <a:schemeClr val="accent6"/>
          </a:lnRef>
          <a:fillRef idx="1">
            <a:schemeClr val="lt1"/>
          </a:fillRef>
          <a:effectRef idx="0">
            <a:schemeClr val="accent6"/>
          </a:effectRef>
          <a:fontRef idx="minor">
            <a:schemeClr val="dk1"/>
          </a:fontRef>
        </p:style>
        <p:txBody>
          <a:bodyPr rtlCol="0" anchor="ctr"/>
          <a:lstStyle/>
          <a:p>
            <a:pPr algn="ctr"/>
            <a:endParaRPr lang="ko-KR" altLang="en-US"/>
          </a:p>
        </p:txBody>
      </p:sp>
      <p:pic>
        <p:nvPicPr>
          <p:cNvPr id="8" name="그림 7" descr="\documentclass{article}&#10;\usepackage{amsmath}&#10;\pagestyle{empty}&#10;\begin{document}&#10;&#10;&#10;$&#10;\mathbf{x} = \begin{bmatrix}q\\ \dot{q}\end{bmatrix}&#10;$&#10;&#10;\end{document}" title="IguanaTex Bitmap Display">
            <a:extLst>
              <a:ext uri="{FF2B5EF4-FFF2-40B4-BE49-F238E27FC236}">
                <a16:creationId xmlns:a16="http://schemas.microsoft.com/office/drawing/2014/main" id="{8151E107-C745-98D6-49EE-F52DCCBD2602}"/>
              </a:ext>
            </a:extLst>
          </p:cNvPr>
          <p:cNvPicPr>
            <a:picLocks noChangeAspect="1"/>
          </p:cNvPicPr>
          <p:nvPr>
            <p:custDataLst>
              <p:tags r:id="rId1"/>
            </p:custDataLst>
          </p:nvPr>
        </p:nvPicPr>
        <p:blipFill>
          <a:blip r:embed="rId9" cstate="print">
            <a:extLst>
              <a:ext uri="{28A0092B-C50C-407E-A947-70E740481C1C}">
                <a14:useLocalDpi xmlns:a14="http://schemas.microsoft.com/office/drawing/2010/main" val="0"/>
              </a:ext>
            </a:extLst>
          </a:blip>
          <a:stretch>
            <a:fillRect/>
          </a:stretch>
        </p:blipFill>
        <p:spPr>
          <a:xfrm>
            <a:off x="2819400" y="2117670"/>
            <a:ext cx="1705600" cy="1276800"/>
          </a:xfrm>
          <a:prstGeom prst="rect">
            <a:avLst/>
          </a:prstGeom>
        </p:spPr>
      </p:pic>
      <p:pic>
        <p:nvPicPr>
          <p:cNvPr id="14" name="그림 13" descr="\documentclass{article}&#10;\usepackage{amsmath}&#10;\pagestyle{empty}&#10;\begin{document}&#10;&#10;&#10;$&#10;\mathbf{u} = \ddot{q}&#10;$&#10;&#10;\end{document}" title="IguanaTex Bitmap Display">
            <a:extLst>
              <a:ext uri="{FF2B5EF4-FFF2-40B4-BE49-F238E27FC236}">
                <a16:creationId xmlns:a16="http://schemas.microsoft.com/office/drawing/2014/main" id="{61771FFB-1AE4-0D79-EA29-4C852B2813E6}"/>
              </a:ext>
            </a:extLst>
          </p:cNvPr>
          <p:cNvPicPr>
            <a:picLocks noChangeAspect="1"/>
          </p:cNvPicPr>
          <p:nvPr>
            <p:custDataLst>
              <p:tags r:id="rId2"/>
            </p:custDataLst>
          </p:nvPr>
        </p:nvPicPr>
        <p:blipFill>
          <a:blip r:embed="rId10" cstate="print">
            <a:extLst>
              <a:ext uri="{28A0092B-C50C-407E-A947-70E740481C1C}">
                <a14:useLocalDpi xmlns:a14="http://schemas.microsoft.com/office/drawing/2010/main" val="0"/>
              </a:ext>
            </a:extLst>
          </a:blip>
          <a:stretch>
            <a:fillRect/>
          </a:stretch>
        </p:blipFill>
        <p:spPr>
          <a:xfrm>
            <a:off x="2853400" y="3905500"/>
            <a:ext cx="1337600" cy="479391"/>
          </a:xfrm>
          <a:prstGeom prst="rect">
            <a:avLst/>
          </a:prstGeom>
        </p:spPr>
      </p:pic>
      <p:pic>
        <p:nvPicPr>
          <p:cNvPr id="23" name="그림 22" descr="\documentclass{article}&#10;\usepackage{amsmath}&#10;\pagestyle{empty}&#10;\begin{document}&#10;&#10;&#10;$&#10;\dot{\mathbf{q}} = \mathbf{v}_{q}, \qquad&#10;\dot{\mathbf{v}}_{q} = \mathbf{u}&#10;$&#10;&#10;\end{document}" title="IguanaTex Bitmap Display">
            <a:extLst>
              <a:ext uri="{FF2B5EF4-FFF2-40B4-BE49-F238E27FC236}">
                <a16:creationId xmlns:a16="http://schemas.microsoft.com/office/drawing/2014/main" id="{4E9E3584-4BB4-E716-E19E-900F4F7AE179}"/>
              </a:ext>
            </a:extLst>
          </p:cNvPr>
          <p:cNvPicPr>
            <a:picLocks noChangeAspect="1"/>
          </p:cNvPicPr>
          <p:nvPr>
            <p:custDataLst>
              <p:tags r:id="rId3"/>
            </p:custDataLst>
          </p:nvPr>
        </p:nvPicPr>
        <p:blipFill>
          <a:blip r:embed="rId11" cstate="print">
            <a:extLst>
              <a:ext uri="{28A0092B-C50C-407E-A947-70E740481C1C}">
                <a14:useLocalDpi xmlns:a14="http://schemas.microsoft.com/office/drawing/2010/main" val="0"/>
              </a:ext>
            </a:extLst>
          </a:blip>
          <a:stretch>
            <a:fillRect/>
          </a:stretch>
        </p:blipFill>
        <p:spPr>
          <a:xfrm>
            <a:off x="2853400" y="5290828"/>
            <a:ext cx="4460800" cy="518400"/>
          </a:xfrm>
          <a:prstGeom prst="rect">
            <a:avLst/>
          </a:prstGeom>
        </p:spPr>
      </p:pic>
      <p:pic>
        <p:nvPicPr>
          <p:cNvPr id="31" name="그림 30" descr="\documentclass{article}&#10;\usepackage{amsmath}&#10;\pagestyle{empty}&#10;\begin{document}&#10;&#10;&#10;$&#10;\begin{bmatrix}&#10;\mathbf{v}_{q} \\&#10;\dot{\mathbf{v}}_{q}&#10;\end{bmatrix}&#10;=&#10;\underbrace{\begin{bmatrix}&#10;\mathbf{0} &amp; \mathbf{I} \\&#10;\mathbf{0} &amp; \mathbf{0}&#10;\end{bmatrix}}_{\mathbf{A}}&#10;\begin{bmatrix}&#10;\mathbf{q} \\&#10;\mathbf{v}_{q}&#10;\end{bmatrix}&#10;+&#10;\underbrace{\begin{bmatrix}&#10;\mathbf{0} \\&#10;\mathbf{I}&#10;\end{bmatrix}}_{\mathbf{B}}&#10;\,\mathbf{u}&#10;$&#10;&#10;\end{document}" title="IguanaTex Bitmap Display">
            <a:extLst>
              <a:ext uri="{FF2B5EF4-FFF2-40B4-BE49-F238E27FC236}">
                <a16:creationId xmlns:a16="http://schemas.microsoft.com/office/drawing/2014/main" id="{23CC4B30-687F-A42C-604B-8B043D1DB9DA}"/>
              </a:ext>
            </a:extLst>
          </p:cNvPr>
          <p:cNvPicPr>
            <a:picLocks noChangeAspect="1"/>
          </p:cNvPicPr>
          <p:nvPr>
            <p:custDataLst>
              <p:tags r:id="rId4"/>
            </p:custDataLst>
          </p:nvPr>
        </p:nvPicPr>
        <p:blipFill>
          <a:blip r:embed="rId12">
            <a:extLst>
              <a:ext uri="{28A0092B-C50C-407E-A947-70E740481C1C}">
                <a14:useLocalDpi xmlns:a14="http://schemas.microsoft.com/office/drawing/2010/main" val="0"/>
              </a:ext>
            </a:extLst>
          </a:blip>
          <a:stretch>
            <a:fillRect/>
          </a:stretch>
        </p:blipFill>
        <p:spPr>
          <a:xfrm>
            <a:off x="3962400" y="7394495"/>
            <a:ext cx="8915400" cy="2663152"/>
          </a:xfrm>
          <a:prstGeom prst="rect">
            <a:avLst/>
          </a:prstGeom>
        </p:spPr>
      </p:pic>
      <p:sp>
        <p:nvSpPr>
          <p:cNvPr id="34" name="TextBox 33">
            <a:extLst>
              <a:ext uri="{FF2B5EF4-FFF2-40B4-BE49-F238E27FC236}">
                <a16:creationId xmlns:a16="http://schemas.microsoft.com/office/drawing/2014/main" id="{EB8BC6D7-17E3-1D9C-2416-1F2C20283958}"/>
              </a:ext>
            </a:extLst>
          </p:cNvPr>
          <p:cNvSpPr txBox="1"/>
          <p:nvPr/>
        </p:nvSpPr>
        <p:spPr>
          <a:xfrm>
            <a:off x="17221200" y="6089615"/>
            <a:ext cx="3352800" cy="750718"/>
          </a:xfrm>
          <a:prstGeom prst="rect">
            <a:avLst/>
          </a:prstGeom>
          <a:noFill/>
        </p:spPr>
        <p:txBody>
          <a:bodyPr wrap="square">
            <a:spAutoFit/>
          </a:bodyPr>
          <a:lstStyle/>
          <a:p>
            <a:pPr>
              <a:lnSpc>
                <a:spcPct val="150000"/>
              </a:lnSpc>
            </a:pPr>
            <a:r>
              <a:rPr lang="ko-KR" altLang="en-US" sz="3200" b="1" dirty="0">
                <a:solidFill>
                  <a:prstClr val="black"/>
                </a:solidFill>
                <a:latin typeface="+mn-ea"/>
              </a:rPr>
              <a:t>행렬로 쓰는 이유</a:t>
            </a:r>
            <a:endParaRPr lang="en-US" altLang="ko-KR" sz="3200" dirty="0">
              <a:latin typeface="+mn-ea"/>
            </a:endParaRPr>
          </a:p>
        </p:txBody>
      </p:sp>
      <p:pic>
        <p:nvPicPr>
          <p:cNvPr id="9" name="그림 8" descr="\documentclass{article}&#10;\usepackage{amsmath}&#10;\pagestyle{empty}&#10;\begin{document}&#10;&#10;&#10;$&#10;\dot{\mathbf{x}}(t) = \mathbf{A}\,\mathbf{x}(t) + \mathbf{B}\,\mathbf{u}(t)&#10;$&#10;&#10;\end{document}" title="IguanaTex Bitmap Display">
            <a:extLst>
              <a:ext uri="{FF2B5EF4-FFF2-40B4-BE49-F238E27FC236}">
                <a16:creationId xmlns:a16="http://schemas.microsoft.com/office/drawing/2014/main" id="{D3DB8D29-317D-E6B7-CDCB-A9C3C0A9C86B}"/>
              </a:ext>
            </a:extLst>
          </p:cNvPr>
          <p:cNvPicPr>
            <a:picLocks noChangeAspect="1"/>
          </p:cNvPicPr>
          <p:nvPr>
            <p:custDataLst>
              <p:tags r:id="rId5"/>
            </p:custDataLst>
          </p:nvPr>
        </p:nvPicPr>
        <p:blipFill>
          <a:blip r:embed="rId13">
            <a:extLst>
              <a:ext uri="{28A0092B-C50C-407E-A947-70E740481C1C}">
                <a14:useLocalDpi xmlns:a14="http://schemas.microsoft.com/office/drawing/2010/main" val="0"/>
              </a:ext>
            </a:extLst>
          </a:blip>
          <a:stretch>
            <a:fillRect/>
          </a:stretch>
        </p:blipFill>
        <p:spPr>
          <a:xfrm>
            <a:off x="15468600" y="8389667"/>
            <a:ext cx="7259938" cy="750718"/>
          </a:xfrm>
          <a:prstGeom prst="rect">
            <a:avLst/>
          </a:prstGeom>
        </p:spPr>
      </p:pic>
      <p:pic>
        <p:nvPicPr>
          <p:cNvPr id="11" name="그림 10" descr="\documentclass{article}&#10;\usepackage{amsmath}&#10;\pagestyle{empty}&#10;\begin{document}&#10;&#10;&#10;$&#10;\mathbf{x}_{t+1} = \mathbf{x}_{t} + \dot{\mathbf{x}}(t)\,\Delta t&#10;$&#10;&#10;\end{document}" title="IguanaTex Bitmap Display">
            <a:extLst>
              <a:ext uri="{FF2B5EF4-FFF2-40B4-BE49-F238E27FC236}">
                <a16:creationId xmlns:a16="http://schemas.microsoft.com/office/drawing/2014/main" id="{05642C19-5C40-04A1-83C8-E60421F71EEA}"/>
              </a:ext>
            </a:extLst>
          </p:cNvPr>
          <p:cNvPicPr>
            <a:picLocks noChangeAspect="1"/>
          </p:cNvPicPr>
          <p:nvPr>
            <p:custDataLst>
              <p:tags r:id="rId6"/>
            </p:custDataLst>
          </p:nvPr>
        </p:nvPicPr>
        <p:blipFill>
          <a:blip r:embed="rId14">
            <a:extLst>
              <a:ext uri="{28A0092B-C50C-407E-A947-70E740481C1C}">
                <a14:useLocalDpi xmlns:a14="http://schemas.microsoft.com/office/drawing/2010/main" val="0"/>
              </a:ext>
            </a:extLst>
          </a:blip>
          <a:stretch>
            <a:fillRect/>
          </a:stretch>
        </p:blipFill>
        <p:spPr>
          <a:xfrm>
            <a:off x="15911389" y="10977791"/>
            <a:ext cx="6374360" cy="750718"/>
          </a:xfrm>
          <a:prstGeom prst="rect">
            <a:avLst/>
          </a:prstGeom>
        </p:spPr>
      </p:pic>
    </p:spTree>
    <p:extLst>
      <p:ext uri="{BB962C8B-B14F-4D97-AF65-F5344CB8AC3E}">
        <p14:creationId xmlns:p14="http://schemas.microsoft.com/office/powerpoint/2010/main" val="3236329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D373BE-BE8C-3F94-59C8-8A710E9FFCEF}"/>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236D907F-A1CA-AA24-4F48-BAD867816C1C}"/>
              </a:ext>
            </a:extLst>
          </p:cNvPr>
          <p:cNvSpPr/>
          <p:nvPr/>
        </p:nvSpPr>
        <p:spPr>
          <a:xfrm>
            <a:off x="0" y="0"/>
            <a:ext cx="821042" cy="13716000"/>
          </a:xfrm>
          <a:prstGeom prst="rect">
            <a:avLst/>
          </a:prstGeom>
          <a:solidFill>
            <a:srgbClr val="F4E0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FCA66326-B9D7-6725-F266-543E6FCB07AF}"/>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A9C470A6-039E-647A-13F0-ADC66DB5091F}"/>
              </a:ext>
            </a:extLst>
          </p:cNvPr>
          <p:cNvSpPr txBox="1"/>
          <p:nvPr/>
        </p:nvSpPr>
        <p:spPr>
          <a:xfrm>
            <a:off x="1600200" y="609600"/>
            <a:ext cx="13182600" cy="990600"/>
          </a:xfrm>
          <a:prstGeom prst="rect">
            <a:avLst/>
          </a:prstGeom>
        </p:spPr>
        <p:txBody>
          <a:bodyPr lIns="0" tIns="101600" rIns="0" bIns="0" rtlCol="0" anchor="t"/>
          <a:lstStyle/>
          <a:p>
            <a:pPr lvl="0" algn="l">
              <a:lnSpc>
                <a:spcPct val="99600"/>
              </a:lnSpc>
            </a:pPr>
            <a:r>
              <a:rPr lang="en-US" altLang="ko-KR" sz="6000" b="1" dirty="0">
                <a:solidFill>
                  <a:srgbClr val="000000"/>
                </a:solidFill>
                <a:latin typeface="Arial" panose="020B0604020202020204" pitchFamily="34" charset="0"/>
                <a:cs typeface="Arial" panose="020B0604020202020204" pitchFamily="34" charset="0"/>
              </a:rPr>
              <a:t>Torque</a:t>
            </a:r>
            <a:r>
              <a:rPr lang="ko-KR" altLang="en-US" sz="6000" b="1" dirty="0">
                <a:solidFill>
                  <a:srgbClr val="000000"/>
                </a:solidFill>
                <a:latin typeface="Arial" panose="020B0604020202020204" pitchFamily="34" charset="0"/>
                <a:cs typeface="Arial" panose="020B0604020202020204" pitchFamily="34" charset="0"/>
              </a:rPr>
              <a:t> </a:t>
            </a:r>
            <a:r>
              <a:rPr lang="en-US" altLang="ko-KR" sz="6000" b="1" dirty="0">
                <a:solidFill>
                  <a:srgbClr val="000000"/>
                </a:solidFill>
                <a:latin typeface="Arial" panose="020B0604020202020204" pitchFamily="34" charset="0"/>
                <a:cs typeface="Arial" panose="020B0604020202020204" pitchFamily="34" charset="0"/>
              </a:rPr>
              <a:t>Control (</a:t>
            </a:r>
            <a:r>
              <a:rPr lang="ko-KR" altLang="en-US" sz="6000" b="1" dirty="0">
                <a:solidFill>
                  <a:srgbClr val="000000"/>
                </a:solidFill>
                <a:latin typeface="Arial" panose="020B0604020202020204" pitchFamily="34" charset="0"/>
                <a:cs typeface="Arial" panose="020B0604020202020204" pitchFamily="34" charset="0"/>
              </a:rPr>
              <a:t>토크 제어</a:t>
            </a:r>
            <a:r>
              <a:rPr lang="en-US" altLang="ko-KR" sz="6000" b="1" dirty="0">
                <a:solidFill>
                  <a:srgbClr val="000000"/>
                </a:solidFill>
                <a:latin typeface="Arial" panose="020B0604020202020204" pitchFamily="34" charset="0"/>
                <a:cs typeface="Arial" panose="020B0604020202020204" pitchFamily="34" charset="0"/>
              </a:rPr>
              <a:t>)</a:t>
            </a:r>
            <a:endParaRPr lang="en" sz="6000" b="1" i="0" u="none" strike="noStrike" dirty="0">
              <a:solidFill>
                <a:srgbClr val="00000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FDDD4038-6857-DECF-5D76-4CF27FFBD204}"/>
              </a:ext>
            </a:extLst>
          </p:cNvPr>
          <p:cNvSpPr txBox="1"/>
          <p:nvPr/>
        </p:nvSpPr>
        <p:spPr>
          <a:xfrm>
            <a:off x="2086897" y="2244213"/>
            <a:ext cx="21154103" cy="4429161"/>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altLang="ko-KR" sz="3200" dirty="0">
                <a:latin typeface="+mn-ea"/>
              </a:rPr>
              <a:t> </a:t>
            </a:r>
          </a:p>
          <a:p>
            <a:pPr marL="457200" indent="-457200">
              <a:lnSpc>
                <a:spcPct val="150000"/>
              </a:lnSpc>
              <a:buFont typeface="Arial" panose="020B0604020202020204" pitchFamily="34" charset="0"/>
              <a:buChar char="•"/>
            </a:pPr>
            <a:endParaRPr lang="en-US" altLang="ko-KR" sz="3200" dirty="0">
              <a:latin typeface="+mn-ea"/>
            </a:endParaRPr>
          </a:p>
          <a:p>
            <a:pPr marL="457200" indent="-457200">
              <a:lnSpc>
                <a:spcPct val="150000"/>
              </a:lnSpc>
              <a:buFont typeface="Arial" panose="020B0604020202020204" pitchFamily="34" charset="0"/>
              <a:buChar char="•"/>
            </a:pPr>
            <a:r>
              <a:rPr lang="en-US" altLang="ko-KR" sz="3200" dirty="0">
                <a:latin typeface="+mn-ea"/>
              </a:rPr>
              <a:t> </a:t>
            </a:r>
          </a:p>
          <a:p>
            <a:pPr marL="457200" indent="-457200">
              <a:lnSpc>
                <a:spcPct val="150000"/>
              </a:lnSpc>
              <a:buFont typeface="Arial" panose="020B0604020202020204" pitchFamily="34" charset="0"/>
              <a:buChar char="•"/>
            </a:pPr>
            <a:endParaRPr lang="en-US" altLang="ko-KR" sz="3200" dirty="0">
              <a:latin typeface="+mn-ea"/>
            </a:endParaRPr>
          </a:p>
          <a:p>
            <a:pPr marL="457200" indent="-457200">
              <a:lnSpc>
                <a:spcPct val="150000"/>
              </a:lnSpc>
              <a:buFont typeface="Arial" panose="020B0604020202020204" pitchFamily="34" charset="0"/>
              <a:buChar char="•"/>
            </a:pPr>
            <a:r>
              <a:rPr lang="ko-KR" altLang="en-US" sz="3200" dirty="0">
                <a:latin typeface="+mn-ea"/>
              </a:rPr>
              <a:t>앞서 배운 운동방정식을 풀어 제어 입력 값인 토크를 직접 구하는 것이 목표</a:t>
            </a:r>
            <a:r>
              <a:rPr lang="en-US" altLang="ko-KR" sz="3200" dirty="0">
                <a:latin typeface="+mn-ea"/>
              </a:rPr>
              <a:t> </a:t>
            </a:r>
          </a:p>
          <a:p>
            <a:pPr>
              <a:lnSpc>
                <a:spcPct val="150000"/>
              </a:lnSpc>
            </a:pPr>
            <a:endParaRPr lang="en-US" altLang="ko-KR" sz="3200" dirty="0">
              <a:latin typeface="+mn-ea"/>
            </a:endParaRPr>
          </a:p>
        </p:txBody>
      </p:sp>
      <p:pic>
        <p:nvPicPr>
          <p:cNvPr id="2" name="그림 1" descr="\documentclass{article}&#10;\usepackage{amsmath}&#10;\pagestyle{empty}&#10;\begin{document}&#10;&#10;&#10;$&#10;\mathbf{x} = \begin{bmatrix}q\\ \dot{q}\end{bmatrix}&#10;$&#10;&#10;\end{document}" title="IguanaTex Bitmap Display">
            <a:extLst>
              <a:ext uri="{FF2B5EF4-FFF2-40B4-BE49-F238E27FC236}">
                <a16:creationId xmlns:a16="http://schemas.microsoft.com/office/drawing/2014/main" id="{BB1974EF-AD4D-6DE7-8CED-C25D97674D7B}"/>
              </a:ext>
            </a:extLst>
          </p:cNvPr>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2819400" y="2117670"/>
            <a:ext cx="1705600" cy="1276800"/>
          </a:xfrm>
          <a:prstGeom prst="rect">
            <a:avLst/>
          </a:prstGeom>
        </p:spPr>
      </p:pic>
      <p:pic>
        <p:nvPicPr>
          <p:cNvPr id="7" name="그림 6" descr="\documentclass{article}&#10;\usepackage{amsmath}&#10;\pagestyle{empty}&#10;\begin{document}&#10;&#10;&#10;$&#10;M(q)\,\ddot q + C(q,\dot q)\,\dot q + g(q) = \tau + J^\top(q) f&#10;$&#10;&#10;\end{document}" title="IguanaTex Bitmap Display">
            <a:extLst>
              <a:ext uri="{FF2B5EF4-FFF2-40B4-BE49-F238E27FC236}">
                <a16:creationId xmlns:a16="http://schemas.microsoft.com/office/drawing/2014/main" id="{081EA0E6-BEB7-B367-1EBE-0C374CACFFB9}"/>
              </a:ext>
            </a:extLst>
          </p:cNvPr>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6972300" y="7620000"/>
            <a:ext cx="10439400" cy="675296"/>
          </a:xfrm>
          <a:prstGeom prst="rect">
            <a:avLst/>
          </a:prstGeom>
        </p:spPr>
      </p:pic>
      <p:pic>
        <p:nvPicPr>
          <p:cNvPr id="12" name="그림 11" descr="\documentclass{article}&#10;\usepackage{amsmath}&#10;\pagestyle{empty}&#10;\begin{document}&#10;&#10;&#10;$&#10;\mathbf{u} = \boldsymbol{\tau}&#10;$&#10;&#10;\end{document}" title="IguanaTex Bitmap Display">
            <a:extLst>
              <a:ext uri="{FF2B5EF4-FFF2-40B4-BE49-F238E27FC236}">
                <a16:creationId xmlns:a16="http://schemas.microsoft.com/office/drawing/2014/main" id="{75947004-4E24-4DB0-D3B1-E087FB096293}"/>
              </a:ext>
            </a:extLst>
          </p:cNvPr>
          <p:cNvPicPr>
            <a:picLocks noChangeAspect="1"/>
          </p:cNvPicPr>
          <p:nvPr>
            <p:custDataLst>
              <p:tags r:id="rId3"/>
            </p:custDataLst>
          </p:nvPr>
        </p:nvPicPr>
        <p:blipFill>
          <a:blip r:embed="rId8" cstate="print">
            <a:extLst>
              <a:ext uri="{28A0092B-C50C-407E-A947-70E740481C1C}">
                <a14:useLocalDpi xmlns:a14="http://schemas.microsoft.com/office/drawing/2010/main" val="0"/>
              </a:ext>
            </a:extLst>
          </a:blip>
          <a:stretch>
            <a:fillRect/>
          </a:stretch>
        </p:blipFill>
        <p:spPr>
          <a:xfrm>
            <a:off x="2817223" y="4071140"/>
            <a:ext cx="1414705" cy="258133"/>
          </a:xfrm>
          <a:prstGeom prst="rect">
            <a:avLst/>
          </a:prstGeom>
        </p:spPr>
      </p:pic>
      <p:sp>
        <p:nvSpPr>
          <p:cNvPr id="15" name="TextBox 14">
            <a:extLst>
              <a:ext uri="{FF2B5EF4-FFF2-40B4-BE49-F238E27FC236}">
                <a16:creationId xmlns:a16="http://schemas.microsoft.com/office/drawing/2014/main" id="{B04A7EF4-130C-D026-97E4-A3BA5F2D2612}"/>
              </a:ext>
            </a:extLst>
          </p:cNvPr>
          <p:cNvSpPr txBox="1"/>
          <p:nvPr/>
        </p:nvSpPr>
        <p:spPr>
          <a:xfrm>
            <a:off x="4629150" y="8887979"/>
            <a:ext cx="15125700" cy="707886"/>
          </a:xfrm>
          <a:prstGeom prst="rect">
            <a:avLst/>
          </a:prstGeom>
          <a:noFill/>
        </p:spPr>
        <p:txBody>
          <a:bodyPr wrap="square">
            <a:spAutoFit/>
          </a:bodyPr>
          <a:lstStyle/>
          <a:p>
            <a:r>
              <a:rPr lang="en-US" altLang="ko-KR" sz="4000" b="1" dirty="0">
                <a:solidFill>
                  <a:srgbClr val="000000"/>
                </a:solidFill>
                <a:latin typeface="+mn-ea"/>
              </a:rPr>
              <a:t>The dynamic equation of a fully-actuated mechanical system </a:t>
            </a:r>
            <a:endParaRPr lang="ko-KR" altLang="en-US" sz="4000" b="1" dirty="0"/>
          </a:p>
        </p:txBody>
      </p:sp>
    </p:spTree>
    <p:extLst>
      <p:ext uri="{BB962C8B-B14F-4D97-AF65-F5344CB8AC3E}">
        <p14:creationId xmlns:p14="http://schemas.microsoft.com/office/powerpoint/2010/main" val="5605994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138D6-FD98-915F-D5EB-3876A5D9F04A}"/>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78EF00AB-CF22-4DB1-3951-2217729F3228}"/>
              </a:ext>
            </a:extLst>
          </p:cNvPr>
          <p:cNvSpPr/>
          <p:nvPr/>
        </p:nvSpPr>
        <p:spPr>
          <a:xfrm>
            <a:off x="0" y="0"/>
            <a:ext cx="821042" cy="13716000"/>
          </a:xfrm>
          <a:prstGeom prst="rect">
            <a:avLst/>
          </a:prstGeom>
          <a:solidFill>
            <a:srgbClr val="F4E0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4DF429E2-7422-96E4-BEFB-DEAEF01228BA}"/>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8661E4D8-5B95-F45E-86DB-0A1BF7712DE1}"/>
              </a:ext>
            </a:extLst>
          </p:cNvPr>
          <p:cNvSpPr txBox="1"/>
          <p:nvPr/>
        </p:nvSpPr>
        <p:spPr>
          <a:xfrm>
            <a:off x="1600200" y="609600"/>
            <a:ext cx="13182600" cy="990600"/>
          </a:xfrm>
          <a:prstGeom prst="rect">
            <a:avLst/>
          </a:prstGeom>
        </p:spPr>
        <p:txBody>
          <a:bodyPr lIns="0" tIns="101600" rIns="0" bIns="0" rtlCol="0" anchor="t"/>
          <a:lstStyle/>
          <a:p>
            <a:pPr lvl="0" algn="l">
              <a:lnSpc>
                <a:spcPct val="99600"/>
              </a:lnSpc>
            </a:pPr>
            <a:r>
              <a:rPr lang="en-US" altLang="ko-KR" sz="6000" b="1" dirty="0">
                <a:solidFill>
                  <a:srgbClr val="000000"/>
                </a:solidFill>
                <a:latin typeface="Arial" panose="020B0604020202020204" pitchFamily="34" charset="0"/>
                <a:cs typeface="Arial" panose="020B0604020202020204" pitchFamily="34" charset="0"/>
              </a:rPr>
              <a:t>Torque</a:t>
            </a:r>
            <a:r>
              <a:rPr lang="ko-KR" altLang="en-US" sz="6000" b="1" dirty="0">
                <a:solidFill>
                  <a:srgbClr val="000000"/>
                </a:solidFill>
                <a:latin typeface="Arial" panose="020B0604020202020204" pitchFamily="34" charset="0"/>
                <a:cs typeface="Arial" panose="020B0604020202020204" pitchFamily="34" charset="0"/>
              </a:rPr>
              <a:t> </a:t>
            </a:r>
            <a:r>
              <a:rPr lang="en-US" altLang="ko-KR" sz="6000" b="1" dirty="0">
                <a:solidFill>
                  <a:srgbClr val="000000"/>
                </a:solidFill>
                <a:latin typeface="Arial" panose="020B0604020202020204" pitchFamily="34" charset="0"/>
                <a:cs typeface="Arial" panose="020B0604020202020204" pitchFamily="34" charset="0"/>
              </a:rPr>
              <a:t>Control (</a:t>
            </a:r>
            <a:r>
              <a:rPr lang="ko-KR" altLang="en-US" sz="6000" b="1" dirty="0">
                <a:solidFill>
                  <a:srgbClr val="000000"/>
                </a:solidFill>
                <a:latin typeface="Arial" panose="020B0604020202020204" pitchFamily="34" charset="0"/>
                <a:cs typeface="Arial" panose="020B0604020202020204" pitchFamily="34" charset="0"/>
              </a:rPr>
              <a:t>토크 제어</a:t>
            </a:r>
            <a:r>
              <a:rPr lang="en-US" altLang="ko-KR" sz="6000" b="1" dirty="0">
                <a:solidFill>
                  <a:srgbClr val="000000"/>
                </a:solidFill>
                <a:latin typeface="Arial" panose="020B0604020202020204" pitchFamily="34" charset="0"/>
                <a:cs typeface="Arial" panose="020B0604020202020204" pitchFamily="34" charset="0"/>
              </a:rPr>
              <a:t>)</a:t>
            </a:r>
            <a:endParaRPr lang="en" sz="6000" b="1" i="0" u="none" strike="noStrike" dirty="0">
              <a:solidFill>
                <a:srgbClr val="00000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2D4E38B6-96BC-8C7F-4DF6-E657134DB3DE}"/>
              </a:ext>
            </a:extLst>
          </p:cNvPr>
          <p:cNvSpPr txBox="1"/>
          <p:nvPr/>
        </p:nvSpPr>
        <p:spPr>
          <a:xfrm>
            <a:off x="2086897" y="2244213"/>
            <a:ext cx="21154103" cy="6922151"/>
          </a:xfrm>
          <a:prstGeom prst="rect">
            <a:avLst/>
          </a:prstGeom>
          <a:noFill/>
        </p:spPr>
        <p:txBody>
          <a:bodyPr wrap="square">
            <a:spAutoFit/>
          </a:bodyPr>
          <a:lstStyle/>
          <a:p>
            <a:pPr>
              <a:lnSpc>
                <a:spcPct val="150000"/>
              </a:lnSpc>
            </a:pPr>
            <a:r>
              <a:rPr lang="en-US" altLang="ko-KR" sz="4400" b="1" dirty="0"/>
              <a:t>Under-Actuated Systems</a:t>
            </a:r>
            <a:endParaRPr lang="en-US" altLang="ko-KR" sz="3200" dirty="0">
              <a:latin typeface="+mn-ea"/>
            </a:endParaRPr>
          </a:p>
          <a:p>
            <a:pPr marL="457200" indent="-457200">
              <a:lnSpc>
                <a:spcPct val="150000"/>
              </a:lnSpc>
              <a:buFont typeface="Arial" panose="020B0604020202020204" pitchFamily="34" charset="0"/>
              <a:buChar char="•"/>
            </a:pPr>
            <a:r>
              <a:rPr lang="en-US" altLang="ko-KR" sz="3200" dirty="0">
                <a:latin typeface="+mn-ea"/>
              </a:rPr>
              <a:t> </a:t>
            </a:r>
            <a:r>
              <a:rPr lang="ko-KR" altLang="en-US" sz="3200" dirty="0"/>
              <a:t>자유도 수 대비 구동기 수가 적은 시스템</a:t>
            </a:r>
            <a:endParaRPr lang="en-US" altLang="ko-KR" sz="3200" dirty="0">
              <a:latin typeface="+mn-ea"/>
            </a:endParaRPr>
          </a:p>
          <a:p>
            <a:pPr marL="457200" indent="-457200">
              <a:lnSpc>
                <a:spcPct val="150000"/>
              </a:lnSpc>
              <a:buFont typeface="Arial" panose="020B0604020202020204" pitchFamily="34" charset="0"/>
              <a:buChar char="•"/>
            </a:pPr>
            <a:r>
              <a:rPr lang="ko-KR" altLang="en-US" sz="3200" b="1" dirty="0">
                <a:latin typeface="+mn-ea"/>
              </a:rPr>
              <a:t>수동 관절       </a:t>
            </a:r>
            <a:r>
              <a:rPr lang="ko-KR" altLang="en-US" sz="3200" dirty="0">
                <a:latin typeface="+mn-ea"/>
              </a:rPr>
              <a:t>과 </a:t>
            </a:r>
            <a:r>
              <a:rPr lang="ko-KR" altLang="en-US" sz="3200" b="1" dirty="0">
                <a:latin typeface="+mn-ea"/>
              </a:rPr>
              <a:t>구동 관절      </a:t>
            </a:r>
            <a:r>
              <a:rPr lang="ko-KR" altLang="en-US" sz="3200" dirty="0">
                <a:latin typeface="+mn-ea"/>
              </a:rPr>
              <a:t>로 분할 </a:t>
            </a:r>
            <a:r>
              <a:rPr lang="en-US" altLang="ko-KR" sz="3200" dirty="0">
                <a:latin typeface="+mn-ea"/>
              </a:rPr>
              <a:t>:</a:t>
            </a:r>
          </a:p>
          <a:p>
            <a:pPr marL="457200" indent="-457200">
              <a:lnSpc>
                <a:spcPct val="150000"/>
              </a:lnSpc>
              <a:buFont typeface="Arial" panose="020B0604020202020204" pitchFamily="34" charset="0"/>
              <a:buChar char="•"/>
            </a:pPr>
            <a:endParaRPr lang="en-US" altLang="ko-KR" sz="3200" dirty="0">
              <a:latin typeface="+mn-ea"/>
            </a:endParaRPr>
          </a:p>
          <a:p>
            <a:pPr>
              <a:lnSpc>
                <a:spcPct val="150000"/>
              </a:lnSpc>
            </a:pPr>
            <a:endParaRPr lang="en-US" altLang="ko-KR" sz="3200" dirty="0">
              <a:latin typeface="+mn-ea"/>
            </a:endParaRPr>
          </a:p>
          <a:p>
            <a:pPr marL="457200" indent="-457200">
              <a:lnSpc>
                <a:spcPct val="150000"/>
              </a:lnSpc>
              <a:buFont typeface="Arial" panose="020B0604020202020204" pitchFamily="34" charset="0"/>
              <a:buChar char="•"/>
            </a:pPr>
            <a:r>
              <a:rPr lang="en-US" altLang="ko-KR" sz="3200" dirty="0">
                <a:latin typeface="+mn-ea"/>
              </a:rPr>
              <a:t> </a:t>
            </a:r>
          </a:p>
          <a:p>
            <a:pPr marL="457200" indent="-457200">
              <a:lnSpc>
                <a:spcPct val="150000"/>
              </a:lnSpc>
              <a:buFont typeface="Arial" panose="020B0604020202020204" pitchFamily="34" charset="0"/>
              <a:buChar char="•"/>
            </a:pPr>
            <a:endParaRPr lang="en-US" altLang="ko-KR" sz="3200" dirty="0">
              <a:latin typeface="+mn-ea"/>
            </a:endParaRPr>
          </a:p>
          <a:p>
            <a:pPr marL="457200" indent="-457200">
              <a:lnSpc>
                <a:spcPct val="150000"/>
              </a:lnSpc>
              <a:buFont typeface="Arial" panose="020B0604020202020204" pitchFamily="34" charset="0"/>
              <a:buChar char="•"/>
            </a:pPr>
            <a:endParaRPr lang="en-US" altLang="ko-KR" sz="3200" dirty="0">
              <a:latin typeface="+mn-ea"/>
            </a:endParaRPr>
          </a:p>
          <a:p>
            <a:pPr marL="457200" indent="-457200">
              <a:lnSpc>
                <a:spcPct val="150000"/>
              </a:lnSpc>
              <a:buFont typeface="Arial" panose="020B0604020202020204" pitchFamily="34" charset="0"/>
              <a:buChar char="•"/>
            </a:pPr>
            <a:r>
              <a:rPr lang="ko-KR" altLang="en-US" sz="3200" dirty="0">
                <a:latin typeface="+mn-ea"/>
              </a:rPr>
              <a:t>선택 행렬 </a:t>
            </a:r>
            <a:r>
              <a:rPr lang="en-US" altLang="ko-KR" sz="3200" b="1" dirty="0">
                <a:latin typeface="+mn-ea"/>
              </a:rPr>
              <a:t>S</a:t>
            </a:r>
            <a:r>
              <a:rPr lang="en-US" altLang="ko-KR" sz="3200" dirty="0">
                <a:latin typeface="+mn-ea"/>
              </a:rPr>
              <a:t> </a:t>
            </a:r>
            <a:r>
              <a:rPr lang="ko-KR" altLang="en-US" sz="3200" dirty="0">
                <a:latin typeface="+mn-ea"/>
              </a:rPr>
              <a:t>로 “구동 관절 성분</a:t>
            </a:r>
            <a:r>
              <a:rPr lang="en-US" altLang="ko-KR" sz="3200" dirty="0">
                <a:latin typeface="+mn-ea"/>
              </a:rPr>
              <a:t>”</a:t>
            </a:r>
            <a:r>
              <a:rPr lang="ko-KR" altLang="en-US" sz="3200" dirty="0">
                <a:latin typeface="+mn-ea"/>
              </a:rPr>
              <a:t>만 뽑기</a:t>
            </a:r>
            <a:r>
              <a:rPr lang="en-US" altLang="ko-KR" sz="3200" dirty="0">
                <a:latin typeface="+mn-ea"/>
              </a:rPr>
              <a:t> :</a:t>
            </a:r>
          </a:p>
        </p:txBody>
      </p:sp>
      <p:pic>
        <p:nvPicPr>
          <p:cNvPr id="8" name="그림 7" descr="\documentclass{article}&#10;\usepackage{amsmath}&#10;\pagestyle{empty}&#10;\begin{document}&#10;&#10;&#10;$&#10;q_a&#10;$&#10;&#10;\end{document}" title="IguanaTex Bitmap Display">
            <a:extLst>
              <a:ext uri="{FF2B5EF4-FFF2-40B4-BE49-F238E27FC236}">
                <a16:creationId xmlns:a16="http://schemas.microsoft.com/office/drawing/2014/main" id="{5CA8C2C8-4ADB-C93D-87E2-FFE3AA1B5543}"/>
              </a:ext>
            </a:extLst>
          </p:cNvPr>
          <p:cNvPicPr>
            <a:picLocks noChangeAspect="1"/>
          </p:cNvPicPr>
          <p:nvPr>
            <p:custDataLst>
              <p:tags r:id="rId1"/>
            </p:custDataLst>
          </p:nvPr>
        </p:nvPicPr>
        <p:blipFill>
          <a:blip r:embed="rId9" cstate="print">
            <a:extLst>
              <a:ext uri="{28A0092B-C50C-407E-A947-70E740481C1C}">
                <a14:useLocalDpi xmlns:a14="http://schemas.microsoft.com/office/drawing/2010/main" val="0"/>
              </a:ext>
            </a:extLst>
          </a:blip>
          <a:stretch>
            <a:fillRect/>
          </a:stretch>
        </p:blipFill>
        <p:spPr>
          <a:xfrm>
            <a:off x="8026200" y="4312200"/>
            <a:ext cx="432000" cy="336000"/>
          </a:xfrm>
          <a:prstGeom prst="rect">
            <a:avLst/>
          </a:prstGeom>
        </p:spPr>
      </p:pic>
      <p:pic>
        <p:nvPicPr>
          <p:cNvPr id="10" name="그림 9" descr="\documentclass{article}&#10;\usepackage{amsmath}&#10;\pagestyle{empty}&#10;\begin{document}&#10;&#10;&#10;$&#10;q_u&#10;$&#10;&#10;\end{document}" title="IguanaTex Bitmap Display">
            <a:extLst>
              <a:ext uri="{FF2B5EF4-FFF2-40B4-BE49-F238E27FC236}">
                <a16:creationId xmlns:a16="http://schemas.microsoft.com/office/drawing/2014/main" id="{9C83DFC4-1B70-7D75-0F6C-7CA4744309D0}"/>
              </a:ext>
            </a:extLst>
          </p:cNvPr>
          <p:cNvPicPr>
            <a:picLocks noChangeAspect="1"/>
          </p:cNvPicPr>
          <p:nvPr>
            <p:custDataLst>
              <p:tags r:id="rId2"/>
            </p:custDataLst>
          </p:nvPr>
        </p:nvPicPr>
        <p:blipFill>
          <a:blip r:embed="rId10" cstate="print">
            <a:extLst>
              <a:ext uri="{28A0092B-C50C-407E-A947-70E740481C1C}">
                <a14:useLocalDpi xmlns:a14="http://schemas.microsoft.com/office/drawing/2010/main" val="0"/>
              </a:ext>
            </a:extLst>
          </a:blip>
          <a:stretch>
            <a:fillRect/>
          </a:stretch>
        </p:blipFill>
        <p:spPr>
          <a:xfrm>
            <a:off x="4876800" y="4312200"/>
            <a:ext cx="451200" cy="336000"/>
          </a:xfrm>
          <a:prstGeom prst="rect">
            <a:avLst/>
          </a:prstGeom>
        </p:spPr>
      </p:pic>
      <p:pic>
        <p:nvPicPr>
          <p:cNvPr id="13" name="그림 12" descr="\documentclass{article}&#10;\usepackage{amsmath}&#10;\pagestyle{empty}&#10;\begin{document}&#10;&#10;&#10;$&#10;q=(q_u,q_a)&#10;$&#10;&#10;\end{document}" title="IguanaTex Bitmap Display">
            <a:extLst>
              <a:ext uri="{FF2B5EF4-FFF2-40B4-BE49-F238E27FC236}">
                <a16:creationId xmlns:a16="http://schemas.microsoft.com/office/drawing/2014/main" id="{6C17DCA0-1AD9-B6BE-96AF-02D2853A7C85}"/>
              </a:ext>
            </a:extLst>
          </p:cNvPr>
          <p:cNvPicPr>
            <a:picLocks noChangeAspect="1"/>
          </p:cNvPicPr>
          <p:nvPr>
            <p:custDataLst>
              <p:tags r:id="rId3"/>
            </p:custDataLst>
          </p:nvPr>
        </p:nvPicPr>
        <p:blipFill>
          <a:blip r:embed="rId11" cstate="print">
            <a:extLst>
              <a:ext uri="{28A0092B-C50C-407E-A947-70E740481C1C}">
                <a14:useLocalDpi xmlns:a14="http://schemas.microsoft.com/office/drawing/2010/main" val="0"/>
              </a:ext>
            </a:extLst>
          </a:blip>
          <a:stretch>
            <a:fillRect/>
          </a:stretch>
        </p:blipFill>
        <p:spPr>
          <a:xfrm>
            <a:off x="10668000" y="4113800"/>
            <a:ext cx="2550400" cy="534400"/>
          </a:xfrm>
          <a:prstGeom prst="rect">
            <a:avLst/>
          </a:prstGeom>
        </p:spPr>
      </p:pic>
      <p:pic>
        <p:nvPicPr>
          <p:cNvPr id="16" name="그림 15" descr="\documentclass{article}&#10;\usepackage{amsmath}&#10;\pagestyle{empty}&#10;\begin{document}&#10;&#10;&#10;$&#10;\mathbf{v}_q = \begin{bmatrix}\mathbf{v}_u \\ \mathbf{v}_a\end{bmatrix}&#10;$&#10;&#10;\end{document}" title="IguanaTex Bitmap Display">
            <a:extLst>
              <a:ext uri="{FF2B5EF4-FFF2-40B4-BE49-F238E27FC236}">
                <a16:creationId xmlns:a16="http://schemas.microsoft.com/office/drawing/2014/main" id="{502563F4-672F-812A-FF90-6BDEA87C40BF}"/>
              </a:ext>
            </a:extLst>
          </p:cNvPr>
          <p:cNvPicPr>
            <a:picLocks noChangeAspect="1"/>
          </p:cNvPicPr>
          <p:nvPr>
            <p:custDataLst>
              <p:tags r:id="rId4"/>
            </p:custDataLst>
          </p:nvPr>
        </p:nvPicPr>
        <p:blipFill>
          <a:blip r:embed="rId12" cstate="print">
            <a:extLst>
              <a:ext uri="{28A0092B-C50C-407E-A947-70E740481C1C}">
                <a14:useLocalDpi xmlns:a14="http://schemas.microsoft.com/office/drawing/2010/main" val="0"/>
              </a:ext>
            </a:extLst>
          </a:blip>
          <a:stretch>
            <a:fillRect/>
          </a:stretch>
        </p:blipFill>
        <p:spPr>
          <a:xfrm>
            <a:off x="2820800" y="6038400"/>
            <a:ext cx="2281600" cy="1276800"/>
          </a:xfrm>
          <a:prstGeom prst="rect">
            <a:avLst/>
          </a:prstGeom>
        </p:spPr>
      </p:pic>
      <p:pic>
        <p:nvPicPr>
          <p:cNvPr id="18" name="그림 17" descr="\documentclass{article}&#10;\usepackage{amsmath}&#10;\pagestyle{empty}&#10;\begin{document}&#10;&#10;&#10;$&#10;\mathbf{S}\begin{bmatrix}\mathbf{0}_{\,n_{v_a}\times n_{v_u}} &amp; \mathbf{I}_{\,n_{v_a}}\end{bmatrix}&#10;$&#10;&#10;\end{document}" title="IguanaTex Bitmap Display">
            <a:extLst>
              <a:ext uri="{FF2B5EF4-FFF2-40B4-BE49-F238E27FC236}">
                <a16:creationId xmlns:a16="http://schemas.microsoft.com/office/drawing/2014/main" id="{BCF1276F-4B84-C8E1-3D4C-6C9A84E6BBAE}"/>
              </a:ext>
            </a:extLst>
          </p:cNvPr>
          <p:cNvPicPr>
            <a:picLocks noChangeAspect="1"/>
          </p:cNvPicPr>
          <p:nvPr>
            <p:custDataLst>
              <p:tags r:id="rId5"/>
            </p:custDataLst>
          </p:nvPr>
        </p:nvPicPr>
        <p:blipFill>
          <a:blip r:embed="rId13" cstate="print">
            <a:extLst>
              <a:ext uri="{28A0092B-C50C-407E-A947-70E740481C1C}">
                <a14:useLocalDpi xmlns:a14="http://schemas.microsoft.com/office/drawing/2010/main" val="0"/>
              </a:ext>
            </a:extLst>
          </a:blip>
          <a:stretch>
            <a:fillRect/>
          </a:stretch>
        </p:blipFill>
        <p:spPr>
          <a:xfrm>
            <a:off x="10598000" y="8529564"/>
            <a:ext cx="4489600" cy="636800"/>
          </a:xfrm>
          <a:prstGeom prst="rect">
            <a:avLst/>
          </a:prstGeom>
        </p:spPr>
      </p:pic>
      <p:pic>
        <p:nvPicPr>
          <p:cNvPr id="20" name="그림 19" descr="\documentclass{article}&#10;\usepackage{amsmath}&#10;\pagestyle{empty}&#10;\begin{document}&#10;&#10;&#10;$&#10;\mathbf{v}_a = \mathbf{S}\,\mathbf{v}_q&#10;$&#10;&#10;\end{document}" title="IguanaTex Bitmap Display">
            <a:extLst>
              <a:ext uri="{FF2B5EF4-FFF2-40B4-BE49-F238E27FC236}">
                <a16:creationId xmlns:a16="http://schemas.microsoft.com/office/drawing/2014/main" id="{68975AB2-9278-0AC5-8B4D-A0FD5106EED8}"/>
              </a:ext>
            </a:extLst>
          </p:cNvPr>
          <p:cNvPicPr>
            <a:picLocks noChangeAspect="1"/>
          </p:cNvPicPr>
          <p:nvPr>
            <p:custDataLst>
              <p:tags r:id="rId6"/>
            </p:custDataLst>
          </p:nvPr>
        </p:nvPicPr>
        <p:blipFill>
          <a:blip r:embed="rId14" cstate="print">
            <a:extLst>
              <a:ext uri="{28A0092B-C50C-407E-A947-70E740481C1C}">
                <a14:useLocalDpi xmlns:a14="http://schemas.microsoft.com/office/drawing/2010/main" val="0"/>
              </a:ext>
            </a:extLst>
          </a:blip>
          <a:stretch>
            <a:fillRect/>
          </a:stretch>
        </p:blipFill>
        <p:spPr>
          <a:xfrm>
            <a:off x="10598000" y="10293720"/>
            <a:ext cx="2217600" cy="524800"/>
          </a:xfrm>
          <a:prstGeom prst="rect">
            <a:avLst/>
          </a:prstGeom>
        </p:spPr>
      </p:pic>
    </p:spTree>
    <p:extLst>
      <p:ext uri="{BB962C8B-B14F-4D97-AF65-F5344CB8AC3E}">
        <p14:creationId xmlns:p14="http://schemas.microsoft.com/office/powerpoint/2010/main" val="14636451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2A068-8A45-09AB-430D-2376CFD7F7B2}"/>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8625CEB9-6562-3853-06CB-FF3033392DBF}"/>
              </a:ext>
            </a:extLst>
          </p:cNvPr>
          <p:cNvSpPr/>
          <p:nvPr/>
        </p:nvSpPr>
        <p:spPr>
          <a:xfrm>
            <a:off x="0" y="0"/>
            <a:ext cx="821042" cy="13716000"/>
          </a:xfrm>
          <a:prstGeom prst="rect">
            <a:avLst/>
          </a:prstGeom>
          <a:solidFill>
            <a:srgbClr val="F4E0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6BA12F29-AA2A-0585-439E-AC4EEAF3D202}"/>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9BBE3650-2A65-396B-2BA0-3668475F13D3}"/>
              </a:ext>
            </a:extLst>
          </p:cNvPr>
          <p:cNvSpPr txBox="1"/>
          <p:nvPr/>
        </p:nvSpPr>
        <p:spPr>
          <a:xfrm>
            <a:off x="1600200" y="609600"/>
            <a:ext cx="13182600" cy="990600"/>
          </a:xfrm>
          <a:prstGeom prst="rect">
            <a:avLst/>
          </a:prstGeom>
        </p:spPr>
        <p:txBody>
          <a:bodyPr lIns="0" tIns="101600" rIns="0" bIns="0" rtlCol="0" anchor="t"/>
          <a:lstStyle/>
          <a:p>
            <a:pPr lvl="0" algn="l">
              <a:lnSpc>
                <a:spcPct val="99600"/>
              </a:lnSpc>
            </a:pPr>
            <a:r>
              <a:rPr lang="en-US" altLang="ko-KR" sz="6000" b="1" dirty="0">
                <a:solidFill>
                  <a:srgbClr val="000000"/>
                </a:solidFill>
                <a:latin typeface="Arial" panose="020B0604020202020204" pitchFamily="34" charset="0"/>
                <a:cs typeface="Arial" panose="020B0604020202020204" pitchFamily="34" charset="0"/>
              </a:rPr>
              <a:t>Torque</a:t>
            </a:r>
            <a:r>
              <a:rPr lang="ko-KR" altLang="en-US" sz="6000" b="1" dirty="0">
                <a:solidFill>
                  <a:srgbClr val="000000"/>
                </a:solidFill>
                <a:latin typeface="Arial" panose="020B0604020202020204" pitchFamily="34" charset="0"/>
                <a:cs typeface="Arial" panose="020B0604020202020204" pitchFamily="34" charset="0"/>
              </a:rPr>
              <a:t> </a:t>
            </a:r>
            <a:r>
              <a:rPr lang="en-US" altLang="ko-KR" sz="6000" b="1" dirty="0">
                <a:solidFill>
                  <a:srgbClr val="000000"/>
                </a:solidFill>
                <a:latin typeface="Arial" panose="020B0604020202020204" pitchFamily="34" charset="0"/>
                <a:cs typeface="Arial" panose="020B0604020202020204" pitchFamily="34" charset="0"/>
              </a:rPr>
              <a:t>Control (</a:t>
            </a:r>
            <a:r>
              <a:rPr lang="ko-KR" altLang="en-US" sz="6000" b="1" dirty="0">
                <a:solidFill>
                  <a:srgbClr val="000000"/>
                </a:solidFill>
                <a:latin typeface="Arial" panose="020B0604020202020204" pitchFamily="34" charset="0"/>
                <a:cs typeface="Arial" panose="020B0604020202020204" pitchFamily="34" charset="0"/>
              </a:rPr>
              <a:t>토크 제어</a:t>
            </a:r>
            <a:r>
              <a:rPr lang="en-US" altLang="ko-KR" sz="6000" b="1" dirty="0">
                <a:solidFill>
                  <a:srgbClr val="000000"/>
                </a:solidFill>
                <a:latin typeface="Arial" panose="020B0604020202020204" pitchFamily="34" charset="0"/>
                <a:cs typeface="Arial" panose="020B0604020202020204" pitchFamily="34" charset="0"/>
              </a:rPr>
              <a:t>)</a:t>
            </a:r>
            <a:endParaRPr lang="en" sz="6000" b="1" i="0" u="none" strike="noStrike" dirty="0">
              <a:solidFill>
                <a:srgbClr val="00000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482D4B56-52F0-6BC4-674C-7EE402E82E75}"/>
              </a:ext>
            </a:extLst>
          </p:cNvPr>
          <p:cNvSpPr txBox="1"/>
          <p:nvPr/>
        </p:nvSpPr>
        <p:spPr>
          <a:xfrm>
            <a:off x="2086897" y="2244213"/>
            <a:ext cx="21154103" cy="9138143"/>
          </a:xfrm>
          <a:prstGeom prst="rect">
            <a:avLst/>
          </a:prstGeom>
          <a:noFill/>
        </p:spPr>
        <p:txBody>
          <a:bodyPr wrap="square">
            <a:spAutoFit/>
          </a:bodyPr>
          <a:lstStyle/>
          <a:p>
            <a:pPr>
              <a:lnSpc>
                <a:spcPct val="150000"/>
              </a:lnSpc>
            </a:pPr>
            <a:r>
              <a:rPr lang="en-US" altLang="ko-KR" sz="4400" b="1" dirty="0"/>
              <a:t>Under-Actuated Systems</a:t>
            </a:r>
            <a:r>
              <a:rPr lang="ko-KR" altLang="en-US" sz="4400" b="1" dirty="0"/>
              <a:t>의 운동 방정식</a:t>
            </a:r>
            <a:endParaRPr lang="en-US" altLang="ko-KR" sz="3200" dirty="0">
              <a:latin typeface="+mn-ea"/>
            </a:endParaRPr>
          </a:p>
          <a:p>
            <a:pPr>
              <a:lnSpc>
                <a:spcPct val="150000"/>
              </a:lnSpc>
            </a:pPr>
            <a:endParaRPr lang="en-US" altLang="ko-KR" sz="3200" dirty="0">
              <a:latin typeface="+mn-ea"/>
            </a:endParaRPr>
          </a:p>
          <a:p>
            <a:pPr>
              <a:lnSpc>
                <a:spcPct val="150000"/>
              </a:lnSpc>
            </a:pPr>
            <a:endParaRPr lang="en-US" altLang="ko-KR" sz="3200" dirty="0">
              <a:latin typeface="+mn-ea"/>
            </a:endParaRPr>
          </a:p>
          <a:p>
            <a:pPr>
              <a:lnSpc>
                <a:spcPct val="150000"/>
              </a:lnSpc>
            </a:pPr>
            <a:endParaRPr lang="en-US" altLang="ko-KR" sz="3200" dirty="0">
              <a:latin typeface="+mn-ea"/>
            </a:endParaRPr>
          </a:p>
          <a:p>
            <a:pPr>
              <a:lnSpc>
                <a:spcPct val="150000"/>
              </a:lnSpc>
            </a:pPr>
            <a:endParaRPr lang="en-US" altLang="ko-KR" sz="3200" dirty="0">
              <a:latin typeface="+mn-ea"/>
            </a:endParaRPr>
          </a:p>
          <a:p>
            <a:pPr marL="457200" indent="-457200">
              <a:lnSpc>
                <a:spcPct val="150000"/>
              </a:lnSpc>
              <a:buFont typeface="Arial" panose="020B0604020202020204" pitchFamily="34" charset="0"/>
              <a:buChar char="•"/>
            </a:pPr>
            <a:r>
              <a:rPr lang="ko-KR" altLang="en-US" sz="3200" dirty="0">
                <a:latin typeface="+mn-ea"/>
              </a:rPr>
              <a:t>편의를 위해 수동</a:t>
            </a:r>
            <a:r>
              <a:rPr lang="en-US" altLang="ko-KR" sz="3200" dirty="0">
                <a:latin typeface="+mn-ea"/>
              </a:rPr>
              <a:t>/</a:t>
            </a:r>
            <a:r>
              <a:rPr lang="ko-KR" altLang="en-US" sz="3200" dirty="0">
                <a:latin typeface="+mn-ea"/>
              </a:rPr>
              <a:t>구동 파트로 분해하여 사용하기도 한다</a:t>
            </a:r>
            <a:endParaRPr lang="en-US" altLang="ko-KR" sz="3200" dirty="0">
              <a:latin typeface="+mn-ea"/>
            </a:endParaRPr>
          </a:p>
          <a:p>
            <a:pPr>
              <a:lnSpc>
                <a:spcPct val="150000"/>
              </a:lnSpc>
            </a:pPr>
            <a:endParaRPr lang="en-US" altLang="ko-KR" sz="3200" dirty="0">
              <a:latin typeface="+mn-ea"/>
            </a:endParaRPr>
          </a:p>
          <a:p>
            <a:pPr>
              <a:lnSpc>
                <a:spcPct val="150000"/>
              </a:lnSpc>
            </a:pPr>
            <a:endParaRPr lang="en-US" altLang="ko-KR" sz="3200" dirty="0">
              <a:latin typeface="+mn-ea"/>
            </a:endParaRPr>
          </a:p>
          <a:p>
            <a:pPr>
              <a:lnSpc>
                <a:spcPct val="150000"/>
              </a:lnSpc>
            </a:pPr>
            <a:r>
              <a:rPr lang="en-US" altLang="ko-KR" sz="3200" dirty="0">
                <a:latin typeface="+mn-ea"/>
              </a:rPr>
              <a:t> </a:t>
            </a:r>
          </a:p>
          <a:p>
            <a:pPr marL="457200" indent="-457200">
              <a:lnSpc>
                <a:spcPct val="150000"/>
              </a:lnSpc>
              <a:buFont typeface="Arial" panose="020B0604020202020204" pitchFamily="34" charset="0"/>
              <a:buChar char="•"/>
            </a:pPr>
            <a:endParaRPr lang="en-US" altLang="ko-KR" sz="3200" dirty="0">
              <a:latin typeface="+mn-ea"/>
            </a:endParaRPr>
          </a:p>
          <a:p>
            <a:pPr marL="457200" indent="-457200">
              <a:lnSpc>
                <a:spcPct val="150000"/>
              </a:lnSpc>
              <a:buFont typeface="Arial" panose="020B0604020202020204" pitchFamily="34" charset="0"/>
              <a:buChar char="•"/>
            </a:pPr>
            <a:endParaRPr lang="en-US" altLang="ko-KR" sz="3200" dirty="0">
              <a:latin typeface="+mn-ea"/>
            </a:endParaRPr>
          </a:p>
          <a:p>
            <a:pPr marL="457200" indent="-457200">
              <a:lnSpc>
                <a:spcPct val="150000"/>
              </a:lnSpc>
              <a:buFont typeface="Arial" panose="020B0604020202020204" pitchFamily="34" charset="0"/>
              <a:buChar char="•"/>
            </a:pPr>
            <a:endParaRPr lang="en-US" altLang="ko-KR" sz="3200" dirty="0">
              <a:latin typeface="+mn-ea"/>
            </a:endParaRPr>
          </a:p>
        </p:txBody>
      </p:sp>
      <p:pic>
        <p:nvPicPr>
          <p:cNvPr id="2" name="그림 1" descr="\documentclass{article}&#10;\usepackage{amsmath}&#10;\pagestyle{empty}&#10;\begin{document}&#10;&#10;&#10;$&#10;\mathbf{M}(\mathbf{q})\,\dot{\mathbf{v}}_{q}&#10;+ \mathbf{h}(\mathbf{q},\mathbf{v}_{q})&#10;= \mathbf{S}^{\top}\boldsymbol{\tau}_a&#10;  + \mathbf{J}(\mathbf{q})^{\top}\mathbf{f}&#10;$&#10;&#10;\end{document}" title="IguanaTex Bitmap Display">
            <a:extLst>
              <a:ext uri="{FF2B5EF4-FFF2-40B4-BE49-F238E27FC236}">
                <a16:creationId xmlns:a16="http://schemas.microsoft.com/office/drawing/2014/main" id="{0A65FAD9-31AC-CF64-6458-54A08F9EA888}"/>
              </a:ext>
            </a:extLst>
          </p:cNvPr>
          <p:cNvPicPr>
            <a:picLocks noChangeAspect="1"/>
          </p:cNvPicPr>
          <p:nvPr>
            <p:custDataLst>
              <p:tags r:id="rId1"/>
            </p:custDataLst>
          </p:nvPr>
        </p:nvPicPr>
        <p:blipFill>
          <a:blip r:embed="rId7" cstate="print">
            <a:extLst>
              <a:ext uri="{28A0092B-C50C-407E-A947-70E740481C1C}">
                <a14:useLocalDpi xmlns:a14="http://schemas.microsoft.com/office/drawing/2010/main" val="0"/>
              </a:ext>
            </a:extLst>
          </a:blip>
          <a:stretch>
            <a:fillRect/>
          </a:stretch>
        </p:blipFill>
        <p:spPr>
          <a:xfrm>
            <a:off x="7809600" y="4191000"/>
            <a:ext cx="8764800" cy="604800"/>
          </a:xfrm>
          <a:prstGeom prst="rect">
            <a:avLst/>
          </a:prstGeom>
        </p:spPr>
      </p:pic>
      <p:pic>
        <p:nvPicPr>
          <p:cNvPr id="5" name="그림 4" descr="\documentclass{article}&#10;\usepackage{amsmath}&#10;\pagestyle{empty}&#10;\begin{document}&#10;&#10;&#10;$&#10;\mathbf{M} =&#10;\begin{bmatrix}&#10;\mathbf{M}_u \\[2pt] \mathbf{M}_a&#10;\end{bmatrix},&#10;\quad&#10;\mathbf{h} =&#10;\begin{bmatrix}&#10;\mathbf{h}_u \\[2pt] \mathbf{h}_a&#10;\end{bmatrix},&#10;\quad&#10;\mathbf{J} =&#10;\begin{bmatrix}&#10;\mathbf{J}_u \\[2pt] \mathbf{J}_a&#10;\end{bmatrix}&#10;$&#10;&#10;\end{document}" title="IguanaTex Bitmap Display">
            <a:extLst>
              <a:ext uri="{FF2B5EF4-FFF2-40B4-BE49-F238E27FC236}">
                <a16:creationId xmlns:a16="http://schemas.microsoft.com/office/drawing/2014/main" id="{8704AE63-107C-EA1D-DBF9-0E2CA0A0C4CA}"/>
              </a:ext>
            </a:extLst>
          </p:cNvPr>
          <p:cNvPicPr>
            <a:picLocks noChangeAspect="1"/>
          </p:cNvPicPr>
          <p:nvPr>
            <p:custDataLst>
              <p:tags r:id="rId2"/>
            </p:custDataLst>
          </p:nvPr>
        </p:nvPicPr>
        <p:blipFill>
          <a:blip r:embed="rId8" cstate="print">
            <a:extLst>
              <a:ext uri="{28A0092B-C50C-407E-A947-70E740481C1C}">
                <a14:useLocalDpi xmlns:a14="http://schemas.microsoft.com/office/drawing/2010/main" val="0"/>
              </a:ext>
            </a:extLst>
          </a:blip>
          <a:stretch>
            <a:fillRect/>
          </a:stretch>
        </p:blipFill>
        <p:spPr>
          <a:xfrm>
            <a:off x="8476800" y="11542348"/>
            <a:ext cx="7430400" cy="1094400"/>
          </a:xfrm>
          <a:prstGeom prst="rect">
            <a:avLst/>
          </a:prstGeom>
        </p:spPr>
      </p:pic>
      <p:pic>
        <p:nvPicPr>
          <p:cNvPr id="9" name="그림 8" descr="\documentclass{article}&#10;\usepackage{amsmath}&#10;\pagestyle{empty}&#10;\begin{document}&#10;&#10;&#10;$&#10;\mathbf{M}_u(\mathbf{q})\,\dot{\mathbf{v}}_{q}&#10;+ \mathbf{h}_u(\mathbf{q},\mathbf{v}_{q})&#10;= \mathbf{J}_u(\mathbf{q})^{\top}\mathbf{f}&#10;$&#10;&#10;\end{document}" title="IguanaTex Bitmap Display">
            <a:extLst>
              <a:ext uri="{FF2B5EF4-FFF2-40B4-BE49-F238E27FC236}">
                <a16:creationId xmlns:a16="http://schemas.microsoft.com/office/drawing/2014/main" id="{F3BEB744-0D05-10B7-20A1-770000125443}"/>
              </a:ext>
            </a:extLst>
          </p:cNvPr>
          <p:cNvPicPr>
            <a:picLocks noChangeAspect="1"/>
          </p:cNvPicPr>
          <p:nvPr>
            <p:custDataLst>
              <p:tags r:id="rId3"/>
            </p:custDataLst>
          </p:nvPr>
        </p:nvPicPr>
        <p:blipFill>
          <a:blip r:embed="rId9" cstate="print">
            <a:extLst>
              <a:ext uri="{28A0092B-C50C-407E-A947-70E740481C1C}">
                <a14:useLocalDpi xmlns:a14="http://schemas.microsoft.com/office/drawing/2010/main" val="0"/>
              </a:ext>
            </a:extLst>
          </a:blip>
          <a:stretch>
            <a:fillRect/>
          </a:stretch>
        </p:blipFill>
        <p:spPr>
          <a:xfrm>
            <a:off x="7887647" y="7924800"/>
            <a:ext cx="8608706" cy="681057"/>
          </a:xfrm>
          <a:prstGeom prst="rect">
            <a:avLst/>
          </a:prstGeom>
        </p:spPr>
      </p:pic>
      <p:pic>
        <p:nvPicPr>
          <p:cNvPr id="12" name="그림 11" descr="\documentclass{article}&#10;\usepackage{amsmath}&#10;\pagestyle{empty}&#10;\begin{document}&#10;&#10;&#10;$&#10;\mathbf{M}_a(\mathbf{q})\,\dot{\mathbf{v}}_{q}&#10;+ \mathbf{h}_a(\mathbf{q},\mathbf{v}_{q})&#10;= \boldsymbol{\tau}_a + \mathbf{J}_a(\mathbf{q})^{\top}\mathbf{f}&#10;$&#10;&#10;\end{document}" title="IguanaTex Bitmap Display">
            <a:extLst>
              <a:ext uri="{FF2B5EF4-FFF2-40B4-BE49-F238E27FC236}">
                <a16:creationId xmlns:a16="http://schemas.microsoft.com/office/drawing/2014/main" id="{72BF9432-9A26-0BAF-FAFF-9DB4EEE995F5}"/>
              </a:ext>
            </a:extLst>
          </p:cNvPr>
          <p:cNvPicPr>
            <a:picLocks noChangeAspect="1"/>
          </p:cNvPicPr>
          <p:nvPr>
            <p:custDataLst>
              <p:tags r:id="rId4"/>
            </p:custDataLst>
          </p:nvPr>
        </p:nvPicPr>
        <p:blipFill>
          <a:blip r:embed="rId10" cstate="print">
            <a:extLst>
              <a:ext uri="{28A0092B-C50C-407E-A947-70E740481C1C}">
                <a14:useLocalDpi xmlns:a14="http://schemas.microsoft.com/office/drawing/2010/main" val="0"/>
              </a:ext>
            </a:extLst>
          </a:blip>
          <a:stretch>
            <a:fillRect/>
          </a:stretch>
        </p:blipFill>
        <p:spPr>
          <a:xfrm>
            <a:off x="7887647" y="9313049"/>
            <a:ext cx="9949198" cy="681057"/>
          </a:xfrm>
          <a:prstGeom prst="rect">
            <a:avLst/>
          </a:prstGeom>
        </p:spPr>
      </p:pic>
    </p:spTree>
    <p:extLst>
      <p:ext uri="{BB962C8B-B14F-4D97-AF65-F5344CB8AC3E}">
        <p14:creationId xmlns:p14="http://schemas.microsoft.com/office/powerpoint/2010/main" val="39990372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471C9-1FE5-7FAC-AD3B-DF9754F6FDB0}"/>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70F657CE-A27A-1C81-FB3D-2254CCA8AC6E}"/>
              </a:ext>
            </a:extLst>
          </p:cNvPr>
          <p:cNvSpPr/>
          <p:nvPr/>
        </p:nvSpPr>
        <p:spPr>
          <a:xfrm>
            <a:off x="0" y="0"/>
            <a:ext cx="821042" cy="13716000"/>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794CB84A-183B-06D1-F70E-8DC79AD722FE}"/>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F24584FB-608B-1216-4253-F0E8286B487B}"/>
              </a:ext>
            </a:extLst>
          </p:cNvPr>
          <p:cNvSpPr txBox="1"/>
          <p:nvPr/>
        </p:nvSpPr>
        <p:spPr>
          <a:xfrm>
            <a:off x="1600200" y="609600"/>
            <a:ext cx="13182600" cy="990600"/>
          </a:xfrm>
          <a:prstGeom prst="rect">
            <a:avLst/>
          </a:prstGeom>
        </p:spPr>
        <p:txBody>
          <a:bodyPr lIns="0" tIns="101600" rIns="0" bIns="0" rtlCol="0" anchor="t"/>
          <a:lstStyle/>
          <a:p>
            <a:pPr lvl="0" algn="l">
              <a:lnSpc>
                <a:spcPct val="99600"/>
              </a:lnSpc>
            </a:pPr>
            <a:r>
              <a:rPr lang="ko-KR" altLang="en-US" sz="6000" b="1" dirty="0">
                <a:solidFill>
                  <a:srgbClr val="000000"/>
                </a:solidFill>
                <a:latin typeface="Arial" panose="020B0604020202020204" pitchFamily="34" charset="0"/>
                <a:cs typeface="Arial" panose="020B0604020202020204" pitchFamily="34" charset="0"/>
              </a:rPr>
              <a:t>어떻게 제어를 할 것인가</a:t>
            </a:r>
            <a:endParaRPr lang="en" sz="6000" b="1" i="0" u="none" strike="noStrike" dirty="0">
              <a:solidFill>
                <a:srgbClr val="00000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B6E0C256-9DD2-1ADC-6822-0EF92950B9CF}"/>
              </a:ext>
            </a:extLst>
          </p:cNvPr>
          <p:cNvSpPr txBox="1"/>
          <p:nvPr/>
        </p:nvSpPr>
        <p:spPr>
          <a:xfrm>
            <a:off x="2086897" y="2244213"/>
            <a:ext cx="21154103" cy="9507474"/>
          </a:xfrm>
          <a:prstGeom prst="rect">
            <a:avLst/>
          </a:prstGeom>
          <a:noFill/>
        </p:spPr>
        <p:txBody>
          <a:bodyPr wrap="square">
            <a:spAutoFit/>
          </a:bodyPr>
          <a:lstStyle/>
          <a:p>
            <a:pPr>
              <a:lnSpc>
                <a:spcPct val="150000"/>
              </a:lnSpc>
            </a:pPr>
            <a:r>
              <a:rPr lang="ko-KR" altLang="en-US" sz="4400" b="1" dirty="0"/>
              <a:t>제어 목표를 “태스크 함수” </a:t>
            </a:r>
            <a:r>
              <a:rPr lang="en-US" altLang="ko-KR" sz="4400" b="1" dirty="0"/>
              <a:t>e</a:t>
            </a:r>
            <a:r>
              <a:rPr lang="ko-KR" altLang="en-US" sz="4400" b="1" dirty="0"/>
              <a:t>로 정의하고</a:t>
            </a:r>
            <a:r>
              <a:rPr lang="en-US" altLang="ko-KR" sz="4400" b="1" dirty="0"/>
              <a:t>, </a:t>
            </a:r>
            <a:r>
              <a:rPr lang="ko-KR" altLang="en-US" sz="4400" b="1" dirty="0"/>
              <a:t>이 값을 </a:t>
            </a:r>
            <a:r>
              <a:rPr lang="en-US" altLang="ko-KR" sz="4400" b="1" dirty="0"/>
              <a:t>0</a:t>
            </a:r>
            <a:r>
              <a:rPr lang="ko-KR" altLang="en-US" sz="4400" b="1" dirty="0"/>
              <a:t>으로 수렴시키는 문제로 바꾼다</a:t>
            </a:r>
          </a:p>
          <a:p>
            <a:pPr>
              <a:lnSpc>
                <a:spcPct val="150000"/>
              </a:lnSpc>
            </a:pPr>
            <a:endParaRPr lang="en-US" altLang="ko-KR" sz="3200" dirty="0">
              <a:latin typeface="+mn-ea"/>
            </a:endParaRPr>
          </a:p>
          <a:p>
            <a:pPr marL="457200" indent="-457200">
              <a:lnSpc>
                <a:spcPct val="150000"/>
              </a:lnSpc>
              <a:buFont typeface="Arial" panose="020B0604020202020204" pitchFamily="34" charset="0"/>
              <a:buChar char="•"/>
            </a:pPr>
            <a:r>
              <a:rPr lang="ko-KR" altLang="en-US" sz="3200" dirty="0">
                <a:latin typeface="+mn-ea"/>
              </a:rPr>
              <a:t>오차</a:t>
            </a:r>
            <a:r>
              <a:rPr lang="en-US" altLang="ko-KR" sz="3200" dirty="0">
                <a:latin typeface="+mn-ea"/>
              </a:rPr>
              <a:t>(error)</a:t>
            </a:r>
            <a:r>
              <a:rPr lang="ko-KR" altLang="en-US" sz="3200" dirty="0">
                <a:latin typeface="+mn-ea"/>
              </a:rPr>
              <a:t>가 최소</a:t>
            </a:r>
            <a:r>
              <a:rPr lang="en-US" altLang="ko-KR" sz="3200" dirty="0">
                <a:latin typeface="+mn-ea"/>
              </a:rPr>
              <a:t>(=0)</a:t>
            </a:r>
            <a:r>
              <a:rPr lang="ko-KR" altLang="en-US" sz="3200" dirty="0">
                <a:latin typeface="+mn-ea"/>
              </a:rPr>
              <a:t>이 되도록 한다</a:t>
            </a:r>
            <a:endParaRPr lang="en-US" altLang="ko-KR" sz="3200" dirty="0">
              <a:latin typeface="+mn-ea"/>
            </a:endParaRPr>
          </a:p>
          <a:p>
            <a:pPr marL="457200" indent="-457200">
              <a:lnSpc>
                <a:spcPct val="150000"/>
              </a:lnSpc>
              <a:buFont typeface="Arial" panose="020B0604020202020204" pitchFamily="34" charset="0"/>
              <a:buChar char="•"/>
            </a:pPr>
            <a:endParaRPr lang="en-US" altLang="ko-KR" sz="3200" dirty="0">
              <a:latin typeface="+mn-ea"/>
            </a:endParaRPr>
          </a:p>
          <a:p>
            <a:pPr marL="457200" indent="-457200">
              <a:lnSpc>
                <a:spcPct val="150000"/>
              </a:lnSpc>
              <a:buFont typeface="Arial" panose="020B0604020202020204" pitchFamily="34" charset="0"/>
              <a:buChar char="•"/>
            </a:pPr>
            <a:endParaRPr lang="en-US" altLang="ko-KR" sz="3200" dirty="0">
              <a:latin typeface="+mn-ea"/>
            </a:endParaRPr>
          </a:p>
          <a:p>
            <a:pPr marL="457200" indent="-457200">
              <a:lnSpc>
                <a:spcPct val="150000"/>
              </a:lnSpc>
              <a:buFont typeface="Arial" panose="020B0604020202020204" pitchFamily="34" charset="0"/>
              <a:buChar char="•"/>
            </a:pPr>
            <a:endParaRPr lang="en-US" altLang="ko-KR" sz="3200" dirty="0">
              <a:latin typeface="+mn-ea"/>
            </a:endParaRPr>
          </a:p>
          <a:p>
            <a:pPr marL="457200" indent="-457200">
              <a:lnSpc>
                <a:spcPct val="250000"/>
              </a:lnSpc>
              <a:buFont typeface="Arial" panose="020B0604020202020204" pitchFamily="34" charset="0"/>
              <a:buChar char="•"/>
            </a:pPr>
            <a:r>
              <a:rPr lang="ko-KR" altLang="en-US" sz="3200" b="1" dirty="0"/>
              <a:t>세가지</a:t>
            </a:r>
            <a:r>
              <a:rPr lang="en-US" altLang="ko-KR" sz="3200" b="1" dirty="0"/>
              <a:t> </a:t>
            </a:r>
            <a:r>
              <a:rPr lang="ko-KR" altLang="en-US" sz="3200" b="1" dirty="0"/>
              <a:t>종류의 태스크 함수 </a:t>
            </a:r>
            <a:r>
              <a:rPr lang="en-US" altLang="ko-KR" sz="3200" b="1" dirty="0"/>
              <a:t>:</a:t>
            </a:r>
          </a:p>
          <a:p>
            <a:pPr>
              <a:lnSpc>
                <a:spcPct val="250000"/>
              </a:lnSpc>
            </a:pPr>
            <a:r>
              <a:rPr lang="en-US" altLang="ko-KR" sz="3200" b="1" dirty="0">
                <a:latin typeface="+mn-ea"/>
              </a:rPr>
              <a:t>	1. </a:t>
            </a:r>
            <a:r>
              <a:rPr lang="ko-KR" altLang="en-US" sz="3200" b="1" dirty="0">
                <a:latin typeface="+mn-ea"/>
              </a:rPr>
              <a:t>입력 </a:t>
            </a:r>
            <a:r>
              <a:rPr lang="en-US" altLang="ko-KR" sz="3200" b="1" dirty="0">
                <a:latin typeface="+mn-ea"/>
              </a:rPr>
              <a:t>u</a:t>
            </a:r>
            <a:r>
              <a:rPr lang="ko-KR" altLang="en-US" sz="3200" b="1" dirty="0">
                <a:latin typeface="+mn-ea"/>
              </a:rPr>
              <a:t>에 대한 선형 함수     </a:t>
            </a:r>
            <a:endParaRPr lang="en-US" altLang="ko-KR" sz="3200" b="1" dirty="0">
              <a:latin typeface="+mn-ea"/>
            </a:endParaRPr>
          </a:p>
          <a:p>
            <a:pPr>
              <a:lnSpc>
                <a:spcPct val="250000"/>
              </a:lnSpc>
            </a:pPr>
            <a:r>
              <a:rPr lang="en-US" altLang="ko-KR" sz="3200" b="1" dirty="0">
                <a:latin typeface="+mn-ea"/>
              </a:rPr>
              <a:t>	2. </a:t>
            </a:r>
            <a:r>
              <a:rPr lang="ko-KR" altLang="en-US" sz="3200" b="1" dirty="0">
                <a:latin typeface="+mn-ea"/>
              </a:rPr>
              <a:t>속도 </a:t>
            </a:r>
            <a:r>
              <a:rPr lang="en-US" altLang="ko-KR" sz="3200" b="1" dirty="0">
                <a:latin typeface="+mn-ea"/>
              </a:rPr>
              <a:t>v</a:t>
            </a:r>
            <a:r>
              <a:rPr lang="ko-KR" altLang="en-US" sz="3200" b="1" dirty="0">
                <a:latin typeface="+mn-ea"/>
              </a:rPr>
              <a:t>에 대한 비선형 함수 </a:t>
            </a:r>
            <a:endParaRPr lang="en-US" altLang="ko-KR" sz="3200" b="1" dirty="0">
              <a:latin typeface="+mn-ea"/>
            </a:endParaRPr>
          </a:p>
          <a:p>
            <a:pPr>
              <a:lnSpc>
                <a:spcPct val="250000"/>
              </a:lnSpc>
            </a:pPr>
            <a:r>
              <a:rPr lang="en-US" altLang="ko-KR" sz="3200" b="1" dirty="0">
                <a:latin typeface="+mn-ea"/>
              </a:rPr>
              <a:t>	3. </a:t>
            </a:r>
            <a:r>
              <a:rPr lang="ko-KR" altLang="en-US" sz="3200" b="1" dirty="0">
                <a:latin typeface="+mn-ea"/>
              </a:rPr>
              <a:t>구성 </a:t>
            </a:r>
            <a:r>
              <a:rPr lang="en-US" altLang="ko-KR" sz="3200" b="1" dirty="0">
                <a:latin typeface="+mn-ea"/>
              </a:rPr>
              <a:t>q</a:t>
            </a:r>
            <a:r>
              <a:rPr lang="ko-KR" altLang="en-US" sz="3200" b="1" dirty="0">
                <a:latin typeface="+mn-ea"/>
              </a:rPr>
              <a:t>에 대한 비선형 함수 </a:t>
            </a:r>
            <a:endParaRPr lang="en-US" altLang="ko-KR" sz="3200" b="1" dirty="0">
              <a:latin typeface="+mn-ea"/>
            </a:endParaRPr>
          </a:p>
        </p:txBody>
      </p:sp>
      <p:pic>
        <p:nvPicPr>
          <p:cNvPr id="11" name="그림 10" descr="\documentclass{article}&#10;\usepackage{amsmath}&#10;\pagestyle{empty}&#10;\begin{document}&#10;&#10;&#10;$&#10;\mathbf{e}(\mathbf{x},\mathbf{u},t) = \mathbf{y}(\mathbf{x},\mathbf{u}) - \mathbf{y}^*(t)&#10;$&#10;&#10;\end{document}" title="IguanaTex Bitmap Display">
            <a:extLst>
              <a:ext uri="{FF2B5EF4-FFF2-40B4-BE49-F238E27FC236}">
                <a16:creationId xmlns:a16="http://schemas.microsoft.com/office/drawing/2014/main" id="{3E692E7E-05F9-03E9-1F48-38E4E2EF2488}"/>
              </a:ext>
            </a:extLst>
          </p:cNvPr>
          <p:cNvPicPr>
            <a:picLocks noChangeAspect="1"/>
          </p:cNvPicPr>
          <p:nvPr>
            <p:custDataLst>
              <p:tags r:id="rId1"/>
            </p:custDataLst>
          </p:nvPr>
        </p:nvPicPr>
        <p:blipFill>
          <a:blip r:embed="rId7" cstate="print">
            <a:extLst>
              <a:ext uri="{28A0092B-C50C-407E-A947-70E740481C1C}">
                <a14:useLocalDpi xmlns:a14="http://schemas.microsoft.com/office/drawing/2010/main" val="0"/>
              </a:ext>
            </a:extLst>
          </a:blip>
          <a:stretch>
            <a:fillRect/>
          </a:stretch>
        </p:blipFill>
        <p:spPr>
          <a:xfrm>
            <a:off x="9044448" y="5274004"/>
            <a:ext cx="7239000" cy="630957"/>
          </a:xfrm>
          <a:prstGeom prst="rect">
            <a:avLst/>
          </a:prstGeom>
        </p:spPr>
      </p:pic>
      <p:cxnSp>
        <p:nvCxnSpPr>
          <p:cNvPr id="14" name="직선 연결선 13">
            <a:extLst>
              <a:ext uri="{FF2B5EF4-FFF2-40B4-BE49-F238E27FC236}">
                <a16:creationId xmlns:a16="http://schemas.microsoft.com/office/drawing/2014/main" id="{6ED01695-9A40-652D-8A60-0677EF8BC074}"/>
              </a:ext>
            </a:extLst>
          </p:cNvPr>
          <p:cNvCxnSpPr/>
          <p:nvPr/>
        </p:nvCxnSpPr>
        <p:spPr>
          <a:xfrm>
            <a:off x="12192000" y="5988535"/>
            <a:ext cx="1905000" cy="0"/>
          </a:xfrm>
          <a:prstGeom prst="line">
            <a:avLst/>
          </a:prstGeom>
          <a:ln w="57150">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15" name="직선 연결선 14">
            <a:extLst>
              <a:ext uri="{FF2B5EF4-FFF2-40B4-BE49-F238E27FC236}">
                <a16:creationId xmlns:a16="http://schemas.microsoft.com/office/drawing/2014/main" id="{ED8D42CD-8FE2-C5B8-6743-05CEE0778CC8}"/>
              </a:ext>
            </a:extLst>
          </p:cNvPr>
          <p:cNvCxnSpPr>
            <a:cxnSpLocks/>
          </p:cNvCxnSpPr>
          <p:nvPr/>
        </p:nvCxnSpPr>
        <p:spPr>
          <a:xfrm>
            <a:off x="14782800" y="5988535"/>
            <a:ext cx="1500648" cy="0"/>
          </a:xfrm>
          <a:prstGeom prst="line">
            <a:avLst/>
          </a:prstGeom>
          <a:ln w="57150">
            <a:solidFill>
              <a:srgbClr val="FF0000"/>
            </a:solidFill>
          </a:ln>
        </p:spPr>
        <p:style>
          <a:lnRef idx="1">
            <a:schemeClr val="accent2"/>
          </a:lnRef>
          <a:fillRef idx="0">
            <a:schemeClr val="accent2"/>
          </a:fillRef>
          <a:effectRef idx="0">
            <a:schemeClr val="accent2"/>
          </a:effectRef>
          <a:fontRef idx="minor">
            <a:schemeClr val="tx1"/>
          </a:fontRef>
        </p:style>
      </p:cxnSp>
      <p:sp>
        <p:nvSpPr>
          <p:cNvPr id="19" name="TextBox 18">
            <a:extLst>
              <a:ext uri="{FF2B5EF4-FFF2-40B4-BE49-F238E27FC236}">
                <a16:creationId xmlns:a16="http://schemas.microsoft.com/office/drawing/2014/main" id="{74943313-7B45-08BF-DEB5-F81B0A88E8C6}"/>
              </a:ext>
            </a:extLst>
          </p:cNvPr>
          <p:cNvSpPr txBox="1"/>
          <p:nvPr/>
        </p:nvSpPr>
        <p:spPr>
          <a:xfrm>
            <a:off x="12804058" y="5983619"/>
            <a:ext cx="1521542" cy="523220"/>
          </a:xfrm>
          <a:prstGeom prst="rect">
            <a:avLst/>
          </a:prstGeom>
          <a:noFill/>
        </p:spPr>
        <p:txBody>
          <a:bodyPr wrap="square">
            <a:spAutoFit/>
          </a:bodyPr>
          <a:lstStyle/>
          <a:p>
            <a:r>
              <a:rPr lang="en-US" altLang="ko-KR" sz="2800" b="1" dirty="0"/>
              <a:t>real</a:t>
            </a:r>
            <a:endParaRPr lang="ko-KR" altLang="en-US" sz="2800" b="1" dirty="0"/>
          </a:p>
        </p:txBody>
      </p:sp>
      <p:sp>
        <p:nvSpPr>
          <p:cNvPr id="20" name="TextBox 19">
            <a:extLst>
              <a:ext uri="{FF2B5EF4-FFF2-40B4-BE49-F238E27FC236}">
                <a16:creationId xmlns:a16="http://schemas.microsoft.com/office/drawing/2014/main" id="{D6FAABE3-38F2-2186-D7D5-550DF531309D}"/>
              </a:ext>
            </a:extLst>
          </p:cNvPr>
          <p:cNvSpPr txBox="1"/>
          <p:nvPr/>
        </p:nvSpPr>
        <p:spPr>
          <a:xfrm>
            <a:off x="14782800" y="5983619"/>
            <a:ext cx="1905000" cy="523220"/>
          </a:xfrm>
          <a:prstGeom prst="rect">
            <a:avLst/>
          </a:prstGeom>
          <a:noFill/>
        </p:spPr>
        <p:txBody>
          <a:bodyPr wrap="square">
            <a:spAutoFit/>
          </a:bodyPr>
          <a:lstStyle/>
          <a:p>
            <a:r>
              <a:rPr lang="en-US" altLang="ko-KR" sz="2800" b="1" dirty="0"/>
              <a:t>reference</a:t>
            </a:r>
            <a:endParaRPr lang="ko-KR" altLang="en-US" sz="2800" b="1" dirty="0"/>
          </a:p>
        </p:txBody>
      </p:sp>
      <p:pic>
        <p:nvPicPr>
          <p:cNvPr id="22" name="그림 21" descr="\documentclass{article}&#10;\usepackage{amsmath}&#10;\pagestyle{empty}&#10;\begin{document}&#10;&#10;&#10;$&#10;\mathbf{e}(\mathbf{u},t)=A_u\,\mathbf{u}-\mathbf{a}(t)&#10;$&#10;&#10;\end{document}" title="IguanaTex Bitmap Display">
            <a:extLst>
              <a:ext uri="{FF2B5EF4-FFF2-40B4-BE49-F238E27FC236}">
                <a16:creationId xmlns:a16="http://schemas.microsoft.com/office/drawing/2014/main" id="{8E2CED27-5AC8-48A8-9618-B3807355EB6C}"/>
              </a:ext>
            </a:extLst>
          </p:cNvPr>
          <p:cNvPicPr>
            <a:picLocks noChangeAspect="1"/>
          </p:cNvPicPr>
          <p:nvPr>
            <p:custDataLst>
              <p:tags r:id="rId2"/>
            </p:custDataLst>
          </p:nvPr>
        </p:nvPicPr>
        <p:blipFill>
          <a:blip r:embed="rId8" cstate="print">
            <a:extLst>
              <a:ext uri="{28A0092B-C50C-407E-A947-70E740481C1C}">
                <a14:useLocalDpi xmlns:a14="http://schemas.microsoft.com/office/drawing/2010/main" val="0"/>
              </a:ext>
            </a:extLst>
          </a:blip>
          <a:stretch>
            <a:fillRect/>
          </a:stretch>
        </p:blipFill>
        <p:spPr>
          <a:xfrm>
            <a:off x="8928280" y="8646777"/>
            <a:ext cx="5397320" cy="606155"/>
          </a:xfrm>
          <a:prstGeom prst="rect">
            <a:avLst/>
          </a:prstGeom>
        </p:spPr>
      </p:pic>
      <p:pic>
        <p:nvPicPr>
          <p:cNvPr id="24" name="그림 23" descr="\documentclass{article}&#10;\usepackage{amsmath}&#10;\pagestyle{empty}&#10;\begin{document}&#10;&#10;&#10;$&#10;\mathbf{e}(\mathbf{v}_q,t)=\mathbf{y}(\mathbf{v}_q)-\mathbf{y}^*(t)&#10;$&#10;&#10;\end{document}" title="IguanaTex Bitmap Display">
            <a:extLst>
              <a:ext uri="{FF2B5EF4-FFF2-40B4-BE49-F238E27FC236}">
                <a16:creationId xmlns:a16="http://schemas.microsoft.com/office/drawing/2014/main" id="{EBB7AB91-F82F-154D-40CB-227FA7CDE1F1}"/>
              </a:ext>
            </a:extLst>
          </p:cNvPr>
          <p:cNvPicPr>
            <a:picLocks noChangeAspect="1"/>
          </p:cNvPicPr>
          <p:nvPr>
            <p:custDataLst>
              <p:tags r:id="rId3"/>
            </p:custDataLst>
          </p:nvPr>
        </p:nvPicPr>
        <p:blipFill>
          <a:blip r:embed="rId9" cstate="print">
            <a:extLst>
              <a:ext uri="{28A0092B-C50C-407E-A947-70E740481C1C}">
                <a14:useLocalDpi xmlns:a14="http://schemas.microsoft.com/office/drawing/2010/main" val="0"/>
              </a:ext>
            </a:extLst>
          </a:blip>
          <a:stretch>
            <a:fillRect/>
          </a:stretch>
        </p:blipFill>
        <p:spPr>
          <a:xfrm>
            <a:off x="8928280" y="9896154"/>
            <a:ext cx="5966952" cy="606155"/>
          </a:xfrm>
          <a:prstGeom prst="rect">
            <a:avLst/>
          </a:prstGeom>
        </p:spPr>
      </p:pic>
      <p:pic>
        <p:nvPicPr>
          <p:cNvPr id="26" name="그림 25" descr="\documentclass{article}&#10;\usepackage{amsmath}&#10;\pagestyle{empty}&#10;\begin{document}&#10;&#10;&#10;$&#10;\mathbf{e}(\mathbf{q},t)=\mathbf{y}(\mathbf{q})-\mathbf{y}^*(t)&#10;$&#10;&#10;\end{document}" title="IguanaTex Bitmap Display">
            <a:extLst>
              <a:ext uri="{FF2B5EF4-FFF2-40B4-BE49-F238E27FC236}">
                <a16:creationId xmlns:a16="http://schemas.microsoft.com/office/drawing/2014/main" id="{27926483-BB29-278C-EC48-4F3960A001A6}"/>
              </a:ext>
            </a:extLst>
          </p:cNvPr>
          <p:cNvPicPr>
            <a:picLocks noChangeAspect="1"/>
          </p:cNvPicPr>
          <p:nvPr>
            <p:custDataLst>
              <p:tags r:id="rId4"/>
            </p:custDataLst>
          </p:nvPr>
        </p:nvPicPr>
        <p:blipFill>
          <a:blip r:embed="rId10" cstate="print">
            <a:extLst>
              <a:ext uri="{28A0092B-C50C-407E-A947-70E740481C1C}">
                <a14:useLocalDpi xmlns:a14="http://schemas.microsoft.com/office/drawing/2010/main" val="0"/>
              </a:ext>
            </a:extLst>
          </a:blip>
          <a:stretch>
            <a:fillRect/>
          </a:stretch>
        </p:blipFill>
        <p:spPr>
          <a:xfrm>
            <a:off x="8928280" y="11096620"/>
            <a:ext cx="5647768" cy="606155"/>
          </a:xfrm>
          <a:prstGeom prst="rect">
            <a:avLst/>
          </a:prstGeom>
        </p:spPr>
      </p:pic>
    </p:spTree>
    <p:extLst>
      <p:ext uri="{BB962C8B-B14F-4D97-AF65-F5344CB8AC3E}">
        <p14:creationId xmlns:p14="http://schemas.microsoft.com/office/powerpoint/2010/main" val="34758576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1FA16-8C8E-2E36-AD51-A5BB6F1522AF}"/>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43B2EF3F-39CB-C437-9307-65E6EF5698C6}"/>
              </a:ext>
            </a:extLst>
          </p:cNvPr>
          <p:cNvSpPr/>
          <p:nvPr/>
        </p:nvSpPr>
        <p:spPr>
          <a:xfrm>
            <a:off x="0" y="0"/>
            <a:ext cx="821042" cy="13716000"/>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029D0362-FAA3-46ED-C1EE-B3070EF111F0}"/>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16F2DCD9-2E8E-7E7B-4D48-467C17891C5C}"/>
              </a:ext>
            </a:extLst>
          </p:cNvPr>
          <p:cNvSpPr txBox="1"/>
          <p:nvPr/>
        </p:nvSpPr>
        <p:spPr>
          <a:xfrm>
            <a:off x="1600200" y="609600"/>
            <a:ext cx="13182600" cy="990600"/>
          </a:xfrm>
          <a:prstGeom prst="rect">
            <a:avLst/>
          </a:prstGeom>
        </p:spPr>
        <p:txBody>
          <a:bodyPr lIns="0" tIns="101600" rIns="0" bIns="0" rtlCol="0" anchor="t"/>
          <a:lstStyle/>
          <a:p>
            <a:pPr lvl="0" algn="l">
              <a:lnSpc>
                <a:spcPct val="99600"/>
              </a:lnSpc>
            </a:pPr>
            <a:r>
              <a:rPr lang="ko-KR" altLang="en-US" sz="6000" b="1" dirty="0">
                <a:solidFill>
                  <a:srgbClr val="000000"/>
                </a:solidFill>
                <a:latin typeface="Arial" panose="020B0604020202020204" pitchFamily="34" charset="0"/>
                <a:cs typeface="Arial" panose="020B0604020202020204" pitchFamily="34" charset="0"/>
              </a:rPr>
              <a:t>어떻게 제어를 할 것인가</a:t>
            </a:r>
            <a:endParaRPr lang="en" sz="6000" b="1" i="0" u="none" strike="noStrike" dirty="0">
              <a:solidFill>
                <a:srgbClr val="00000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7E669E5C-A1E6-31BA-67D2-D7A16F776A03}"/>
              </a:ext>
            </a:extLst>
          </p:cNvPr>
          <p:cNvSpPr txBox="1"/>
          <p:nvPr/>
        </p:nvSpPr>
        <p:spPr>
          <a:xfrm>
            <a:off x="2086897" y="2244213"/>
            <a:ext cx="21154103" cy="8676478"/>
          </a:xfrm>
          <a:prstGeom prst="rect">
            <a:avLst/>
          </a:prstGeom>
          <a:noFill/>
        </p:spPr>
        <p:txBody>
          <a:bodyPr wrap="square">
            <a:spAutoFit/>
          </a:bodyPr>
          <a:lstStyle/>
          <a:p>
            <a:pPr>
              <a:lnSpc>
                <a:spcPct val="150000"/>
              </a:lnSpc>
            </a:pPr>
            <a:r>
              <a:rPr lang="ko-KR" altLang="en-US" sz="4400" b="1" dirty="0"/>
              <a:t>제어 목표를 “태스크 함수” </a:t>
            </a:r>
            <a:r>
              <a:rPr lang="en-US" altLang="ko-KR" sz="4400" b="1" dirty="0"/>
              <a:t>e</a:t>
            </a:r>
            <a:r>
              <a:rPr lang="ko-KR" altLang="en-US" sz="4400" b="1" dirty="0"/>
              <a:t>로 정의하고</a:t>
            </a:r>
            <a:r>
              <a:rPr lang="en-US" altLang="ko-KR" sz="4400" b="1" dirty="0"/>
              <a:t>, </a:t>
            </a:r>
            <a:r>
              <a:rPr lang="ko-KR" altLang="en-US" sz="4400" b="1" dirty="0"/>
              <a:t>이 값을 </a:t>
            </a:r>
            <a:r>
              <a:rPr lang="en-US" altLang="ko-KR" sz="4400" b="1" dirty="0"/>
              <a:t>0</a:t>
            </a:r>
            <a:r>
              <a:rPr lang="ko-KR" altLang="en-US" sz="4400" b="1" dirty="0"/>
              <a:t>으로 수렴시키는 문제로 바꾼다</a:t>
            </a:r>
          </a:p>
          <a:p>
            <a:pPr>
              <a:lnSpc>
                <a:spcPct val="150000"/>
              </a:lnSpc>
            </a:pPr>
            <a:endParaRPr lang="en-US" altLang="ko-KR" sz="3200" dirty="0">
              <a:latin typeface="+mn-ea"/>
            </a:endParaRPr>
          </a:p>
          <a:p>
            <a:pPr marL="457200" indent="-457200">
              <a:lnSpc>
                <a:spcPct val="150000"/>
              </a:lnSpc>
              <a:buFont typeface="Arial" panose="020B0604020202020204" pitchFamily="34" charset="0"/>
              <a:buChar char="•"/>
            </a:pPr>
            <a:r>
              <a:rPr lang="ko-KR" altLang="en-US" sz="3200" dirty="0">
                <a:latin typeface="+mn-ea"/>
              </a:rPr>
              <a:t>오차</a:t>
            </a:r>
            <a:r>
              <a:rPr lang="en-US" altLang="ko-KR" sz="3200" dirty="0">
                <a:latin typeface="+mn-ea"/>
              </a:rPr>
              <a:t>(error)</a:t>
            </a:r>
            <a:r>
              <a:rPr lang="ko-KR" altLang="en-US" sz="3200" dirty="0">
                <a:latin typeface="+mn-ea"/>
              </a:rPr>
              <a:t>가 최소</a:t>
            </a:r>
            <a:r>
              <a:rPr lang="en-US" altLang="ko-KR" sz="3200" dirty="0">
                <a:latin typeface="+mn-ea"/>
              </a:rPr>
              <a:t>(=0)</a:t>
            </a:r>
            <a:r>
              <a:rPr lang="ko-KR" altLang="en-US" sz="3200" dirty="0">
                <a:latin typeface="+mn-ea"/>
              </a:rPr>
              <a:t>이 되도록 한다</a:t>
            </a:r>
            <a:endParaRPr lang="en-US" altLang="ko-KR" sz="3200" dirty="0">
              <a:latin typeface="+mn-ea"/>
            </a:endParaRPr>
          </a:p>
          <a:p>
            <a:pPr marL="457200" indent="-457200">
              <a:lnSpc>
                <a:spcPct val="150000"/>
              </a:lnSpc>
              <a:buFont typeface="Arial" panose="020B0604020202020204" pitchFamily="34" charset="0"/>
              <a:buChar char="•"/>
            </a:pPr>
            <a:endParaRPr lang="en-US" altLang="ko-KR" sz="3200" dirty="0">
              <a:latin typeface="+mn-ea"/>
            </a:endParaRPr>
          </a:p>
          <a:p>
            <a:pPr marL="457200" indent="-457200">
              <a:lnSpc>
                <a:spcPct val="150000"/>
              </a:lnSpc>
              <a:buFont typeface="Arial" panose="020B0604020202020204" pitchFamily="34" charset="0"/>
              <a:buChar char="•"/>
            </a:pPr>
            <a:endParaRPr lang="en-US" altLang="ko-KR" sz="3200" dirty="0">
              <a:latin typeface="+mn-ea"/>
            </a:endParaRPr>
          </a:p>
          <a:p>
            <a:pPr marL="457200" indent="-457200">
              <a:lnSpc>
                <a:spcPct val="150000"/>
              </a:lnSpc>
              <a:buFont typeface="Arial" panose="020B0604020202020204" pitchFamily="34" charset="0"/>
              <a:buChar char="•"/>
            </a:pPr>
            <a:endParaRPr lang="en-US" altLang="ko-KR" sz="3200" dirty="0">
              <a:latin typeface="+mn-ea"/>
            </a:endParaRPr>
          </a:p>
          <a:p>
            <a:pPr marL="457200" indent="-457200">
              <a:lnSpc>
                <a:spcPct val="150000"/>
              </a:lnSpc>
              <a:buFont typeface="Arial" panose="020B0604020202020204" pitchFamily="34" charset="0"/>
              <a:buChar char="•"/>
            </a:pPr>
            <a:endParaRPr lang="en-US" altLang="ko-KR" sz="3200" dirty="0">
              <a:latin typeface="+mn-ea"/>
            </a:endParaRPr>
          </a:p>
          <a:p>
            <a:pPr>
              <a:lnSpc>
                <a:spcPct val="150000"/>
              </a:lnSpc>
            </a:pPr>
            <a:endParaRPr lang="en-US" altLang="ko-KR" sz="3200" dirty="0">
              <a:latin typeface="+mn-ea"/>
            </a:endParaRPr>
          </a:p>
          <a:p>
            <a:pPr>
              <a:lnSpc>
                <a:spcPct val="150000"/>
              </a:lnSpc>
            </a:pPr>
            <a:r>
              <a:rPr kumimoji="0" lang="ko-KR" altLang="en-US" sz="4400" b="1" i="0" u="none" strike="noStrike" kern="1200" cap="none" spc="0" normalizeH="0" baseline="0" noProof="0" dirty="0">
                <a:ln>
                  <a:noFill/>
                </a:ln>
                <a:solidFill>
                  <a:prstClr val="black"/>
                </a:solidFill>
                <a:effectLst/>
                <a:uLnTx/>
                <a:uFillTx/>
                <a:latin typeface="Calibri"/>
                <a:ea typeface="맑은 고딕" panose="020B0503020000020004" pitchFamily="50" charset="-127"/>
                <a:cs typeface="+mn-cs"/>
              </a:rPr>
              <a:t>                     함수가                                                 가 되도록 시스템을 설계하는 문제로 바뀜</a:t>
            </a:r>
            <a:endParaRPr lang="en-US" altLang="ko-KR" sz="3200" dirty="0">
              <a:latin typeface="+mn-ea"/>
            </a:endParaRPr>
          </a:p>
          <a:p>
            <a:pPr marL="457200" indent="-457200">
              <a:lnSpc>
                <a:spcPct val="150000"/>
              </a:lnSpc>
              <a:buFont typeface="Arial" panose="020B0604020202020204" pitchFamily="34" charset="0"/>
              <a:buChar char="•"/>
            </a:pPr>
            <a:endParaRPr lang="en-US" altLang="ko-KR" sz="3200" dirty="0">
              <a:latin typeface="+mn-ea"/>
            </a:endParaRPr>
          </a:p>
          <a:p>
            <a:pPr marL="457200" indent="-457200">
              <a:lnSpc>
                <a:spcPct val="150000"/>
              </a:lnSpc>
              <a:buFont typeface="Arial" panose="020B0604020202020204" pitchFamily="34" charset="0"/>
              <a:buChar char="•"/>
            </a:pPr>
            <a:endParaRPr lang="en-US" altLang="ko-KR" sz="3200" b="1" dirty="0">
              <a:latin typeface="+mn-ea"/>
            </a:endParaRPr>
          </a:p>
        </p:txBody>
      </p:sp>
      <p:pic>
        <p:nvPicPr>
          <p:cNvPr id="2" name="그림 1" descr="\documentclass{article}&#10;\usepackage{amsmath}&#10;\pagestyle{empty}&#10;\begin{document}&#10;&#10;&#10;$&#10;\mathbf{e}(\mathbf{x},\mathbf{u},t) = \mathbf{y}(\mathbf{x},\mathbf{u}) - \mathbf{y}^*(t)&#10;$&#10;&#10;\end{document}" title="IguanaTex Bitmap Display">
            <a:extLst>
              <a:ext uri="{FF2B5EF4-FFF2-40B4-BE49-F238E27FC236}">
                <a16:creationId xmlns:a16="http://schemas.microsoft.com/office/drawing/2014/main" id="{38FB44CB-F37A-4F5B-5096-384CB34A3A10}"/>
              </a:ext>
            </a:extLst>
          </p:cNvPr>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9044448" y="5274004"/>
            <a:ext cx="7239000" cy="630957"/>
          </a:xfrm>
          <a:prstGeom prst="rect">
            <a:avLst/>
          </a:prstGeom>
        </p:spPr>
      </p:pic>
      <p:pic>
        <p:nvPicPr>
          <p:cNvPr id="7" name="그림 6" descr="\documentclass{article}&#10;\usepackage{amsmath}&#10;\pagestyle{empty}&#10;\begin{document}&#10;&#10;&#10;$&#10;\mathbf{e}(\mathbf{x},\mathbf{u},t)&#10;$&#10;&#10;\end{document}" title="IguanaTex Bitmap Display">
            <a:extLst>
              <a:ext uri="{FF2B5EF4-FFF2-40B4-BE49-F238E27FC236}">
                <a16:creationId xmlns:a16="http://schemas.microsoft.com/office/drawing/2014/main" id="{56C7897C-DB31-AD2B-7135-4EE591EF7FE9}"/>
              </a:ext>
            </a:extLst>
          </p:cNvPr>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2209800" y="8610600"/>
            <a:ext cx="2508671" cy="686800"/>
          </a:xfrm>
          <a:prstGeom prst="rect">
            <a:avLst/>
          </a:prstGeom>
        </p:spPr>
      </p:pic>
      <p:pic>
        <p:nvPicPr>
          <p:cNvPr id="12" name="그림 11" descr="\documentclass{article}&#10;\usepackage{amsmath}&#10;\pagestyle{empty}&#10;\begin{document}&#10;&#10;&#10;$&#10; \lim_{t\to\infty}\mathbf{e}(\mathbf{x},\mathbf{u},t)=\mathbf{0}\&#10;$&#10;&#10;\end{document}" title="IguanaTex Bitmap Display">
            <a:extLst>
              <a:ext uri="{FF2B5EF4-FFF2-40B4-BE49-F238E27FC236}">
                <a16:creationId xmlns:a16="http://schemas.microsoft.com/office/drawing/2014/main" id="{DD2C29E5-3000-3BE2-2F10-1D2669E27AFE}"/>
              </a:ext>
            </a:extLst>
          </p:cNvPr>
          <p:cNvPicPr>
            <a:picLocks noChangeAspect="1"/>
          </p:cNvPicPr>
          <p:nvPr>
            <p:custDataLst>
              <p:tags r:id="rId3"/>
            </p:custDataLst>
          </p:nvPr>
        </p:nvPicPr>
        <p:blipFill>
          <a:blip r:embed="rId8" cstate="print">
            <a:extLst>
              <a:ext uri="{28A0092B-C50C-407E-A947-70E740481C1C}">
                <a14:useLocalDpi xmlns:a14="http://schemas.microsoft.com/office/drawing/2010/main" val="0"/>
              </a:ext>
            </a:extLst>
          </a:blip>
          <a:stretch>
            <a:fillRect/>
          </a:stretch>
        </p:blipFill>
        <p:spPr>
          <a:xfrm>
            <a:off x="6835346" y="8666443"/>
            <a:ext cx="5731508" cy="630957"/>
          </a:xfrm>
          <a:prstGeom prst="rect">
            <a:avLst/>
          </a:prstGeom>
        </p:spPr>
      </p:pic>
    </p:spTree>
    <p:extLst>
      <p:ext uri="{BB962C8B-B14F-4D97-AF65-F5344CB8AC3E}">
        <p14:creationId xmlns:p14="http://schemas.microsoft.com/office/powerpoint/2010/main" val="21551452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12DA2-5BEE-A95F-BE7F-9FB8FBB96D9C}"/>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D20F56D4-AF8D-DA5E-F885-BD0F2E6F13F3}"/>
              </a:ext>
            </a:extLst>
          </p:cNvPr>
          <p:cNvSpPr/>
          <p:nvPr/>
        </p:nvSpPr>
        <p:spPr>
          <a:xfrm>
            <a:off x="0" y="0"/>
            <a:ext cx="821042" cy="13716000"/>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38B8C7AD-4B31-3CC6-2806-95A4CC13637B}"/>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C15A9097-BDAF-14C0-A7A0-50A541E21C1C}"/>
              </a:ext>
            </a:extLst>
          </p:cNvPr>
          <p:cNvSpPr txBox="1"/>
          <p:nvPr/>
        </p:nvSpPr>
        <p:spPr>
          <a:xfrm>
            <a:off x="1600200" y="609600"/>
            <a:ext cx="13182600" cy="990600"/>
          </a:xfrm>
          <a:prstGeom prst="rect">
            <a:avLst/>
          </a:prstGeom>
        </p:spPr>
        <p:txBody>
          <a:bodyPr lIns="0" tIns="101600" rIns="0" bIns="0" rtlCol="0" anchor="t"/>
          <a:lstStyle/>
          <a:p>
            <a:pPr lvl="0" algn="l">
              <a:lnSpc>
                <a:spcPct val="99600"/>
              </a:lnSpc>
            </a:pPr>
            <a:r>
              <a:rPr lang="ko-KR" altLang="en-US" sz="6000" b="1" dirty="0" err="1">
                <a:solidFill>
                  <a:srgbClr val="000000"/>
                </a:solidFill>
                <a:latin typeface="Arial" panose="020B0604020202020204" pitchFamily="34" charset="0"/>
                <a:cs typeface="Arial" panose="020B0604020202020204" pitchFamily="34" charset="0"/>
              </a:rPr>
              <a:t>오차동역학</a:t>
            </a:r>
            <a:r>
              <a:rPr lang="ko-KR" altLang="en-US" sz="6000" b="1" dirty="0">
                <a:solidFill>
                  <a:srgbClr val="000000"/>
                </a:solidFill>
                <a:latin typeface="Arial" panose="020B0604020202020204" pitchFamily="34" charset="0"/>
                <a:cs typeface="Arial" panose="020B0604020202020204" pitchFamily="34" charset="0"/>
              </a:rPr>
              <a:t> 복습</a:t>
            </a:r>
            <a:endParaRPr lang="en" sz="6000" b="1" i="0" u="none" strike="noStrike" dirty="0">
              <a:solidFill>
                <a:srgbClr val="00000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F320BE82-B345-AD19-C697-2777E534CAD2}"/>
              </a:ext>
            </a:extLst>
          </p:cNvPr>
          <p:cNvSpPr txBox="1"/>
          <p:nvPr/>
        </p:nvSpPr>
        <p:spPr>
          <a:xfrm>
            <a:off x="2086897" y="2244213"/>
            <a:ext cx="21154103" cy="3690497"/>
          </a:xfrm>
          <a:prstGeom prst="rect">
            <a:avLst/>
          </a:prstGeom>
          <a:noFill/>
        </p:spPr>
        <p:txBody>
          <a:bodyPr wrap="square">
            <a:spAutoFit/>
          </a:bodyPr>
          <a:lstStyle/>
          <a:p>
            <a:pPr marL="457200" indent="-457200">
              <a:lnSpc>
                <a:spcPct val="150000"/>
              </a:lnSpc>
              <a:buFont typeface="Arial" panose="020B0604020202020204" pitchFamily="34" charset="0"/>
              <a:buChar char="•"/>
            </a:pPr>
            <a:r>
              <a:rPr lang="ko-KR" altLang="en-US" sz="3200" dirty="0">
                <a:latin typeface="+mn-ea"/>
              </a:rPr>
              <a:t>공학수학</a:t>
            </a:r>
            <a:r>
              <a:rPr lang="en-US" altLang="ko-KR" sz="3200" dirty="0">
                <a:latin typeface="+mn-ea"/>
              </a:rPr>
              <a:t>, </a:t>
            </a:r>
            <a:r>
              <a:rPr lang="ko-KR" altLang="en-US" sz="3200" dirty="0">
                <a:latin typeface="+mn-ea"/>
              </a:rPr>
              <a:t>기계진동 등에서 수렴을 시키는 시스템을 설계할 때 많이 사용되는 수학적 기법</a:t>
            </a:r>
            <a:endParaRPr lang="en-US" altLang="ko-KR" sz="3200" dirty="0">
              <a:latin typeface="+mn-ea"/>
            </a:endParaRPr>
          </a:p>
          <a:p>
            <a:pPr marL="457200" indent="-457200">
              <a:lnSpc>
                <a:spcPct val="150000"/>
              </a:lnSpc>
              <a:buFont typeface="Arial" panose="020B0604020202020204" pitchFamily="34" charset="0"/>
              <a:buChar char="•"/>
            </a:pPr>
            <a:endParaRPr lang="en-US" altLang="ko-KR" sz="3200" dirty="0">
              <a:latin typeface="+mn-ea"/>
            </a:endParaRPr>
          </a:p>
          <a:p>
            <a:pPr marL="457200" indent="-457200">
              <a:lnSpc>
                <a:spcPct val="150000"/>
              </a:lnSpc>
              <a:buFont typeface="Arial" panose="020B0604020202020204" pitchFamily="34" charset="0"/>
              <a:buChar char="•"/>
            </a:pPr>
            <a:r>
              <a:rPr lang="ko-KR" altLang="en-US" sz="3200" dirty="0"/>
              <a:t>다양한 </a:t>
            </a:r>
            <a:r>
              <a:rPr lang="ko-KR" altLang="en-US" sz="3200" b="1" dirty="0"/>
              <a:t>선형</a:t>
            </a:r>
            <a:r>
              <a:rPr lang="en-US" altLang="ko-KR" sz="3200" b="1" dirty="0"/>
              <a:t>/</a:t>
            </a:r>
            <a:r>
              <a:rPr lang="ko-KR" altLang="en-US" sz="3200" b="1" dirty="0"/>
              <a:t>비선형</a:t>
            </a:r>
            <a:r>
              <a:rPr lang="ko-KR" altLang="en-US" sz="3200" dirty="0"/>
              <a:t> 수렴 형태가 존재</a:t>
            </a:r>
            <a:r>
              <a:rPr lang="en-US" altLang="ko-KR" sz="3200" dirty="0"/>
              <a:t> &gt;  </a:t>
            </a:r>
            <a:r>
              <a:rPr lang="ko-KR" altLang="en-US" sz="3200" dirty="0"/>
              <a:t>대표적으로 </a:t>
            </a:r>
            <a:r>
              <a:rPr lang="en-US" altLang="ko-KR" sz="3200" dirty="0"/>
              <a:t>1</a:t>
            </a:r>
            <a:r>
              <a:rPr lang="ko-KR" altLang="en-US" sz="3200" dirty="0"/>
              <a:t>차</a:t>
            </a:r>
            <a:r>
              <a:rPr lang="en-US" altLang="ko-KR" sz="3200" dirty="0"/>
              <a:t>, 2</a:t>
            </a:r>
            <a:r>
              <a:rPr lang="ko-KR" altLang="en-US" sz="3200" dirty="0"/>
              <a:t>차 미분방정식이 존재</a:t>
            </a:r>
            <a:endParaRPr lang="en-US" altLang="ko-KR" sz="3200" dirty="0"/>
          </a:p>
          <a:p>
            <a:pPr marL="457200" indent="-457200">
              <a:lnSpc>
                <a:spcPct val="150000"/>
              </a:lnSpc>
              <a:buFont typeface="Arial" panose="020B0604020202020204" pitchFamily="34" charset="0"/>
              <a:buChar char="•"/>
            </a:pPr>
            <a:endParaRPr lang="en-US" altLang="ko-KR" sz="3200" b="1" dirty="0">
              <a:latin typeface="+mn-ea"/>
            </a:endParaRPr>
          </a:p>
          <a:p>
            <a:pPr marL="457200" indent="-457200">
              <a:lnSpc>
                <a:spcPct val="150000"/>
              </a:lnSpc>
              <a:buFont typeface="Arial" panose="020B0604020202020204" pitchFamily="34" charset="0"/>
              <a:buChar char="•"/>
            </a:pPr>
            <a:r>
              <a:rPr lang="en-US" altLang="ko-KR" sz="3200" b="1" dirty="0">
                <a:latin typeface="+mn-ea"/>
              </a:rPr>
              <a:t>1</a:t>
            </a:r>
            <a:r>
              <a:rPr lang="ko-KR" altLang="en-US" sz="3200" b="1" dirty="0">
                <a:latin typeface="+mn-ea"/>
              </a:rPr>
              <a:t>차</a:t>
            </a:r>
            <a:r>
              <a:rPr lang="en-US" altLang="ko-KR" sz="3200" b="1" dirty="0">
                <a:latin typeface="+mn-ea"/>
              </a:rPr>
              <a:t>, 2</a:t>
            </a:r>
            <a:r>
              <a:rPr lang="ko-KR" altLang="en-US" sz="3200" b="1" dirty="0">
                <a:latin typeface="+mn-ea"/>
              </a:rPr>
              <a:t>차 미분방정식을 만족하는 시스템일 경우  </a:t>
            </a:r>
            <a:r>
              <a:rPr lang="ko-KR" altLang="en-US" sz="3200" b="1" dirty="0">
                <a:latin typeface="굴림" panose="020B0600000101010101" pitchFamily="50" charset="-127"/>
                <a:ea typeface="굴림" panose="020B0600000101010101" pitchFamily="50" charset="-127"/>
              </a:rPr>
              <a:t>→  </a:t>
            </a:r>
            <a:r>
              <a:rPr lang="ko-KR" altLang="en-US" sz="3200" b="1" dirty="0" err="1">
                <a:solidFill>
                  <a:srgbClr val="FF0000"/>
                </a:solidFill>
                <a:latin typeface="+mn-ea"/>
              </a:rPr>
              <a:t>수렴성</a:t>
            </a:r>
            <a:r>
              <a:rPr lang="ko-KR" altLang="en-US" sz="3200" b="1" dirty="0">
                <a:solidFill>
                  <a:srgbClr val="FF0000"/>
                </a:solidFill>
                <a:latin typeface="+mn-ea"/>
              </a:rPr>
              <a:t> 보장</a:t>
            </a:r>
            <a:endParaRPr lang="en-US" altLang="ko-KR" sz="3200" b="1" dirty="0">
              <a:solidFill>
                <a:srgbClr val="FF0000"/>
              </a:solidFill>
              <a:latin typeface="+mn-ea"/>
            </a:endParaRPr>
          </a:p>
        </p:txBody>
      </p:sp>
      <p:pic>
        <p:nvPicPr>
          <p:cNvPr id="12" name="그림 11" descr="\documentclass{article}&#10;\usepackage{amsmath}&#10;\pagestyle{empty}&#10;\begin{document}&#10;&#10;&#10;$&#10; \lim_{t\to\infty}\mathbf{e}(\mathbf{x},\mathbf{u},t)=\mathbf{0}\&#10;$&#10;&#10;\end{document}" title="IguanaTex Bitmap Display">
            <a:extLst>
              <a:ext uri="{FF2B5EF4-FFF2-40B4-BE49-F238E27FC236}">
                <a16:creationId xmlns:a16="http://schemas.microsoft.com/office/drawing/2014/main" id="{7D3DEB83-8FB1-253F-1667-A200A923BFB2}"/>
              </a:ext>
            </a:extLst>
          </p:cNvPr>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7620000" y="941439"/>
            <a:ext cx="5731508" cy="630957"/>
          </a:xfrm>
          <a:prstGeom prst="rect">
            <a:avLst/>
          </a:prstGeom>
        </p:spPr>
      </p:pic>
      <p:pic>
        <p:nvPicPr>
          <p:cNvPr id="8" name="그림 7">
            <a:extLst>
              <a:ext uri="{FF2B5EF4-FFF2-40B4-BE49-F238E27FC236}">
                <a16:creationId xmlns:a16="http://schemas.microsoft.com/office/drawing/2014/main" id="{64FDA1ED-6B22-8BC9-CFE5-33D529CD3D3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338996" y="6580249"/>
            <a:ext cx="11134191" cy="6068951"/>
          </a:xfrm>
          <a:prstGeom prst="rect">
            <a:avLst/>
          </a:prstGeom>
        </p:spPr>
      </p:pic>
      <p:pic>
        <p:nvPicPr>
          <p:cNvPr id="10" name="그림 9">
            <a:extLst>
              <a:ext uri="{FF2B5EF4-FFF2-40B4-BE49-F238E27FC236}">
                <a16:creationId xmlns:a16="http://schemas.microsoft.com/office/drawing/2014/main" id="{3A408495-FA34-11C6-EA6E-5169E83F76B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07760" y="6580249"/>
            <a:ext cx="10524853" cy="5948829"/>
          </a:xfrm>
          <a:prstGeom prst="rect">
            <a:avLst/>
          </a:prstGeom>
        </p:spPr>
      </p:pic>
    </p:spTree>
    <p:extLst>
      <p:ext uri="{BB962C8B-B14F-4D97-AF65-F5344CB8AC3E}">
        <p14:creationId xmlns:p14="http://schemas.microsoft.com/office/powerpoint/2010/main" val="39494112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D1BD2-D427-F1D6-13F1-7B9A69B8ADA1}"/>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2EDF51F2-6C2A-9D61-B1BC-A81FD8F526E4}"/>
              </a:ext>
            </a:extLst>
          </p:cNvPr>
          <p:cNvSpPr/>
          <p:nvPr/>
        </p:nvSpPr>
        <p:spPr>
          <a:xfrm>
            <a:off x="0" y="0"/>
            <a:ext cx="821042" cy="13716000"/>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59CA0F7A-4CE1-1816-2754-9F63DC56D672}"/>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93C3D973-5569-B568-7E37-7905B603A5CC}"/>
              </a:ext>
            </a:extLst>
          </p:cNvPr>
          <p:cNvSpPr txBox="1"/>
          <p:nvPr/>
        </p:nvSpPr>
        <p:spPr>
          <a:xfrm>
            <a:off x="1600200" y="609600"/>
            <a:ext cx="13182600" cy="990600"/>
          </a:xfrm>
          <a:prstGeom prst="rect">
            <a:avLst/>
          </a:prstGeom>
        </p:spPr>
        <p:txBody>
          <a:bodyPr lIns="0" tIns="101600" rIns="0" bIns="0" rtlCol="0" anchor="t"/>
          <a:lstStyle/>
          <a:p>
            <a:pPr lvl="0" algn="l">
              <a:lnSpc>
                <a:spcPct val="99600"/>
              </a:lnSpc>
            </a:pPr>
            <a:r>
              <a:rPr lang="ko-KR" altLang="en-US" sz="6000" b="1" dirty="0" err="1">
                <a:solidFill>
                  <a:srgbClr val="000000"/>
                </a:solidFill>
                <a:latin typeface="Arial" panose="020B0604020202020204" pitchFamily="34" charset="0"/>
                <a:cs typeface="Arial" panose="020B0604020202020204" pitchFamily="34" charset="0"/>
              </a:rPr>
              <a:t>오차동역학</a:t>
            </a:r>
            <a:r>
              <a:rPr lang="ko-KR" altLang="en-US" sz="6000" b="1" dirty="0">
                <a:solidFill>
                  <a:srgbClr val="000000"/>
                </a:solidFill>
                <a:latin typeface="Arial" panose="020B0604020202020204" pitchFamily="34" charset="0"/>
                <a:cs typeface="Arial" panose="020B0604020202020204" pitchFamily="34" charset="0"/>
              </a:rPr>
              <a:t> 복습</a:t>
            </a:r>
            <a:endParaRPr lang="en" sz="6000" b="1" i="0" u="none" strike="noStrike" dirty="0">
              <a:solidFill>
                <a:srgbClr val="00000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D10D331E-8BB1-05BB-A31D-7362999C4C0F}"/>
              </a:ext>
            </a:extLst>
          </p:cNvPr>
          <p:cNvSpPr txBox="1"/>
          <p:nvPr/>
        </p:nvSpPr>
        <p:spPr>
          <a:xfrm>
            <a:off x="2086897" y="2244213"/>
            <a:ext cx="21154103" cy="732380"/>
          </a:xfrm>
          <a:prstGeom prst="rect">
            <a:avLst/>
          </a:prstGeom>
          <a:noFill/>
        </p:spPr>
        <p:txBody>
          <a:bodyPr wrap="square">
            <a:spAutoFit/>
          </a:bodyPr>
          <a:lstStyle/>
          <a:p>
            <a:pPr marL="457200" indent="-457200">
              <a:lnSpc>
                <a:spcPct val="150000"/>
              </a:lnSpc>
              <a:buFont typeface="Arial" panose="020B0604020202020204" pitchFamily="34" charset="0"/>
              <a:buChar char="•"/>
            </a:pPr>
            <a:r>
              <a:rPr lang="ko-KR" altLang="en-US" sz="3200" b="1" dirty="0">
                <a:latin typeface="+mn-ea"/>
              </a:rPr>
              <a:t>따라서 </a:t>
            </a:r>
            <a:r>
              <a:rPr lang="en-US" altLang="ko-KR" sz="3200" b="1" dirty="0">
                <a:latin typeface="+mn-ea"/>
              </a:rPr>
              <a:t>1</a:t>
            </a:r>
            <a:r>
              <a:rPr lang="ko-KR" altLang="en-US" sz="3200" b="1" dirty="0">
                <a:latin typeface="+mn-ea"/>
              </a:rPr>
              <a:t>차</a:t>
            </a:r>
            <a:r>
              <a:rPr lang="en-US" altLang="ko-KR" sz="3200" b="1" dirty="0">
                <a:latin typeface="+mn-ea"/>
              </a:rPr>
              <a:t>, 2</a:t>
            </a:r>
            <a:r>
              <a:rPr lang="ko-KR" altLang="en-US" sz="3200" b="1" dirty="0">
                <a:latin typeface="+mn-ea"/>
              </a:rPr>
              <a:t>차 미분방정식을 만족하는 시스템이라 </a:t>
            </a:r>
            <a:r>
              <a:rPr lang="ko-KR" altLang="en-US" sz="3200" b="1" dirty="0">
                <a:solidFill>
                  <a:srgbClr val="FF0000"/>
                </a:solidFill>
                <a:latin typeface="+mn-ea"/>
              </a:rPr>
              <a:t>가정하고 시작</a:t>
            </a:r>
            <a:endParaRPr lang="en-US" altLang="ko-KR" sz="3200" b="1" dirty="0">
              <a:solidFill>
                <a:srgbClr val="FF0000"/>
              </a:solidFill>
              <a:latin typeface="+mn-ea"/>
            </a:endParaRPr>
          </a:p>
        </p:txBody>
      </p:sp>
      <p:pic>
        <p:nvPicPr>
          <p:cNvPr id="12" name="그림 11" descr="\documentclass{article}&#10;\usepackage{amsmath}&#10;\pagestyle{empty}&#10;\begin{document}&#10;&#10;&#10;$&#10; \lim_{t\to\infty}\mathbf{e}(\mathbf{x},\mathbf{u},t)=\mathbf{0}\&#10;$&#10;&#10;\end{document}" title="IguanaTex Bitmap Display">
            <a:extLst>
              <a:ext uri="{FF2B5EF4-FFF2-40B4-BE49-F238E27FC236}">
                <a16:creationId xmlns:a16="http://schemas.microsoft.com/office/drawing/2014/main" id="{C6D136EE-1293-F421-33CB-30AB8F79CE2C}"/>
              </a:ext>
            </a:extLst>
          </p:cNvPr>
          <p:cNvPicPr>
            <a:picLocks noChangeAspect="1"/>
          </p:cNvPicPr>
          <p:nvPr>
            <p:custDataLst>
              <p:tags r:id="rId1"/>
            </p:custDataLst>
          </p:nvPr>
        </p:nvPicPr>
        <p:blipFill>
          <a:blip r:embed="rId7" cstate="print">
            <a:extLst>
              <a:ext uri="{28A0092B-C50C-407E-A947-70E740481C1C}">
                <a14:useLocalDpi xmlns:a14="http://schemas.microsoft.com/office/drawing/2010/main" val="0"/>
              </a:ext>
            </a:extLst>
          </a:blip>
          <a:stretch>
            <a:fillRect/>
          </a:stretch>
        </p:blipFill>
        <p:spPr>
          <a:xfrm>
            <a:off x="7620000" y="941439"/>
            <a:ext cx="5731508" cy="630957"/>
          </a:xfrm>
          <a:prstGeom prst="rect">
            <a:avLst/>
          </a:prstGeom>
        </p:spPr>
      </p:pic>
      <p:pic>
        <p:nvPicPr>
          <p:cNvPr id="2" name="그림 1">
            <a:extLst>
              <a:ext uri="{FF2B5EF4-FFF2-40B4-BE49-F238E27FC236}">
                <a16:creationId xmlns:a16="http://schemas.microsoft.com/office/drawing/2014/main" id="{20201877-7A57-FC08-3938-30947FE639A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2069938" y="3620606"/>
            <a:ext cx="11134191" cy="6068951"/>
          </a:xfrm>
          <a:prstGeom prst="rect">
            <a:avLst/>
          </a:prstGeom>
        </p:spPr>
      </p:pic>
      <p:pic>
        <p:nvPicPr>
          <p:cNvPr id="5" name="그림 4">
            <a:extLst>
              <a:ext uri="{FF2B5EF4-FFF2-40B4-BE49-F238E27FC236}">
                <a16:creationId xmlns:a16="http://schemas.microsoft.com/office/drawing/2014/main" id="{7FFB8D06-77C7-CAEE-3EFA-43E5452AF1D7}"/>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38702" y="3620606"/>
            <a:ext cx="10524853" cy="5948829"/>
          </a:xfrm>
          <a:prstGeom prst="rect">
            <a:avLst/>
          </a:prstGeom>
        </p:spPr>
      </p:pic>
      <p:pic>
        <p:nvPicPr>
          <p:cNvPr id="9" name="그림 8" descr="\documentclass{article}&#10;\usepackage{amsmath}&#10;\pagestyle{empty}&#10;\begin{document}&#10;&#10;&#10;$&#10;\dot e(t) = -k\,e(t), \qquad k&gt;0&#10;$&#10;&#10;\end{document}" title="IguanaTex Bitmap Display">
            <a:extLst>
              <a:ext uri="{FF2B5EF4-FFF2-40B4-BE49-F238E27FC236}">
                <a16:creationId xmlns:a16="http://schemas.microsoft.com/office/drawing/2014/main" id="{F10A9F42-6C17-640B-9277-9B5E9BFC4A50}"/>
              </a:ext>
            </a:extLst>
          </p:cNvPr>
          <p:cNvPicPr>
            <a:picLocks noChangeAspect="1"/>
          </p:cNvPicPr>
          <p:nvPr>
            <p:custDataLst>
              <p:tags r:id="rId2"/>
            </p:custDataLst>
          </p:nvPr>
        </p:nvPicPr>
        <p:blipFill>
          <a:blip r:embed="rId10" cstate="print">
            <a:extLst>
              <a:ext uri="{28A0092B-C50C-407E-A947-70E740481C1C}">
                <a14:useLocalDpi xmlns:a14="http://schemas.microsoft.com/office/drawing/2010/main" val="0"/>
              </a:ext>
            </a:extLst>
          </a:blip>
          <a:stretch>
            <a:fillRect/>
          </a:stretch>
        </p:blipFill>
        <p:spPr>
          <a:xfrm>
            <a:off x="4114800" y="10213448"/>
            <a:ext cx="5731200" cy="534400"/>
          </a:xfrm>
          <a:prstGeom prst="rect">
            <a:avLst/>
          </a:prstGeom>
        </p:spPr>
      </p:pic>
      <p:pic>
        <p:nvPicPr>
          <p:cNvPr id="13" name="그림 12" descr="\documentclass{article}&#10;\usepackage{amsmath}&#10;\pagestyle{empty}&#10;\begin{document}&#10;&#10;&#10;$&#10;e(0)=e_0 \quad \Rightarrow \quad e(t)=e_0\,e^{-k t}&#10;$&#10;&#10;\end{document}" title="IguanaTex Bitmap Display">
            <a:extLst>
              <a:ext uri="{FF2B5EF4-FFF2-40B4-BE49-F238E27FC236}">
                <a16:creationId xmlns:a16="http://schemas.microsoft.com/office/drawing/2014/main" id="{A5B35BCE-E8FF-9BDE-CE8A-502DAA02212E}"/>
              </a:ext>
            </a:extLst>
          </p:cNvPr>
          <p:cNvPicPr>
            <a:picLocks noChangeAspect="1"/>
          </p:cNvPicPr>
          <p:nvPr>
            <p:custDataLst>
              <p:tags r:id="rId3"/>
            </p:custDataLst>
          </p:nvPr>
        </p:nvPicPr>
        <p:blipFill>
          <a:blip r:embed="rId11" cstate="print">
            <a:extLst>
              <a:ext uri="{28A0092B-C50C-407E-A947-70E740481C1C}">
                <a14:useLocalDpi xmlns:a14="http://schemas.microsoft.com/office/drawing/2010/main" val="0"/>
              </a:ext>
            </a:extLst>
          </a:blip>
          <a:stretch>
            <a:fillRect/>
          </a:stretch>
        </p:blipFill>
        <p:spPr>
          <a:xfrm>
            <a:off x="3733800" y="11887200"/>
            <a:ext cx="7078400" cy="585600"/>
          </a:xfrm>
          <a:prstGeom prst="rect">
            <a:avLst/>
          </a:prstGeom>
        </p:spPr>
      </p:pic>
      <p:pic>
        <p:nvPicPr>
          <p:cNvPr id="15" name="그림 14" descr="\documentclass{article}&#10;\usepackage{amsmath}&#10;\pagestyle{empty}&#10;\begin{document}&#10;&#10;&#10;$&#10;\ddot e(t) + 2\zeta\omega_n \dot e(t) + \omega_n^2 e(t) = 0,&#10;\qquad \omega_n&gt;0,\ \zeta&gt;0&#10;$&#10;&#10;\end{document}" title="IguanaTex Bitmap Display">
            <a:extLst>
              <a:ext uri="{FF2B5EF4-FFF2-40B4-BE49-F238E27FC236}">
                <a16:creationId xmlns:a16="http://schemas.microsoft.com/office/drawing/2014/main" id="{5101ECDA-9D4B-9649-A556-D90EFEAE9C96}"/>
              </a:ext>
            </a:extLst>
          </p:cNvPr>
          <p:cNvPicPr>
            <a:picLocks noChangeAspect="1"/>
          </p:cNvPicPr>
          <p:nvPr>
            <p:custDataLst>
              <p:tags r:id="rId4"/>
            </p:custDataLst>
          </p:nvPr>
        </p:nvPicPr>
        <p:blipFill>
          <a:blip r:embed="rId12" cstate="print">
            <a:extLst>
              <a:ext uri="{28A0092B-C50C-407E-A947-70E740481C1C}">
                <a14:useLocalDpi xmlns:a14="http://schemas.microsoft.com/office/drawing/2010/main" val="0"/>
              </a:ext>
            </a:extLst>
          </a:blip>
          <a:stretch>
            <a:fillRect/>
          </a:stretch>
        </p:blipFill>
        <p:spPr>
          <a:xfrm>
            <a:off x="12663948" y="10169132"/>
            <a:ext cx="11116800" cy="572800"/>
          </a:xfrm>
          <a:prstGeom prst="rect">
            <a:avLst/>
          </a:prstGeom>
        </p:spPr>
      </p:pic>
      <p:sp>
        <p:nvSpPr>
          <p:cNvPr id="16" name="TextBox 15">
            <a:extLst>
              <a:ext uri="{FF2B5EF4-FFF2-40B4-BE49-F238E27FC236}">
                <a16:creationId xmlns:a16="http://schemas.microsoft.com/office/drawing/2014/main" id="{33106130-705B-13F3-1241-D8DB08BE5361}"/>
              </a:ext>
            </a:extLst>
          </p:cNvPr>
          <p:cNvSpPr txBox="1"/>
          <p:nvPr/>
        </p:nvSpPr>
        <p:spPr>
          <a:xfrm>
            <a:off x="15470132" y="11813810"/>
            <a:ext cx="5504432" cy="732380"/>
          </a:xfrm>
          <a:prstGeom prst="rect">
            <a:avLst/>
          </a:prstGeom>
          <a:noFill/>
        </p:spPr>
        <p:txBody>
          <a:bodyPr wrap="square">
            <a:spAutoFit/>
          </a:bodyPr>
          <a:lstStyle/>
          <a:p>
            <a:pPr>
              <a:lnSpc>
                <a:spcPct val="150000"/>
              </a:lnSpc>
            </a:pPr>
            <a:r>
              <a:rPr lang="en-US" altLang="ko-KR" sz="3200" dirty="0">
                <a:latin typeface="+mn-ea"/>
              </a:rPr>
              <a:t>Under/Critical/Over damped</a:t>
            </a:r>
          </a:p>
        </p:txBody>
      </p:sp>
    </p:spTree>
    <p:extLst>
      <p:ext uri="{BB962C8B-B14F-4D97-AF65-F5344CB8AC3E}">
        <p14:creationId xmlns:p14="http://schemas.microsoft.com/office/powerpoint/2010/main" val="10891991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29385-C342-C60E-8DE3-92EFCC8BD884}"/>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3C5E4094-2662-1BCD-DA65-77E03AE7F787}"/>
              </a:ext>
            </a:extLst>
          </p:cNvPr>
          <p:cNvSpPr/>
          <p:nvPr/>
        </p:nvSpPr>
        <p:spPr>
          <a:xfrm>
            <a:off x="0" y="0"/>
            <a:ext cx="821042" cy="137160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9F2B54F5-D9A4-A46A-3692-D72832E91ADB}"/>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DEB57910-68D7-2707-F806-464FFE9296F1}"/>
              </a:ext>
            </a:extLst>
          </p:cNvPr>
          <p:cNvSpPr txBox="1"/>
          <p:nvPr/>
        </p:nvSpPr>
        <p:spPr>
          <a:xfrm>
            <a:off x="1600200" y="609600"/>
            <a:ext cx="13182600" cy="990600"/>
          </a:xfrm>
          <a:prstGeom prst="rect">
            <a:avLst/>
          </a:prstGeom>
        </p:spPr>
        <p:txBody>
          <a:bodyPr lIns="0" tIns="101600" rIns="0" bIns="0" rtlCol="0" anchor="t"/>
          <a:lstStyle/>
          <a:p>
            <a:pPr lvl="0">
              <a:lnSpc>
                <a:spcPct val="99600"/>
              </a:lnSpc>
            </a:pPr>
            <a:r>
              <a:rPr lang="en-US" sz="6000" b="1" i="0" u="none" strike="noStrike" dirty="0">
                <a:solidFill>
                  <a:srgbClr val="000000"/>
                </a:solidFill>
                <a:latin typeface="Arial" panose="020B0604020202020204" pitchFamily="34" charset="0"/>
                <a:cs typeface="Arial" panose="020B0604020202020204" pitchFamily="34" charset="0"/>
              </a:rPr>
              <a:t>OSC</a:t>
            </a:r>
            <a:r>
              <a:rPr lang="ko-KR" altLang="en-US" sz="6000" b="1" i="0" u="none" strike="noStrike" dirty="0">
                <a:solidFill>
                  <a:srgbClr val="000000"/>
                </a:solidFill>
                <a:latin typeface="Arial" panose="020B0604020202020204" pitchFamily="34" charset="0"/>
                <a:cs typeface="Arial" panose="020B0604020202020204" pitchFamily="34" charset="0"/>
              </a:rPr>
              <a:t> </a:t>
            </a:r>
            <a:r>
              <a:rPr lang="en-US" altLang="ko-KR" sz="6000" b="1" dirty="0">
                <a:solidFill>
                  <a:srgbClr val="000000"/>
                </a:solidFill>
                <a:latin typeface="Arial" panose="020B0604020202020204" pitchFamily="34" charset="0"/>
                <a:cs typeface="Arial" panose="020B0604020202020204" pitchFamily="34" charset="0"/>
              </a:rPr>
              <a:t>(Operational Space Control)</a:t>
            </a:r>
            <a:endParaRPr lang="en" sz="6000" b="1" i="0" u="none" strike="noStrike" dirty="0">
              <a:solidFill>
                <a:srgbClr val="00000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8D87A9BE-65AE-6F1B-4B90-CBE06A71A345}"/>
              </a:ext>
            </a:extLst>
          </p:cNvPr>
          <p:cNvSpPr txBox="1"/>
          <p:nvPr/>
        </p:nvSpPr>
        <p:spPr>
          <a:xfrm>
            <a:off x="2086897" y="2244213"/>
            <a:ext cx="21154103" cy="10630346"/>
          </a:xfrm>
          <a:prstGeom prst="rect">
            <a:avLst/>
          </a:prstGeom>
          <a:noFill/>
        </p:spPr>
        <p:txBody>
          <a:bodyPr wrap="square">
            <a:spAutoFit/>
          </a:bodyPr>
          <a:lstStyle/>
          <a:p>
            <a:pPr marL="457200" indent="-457200">
              <a:lnSpc>
                <a:spcPct val="150000"/>
              </a:lnSpc>
              <a:buFont typeface="Arial" panose="020B0604020202020204" pitchFamily="34" charset="0"/>
              <a:buChar char="•"/>
            </a:pPr>
            <a:r>
              <a:rPr lang="ko-KR" altLang="en-US" sz="3200" dirty="0">
                <a:latin typeface="+mn-ea"/>
              </a:rPr>
              <a:t>목표</a:t>
            </a:r>
            <a:r>
              <a:rPr lang="en-US" altLang="ko-KR" sz="3200" dirty="0">
                <a:latin typeface="+mn-ea"/>
              </a:rPr>
              <a:t>: </a:t>
            </a:r>
            <a:r>
              <a:rPr lang="ko-KR" altLang="en-US" sz="3200" dirty="0">
                <a:latin typeface="+mn-ea"/>
              </a:rPr>
              <a:t>말단</a:t>
            </a:r>
            <a:r>
              <a:rPr lang="en-US" altLang="ko-KR" sz="3200" dirty="0">
                <a:latin typeface="+mn-ea"/>
              </a:rPr>
              <a:t>(EE)</a:t>
            </a:r>
            <a:r>
              <a:rPr lang="ko-KR" altLang="en-US" sz="3200" dirty="0">
                <a:latin typeface="+mn-ea"/>
              </a:rPr>
              <a:t>의 원하는 궤적                  을 조인트 토크    로 바로 만들어 추종</a:t>
            </a:r>
            <a:endParaRPr lang="en-US" altLang="ko-KR" sz="3200" dirty="0">
              <a:latin typeface="+mn-ea"/>
            </a:endParaRPr>
          </a:p>
          <a:p>
            <a:pPr marL="457200" indent="-457200">
              <a:lnSpc>
                <a:spcPct val="150000"/>
              </a:lnSpc>
              <a:buFont typeface="Arial" panose="020B0604020202020204" pitchFamily="34" charset="0"/>
              <a:buChar char="•"/>
            </a:pPr>
            <a:endParaRPr lang="en-US" altLang="ko-KR" sz="3200" dirty="0">
              <a:latin typeface="+mn-ea"/>
            </a:endParaRPr>
          </a:p>
          <a:p>
            <a:pPr marL="457200" indent="-457200">
              <a:lnSpc>
                <a:spcPct val="150000"/>
              </a:lnSpc>
              <a:buFont typeface="Arial" panose="020B0604020202020204" pitchFamily="34" charset="0"/>
              <a:buChar char="•"/>
            </a:pPr>
            <a:r>
              <a:rPr lang="ko-KR" altLang="en-US" sz="3200" dirty="0">
                <a:latin typeface="+mn-ea"/>
              </a:rPr>
              <a:t>주요 식 </a:t>
            </a:r>
            <a:r>
              <a:rPr lang="en-US" altLang="ko-KR" sz="3200" dirty="0">
                <a:latin typeface="+mn-ea"/>
              </a:rPr>
              <a:t>: </a:t>
            </a:r>
          </a:p>
          <a:p>
            <a:pPr>
              <a:lnSpc>
                <a:spcPct val="150000"/>
              </a:lnSpc>
            </a:pPr>
            <a:endParaRPr lang="en-US" altLang="ko-KR" sz="3200" dirty="0">
              <a:latin typeface="+mn-ea"/>
            </a:endParaRPr>
          </a:p>
          <a:p>
            <a:pPr>
              <a:lnSpc>
                <a:spcPct val="150000"/>
              </a:lnSpc>
            </a:pPr>
            <a:r>
              <a:rPr lang="en-US" altLang="ko-KR" sz="3200" dirty="0">
                <a:latin typeface="+mn-ea"/>
              </a:rPr>
              <a:t> </a:t>
            </a:r>
          </a:p>
          <a:p>
            <a:pPr marL="457200" indent="-457200">
              <a:lnSpc>
                <a:spcPct val="150000"/>
              </a:lnSpc>
              <a:buFont typeface="Arial" panose="020B0604020202020204" pitchFamily="34" charset="0"/>
              <a:buChar char="•"/>
            </a:pPr>
            <a:endParaRPr lang="en-US" altLang="ko-KR" sz="3200" dirty="0">
              <a:latin typeface="+mn-ea"/>
            </a:endParaRPr>
          </a:p>
          <a:p>
            <a:pPr marL="457200" indent="-457200">
              <a:lnSpc>
                <a:spcPct val="150000"/>
              </a:lnSpc>
              <a:buFont typeface="Arial" panose="020B0604020202020204" pitchFamily="34" charset="0"/>
              <a:buChar char="•"/>
            </a:pPr>
            <a:endParaRPr lang="en-US" altLang="ko-KR" sz="3200" dirty="0">
              <a:latin typeface="+mn-ea"/>
            </a:endParaRPr>
          </a:p>
          <a:p>
            <a:pPr marL="457200" indent="-457200">
              <a:lnSpc>
                <a:spcPct val="150000"/>
              </a:lnSpc>
              <a:buFont typeface="Arial" panose="020B0604020202020204" pitchFamily="34" charset="0"/>
              <a:buChar char="•"/>
            </a:pPr>
            <a:endParaRPr lang="en-US" altLang="ko-KR" sz="3200" dirty="0">
              <a:latin typeface="+mn-ea"/>
            </a:endParaRPr>
          </a:p>
          <a:p>
            <a:pPr>
              <a:lnSpc>
                <a:spcPct val="150000"/>
              </a:lnSpc>
            </a:pPr>
            <a:r>
              <a:rPr kumimoji="0" lang="ko-KR" altLang="en-US" sz="4400" b="1" i="0" u="none" strike="noStrike" kern="1200" cap="none" spc="0" normalizeH="0" baseline="0" noProof="0" dirty="0">
                <a:ln>
                  <a:noFill/>
                </a:ln>
                <a:solidFill>
                  <a:prstClr val="black"/>
                </a:solidFill>
                <a:effectLst/>
                <a:uLnTx/>
                <a:uFillTx/>
                <a:latin typeface="Calibri"/>
                <a:ea typeface="맑은 고딕" panose="020B0503020000020004" pitchFamily="50" charset="-127"/>
                <a:cs typeface="+mn-cs"/>
              </a:rPr>
              <a:t>장점 </a:t>
            </a:r>
            <a:r>
              <a:rPr kumimoji="0" lang="en-US" altLang="ko-KR" sz="4400" b="1" i="0" u="none" strike="noStrike" kern="1200" cap="none" spc="0" normalizeH="0" baseline="0" noProof="0" dirty="0">
                <a:ln>
                  <a:noFill/>
                </a:ln>
                <a:solidFill>
                  <a:prstClr val="black"/>
                </a:solidFill>
                <a:effectLst/>
                <a:uLnTx/>
                <a:uFillTx/>
                <a:latin typeface="Calibri"/>
                <a:ea typeface="맑은 고딕" panose="020B0503020000020004" pitchFamily="50" charset="-127"/>
                <a:cs typeface="+mn-cs"/>
              </a:rPr>
              <a:t>:</a:t>
            </a:r>
          </a:p>
          <a:p>
            <a:pPr marL="457200" indent="-457200">
              <a:lnSpc>
                <a:spcPct val="150000"/>
              </a:lnSpc>
              <a:buFont typeface="Arial" panose="020B0604020202020204" pitchFamily="34" charset="0"/>
              <a:buChar char="•"/>
            </a:pPr>
            <a:r>
              <a:rPr lang="en-US" altLang="ko-KR" sz="3200" dirty="0">
                <a:latin typeface="+mn-ea"/>
              </a:rPr>
              <a:t>K</a:t>
            </a:r>
            <a:r>
              <a:rPr lang="ko-KR" altLang="en-US" sz="3200" dirty="0">
                <a:latin typeface="+mn-ea"/>
              </a:rPr>
              <a:t> 게인 값</a:t>
            </a:r>
            <a:r>
              <a:rPr lang="en-US" altLang="ko-KR" sz="3200" dirty="0">
                <a:latin typeface="+mn-ea"/>
              </a:rPr>
              <a:t> </a:t>
            </a:r>
            <a:r>
              <a:rPr lang="ko-KR" altLang="en-US" sz="3200" dirty="0">
                <a:latin typeface="+mn-ea"/>
              </a:rPr>
              <a:t>등 말단 성능을 직접 설계</a:t>
            </a:r>
            <a:endParaRPr lang="en-US" altLang="ko-KR" sz="3200" dirty="0">
              <a:latin typeface="+mn-ea"/>
            </a:endParaRPr>
          </a:p>
          <a:p>
            <a:pPr marL="457200" indent="-457200">
              <a:lnSpc>
                <a:spcPct val="150000"/>
              </a:lnSpc>
              <a:buFont typeface="Arial" panose="020B0604020202020204" pitchFamily="34" charset="0"/>
              <a:buChar char="•"/>
            </a:pPr>
            <a:r>
              <a:rPr lang="ko-KR" altLang="en-US" sz="3200" dirty="0">
                <a:latin typeface="+mn-ea"/>
              </a:rPr>
              <a:t>수식이 간단해 개념 습득</a:t>
            </a:r>
            <a:r>
              <a:rPr lang="en-US" altLang="ko-KR" sz="3200" dirty="0">
                <a:latin typeface="+mn-ea"/>
              </a:rPr>
              <a:t>·</a:t>
            </a:r>
            <a:r>
              <a:rPr lang="ko-KR" altLang="en-US" sz="3200" dirty="0">
                <a:latin typeface="+mn-ea"/>
              </a:rPr>
              <a:t>데모가 빠름</a:t>
            </a:r>
            <a:endParaRPr lang="en-US" altLang="ko-KR" sz="3200" dirty="0">
              <a:latin typeface="+mn-ea"/>
            </a:endParaRPr>
          </a:p>
          <a:p>
            <a:pPr marL="457200" indent="-457200">
              <a:lnSpc>
                <a:spcPct val="150000"/>
              </a:lnSpc>
              <a:buFont typeface="Arial" panose="020B0604020202020204" pitchFamily="34" charset="0"/>
              <a:buChar char="•"/>
            </a:pPr>
            <a:r>
              <a:rPr lang="en-US" altLang="ko-KR" sz="3200" dirty="0"/>
              <a:t>OSC</a:t>
            </a:r>
            <a:r>
              <a:rPr lang="ko-KR" altLang="en-US" sz="3200" dirty="0"/>
              <a:t>는 이상적</a:t>
            </a:r>
            <a:r>
              <a:rPr lang="en-US" altLang="ko-KR" sz="3200" dirty="0"/>
              <a:t>·</a:t>
            </a:r>
            <a:r>
              <a:rPr lang="ko-KR" altLang="en-US" sz="3200" dirty="0"/>
              <a:t>무제한 상황에서 말단 제어를 깔끔히 보여준다</a:t>
            </a:r>
            <a:endParaRPr lang="en-US" altLang="ko-KR" sz="3200" dirty="0"/>
          </a:p>
          <a:p>
            <a:pPr>
              <a:lnSpc>
                <a:spcPct val="150000"/>
              </a:lnSpc>
            </a:pPr>
            <a:br>
              <a:rPr lang="en-US" altLang="ko-KR" sz="3200" dirty="0"/>
            </a:br>
            <a:r>
              <a:rPr lang="ko-KR" altLang="en-US" sz="3200" dirty="0"/>
              <a:t>하지만 실제 로봇은 ‘</a:t>
            </a:r>
            <a:r>
              <a:rPr lang="ko-KR" altLang="en-US" sz="3200" dirty="0" err="1"/>
              <a:t>제약’과</a:t>
            </a:r>
            <a:r>
              <a:rPr lang="ko-KR" altLang="en-US" sz="3200" dirty="0"/>
              <a:t> ‘</a:t>
            </a:r>
            <a:r>
              <a:rPr lang="ko-KR" altLang="en-US" sz="3200" dirty="0" err="1"/>
              <a:t>다중과제’가</a:t>
            </a:r>
            <a:r>
              <a:rPr lang="ko-KR" altLang="en-US" sz="3200" dirty="0"/>
              <a:t> 핵심  </a:t>
            </a:r>
            <a:r>
              <a:rPr lang="en-US" altLang="ko-KR" sz="3200" dirty="0"/>
              <a:t>&gt;  </a:t>
            </a:r>
            <a:r>
              <a:rPr lang="ko-KR" altLang="en-US" sz="3200" dirty="0"/>
              <a:t>따라서 </a:t>
            </a:r>
            <a:r>
              <a:rPr lang="en-US" altLang="ko-KR" sz="3200" b="1" dirty="0"/>
              <a:t>TSID</a:t>
            </a:r>
            <a:r>
              <a:rPr lang="en-US" altLang="ko-KR" sz="3200" dirty="0"/>
              <a:t>(</a:t>
            </a:r>
            <a:r>
              <a:rPr lang="ko-KR" altLang="en-US" sz="3200" dirty="0"/>
              <a:t>정식화</a:t>
            </a:r>
            <a:r>
              <a:rPr lang="en-US" altLang="ko-KR" sz="3200" dirty="0"/>
              <a:t>)</a:t>
            </a:r>
            <a:r>
              <a:rPr lang="ko-KR" altLang="en-US" sz="3200" dirty="0"/>
              <a:t>와 </a:t>
            </a:r>
            <a:r>
              <a:rPr lang="en-US" altLang="ko-KR" sz="3200" b="1" dirty="0"/>
              <a:t>QP/HQP</a:t>
            </a:r>
            <a:r>
              <a:rPr lang="en-US" altLang="ko-KR" sz="3200" dirty="0"/>
              <a:t>(</a:t>
            </a:r>
            <a:r>
              <a:rPr lang="ko-KR" altLang="en-US" sz="3200" dirty="0"/>
              <a:t>해결 방식</a:t>
            </a:r>
            <a:r>
              <a:rPr lang="en-US" altLang="ko-KR" sz="3200" dirty="0"/>
              <a:t>)</a:t>
            </a:r>
            <a:r>
              <a:rPr lang="ko-KR" altLang="en-US" sz="3200" dirty="0"/>
              <a:t>가 필요</a:t>
            </a:r>
            <a:endParaRPr lang="en-US" altLang="ko-KR" sz="3200" dirty="0">
              <a:latin typeface="+mn-ea"/>
            </a:endParaRPr>
          </a:p>
        </p:txBody>
      </p:sp>
      <p:pic>
        <p:nvPicPr>
          <p:cNvPr id="2" name="그림 1" descr="\documentclass{article}&#10;\usepackage{amsmath}&#10;\pagestyle{empty}&#10;\begin{document}&#10;&#10;&#10;$&#10;\mathbf{u}&#10;$&#10;&#10;\end{document}" title="IguanaTex Bitmap Display">
            <a:extLst>
              <a:ext uri="{FF2B5EF4-FFF2-40B4-BE49-F238E27FC236}">
                <a16:creationId xmlns:a16="http://schemas.microsoft.com/office/drawing/2014/main" id="{B176CE5F-3C0C-A463-6748-CE6B284B640B}"/>
              </a:ext>
            </a:extLst>
          </p:cNvPr>
          <p:cNvPicPr>
            <a:picLocks noChangeAspect="1"/>
          </p:cNvPicPr>
          <p:nvPr>
            <p:custDataLst>
              <p:tags r:id="rId1"/>
            </p:custDataLst>
          </p:nvPr>
        </p:nvPicPr>
        <p:blipFill>
          <a:blip r:embed="rId9" cstate="print">
            <a:extLst>
              <a:ext uri="{28A0092B-C50C-407E-A947-70E740481C1C}">
                <a14:useLocalDpi xmlns:a14="http://schemas.microsoft.com/office/drawing/2010/main" val="0"/>
              </a:ext>
            </a:extLst>
          </a:blip>
          <a:stretch>
            <a:fillRect/>
          </a:stretch>
        </p:blipFill>
        <p:spPr>
          <a:xfrm>
            <a:off x="13411200" y="2590800"/>
            <a:ext cx="277943" cy="220038"/>
          </a:xfrm>
          <a:prstGeom prst="rect">
            <a:avLst/>
          </a:prstGeom>
        </p:spPr>
      </p:pic>
      <p:pic>
        <p:nvPicPr>
          <p:cNvPr id="7" name="그림 6" descr="\documentclass{article}&#10;\usepackage{amsmath}&#10;\pagestyle{empty}&#10;\begin{document}&#10;&#10;&#10;$&#10;(\mathbf{x}_d,\ \dot{\mathbf{x}}_d,\ \ddot{\mathbf{x}}_d)&#10;$&#10;&#10;\end{document}" title="IguanaTex Bitmap Display">
            <a:extLst>
              <a:ext uri="{FF2B5EF4-FFF2-40B4-BE49-F238E27FC236}">
                <a16:creationId xmlns:a16="http://schemas.microsoft.com/office/drawing/2014/main" id="{67FB22CE-1EE6-737F-4DAD-4C6397E5824C}"/>
              </a:ext>
            </a:extLst>
          </p:cNvPr>
          <p:cNvPicPr>
            <a:picLocks noChangeAspect="1"/>
          </p:cNvPicPr>
          <p:nvPr>
            <p:custDataLst>
              <p:tags r:id="rId2"/>
            </p:custDataLst>
          </p:nvPr>
        </p:nvPicPr>
        <p:blipFill>
          <a:blip r:embed="rId10" cstate="print">
            <a:extLst>
              <a:ext uri="{28A0092B-C50C-407E-A947-70E740481C1C}">
                <a14:useLocalDpi xmlns:a14="http://schemas.microsoft.com/office/drawing/2010/main" val="0"/>
              </a:ext>
            </a:extLst>
          </a:blip>
          <a:stretch>
            <a:fillRect/>
          </a:stretch>
        </p:blipFill>
        <p:spPr>
          <a:xfrm>
            <a:off x="8191500" y="2497238"/>
            <a:ext cx="2167467" cy="407162"/>
          </a:xfrm>
          <a:prstGeom prst="rect">
            <a:avLst/>
          </a:prstGeom>
        </p:spPr>
      </p:pic>
      <p:pic>
        <p:nvPicPr>
          <p:cNvPr id="9" name="그림 8" descr="\documentclass{article}&#10;\usepackage{amsmath}&#10;\pagestyle{empty}&#10;\begin{document}&#10;&#10;&#10;$&#10;\mathbf{e} = \mathbf{x}_d - \mathbf{x}, &#10;\qquad &#10;\dot{\mathbf{e}} = \dot{\mathbf{x}}_d - \mathbf{J}(\mathbf{q})\,\dot{\mathbf{q}}&#10;$&#10;&#10;\end{document}" title="IguanaTex Bitmap Display">
            <a:extLst>
              <a:ext uri="{FF2B5EF4-FFF2-40B4-BE49-F238E27FC236}">
                <a16:creationId xmlns:a16="http://schemas.microsoft.com/office/drawing/2014/main" id="{3788F0C0-0002-1C41-2648-30BC0BF2B6A5}"/>
              </a:ext>
            </a:extLst>
          </p:cNvPr>
          <p:cNvPicPr>
            <a:picLocks noChangeAspect="1"/>
          </p:cNvPicPr>
          <p:nvPr>
            <p:custDataLst>
              <p:tags r:id="rId3"/>
            </p:custDataLst>
          </p:nvPr>
        </p:nvPicPr>
        <p:blipFill>
          <a:blip r:embed="rId11" cstate="print">
            <a:extLst>
              <a:ext uri="{28A0092B-C50C-407E-A947-70E740481C1C}">
                <a14:useLocalDpi xmlns:a14="http://schemas.microsoft.com/office/drawing/2010/main" val="0"/>
              </a:ext>
            </a:extLst>
          </a:blip>
          <a:stretch>
            <a:fillRect/>
          </a:stretch>
        </p:blipFill>
        <p:spPr>
          <a:xfrm>
            <a:off x="4953000" y="3886200"/>
            <a:ext cx="7481600" cy="534400"/>
          </a:xfrm>
          <a:prstGeom prst="rect">
            <a:avLst/>
          </a:prstGeom>
        </p:spPr>
      </p:pic>
      <p:pic>
        <p:nvPicPr>
          <p:cNvPr id="11" name="그림 10" descr="\documentclass{article}&#10;\usepackage{amsmath}&#10;\pagestyle{empty}&#10;\begin{document}&#10;&#10;&#10;$&#10;\mathbf{a}_x^\star &#10;= \ddot{\mathbf{x}}_d + \mathbf{K}_D\,\dot{\mathbf{e}} + \mathbf{K}_P\,\mathbf{e}&#10;$&#10;&#10;\end{document}" title="IguanaTex Bitmap Display">
            <a:extLst>
              <a:ext uri="{FF2B5EF4-FFF2-40B4-BE49-F238E27FC236}">
                <a16:creationId xmlns:a16="http://schemas.microsoft.com/office/drawing/2014/main" id="{DAAF82A6-27A9-0F54-93CE-A81F3B8D7500}"/>
              </a:ext>
            </a:extLst>
          </p:cNvPr>
          <p:cNvPicPr>
            <a:picLocks noChangeAspect="1"/>
          </p:cNvPicPr>
          <p:nvPr>
            <p:custDataLst>
              <p:tags r:id="rId4"/>
            </p:custDataLst>
          </p:nvPr>
        </p:nvPicPr>
        <p:blipFill>
          <a:blip r:embed="rId12" cstate="print">
            <a:extLst>
              <a:ext uri="{28A0092B-C50C-407E-A947-70E740481C1C}">
                <a14:useLocalDpi xmlns:a14="http://schemas.microsoft.com/office/drawing/2010/main" val="0"/>
              </a:ext>
            </a:extLst>
          </a:blip>
          <a:stretch>
            <a:fillRect/>
          </a:stretch>
        </p:blipFill>
        <p:spPr>
          <a:xfrm>
            <a:off x="13085309" y="5429644"/>
            <a:ext cx="5542400" cy="508800"/>
          </a:xfrm>
          <a:prstGeom prst="rect">
            <a:avLst/>
          </a:prstGeom>
        </p:spPr>
      </p:pic>
      <p:pic>
        <p:nvPicPr>
          <p:cNvPr id="19" name="그림 18" descr="\documentclass{article}&#10;\usepackage{amsmath}&#10;\pagestyle{empty}&#10;\begin{document}&#10;&#10;&#10;$&#10;y= \mathbf{J}(\mathbf{q})^{-1}\!\left(\mathbf{a}_x^\star - \dot{\mathbf{J}}(\mathbf{q},\dot{\mathbf{q}})\,\dot{\mathbf{q}}\right)&#10;$&#10;&#10;\end{document}" title="IguanaTex Bitmap Display">
            <a:extLst>
              <a:ext uri="{FF2B5EF4-FFF2-40B4-BE49-F238E27FC236}">
                <a16:creationId xmlns:a16="http://schemas.microsoft.com/office/drawing/2014/main" id="{C2CB5F44-1265-2DE9-47B5-77579EF97147}"/>
              </a:ext>
            </a:extLst>
          </p:cNvPr>
          <p:cNvPicPr>
            <a:picLocks noChangeAspect="1"/>
          </p:cNvPicPr>
          <p:nvPr>
            <p:custDataLst>
              <p:tags r:id="rId5"/>
            </p:custDataLst>
          </p:nvPr>
        </p:nvPicPr>
        <p:blipFill>
          <a:blip r:embed="rId13" cstate="print">
            <a:extLst>
              <a:ext uri="{28A0092B-C50C-407E-A947-70E740481C1C}">
                <a14:useLocalDpi xmlns:a14="http://schemas.microsoft.com/office/drawing/2010/main" val="0"/>
              </a:ext>
            </a:extLst>
          </a:blip>
          <a:stretch>
            <a:fillRect/>
          </a:stretch>
        </p:blipFill>
        <p:spPr>
          <a:xfrm>
            <a:off x="4944915" y="5244123"/>
            <a:ext cx="6368000" cy="956800"/>
          </a:xfrm>
          <a:prstGeom prst="rect">
            <a:avLst/>
          </a:prstGeom>
        </p:spPr>
      </p:pic>
      <p:pic>
        <p:nvPicPr>
          <p:cNvPr id="27" name="그림 26" descr="\documentclass{article}&#10;\usepackage{amsmath}&#10;\pagestyle{empty}&#10;\begin{document}&#10;&#10;&#10;$&#10;\mathbf{u} &#10;= \mathbf{M}(\mathbf{q})\,\ddot{\mathbf{q}} + \mathbf{C}(\mathbf{q},\dot{\mathbf{q}})\,\dot{\mathbf{q}}&#10;  + \mathbf{g}(\mathbf{q})&#10;$&#10;&#10;\end{document}" title="IguanaTex Bitmap Display">
            <a:extLst>
              <a:ext uri="{FF2B5EF4-FFF2-40B4-BE49-F238E27FC236}">
                <a16:creationId xmlns:a16="http://schemas.microsoft.com/office/drawing/2014/main" id="{3B541FF3-B718-8F7F-F130-B45F66B16907}"/>
              </a:ext>
            </a:extLst>
          </p:cNvPr>
          <p:cNvPicPr>
            <a:picLocks noChangeAspect="1"/>
          </p:cNvPicPr>
          <p:nvPr>
            <p:custDataLst>
              <p:tags r:id="rId6"/>
            </p:custDataLst>
          </p:nvPr>
        </p:nvPicPr>
        <p:blipFill>
          <a:blip r:embed="rId14" cstate="print">
            <a:extLst>
              <a:ext uri="{28A0092B-C50C-407E-A947-70E740481C1C}">
                <a14:useLocalDpi xmlns:a14="http://schemas.microsoft.com/office/drawing/2010/main" val="0"/>
              </a:ext>
            </a:extLst>
          </a:blip>
          <a:stretch>
            <a:fillRect/>
          </a:stretch>
        </p:blipFill>
        <p:spPr>
          <a:xfrm>
            <a:off x="4953000" y="7338819"/>
            <a:ext cx="7196800" cy="534400"/>
          </a:xfrm>
          <a:prstGeom prst="rect">
            <a:avLst/>
          </a:prstGeom>
        </p:spPr>
      </p:pic>
      <p:cxnSp>
        <p:nvCxnSpPr>
          <p:cNvPr id="29" name="직선 화살표 연결선 28">
            <a:extLst>
              <a:ext uri="{FF2B5EF4-FFF2-40B4-BE49-F238E27FC236}">
                <a16:creationId xmlns:a16="http://schemas.microsoft.com/office/drawing/2014/main" id="{4CA1B02E-BA70-4F51-ADDC-56B7EC558680}"/>
              </a:ext>
            </a:extLst>
          </p:cNvPr>
          <p:cNvCxnSpPr>
            <a:cxnSpLocks/>
          </p:cNvCxnSpPr>
          <p:nvPr/>
        </p:nvCxnSpPr>
        <p:spPr>
          <a:xfrm>
            <a:off x="5105400" y="6096000"/>
            <a:ext cx="2286000" cy="1066800"/>
          </a:xfrm>
          <a:prstGeom prst="straightConnector1">
            <a:avLst/>
          </a:prstGeom>
          <a:ln w="57150">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4559253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EB4EE-71BF-3C9E-462B-09A876AE3F2C}"/>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A690B4F1-6DFD-6F91-7BD7-DE35EDB475A3}"/>
              </a:ext>
            </a:extLst>
          </p:cNvPr>
          <p:cNvSpPr/>
          <p:nvPr/>
        </p:nvSpPr>
        <p:spPr>
          <a:xfrm>
            <a:off x="0" y="0"/>
            <a:ext cx="821042" cy="137160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4BFE668F-638F-CBB9-1599-8A1AD25588EF}"/>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6B7B0F06-FEEA-D650-EC7C-DFAF81A8877B}"/>
              </a:ext>
            </a:extLst>
          </p:cNvPr>
          <p:cNvSpPr txBox="1"/>
          <p:nvPr/>
        </p:nvSpPr>
        <p:spPr>
          <a:xfrm>
            <a:off x="1600200" y="609600"/>
            <a:ext cx="13182600" cy="990600"/>
          </a:xfrm>
          <a:prstGeom prst="rect">
            <a:avLst/>
          </a:prstGeom>
        </p:spPr>
        <p:txBody>
          <a:bodyPr lIns="0" tIns="101600" rIns="0" bIns="0" rtlCol="0" anchor="t"/>
          <a:lstStyle/>
          <a:p>
            <a:pPr lvl="0">
              <a:lnSpc>
                <a:spcPct val="99600"/>
              </a:lnSpc>
            </a:pPr>
            <a:r>
              <a:rPr lang="en-US" sz="6000" b="1" i="0" u="none" strike="noStrike" dirty="0">
                <a:solidFill>
                  <a:srgbClr val="000000"/>
                </a:solidFill>
                <a:latin typeface="Arial" panose="020B0604020202020204" pitchFamily="34" charset="0"/>
                <a:cs typeface="Arial" panose="020B0604020202020204" pitchFamily="34" charset="0"/>
              </a:rPr>
              <a:t>OSC</a:t>
            </a:r>
            <a:r>
              <a:rPr lang="ko-KR" altLang="en-US" sz="6000" b="1" i="0" u="none" strike="noStrike" dirty="0">
                <a:solidFill>
                  <a:srgbClr val="000000"/>
                </a:solidFill>
                <a:latin typeface="Arial" panose="020B0604020202020204" pitchFamily="34" charset="0"/>
                <a:cs typeface="Arial" panose="020B0604020202020204" pitchFamily="34" charset="0"/>
              </a:rPr>
              <a:t> 유도</a:t>
            </a:r>
            <a:endParaRPr lang="en" sz="6000" b="1" i="0" u="none" strike="noStrike" dirty="0">
              <a:solidFill>
                <a:srgbClr val="000000"/>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F9BD841-0D84-9FFD-2985-CFEB3ED53995}"/>
                  </a:ext>
                </a:extLst>
              </p:cNvPr>
              <p:cNvSpPr txBox="1"/>
              <p:nvPr/>
            </p:nvSpPr>
            <p:spPr>
              <a:xfrm>
                <a:off x="2086897" y="2244213"/>
                <a:ext cx="21154103" cy="11815799"/>
              </a:xfrm>
              <a:prstGeom prst="rect">
                <a:avLst/>
              </a:prstGeom>
              <a:noFill/>
            </p:spPr>
            <p:txBody>
              <a:bodyPr wrap="square">
                <a:spAutoFit/>
              </a:bodyPr>
              <a:lstStyle/>
              <a:p>
                <a:pPr>
                  <a:lnSpc>
                    <a:spcPct val="150000"/>
                  </a:lnSpc>
                </a:pPr>
                <a:r>
                  <a:rPr lang="ko-KR" altLang="en-US" sz="3200" b="1" dirty="0"/>
                  <a:t>목표 </a:t>
                </a:r>
                <a:r>
                  <a:rPr lang="en-US" altLang="ko-KR" sz="3200" b="1" dirty="0"/>
                  <a:t>: </a:t>
                </a:r>
                <a:r>
                  <a:rPr lang="ko-KR" altLang="en-US" sz="3200" b="1" dirty="0"/>
                  <a:t>말단</a:t>
                </a:r>
                <a:r>
                  <a:rPr lang="en-US" altLang="ko-KR" sz="3200" b="1" dirty="0"/>
                  <a:t>(end-effector)</a:t>
                </a:r>
                <a:r>
                  <a:rPr lang="ko-KR" altLang="en-US" sz="3200" b="1" dirty="0"/>
                  <a:t>의 실제 궤적 </a:t>
                </a:r>
                <a14:m>
                  <m:oMath xmlns:m="http://schemas.openxmlformats.org/officeDocument/2006/math">
                    <m:r>
                      <a:rPr lang="ko-KR" altLang="en-US" sz="3200" b="1" i="1">
                        <a:latin typeface="Cambria Math" panose="02040503050406030204" pitchFamily="18" charset="0"/>
                      </a:rPr>
                      <m:t>𝒙</m:t>
                    </m:r>
                    <m:d>
                      <m:dPr>
                        <m:ctrlPr>
                          <a:rPr lang="ko-KR" altLang="en-US" sz="3200" b="1" i="1">
                            <a:latin typeface="Cambria Math" panose="02040503050406030204" pitchFamily="18" charset="0"/>
                          </a:rPr>
                        </m:ctrlPr>
                      </m:dPr>
                      <m:e>
                        <m:r>
                          <a:rPr lang="ko-KR" altLang="en-US" sz="3200" b="1" i="1">
                            <a:latin typeface="Cambria Math" panose="02040503050406030204" pitchFamily="18" charset="0"/>
                          </a:rPr>
                          <m:t>𝒕</m:t>
                        </m:r>
                      </m:e>
                    </m:d>
                  </m:oMath>
                </a14:m>
                <a:r>
                  <a:rPr lang="ko-KR" altLang="en-US" sz="3200" b="1" dirty="0"/>
                  <a:t>가 원하는 궤적 </a:t>
                </a:r>
                <a14:m>
                  <m:oMath xmlns:m="http://schemas.openxmlformats.org/officeDocument/2006/math">
                    <m:sSub>
                      <m:sSubPr>
                        <m:ctrlPr>
                          <a:rPr lang="ko-KR" altLang="en-US" sz="3200" b="1" i="1">
                            <a:latin typeface="Cambria Math" panose="02040503050406030204" pitchFamily="18" charset="0"/>
                          </a:rPr>
                        </m:ctrlPr>
                      </m:sSubPr>
                      <m:e>
                        <m:r>
                          <a:rPr lang="ko-KR" altLang="en-US" sz="3200" b="1" i="1">
                            <a:latin typeface="Cambria Math" panose="02040503050406030204" pitchFamily="18" charset="0"/>
                          </a:rPr>
                          <m:t>𝒙</m:t>
                        </m:r>
                      </m:e>
                      <m:sub>
                        <m:r>
                          <a:rPr lang="ko-KR" altLang="en-US" sz="3200" b="1" i="1">
                            <a:latin typeface="Cambria Math" panose="02040503050406030204" pitchFamily="18" charset="0"/>
                          </a:rPr>
                          <m:t>𝒅</m:t>
                        </m:r>
                      </m:sub>
                    </m:sSub>
                    <m:d>
                      <m:dPr>
                        <m:ctrlPr>
                          <a:rPr lang="ko-KR" altLang="en-US" sz="3200" b="1" i="1">
                            <a:latin typeface="Cambria Math" panose="02040503050406030204" pitchFamily="18" charset="0"/>
                          </a:rPr>
                        </m:ctrlPr>
                      </m:dPr>
                      <m:e>
                        <m:r>
                          <a:rPr lang="ko-KR" altLang="en-US" sz="3200" b="1" i="1">
                            <a:latin typeface="Cambria Math" panose="02040503050406030204" pitchFamily="18" charset="0"/>
                          </a:rPr>
                          <m:t>𝒕</m:t>
                        </m:r>
                      </m:e>
                    </m:d>
                  </m:oMath>
                </a14:m>
                <a:r>
                  <a:rPr lang="ko-KR" altLang="en-US" sz="3200" b="1" dirty="0"/>
                  <a:t>를 잘 따라가게 하고자 함</a:t>
                </a:r>
                <a:endParaRPr lang="en-US" altLang="ko-KR" sz="3200" b="1" dirty="0"/>
              </a:p>
              <a:p>
                <a:pPr>
                  <a:lnSpc>
                    <a:spcPct val="150000"/>
                  </a:lnSpc>
                </a:pPr>
                <a:endParaRPr lang="en-US" altLang="ko-KR" sz="3200" b="1" dirty="0">
                  <a:latin typeface="+mn-ea"/>
                </a:endParaRPr>
              </a:p>
              <a:p>
                <a:pPr marL="457200" indent="-457200">
                  <a:lnSpc>
                    <a:spcPct val="150000"/>
                  </a:lnSpc>
                  <a:buFont typeface="Arial" panose="020B0604020202020204" pitchFamily="34" charset="0"/>
                  <a:buChar char="•"/>
                </a:pPr>
                <a:r>
                  <a:rPr lang="ko-KR" altLang="en-US" sz="3200" dirty="0">
                    <a:latin typeface="+mn-ea"/>
                  </a:rPr>
                  <a:t>오차 정의 </a:t>
                </a:r>
                <a:r>
                  <a:rPr lang="en-US" altLang="ko-KR" sz="3200" dirty="0">
                    <a:latin typeface="+mn-ea"/>
                  </a:rPr>
                  <a:t>: </a:t>
                </a:r>
              </a:p>
              <a:p>
                <a:pPr marL="457200" indent="-457200">
                  <a:lnSpc>
                    <a:spcPct val="150000"/>
                  </a:lnSpc>
                  <a:buFont typeface="Arial" panose="020B0604020202020204" pitchFamily="34" charset="0"/>
                  <a:buChar char="•"/>
                </a:pPr>
                <a:r>
                  <a:rPr lang="ko-KR" altLang="en-US" sz="3200" dirty="0">
                    <a:latin typeface="+mn-ea"/>
                  </a:rPr>
                  <a:t>오차가 따랐으면 하는 미분방정식 선택</a:t>
                </a:r>
                <a:r>
                  <a:rPr lang="en-US" altLang="ko-KR" sz="3200" dirty="0">
                    <a:latin typeface="+mn-ea"/>
                  </a:rPr>
                  <a:t>(</a:t>
                </a:r>
                <a:r>
                  <a:rPr lang="ko-KR" altLang="en-US" sz="3200" dirty="0">
                    <a:latin typeface="+mn-ea"/>
                  </a:rPr>
                  <a:t>시스템 설계</a:t>
                </a:r>
                <a:r>
                  <a:rPr lang="en-US" altLang="ko-KR" sz="3200" dirty="0">
                    <a:latin typeface="+mn-ea"/>
                  </a:rPr>
                  <a:t>) : </a:t>
                </a:r>
                <a:r>
                  <a:rPr lang="ko-KR" altLang="en-US" sz="3200" dirty="0">
                    <a:latin typeface="+mn-ea"/>
                  </a:rPr>
                  <a:t>다루기 쉬운 </a:t>
                </a:r>
                <a:r>
                  <a:rPr lang="en-US" altLang="ko-KR" sz="3200" dirty="0">
                    <a:latin typeface="+mn-ea"/>
                  </a:rPr>
                  <a:t>2</a:t>
                </a:r>
                <a:r>
                  <a:rPr lang="ko-KR" altLang="en-US" sz="3200" dirty="0">
                    <a:latin typeface="+mn-ea"/>
                  </a:rPr>
                  <a:t>차</a:t>
                </a:r>
                <a:r>
                  <a:rPr lang="en-US" altLang="ko-KR" sz="3200" dirty="0">
                    <a:latin typeface="+mn-ea"/>
                  </a:rPr>
                  <a:t>(</a:t>
                </a:r>
                <a:r>
                  <a:rPr lang="ko-KR" altLang="en-US" sz="3200" dirty="0">
                    <a:latin typeface="+mn-ea"/>
                  </a:rPr>
                  <a:t>스프링</a:t>
                </a:r>
                <a:r>
                  <a:rPr lang="en-US" altLang="ko-KR" sz="3200" dirty="0">
                    <a:latin typeface="+mn-ea"/>
                  </a:rPr>
                  <a:t>-</a:t>
                </a:r>
                <a:r>
                  <a:rPr lang="ko-KR" altLang="en-US" sz="3200" dirty="0" err="1">
                    <a:latin typeface="+mn-ea"/>
                  </a:rPr>
                  <a:t>댐퍼</a:t>
                </a:r>
                <a:r>
                  <a:rPr lang="en-US" altLang="ko-KR" sz="3200" dirty="0">
                    <a:latin typeface="+mn-ea"/>
                  </a:rPr>
                  <a:t>) </a:t>
                </a:r>
                <a:r>
                  <a:rPr lang="ko-KR" altLang="en-US" sz="3200" dirty="0">
                    <a:latin typeface="+mn-ea"/>
                  </a:rPr>
                  <a:t>시스템</a:t>
                </a:r>
                <a:endParaRPr lang="en-US" altLang="ko-KR" sz="3200" dirty="0">
                  <a:latin typeface="+mn-ea"/>
                </a:endParaRPr>
              </a:p>
              <a:p>
                <a:pPr marL="457200" indent="-457200">
                  <a:lnSpc>
                    <a:spcPct val="150000"/>
                  </a:lnSpc>
                  <a:buFont typeface="Arial" panose="020B0604020202020204" pitchFamily="34" charset="0"/>
                  <a:buChar char="•"/>
                </a:pPr>
                <a:endParaRPr lang="en-US" altLang="ko-KR" sz="3200" dirty="0">
                  <a:latin typeface="+mn-ea"/>
                </a:endParaRPr>
              </a:p>
              <a:p>
                <a:pPr marL="457200" indent="-457200">
                  <a:lnSpc>
                    <a:spcPct val="150000"/>
                  </a:lnSpc>
                  <a:buFont typeface="Arial" panose="020B0604020202020204" pitchFamily="34" charset="0"/>
                  <a:buChar char="•"/>
                </a:pPr>
                <a:endParaRPr lang="en-US" altLang="ko-KR" sz="3200" dirty="0">
                  <a:latin typeface="+mn-ea"/>
                </a:endParaRPr>
              </a:p>
              <a:p>
                <a:pPr marL="457200" indent="-457200">
                  <a:lnSpc>
                    <a:spcPct val="150000"/>
                  </a:lnSpc>
                  <a:buFont typeface="Arial" panose="020B0604020202020204" pitchFamily="34" charset="0"/>
                  <a:buChar char="•"/>
                </a:pPr>
                <a:r>
                  <a:rPr lang="ko-KR" altLang="en-US" sz="3200" dirty="0">
                    <a:latin typeface="+mn-ea"/>
                  </a:rPr>
                  <a:t>수식 전개 </a:t>
                </a:r>
                <a:r>
                  <a:rPr lang="en-US" altLang="ko-KR" sz="3200" dirty="0">
                    <a:latin typeface="+mn-ea"/>
                  </a:rPr>
                  <a:t>: </a:t>
                </a:r>
              </a:p>
              <a:p>
                <a:pPr marL="457200" indent="-457200">
                  <a:lnSpc>
                    <a:spcPct val="150000"/>
                  </a:lnSpc>
                  <a:buFont typeface="Arial" panose="020B0604020202020204" pitchFamily="34" charset="0"/>
                  <a:buChar char="•"/>
                </a:pPr>
                <a:endParaRPr lang="en-US" altLang="ko-KR" sz="3200" dirty="0">
                  <a:latin typeface="+mn-ea"/>
                </a:endParaRPr>
              </a:p>
              <a:p>
                <a:pPr marL="457200" indent="-457200">
                  <a:lnSpc>
                    <a:spcPct val="150000"/>
                  </a:lnSpc>
                  <a:buFont typeface="Arial" panose="020B0604020202020204" pitchFamily="34" charset="0"/>
                  <a:buChar char="•"/>
                </a:pPr>
                <a:endParaRPr lang="en-US" altLang="ko-KR" sz="3200" dirty="0">
                  <a:latin typeface="+mn-ea"/>
                </a:endParaRPr>
              </a:p>
              <a:p>
                <a:pPr marL="457200" indent="-457200">
                  <a:lnSpc>
                    <a:spcPct val="150000"/>
                  </a:lnSpc>
                  <a:buFont typeface="Arial" panose="020B0604020202020204" pitchFamily="34" charset="0"/>
                  <a:buChar char="•"/>
                </a:pPr>
                <a:endParaRPr lang="en-US" altLang="ko-KR" sz="3200" dirty="0">
                  <a:latin typeface="+mn-ea"/>
                </a:endParaRPr>
              </a:p>
              <a:p>
                <a:pPr>
                  <a:lnSpc>
                    <a:spcPct val="150000"/>
                  </a:lnSpc>
                </a:pPr>
                <a:endParaRPr lang="en-US" altLang="ko-KR" sz="3200" dirty="0">
                  <a:latin typeface="+mn-ea"/>
                </a:endParaRPr>
              </a:p>
              <a:p>
                <a:pPr marL="457200" indent="-457200">
                  <a:lnSpc>
                    <a:spcPct val="150000"/>
                  </a:lnSpc>
                  <a:buFont typeface="Arial" panose="020B0604020202020204" pitchFamily="34" charset="0"/>
                  <a:buChar char="•"/>
                </a:pPr>
                <a:r>
                  <a:rPr lang="en-US" altLang="ko-KR" sz="3200" dirty="0">
                    <a:latin typeface="+mn-ea"/>
                  </a:rPr>
                  <a:t>End-Effector</a:t>
                </a:r>
                <a:r>
                  <a:rPr lang="ko-KR" altLang="en-US" sz="3200" dirty="0">
                    <a:latin typeface="+mn-ea"/>
                  </a:rPr>
                  <a:t> 수식과 연결 </a:t>
                </a:r>
                <a:r>
                  <a:rPr lang="en-US" altLang="ko-KR" sz="3200" dirty="0">
                    <a:latin typeface="+mn-ea"/>
                  </a:rPr>
                  <a:t>: </a:t>
                </a:r>
              </a:p>
              <a:p>
                <a:pPr>
                  <a:lnSpc>
                    <a:spcPct val="150000"/>
                  </a:lnSpc>
                </a:pPr>
                <a:r>
                  <a:rPr lang="en-US" altLang="ko-KR" sz="3200" dirty="0">
                    <a:latin typeface="+mn-ea"/>
                  </a:rPr>
                  <a:t> </a:t>
                </a:r>
              </a:p>
              <a:p>
                <a:pPr marL="457200" indent="-457200">
                  <a:lnSpc>
                    <a:spcPct val="150000"/>
                  </a:lnSpc>
                  <a:buFont typeface="Arial" panose="020B0604020202020204" pitchFamily="34" charset="0"/>
                  <a:buChar char="•"/>
                </a:pPr>
                <a:endParaRPr lang="en-US" altLang="ko-KR" sz="3200" dirty="0">
                  <a:latin typeface="+mn-ea"/>
                </a:endParaRPr>
              </a:p>
              <a:p>
                <a:pPr marL="457200" indent="-457200">
                  <a:lnSpc>
                    <a:spcPct val="150000"/>
                  </a:lnSpc>
                  <a:buFont typeface="Arial" panose="020B0604020202020204" pitchFamily="34" charset="0"/>
                  <a:buChar char="•"/>
                </a:pPr>
                <a:endParaRPr lang="en-US" altLang="ko-KR" sz="3200" dirty="0">
                  <a:latin typeface="+mn-ea"/>
                </a:endParaRPr>
              </a:p>
              <a:p>
                <a:pPr marL="457200" indent="-457200">
                  <a:lnSpc>
                    <a:spcPct val="150000"/>
                  </a:lnSpc>
                  <a:buFont typeface="Arial" panose="020B0604020202020204" pitchFamily="34" charset="0"/>
                  <a:buChar char="•"/>
                </a:pPr>
                <a:endParaRPr lang="en-US" altLang="ko-KR" sz="3200" dirty="0">
                  <a:latin typeface="+mn-ea"/>
                </a:endParaRPr>
              </a:p>
            </p:txBody>
          </p:sp>
        </mc:Choice>
        <mc:Fallback xmlns="">
          <p:sp>
            <p:nvSpPr>
              <p:cNvPr id="6" name="TextBox 5">
                <a:extLst>
                  <a:ext uri="{FF2B5EF4-FFF2-40B4-BE49-F238E27FC236}">
                    <a16:creationId xmlns:a16="http://schemas.microsoft.com/office/drawing/2014/main" id="{BF9BD841-0D84-9FFD-2985-CFEB3ED53995}"/>
                  </a:ext>
                </a:extLst>
              </p:cNvPr>
              <p:cNvSpPr txBox="1">
                <a:spLocks noRot="1" noChangeAspect="1" noMove="1" noResize="1" noEditPoints="1" noAdjustHandles="1" noChangeArrowheads="1" noChangeShapeType="1" noTextEdit="1"/>
              </p:cNvSpPr>
              <p:nvPr/>
            </p:nvSpPr>
            <p:spPr>
              <a:xfrm>
                <a:off x="2086897" y="2244213"/>
                <a:ext cx="21154103" cy="11815799"/>
              </a:xfrm>
              <a:prstGeom prst="rect">
                <a:avLst/>
              </a:prstGeom>
              <a:blipFill>
                <a:blip r:embed="rId12"/>
                <a:stretch>
                  <a:fillRect l="-720"/>
                </a:stretch>
              </a:blipFill>
            </p:spPr>
            <p:txBody>
              <a:bodyPr/>
              <a:lstStyle/>
              <a:p>
                <a:r>
                  <a:rPr lang="ko-KR" altLang="en-US">
                    <a:noFill/>
                  </a:rPr>
                  <a:t> </a:t>
                </a:r>
              </a:p>
            </p:txBody>
          </p:sp>
        </mc:Fallback>
      </mc:AlternateContent>
      <p:pic>
        <p:nvPicPr>
          <p:cNvPr id="8" name="그림 7" descr="\documentclass{article}&#10;\usepackage{amsmath}&#10;\pagestyle{empty}&#10;\begin{document}&#10;&#10;&#10;$&#10;\mathbf{e} = \mathbf{x}_d - \mathbf{x}, \qquad&#10;$&#10;&#10;\end{document}" title="IguanaTex Bitmap Display">
            <a:extLst>
              <a:ext uri="{FF2B5EF4-FFF2-40B4-BE49-F238E27FC236}">
                <a16:creationId xmlns:a16="http://schemas.microsoft.com/office/drawing/2014/main" id="{3954BACF-6376-A9F5-2417-81EDCAD8476D}"/>
              </a:ext>
            </a:extLst>
          </p:cNvPr>
          <p:cNvPicPr>
            <a:picLocks noChangeAspect="1"/>
          </p:cNvPicPr>
          <p:nvPr>
            <p:custDataLst>
              <p:tags r:id="rId1"/>
            </p:custDataLst>
          </p:nvPr>
        </p:nvPicPr>
        <p:blipFill>
          <a:blip r:embed="rId13" cstate="print">
            <a:extLst>
              <a:ext uri="{28A0092B-C50C-407E-A947-70E740481C1C}">
                <a14:useLocalDpi xmlns:a14="http://schemas.microsoft.com/office/drawing/2010/main" val="0"/>
              </a:ext>
            </a:extLst>
          </a:blip>
          <a:stretch>
            <a:fillRect/>
          </a:stretch>
        </p:blipFill>
        <p:spPr>
          <a:xfrm>
            <a:off x="5120827" y="4077360"/>
            <a:ext cx="2624000" cy="342400"/>
          </a:xfrm>
          <a:prstGeom prst="rect">
            <a:avLst/>
          </a:prstGeom>
        </p:spPr>
      </p:pic>
      <p:pic>
        <p:nvPicPr>
          <p:cNvPr id="10" name="그림 9" descr="\documentclass{article}&#10;\usepackage{amsmath}&#10;\pagestyle{empty}&#10;\begin{document}&#10;&#10;&#10;$&#10;\dot{\mathbf{e}} = \dot{\mathbf{x}}_d - \dot{\mathbf{x}}&#10;$&#10;&#10;\end{document}" title="IguanaTex Bitmap Display">
            <a:extLst>
              <a:ext uri="{FF2B5EF4-FFF2-40B4-BE49-F238E27FC236}">
                <a16:creationId xmlns:a16="http://schemas.microsoft.com/office/drawing/2014/main" id="{A07EEC33-093F-F773-6633-42C1950D910B}"/>
              </a:ext>
            </a:extLst>
          </p:cNvPr>
          <p:cNvPicPr>
            <a:picLocks noChangeAspect="1"/>
          </p:cNvPicPr>
          <p:nvPr>
            <p:custDataLst>
              <p:tags r:id="rId2"/>
            </p:custDataLst>
          </p:nvPr>
        </p:nvPicPr>
        <p:blipFill>
          <a:blip r:embed="rId14" cstate="print">
            <a:extLst>
              <a:ext uri="{28A0092B-C50C-407E-A947-70E740481C1C}">
                <a14:useLocalDpi xmlns:a14="http://schemas.microsoft.com/office/drawing/2010/main" val="0"/>
              </a:ext>
            </a:extLst>
          </a:blip>
          <a:stretch>
            <a:fillRect/>
          </a:stretch>
        </p:blipFill>
        <p:spPr>
          <a:xfrm>
            <a:off x="8610600" y="3971760"/>
            <a:ext cx="2505600" cy="448000"/>
          </a:xfrm>
          <a:prstGeom prst="rect">
            <a:avLst/>
          </a:prstGeom>
        </p:spPr>
      </p:pic>
      <p:pic>
        <p:nvPicPr>
          <p:cNvPr id="12" name="그림 11" descr="\documentclass{article}&#10;\usepackage{amsmath}&#10;\pagestyle{empty}&#10;\begin{document}&#10;&#10;&#10;$&#10;\ddot{\mathbf{e}} + \mathbf{K}_D \dot{\mathbf{e}} + \mathbf{K}_P \mathbf{e} = \mathbf{0}&#10;$&#10;&#10;\end{document}" title="IguanaTex Bitmap Display">
            <a:extLst>
              <a:ext uri="{FF2B5EF4-FFF2-40B4-BE49-F238E27FC236}">
                <a16:creationId xmlns:a16="http://schemas.microsoft.com/office/drawing/2014/main" id="{F6C06584-69B4-947D-1328-9FAE297A597A}"/>
              </a:ext>
            </a:extLst>
          </p:cNvPr>
          <p:cNvPicPr>
            <a:picLocks noChangeAspect="1"/>
          </p:cNvPicPr>
          <p:nvPr>
            <p:custDataLst>
              <p:tags r:id="rId3"/>
            </p:custDataLst>
          </p:nvPr>
        </p:nvPicPr>
        <p:blipFill>
          <a:blip r:embed="rId15" cstate="print">
            <a:extLst>
              <a:ext uri="{28A0092B-C50C-407E-A947-70E740481C1C}">
                <a14:useLocalDpi xmlns:a14="http://schemas.microsoft.com/office/drawing/2010/main" val="0"/>
              </a:ext>
            </a:extLst>
          </a:blip>
          <a:stretch>
            <a:fillRect/>
          </a:stretch>
        </p:blipFill>
        <p:spPr>
          <a:xfrm>
            <a:off x="9067800" y="5618031"/>
            <a:ext cx="4809600" cy="444800"/>
          </a:xfrm>
          <a:prstGeom prst="rect">
            <a:avLst/>
          </a:prstGeom>
        </p:spPr>
      </p:pic>
      <p:pic>
        <p:nvPicPr>
          <p:cNvPr id="14" name="그림 13" descr="\documentclass{article}&#10;\usepackage{amsmath}&#10;\pagestyle{empty}&#10;\begin{document}&#10;&#10;&#10;$&#10;\Rightarrow\quad&#10;\mathbf{a}_x^\star&#10;= \ddot{\mathbf{x}}_d + \mathbf{K}_D \dot{\mathbf{e}} + \mathbf{K}_P \mathbf{e}&#10;$&#10;&#10;\end{document}" title="IguanaTex Bitmap Display">
            <a:extLst>
              <a:ext uri="{FF2B5EF4-FFF2-40B4-BE49-F238E27FC236}">
                <a16:creationId xmlns:a16="http://schemas.microsoft.com/office/drawing/2014/main" id="{08E87B66-64EA-6541-2575-ABBA4E17BE8B}"/>
              </a:ext>
            </a:extLst>
          </p:cNvPr>
          <p:cNvPicPr>
            <a:picLocks noChangeAspect="1"/>
          </p:cNvPicPr>
          <p:nvPr>
            <p:custDataLst>
              <p:tags r:id="rId4"/>
            </p:custDataLst>
          </p:nvPr>
        </p:nvPicPr>
        <p:blipFill>
          <a:blip r:embed="rId16" cstate="print">
            <a:extLst>
              <a:ext uri="{28A0092B-C50C-407E-A947-70E740481C1C}">
                <a14:useLocalDpi xmlns:a14="http://schemas.microsoft.com/office/drawing/2010/main" val="0"/>
              </a:ext>
            </a:extLst>
          </a:blip>
          <a:stretch>
            <a:fillRect/>
          </a:stretch>
        </p:blipFill>
        <p:spPr>
          <a:xfrm>
            <a:off x="8153400" y="8736416"/>
            <a:ext cx="6563200" cy="508800"/>
          </a:xfrm>
          <a:prstGeom prst="rect">
            <a:avLst/>
          </a:prstGeom>
        </p:spPr>
      </p:pic>
      <p:pic>
        <p:nvPicPr>
          <p:cNvPr id="16" name="그림 15" descr="\documentclass{article}&#10;\usepackage{amsmath}&#10;\pagestyle{empty}&#10;\begin{document}&#10;&#10;&#10;$&#10;\ddot{\mathbf{x}} = \mathbf{J}(\mathbf{q})\,\ddot{\mathbf{q}}&#10;                   + \dot{\mathbf{J}}(\mathbf{q},\dot{\mathbf{q}})\,\dot{\mathbf{q}}&#10;$&#10;&#10;\end{document}" title="IguanaTex Bitmap Display">
            <a:extLst>
              <a:ext uri="{FF2B5EF4-FFF2-40B4-BE49-F238E27FC236}">
                <a16:creationId xmlns:a16="http://schemas.microsoft.com/office/drawing/2014/main" id="{C174AC8B-113A-4720-FC4B-8B5A9CF8FF00}"/>
              </a:ext>
            </a:extLst>
          </p:cNvPr>
          <p:cNvPicPr>
            <a:picLocks noChangeAspect="1"/>
          </p:cNvPicPr>
          <p:nvPr>
            <p:custDataLst>
              <p:tags r:id="rId5"/>
            </p:custDataLst>
          </p:nvPr>
        </p:nvPicPr>
        <p:blipFill>
          <a:blip r:embed="rId17" cstate="print">
            <a:extLst>
              <a:ext uri="{28A0092B-C50C-407E-A947-70E740481C1C}">
                <a14:useLocalDpi xmlns:a14="http://schemas.microsoft.com/office/drawing/2010/main" val="0"/>
              </a:ext>
            </a:extLst>
          </a:blip>
          <a:stretch>
            <a:fillRect/>
          </a:stretch>
        </p:blipFill>
        <p:spPr>
          <a:xfrm>
            <a:off x="9190200" y="11338517"/>
            <a:ext cx="5152000" cy="627200"/>
          </a:xfrm>
          <a:prstGeom prst="rect">
            <a:avLst/>
          </a:prstGeom>
        </p:spPr>
      </p:pic>
      <p:pic>
        <p:nvPicPr>
          <p:cNvPr id="18" name="그림 17" descr="\documentclass{article}&#10;\usepackage{amsmath}&#10;\pagestyle{empty}&#10;\begin{document}&#10;&#10;&#10;$&#10;\ddot{\mathbf{q}}^\star&#10;= \mathbf{J}(\mathbf{q})^{-1}\!\left(&#10;    \mathbf{a}_x^\star&#10;    - \dot{\mathbf{J}}(\mathbf{q},\dot{\mathbf{q}})\,\dot{\mathbf{q}}&#10;  \right)&#10;$&#10;&#10;\end{document}" title="IguanaTex Bitmap Display">
            <a:extLst>
              <a:ext uri="{FF2B5EF4-FFF2-40B4-BE49-F238E27FC236}">
                <a16:creationId xmlns:a16="http://schemas.microsoft.com/office/drawing/2014/main" id="{D88583AD-B667-C110-FA74-8AFD9D483EDC}"/>
              </a:ext>
            </a:extLst>
          </p:cNvPr>
          <p:cNvPicPr>
            <a:picLocks noChangeAspect="1"/>
          </p:cNvPicPr>
          <p:nvPr>
            <p:custDataLst>
              <p:tags r:id="rId6"/>
            </p:custDataLst>
          </p:nvPr>
        </p:nvPicPr>
        <p:blipFill>
          <a:blip r:embed="rId18" cstate="print">
            <a:extLst>
              <a:ext uri="{28A0092B-C50C-407E-A947-70E740481C1C}">
                <a14:useLocalDpi xmlns:a14="http://schemas.microsoft.com/office/drawing/2010/main" val="0"/>
              </a:ext>
            </a:extLst>
          </a:blip>
          <a:stretch>
            <a:fillRect/>
          </a:stretch>
        </p:blipFill>
        <p:spPr>
          <a:xfrm>
            <a:off x="8610600" y="12509064"/>
            <a:ext cx="6649600" cy="956800"/>
          </a:xfrm>
          <a:prstGeom prst="rect">
            <a:avLst/>
          </a:prstGeom>
        </p:spPr>
      </p:pic>
      <p:pic>
        <p:nvPicPr>
          <p:cNvPr id="20" name="그림 19" descr="\documentclass{article}&#10;\usepackage{amsmath}&#10;\pagestyle{empty}&#10;\begin{document}&#10;&#10;&#10;$&#10;(\ddot{\mathbf{x}}_d - \ddot{\mathbf{x}})&#10;+ \mathbf{K}_D(\dot{\mathbf{x}}_d - \dot{\mathbf{x}})&#10;+ \mathbf{K}_P(\mathbf{x}_d - \mathbf{x})&#10;= \mathbf{0}&#10;$&#10;&#10;\end{document}" title="IguanaTex Bitmap Display">
            <a:extLst>
              <a:ext uri="{FF2B5EF4-FFF2-40B4-BE49-F238E27FC236}">
                <a16:creationId xmlns:a16="http://schemas.microsoft.com/office/drawing/2014/main" id="{CC4449E0-E132-DFEF-A775-B4B8367A350E}"/>
              </a:ext>
            </a:extLst>
          </p:cNvPr>
          <p:cNvPicPr>
            <a:picLocks noChangeAspect="1"/>
          </p:cNvPicPr>
          <p:nvPr>
            <p:custDataLst>
              <p:tags r:id="rId7"/>
            </p:custDataLst>
          </p:nvPr>
        </p:nvPicPr>
        <p:blipFill>
          <a:blip r:embed="rId19" cstate="print">
            <a:extLst>
              <a:ext uri="{28A0092B-C50C-407E-A947-70E740481C1C}">
                <a14:useLocalDpi xmlns:a14="http://schemas.microsoft.com/office/drawing/2010/main" val="0"/>
              </a:ext>
            </a:extLst>
          </a:blip>
          <a:stretch>
            <a:fillRect/>
          </a:stretch>
        </p:blipFill>
        <p:spPr>
          <a:xfrm>
            <a:off x="6573400" y="6726702"/>
            <a:ext cx="9798400" cy="534400"/>
          </a:xfrm>
          <a:prstGeom prst="rect">
            <a:avLst/>
          </a:prstGeom>
        </p:spPr>
      </p:pic>
      <p:pic>
        <p:nvPicPr>
          <p:cNvPr id="24" name="그림 23" descr="\documentclass{article}&#10;\usepackage{amsmath}&#10;\pagestyle{empty}&#10;\begin{document}&#10;&#10;&#10;$&#10;\ddot{\mathbf{x}}&#10;= \ddot{\mathbf{x}}_d&#10;+ \mathbf{K}_D(\dot{\mathbf{x}}_d - \dot{\mathbf{x}})&#10;+ \mathbf{K}_P(\mathbf{x}_d - \mathbf{x})&#10;$&#10;&#10;\end{document}" title="IguanaTex Bitmap Display">
            <a:extLst>
              <a:ext uri="{FF2B5EF4-FFF2-40B4-BE49-F238E27FC236}">
                <a16:creationId xmlns:a16="http://schemas.microsoft.com/office/drawing/2014/main" id="{975BC06A-5EEA-86C8-3B69-DCB3559E00BE}"/>
              </a:ext>
            </a:extLst>
          </p:cNvPr>
          <p:cNvPicPr>
            <a:picLocks noChangeAspect="1"/>
          </p:cNvPicPr>
          <p:nvPr>
            <p:custDataLst>
              <p:tags r:id="rId8"/>
            </p:custDataLst>
          </p:nvPr>
        </p:nvPicPr>
        <p:blipFill>
          <a:blip r:embed="rId20" cstate="print">
            <a:extLst>
              <a:ext uri="{28A0092B-C50C-407E-A947-70E740481C1C}">
                <a14:useLocalDpi xmlns:a14="http://schemas.microsoft.com/office/drawing/2010/main" val="0"/>
              </a:ext>
            </a:extLst>
          </a:blip>
          <a:stretch>
            <a:fillRect/>
          </a:stretch>
        </p:blipFill>
        <p:spPr>
          <a:xfrm>
            <a:off x="7543800" y="7835373"/>
            <a:ext cx="8444800" cy="534400"/>
          </a:xfrm>
          <a:prstGeom prst="rect">
            <a:avLst/>
          </a:prstGeom>
        </p:spPr>
      </p:pic>
      <p:pic>
        <p:nvPicPr>
          <p:cNvPr id="25" name="그림 24" descr="\documentclass{article}&#10;\usepackage{amsmath}&#10;\pagestyle{empty}&#10;\begin{document}&#10;&#10;&#10;$&#10;\dot{\mathbf{x}} \;=\; \mathbf{J}(\mathbf{q})\,\dot{\mathbf{q}}&#10;$&#10;&#10;\end{document}" title="IguanaTex Bitmap Display">
            <a:extLst>
              <a:ext uri="{FF2B5EF4-FFF2-40B4-BE49-F238E27FC236}">
                <a16:creationId xmlns:a16="http://schemas.microsoft.com/office/drawing/2014/main" id="{FA853BF1-6D46-1EB8-8623-BB4CE747270D}"/>
              </a:ext>
            </a:extLst>
          </p:cNvPr>
          <p:cNvPicPr>
            <a:picLocks noChangeAspect="1"/>
          </p:cNvPicPr>
          <p:nvPr>
            <p:custDataLst>
              <p:tags r:id="rId9"/>
            </p:custDataLst>
          </p:nvPr>
        </p:nvPicPr>
        <p:blipFill>
          <a:blip r:embed="rId21" cstate="print">
            <a:extLst>
              <a:ext uri="{28A0092B-C50C-407E-A947-70E740481C1C}">
                <a14:useLocalDpi xmlns:a14="http://schemas.microsoft.com/office/drawing/2010/main" val="0"/>
              </a:ext>
            </a:extLst>
          </a:blip>
          <a:stretch>
            <a:fillRect/>
          </a:stretch>
        </p:blipFill>
        <p:spPr>
          <a:xfrm>
            <a:off x="10104106" y="10515600"/>
            <a:ext cx="2559842" cy="492504"/>
          </a:xfrm>
          <a:prstGeom prst="rect">
            <a:avLst/>
          </a:prstGeom>
        </p:spPr>
      </p:pic>
    </p:spTree>
    <p:extLst>
      <p:ext uri="{BB962C8B-B14F-4D97-AF65-F5344CB8AC3E}">
        <p14:creationId xmlns:p14="http://schemas.microsoft.com/office/powerpoint/2010/main" val="35888584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BC3A8-B5D5-4CC2-B7E7-7F948BD3CA12}"/>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C400DC24-24A3-0534-AE1F-0394B230569C}"/>
              </a:ext>
            </a:extLst>
          </p:cNvPr>
          <p:cNvSpPr/>
          <p:nvPr/>
        </p:nvSpPr>
        <p:spPr>
          <a:xfrm>
            <a:off x="0" y="0"/>
            <a:ext cx="821042" cy="137160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EBF5A867-6AFD-A111-6A82-CE176932D6D7}"/>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E88D783E-2371-31A3-3922-AAFD0E513AA1}"/>
              </a:ext>
            </a:extLst>
          </p:cNvPr>
          <p:cNvSpPr txBox="1"/>
          <p:nvPr/>
        </p:nvSpPr>
        <p:spPr>
          <a:xfrm>
            <a:off x="1600200" y="609600"/>
            <a:ext cx="13182600" cy="990600"/>
          </a:xfrm>
          <a:prstGeom prst="rect">
            <a:avLst/>
          </a:prstGeom>
        </p:spPr>
        <p:txBody>
          <a:bodyPr lIns="0" tIns="101600" rIns="0" bIns="0" rtlCol="0" anchor="t"/>
          <a:lstStyle/>
          <a:p>
            <a:pPr lvl="0">
              <a:lnSpc>
                <a:spcPct val="99600"/>
              </a:lnSpc>
            </a:pPr>
            <a:r>
              <a:rPr lang="en-US" sz="6000" b="1" i="0" u="none" strike="noStrike" dirty="0">
                <a:solidFill>
                  <a:srgbClr val="000000"/>
                </a:solidFill>
                <a:latin typeface="Arial" panose="020B0604020202020204" pitchFamily="34" charset="0"/>
                <a:cs typeface="Arial" panose="020B0604020202020204" pitchFamily="34" charset="0"/>
              </a:rPr>
              <a:t>OSC</a:t>
            </a:r>
            <a:r>
              <a:rPr lang="ko-KR" altLang="en-US" sz="6000" b="1" i="0" u="none" strike="noStrike" dirty="0">
                <a:solidFill>
                  <a:srgbClr val="000000"/>
                </a:solidFill>
                <a:latin typeface="Arial" panose="020B0604020202020204" pitchFamily="34" charset="0"/>
                <a:cs typeface="Arial" panose="020B0604020202020204" pitchFamily="34" charset="0"/>
              </a:rPr>
              <a:t> 유도</a:t>
            </a:r>
            <a:endParaRPr lang="en" sz="6000" b="1" i="0" u="none" strike="noStrike" dirty="0">
              <a:solidFill>
                <a:srgbClr val="000000"/>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094B44D-A2B4-D896-FAE5-8C74796AF8B5}"/>
                  </a:ext>
                </a:extLst>
              </p:cNvPr>
              <p:cNvSpPr txBox="1"/>
              <p:nvPr/>
            </p:nvSpPr>
            <p:spPr>
              <a:xfrm>
                <a:off x="2086897" y="2244213"/>
                <a:ext cx="21154103" cy="8122480"/>
              </a:xfrm>
              <a:prstGeom prst="rect">
                <a:avLst/>
              </a:prstGeom>
              <a:noFill/>
            </p:spPr>
            <p:txBody>
              <a:bodyPr wrap="square">
                <a:spAutoFit/>
              </a:bodyPr>
              <a:lstStyle/>
              <a:p>
                <a:pPr>
                  <a:lnSpc>
                    <a:spcPct val="150000"/>
                  </a:lnSpc>
                </a:pPr>
                <a:r>
                  <a:rPr lang="ko-KR" altLang="en-US" sz="3200" b="1" dirty="0"/>
                  <a:t>목표 </a:t>
                </a:r>
                <a:r>
                  <a:rPr lang="en-US" altLang="ko-KR" sz="3200" b="1" dirty="0"/>
                  <a:t>: </a:t>
                </a:r>
                <a:r>
                  <a:rPr lang="ko-KR" altLang="en-US" sz="3200" b="1" dirty="0"/>
                  <a:t>말단</a:t>
                </a:r>
                <a:r>
                  <a:rPr lang="en-US" altLang="ko-KR" sz="3200" b="1" dirty="0"/>
                  <a:t>(end-effector)</a:t>
                </a:r>
                <a:r>
                  <a:rPr lang="ko-KR" altLang="en-US" sz="3200" b="1" dirty="0"/>
                  <a:t>의 실제 궤적 </a:t>
                </a:r>
                <a14:m>
                  <m:oMath xmlns:m="http://schemas.openxmlformats.org/officeDocument/2006/math">
                    <m:r>
                      <a:rPr lang="ko-KR" altLang="en-US" sz="3200" b="1" i="1">
                        <a:latin typeface="Cambria Math" panose="02040503050406030204" pitchFamily="18" charset="0"/>
                      </a:rPr>
                      <m:t>𝒙</m:t>
                    </m:r>
                    <m:d>
                      <m:dPr>
                        <m:ctrlPr>
                          <a:rPr lang="ko-KR" altLang="en-US" sz="3200" b="1" i="1">
                            <a:latin typeface="Cambria Math" panose="02040503050406030204" pitchFamily="18" charset="0"/>
                          </a:rPr>
                        </m:ctrlPr>
                      </m:dPr>
                      <m:e>
                        <m:r>
                          <a:rPr lang="ko-KR" altLang="en-US" sz="3200" b="1" i="1">
                            <a:latin typeface="Cambria Math" panose="02040503050406030204" pitchFamily="18" charset="0"/>
                          </a:rPr>
                          <m:t>𝒕</m:t>
                        </m:r>
                      </m:e>
                    </m:d>
                  </m:oMath>
                </a14:m>
                <a:r>
                  <a:rPr lang="ko-KR" altLang="en-US" sz="3200" b="1" dirty="0"/>
                  <a:t>가 원하는 궤적 </a:t>
                </a:r>
                <a14:m>
                  <m:oMath xmlns:m="http://schemas.openxmlformats.org/officeDocument/2006/math">
                    <m:sSub>
                      <m:sSubPr>
                        <m:ctrlPr>
                          <a:rPr lang="ko-KR" altLang="en-US" sz="3200" b="1" i="1">
                            <a:latin typeface="Cambria Math" panose="02040503050406030204" pitchFamily="18" charset="0"/>
                          </a:rPr>
                        </m:ctrlPr>
                      </m:sSubPr>
                      <m:e>
                        <m:r>
                          <a:rPr lang="ko-KR" altLang="en-US" sz="3200" b="1" i="1">
                            <a:latin typeface="Cambria Math" panose="02040503050406030204" pitchFamily="18" charset="0"/>
                          </a:rPr>
                          <m:t>𝒙</m:t>
                        </m:r>
                      </m:e>
                      <m:sub>
                        <m:r>
                          <a:rPr lang="ko-KR" altLang="en-US" sz="3200" b="1" i="1">
                            <a:latin typeface="Cambria Math" panose="02040503050406030204" pitchFamily="18" charset="0"/>
                          </a:rPr>
                          <m:t>𝒅</m:t>
                        </m:r>
                      </m:sub>
                    </m:sSub>
                    <m:d>
                      <m:dPr>
                        <m:ctrlPr>
                          <a:rPr lang="ko-KR" altLang="en-US" sz="3200" b="1" i="1">
                            <a:latin typeface="Cambria Math" panose="02040503050406030204" pitchFamily="18" charset="0"/>
                          </a:rPr>
                        </m:ctrlPr>
                      </m:dPr>
                      <m:e>
                        <m:r>
                          <a:rPr lang="ko-KR" altLang="en-US" sz="3200" b="1" i="1">
                            <a:latin typeface="Cambria Math" panose="02040503050406030204" pitchFamily="18" charset="0"/>
                          </a:rPr>
                          <m:t>𝒕</m:t>
                        </m:r>
                      </m:e>
                    </m:d>
                  </m:oMath>
                </a14:m>
                <a:r>
                  <a:rPr lang="ko-KR" altLang="en-US" sz="3200" b="1" dirty="0"/>
                  <a:t>를 잘 따라가게 하고자 함</a:t>
                </a:r>
                <a:endParaRPr lang="en-US" altLang="ko-KR" sz="3200" b="1" dirty="0"/>
              </a:p>
              <a:p>
                <a:pPr>
                  <a:lnSpc>
                    <a:spcPct val="150000"/>
                  </a:lnSpc>
                </a:pPr>
                <a:endParaRPr lang="en-US" altLang="ko-KR" sz="3200" b="1" dirty="0">
                  <a:latin typeface="+mn-ea"/>
                </a:endParaRPr>
              </a:p>
              <a:p>
                <a:pPr marL="457200" indent="-457200">
                  <a:lnSpc>
                    <a:spcPct val="150000"/>
                  </a:lnSpc>
                  <a:buFont typeface="Arial" panose="020B0604020202020204" pitchFamily="34" charset="0"/>
                  <a:buChar char="•"/>
                </a:pPr>
                <a:r>
                  <a:rPr lang="ko-KR" altLang="en-US" sz="3200" dirty="0">
                    <a:latin typeface="+mn-ea"/>
                  </a:rPr>
                  <a:t>최종 식 </a:t>
                </a:r>
                <a:r>
                  <a:rPr lang="en-US" altLang="ko-KR" sz="3200" dirty="0">
                    <a:latin typeface="+mn-ea"/>
                  </a:rPr>
                  <a:t>: </a:t>
                </a:r>
              </a:p>
              <a:p>
                <a:pPr marL="457200" indent="-457200">
                  <a:lnSpc>
                    <a:spcPct val="150000"/>
                  </a:lnSpc>
                  <a:buFont typeface="Arial" panose="020B0604020202020204" pitchFamily="34" charset="0"/>
                  <a:buChar char="•"/>
                </a:pPr>
                <a:endParaRPr lang="en-US" altLang="ko-KR" sz="3200" dirty="0">
                  <a:latin typeface="+mn-ea"/>
                </a:endParaRPr>
              </a:p>
              <a:p>
                <a:pPr marL="457200" indent="-457200">
                  <a:lnSpc>
                    <a:spcPct val="150000"/>
                  </a:lnSpc>
                  <a:buFont typeface="Arial" panose="020B0604020202020204" pitchFamily="34" charset="0"/>
                  <a:buChar char="•"/>
                </a:pPr>
                <a:endParaRPr lang="en-US" altLang="ko-KR" sz="3200" dirty="0">
                  <a:latin typeface="+mn-ea"/>
                </a:endParaRPr>
              </a:p>
              <a:p>
                <a:pPr marL="457200" indent="-457200">
                  <a:lnSpc>
                    <a:spcPct val="150000"/>
                  </a:lnSpc>
                  <a:buFont typeface="Arial" panose="020B0604020202020204" pitchFamily="34" charset="0"/>
                  <a:buChar char="•"/>
                </a:pPr>
                <a:endParaRPr lang="en-US" altLang="ko-KR" sz="3200" dirty="0">
                  <a:latin typeface="+mn-ea"/>
                </a:endParaRPr>
              </a:p>
              <a:p>
                <a:pPr marL="457200" indent="-457200">
                  <a:lnSpc>
                    <a:spcPct val="150000"/>
                  </a:lnSpc>
                  <a:buFont typeface="Arial" panose="020B0604020202020204" pitchFamily="34" charset="0"/>
                  <a:buChar char="•"/>
                </a:pPr>
                <a:endParaRPr lang="en-US" altLang="ko-KR" sz="3200" dirty="0">
                  <a:latin typeface="+mn-ea"/>
                </a:endParaRPr>
              </a:p>
              <a:p>
                <a:pPr marL="457200" indent="-457200">
                  <a:lnSpc>
                    <a:spcPct val="150000"/>
                  </a:lnSpc>
                  <a:buFont typeface="Arial" panose="020B0604020202020204" pitchFamily="34" charset="0"/>
                  <a:buChar char="•"/>
                </a:pPr>
                <a:endParaRPr lang="en-US" altLang="ko-KR" sz="3200" dirty="0">
                  <a:latin typeface="+mn-ea"/>
                </a:endParaRPr>
              </a:p>
              <a:p>
                <a:pPr>
                  <a:lnSpc>
                    <a:spcPct val="150000"/>
                  </a:lnSpc>
                </a:pPr>
                <a:endParaRPr lang="en-US" altLang="ko-KR" sz="3200" dirty="0">
                  <a:latin typeface="+mn-ea"/>
                </a:endParaRPr>
              </a:p>
              <a:p>
                <a:pPr marL="457200" indent="-457200">
                  <a:lnSpc>
                    <a:spcPct val="150000"/>
                  </a:lnSpc>
                  <a:buFont typeface="Arial" panose="020B0604020202020204" pitchFamily="34" charset="0"/>
                  <a:buChar char="•"/>
                </a:pPr>
                <a:r>
                  <a:rPr lang="ko-KR" altLang="en-US" sz="3200" dirty="0">
                    <a:latin typeface="+mn-ea"/>
                  </a:rPr>
                  <a:t>대입하여 최종 제어 인풋을 구함</a:t>
                </a:r>
                <a:endParaRPr lang="en-US" altLang="ko-KR" sz="3200" dirty="0">
                  <a:latin typeface="+mn-ea"/>
                </a:endParaRPr>
              </a:p>
              <a:p>
                <a:pPr marL="457200" indent="-457200">
                  <a:lnSpc>
                    <a:spcPct val="150000"/>
                  </a:lnSpc>
                  <a:buFont typeface="Arial" panose="020B0604020202020204" pitchFamily="34" charset="0"/>
                  <a:buChar char="•"/>
                </a:pPr>
                <a:endParaRPr lang="en-US" altLang="ko-KR" sz="3200" dirty="0">
                  <a:latin typeface="+mn-ea"/>
                </a:endParaRPr>
              </a:p>
            </p:txBody>
          </p:sp>
        </mc:Choice>
        <mc:Fallback xmlns="">
          <p:sp>
            <p:nvSpPr>
              <p:cNvPr id="6" name="TextBox 5">
                <a:extLst>
                  <a:ext uri="{FF2B5EF4-FFF2-40B4-BE49-F238E27FC236}">
                    <a16:creationId xmlns:a16="http://schemas.microsoft.com/office/drawing/2014/main" id="{D094B44D-A2B4-D896-FAE5-8C74796AF8B5}"/>
                  </a:ext>
                </a:extLst>
              </p:cNvPr>
              <p:cNvSpPr txBox="1">
                <a:spLocks noRot="1" noChangeAspect="1" noMove="1" noResize="1" noEditPoints="1" noAdjustHandles="1" noChangeArrowheads="1" noChangeShapeType="1" noTextEdit="1"/>
              </p:cNvSpPr>
              <p:nvPr/>
            </p:nvSpPr>
            <p:spPr>
              <a:xfrm>
                <a:off x="2086897" y="2244213"/>
                <a:ext cx="21154103" cy="8122480"/>
              </a:xfrm>
              <a:prstGeom prst="rect">
                <a:avLst/>
              </a:prstGeom>
              <a:blipFill>
                <a:blip r:embed="rId7"/>
                <a:stretch>
                  <a:fillRect l="-720"/>
                </a:stretch>
              </a:blipFill>
            </p:spPr>
            <p:txBody>
              <a:bodyPr/>
              <a:lstStyle/>
              <a:p>
                <a:r>
                  <a:rPr lang="ko-KR" altLang="en-US">
                    <a:noFill/>
                  </a:rPr>
                  <a:t> </a:t>
                </a:r>
              </a:p>
            </p:txBody>
          </p:sp>
        </mc:Fallback>
      </mc:AlternateContent>
      <p:pic>
        <p:nvPicPr>
          <p:cNvPr id="18" name="그림 17" descr="\documentclass{article}&#10;\usepackage{amsmath}&#10;\pagestyle{empty}&#10;\begin{document}&#10;&#10;&#10;$&#10;\ddot{\mathbf{q}}^\star&#10;= \mathbf{J}(\mathbf{q})^{-1}\!\left(&#10;    \mathbf{a}_x^\star&#10;    - \dot{\mathbf{J}}(\mathbf{q},\dot{\mathbf{q}})\,\dot{\mathbf{q}}&#10;  \right)&#10;$&#10;&#10;\end{document}" title="IguanaTex Bitmap Display">
            <a:extLst>
              <a:ext uri="{FF2B5EF4-FFF2-40B4-BE49-F238E27FC236}">
                <a16:creationId xmlns:a16="http://schemas.microsoft.com/office/drawing/2014/main" id="{A28B5F76-78CF-AB37-8941-B907A1CB9A61}"/>
              </a:ext>
            </a:extLst>
          </p:cNvPr>
          <p:cNvPicPr>
            <a:picLocks noChangeAspect="1"/>
          </p:cNvPicPr>
          <p:nvPr>
            <p:custDataLst>
              <p:tags r:id="rId1"/>
            </p:custDataLst>
          </p:nvPr>
        </p:nvPicPr>
        <p:blipFill>
          <a:blip r:embed="rId8" cstate="print">
            <a:extLst>
              <a:ext uri="{28A0092B-C50C-407E-A947-70E740481C1C}">
                <a14:useLocalDpi xmlns:a14="http://schemas.microsoft.com/office/drawing/2010/main" val="0"/>
              </a:ext>
            </a:extLst>
          </a:blip>
          <a:stretch>
            <a:fillRect/>
          </a:stretch>
        </p:blipFill>
        <p:spPr>
          <a:xfrm>
            <a:off x="5943600" y="5840060"/>
            <a:ext cx="6649600" cy="956800"/>
          </a:xfrm>
          <a:prstGeom prst="rect">
            <a:avLst/>
          </a:prstGeom>
        </p:spPr>
      </p:pic>
      <p:pic>
        <p:nvPicPr>
          <p:cNvPr id="2" name="그림 1" descr="\documentclass{article}&#10;\usepackage{amsmath}&#10;\pagestyle{empty}&#10;\begin{document}&#10;&#10;&#10;$&#10;\Rightarrow\quad&#10;\mathbf{a}_x^\star&#10;= \ddot{\mathbf{x}}_d + \mathbf{K}_D \dot{\mathbf{e}} + \mathbf{K}_P \mathbf{e}&#10;$&#10;&#10;\end{document}" title="IguanaTex Bitmap Display">
            <a:extLst>
              <a:ext uri="{FF2B5EF4-FFF2-40B4-BE49-F238E27FC236}">
                <a16:creationId xmlns:a16="http://schemas.microsoft.com/office/drawing/2014/main" id="{C043FD04-62AF-2090-D404-CB977AB111EF}"/>
              </a:ext>
            </a:extLst>
          </p:cNvPr>
          <p:cNvPicPr>
            <a:picLocks noChangeAspect="1"/>
          </p:cNvPicPr>
          <p:nvPr>
            <p:custDataLst>
              <p:tags r:id="rId2"/>
            </p:custDataLst>
          </p:nvPr>
        </p:nvPicPr>
        <p:blipFill>
          <a:blip r:embed="rId9" cstate="print">
            <a:extLst>
              <a:ext uri="{28A0092B-C50C-407E-A947-70E740481C1C}">
                <a14:useLocalDpi xmlns:a14="http://schemas.microsoft.com/office/drawing/2010/main" val="0"/>
              </a:ext>
            </a:extLst>
          </a:blip>
          <a:srcRect l="16255" t="-14977"/>
          <a:stretch>
            <a:fillRect/>
          </a:stretch>
        </p:blipFill>
        <p:spPr>
          <a:xfrm>
            <a:off x="12663948" y="4059700"/>
            <a:ext cx="5496400" cy="585000"/>
          </a:xfrm>
          <a:prstGeom prst="rect">
            <a:avLst/>
          </a:prstGeom>
        </p:spPr>
      </p:pic>
      <p:pic>
        <p:nvPicPr>
          <p:cNvPr id="5" name="그림 4" descr="\documentclass{article}&#10;\usepackage{amsmath}&#10;\pagestyle{empty}&#10;\begin{document}&#10;&#10;&#10;$&#10;\ddot{\mathbf{x}} = \mathbf{J}(\mathbf{q})\,\ddot{\mathbf{q}}&#10;                   + \dot{\mathbf{J}}(\mathbf{q},\dot{\mathbf{q}})\,\dot{\mathbf{q}}&#10;$&#10;&#10;\end{document}" title="IguanaTex Bitmap Display">
            <a:extLst>
              <a:ext uri="{FF2B5EF4-FFF2-40B4-BE49-F238E27FC236}">
                <a16:creationId xmlns:a16="http://schemas.microsoft.com/office/drawing/2014/main" id="{D8DE5EB4-F2F1-9119-BCD3-9B199F352A63}"/>
              </a:ext>
            </a:extLst>
          </p:cNvPr>
          <p:cNvPicPr>
            <a:picLocks noChangeAspect="1"/>
          </p:cNvPicPr>
          <p:nvPr>
            <p:custDataLst>
              <p:tags r:id="rId3"/>
            </p:custDataLst>
          </p:nvPr>
        </p:nvPicPr>
        <p:blipFill>
          <a:blip r:embed="rId10" cstate="print">
            <a:extLst>
              <a:ext uri="{28A0092B-C50C-407E-A947-70E740481C1C}">
                <a14:useLocalDpi xmlns:a14="http://schemas.microsoft.com/office/drawing/2010/main" val="0"/>
              </a:ext>
            </a:extLst>
          </a:blip>
          <a:stretch>
            <a:fillRect/>
          </a:stretch>
        </p:blipFill>
        <p:spPr>
          <a:xfrm>
            <a:off x="5943600" y="4038600"/>
            <a:ext cx="5152000" cy="627200"/>
          </a:xfrm>
          <a:prstGeom prst="rect">
            <a:avLst/>
          </a:prstGeom>
        </p:spPr>
      </p:pic>
      <p:pic>
        <p:nvPicPr>
          <p:cNvPr id="7" name="그림 6" descr="\documentclass{article}&#10;\usepackage{amsmath}&#10;\pagestyle{empty}&#10;\begin{document}&#10;&#10;&#10;$&#10;\mathbf{u} &#10;= \mathbf{M}(\mathbf{q})\,\ddot{\mathbf{q}} + \mathbf{C}(\mathbf{q},\dot{\mathbf{q}})\,\dot{\mathbf{q}}&#10;  + \mathbf{g}(\mathbf{q})&#10;$&#10;&#10;\end{document}" title="IguanaTex Bitmap Display">
            <a:extLst>
              <a:ext uri="{FF2B5EF4-FFF2-40B4-BE49-F238E27FC236}">
                <a16:creationId xmlns:a16="http://schemas.microsoft.com/office/drawing/2014/main" id="{B5D85452-08EF-0B5E-1A3F-E1FDAE0D3D4C}"/>
              </a:ext>
            </a:extLst>
          </p:cNvPr>
          <p:cNvPicPr>
            <a:picLocks noChangeAspect="1"/>
          </p:cNvPicPr>
          <p:nvPr>
            <p:custDataLst>
              <p:tags r:id="rId4"/>
            </p:custDataLst>
          </p:nvPr>
        </p:nvPicPr>
        <p:blipFill>
          <a:blip r:embed="rId11" cstate="print">
            <a:extLst>
              <a:ext uri="{28A0092B-C50C-407E-A947-70E740481C1C}">
                <a14:useLocalDpi xmlns:a14="http://schemas.microsoft.com/office/drawing/2010/main" val="0"/>
              </a:ext>
            </a:extLst>
          </a:blip>
          <a:stretch>
            <a:fillRect/>
          </a:stretch>
        </p:blipFill>
        <p:spPr>
          <a:xfrm>
            <a:off x="9525000" y="8990600"/>
            <a:ext cx="7196800" cy="534400"/>
          </a:xfrm>
          <a:prstGeom prst="rect">
            <a:avLst/>
          </a:prstGeom>
        </p:spPr>
      </p:pic>
      <p:cxnSp>
        <p:nvCxnSpPr>
          <p:cNvPr id="9" name="직선 화살표 연결선 8">
            <a:extLst>
              <a:ext uri="{FF2B5EF4-FFF2-40B4-BE49-F238E27FC236}">
                <a16:creationId xmlns:a16="http://schemas.microsoft.com/office/drawing/2014/main" id="{6B680E31-CEBF-74FF-3E8F-A19160D1A27F}"/>
              </a:ext>
            </a:extLst>
          </p:cNvPr>
          <p:cNvCxnSpPr>
            <a:cxnSpLocks/>
          </p:cNvCxnSpPr>
          <p:nvPr/>
        </p:nvCxnSpPr>
        <p:spPr>
          <a:xfrm>
            <a:off x="6233600" y="6705600"/>
            <a:ext cx="5653600" cy="2057400"/>
          </a:xfrm>
          <a:prstGeom prst="straightConnector1">
            <a:avLst/>
          </a:prstGeom>
          <a:ln w="57150">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7043531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22197-BF00-B83E-EF62-A363B4E08522}"/>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262A120E-070D-E41E-A740-6B52225D316B}"/>
              </a:ext>
            </a:extLst>
          </p:cNvPr>
          <p:cNvSpPr/>
          <p:nvPr/>
        </p:nvSpPr>
        <p:spPr>
          <a:xfrm>
            <a:off x="0" y="0"/>
            <a:ext cx="821042" cy="137160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BEA16DCD-04D3-504D-2794-A15DBC57AA7A}"/>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BF095E4D-B281-00CD-6A82-3B8C36575C18}"/>
              </a:ext>
            </a:extLst>
          </p:cNvPr>
          <p:cNvSpPr txBox="1"/>
          <p:nvPr/>
        </p:nvSpPr>
        <p:spPr>
          <a:xfrm>
            <a:off x="1600200" y="609600"/>
            <a:ext cx="13182600" cy="990600"/>
          </a:xfrm>
          <a:prstGeom prst="rect">
            <a:avLst/>
          </a:prstGeom>
        </p:spPr>
        <p:txBody>
          <a:bodyPr lIns="0" tIns="101600" rIns="0" bIns="0" rtlCol="0" anchor="t"/>
          <a:lstStyle/>
          <a:p>
            <a:pPr lvl="0">
              <a:lnSpc>
                <a:spcPct val="99600"/>
              </a:lnSpc>
            </a:pPr>
            <a:r>
              <a:rPr lang="en-US" sz="6000" b="1" i="0" u="none" strike="noStrike" dirty="0">
                <a:solidFill>
                  <a:srgbClr val="000000"/>
                </a:solidFill>
                <a:latin typeface="Arial" panose="020B0604020202020204" pitchFamily="34" charset="0"/>
                <a:cs typeface="Arial" panose="020B0604020202020204" pitchFamily="34" charset="0"/>
              </a:rPr>
              <a:t>OSC</a:t>
            </a:r>
            <a:r>
              <a:rPr lang="ko-KR" altLang="en-US" sz="6000" b="1" i="0" u="none" strike="noStrike" dirty="0">
                <a:solidFill>
                  <a:srgbClr val="000000"/>
                </a:solidFill>
                <a:latin typeface="Arial" panose="020B0604020202020204" pitchFamily="34" charset="0"/>
                <a:cs typeface="Arial" panose="020B0604020202020204" pitchFamily="34" charset="0"/>
              </a:rPr>
              <a:t> 한계</a:t>
            </a:r>
            <a:endParaRPr lang="en" sz="6000" b="1" i="0" u="none" strike="noStrike" dirty="0">
              <a:solidFill>
                <a:srgbClr val="00000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9452D5D7-379B-0FD6-1C18-14F217274B6E}"/>
              </a:ext>
            </a:extLst>
          </p:cNvPr>
          <p:cNvSpPr txBox="1"/>
          <p:nvPr/>
        </p:nvSpPr>
        <p:spPr>
          <a:xfrm>
            <a:off x="2086897" y="2244213"/>
            <a:ext cx="21154103" cy="9022022"/>
          </a:xfrm>
          <a:prstGeom prst="rect">
            <a:avLst/>
          </a:prstGeom>
          <a:noFill/>
        </p:spPr>
        <p:txBody>
          <a:bodyPr wrap="square">
            <a:spAutoFit/>
          </a:bodyPr>
          <a:lstStyle/>
          <a:p>
            <a:pPr marL="457200" indent="-457200">
              <a:lnSpc>
                <a:spcPct val="150000"/>
              </a:lnSpc>
              <a:buFont typeface="Arial" panose="020B0604020202020204" pitchFamily="34" charset="0"/>
              <a:buChar char="•"/>
            </a:pPr>
            <a:r>
              <a:rPr lang="ko-KR" altLang="en-US" sz="3200" b="1" dirty="0">
                <a:latin typeface="+mn-ea"/>
              </a:rPr>
              <a:t>가정이 강함 </a:t>
            </a:r>
            <a:r>
              <a:rPr lang="en-US" altLang="ko-KR" sz="3200" b="1" dirty="0">
                <a:latin typeface="+mn-ea"/>
              </a:rPr>
              <a:t>: </a:t>
            </a:r>
            <a:r>
              <a:rPr lang="en-US" altLang="ko-KR" sz="3200" dirty="0">
                <a:latin typeface="+mn-ea"/>
              </a:rPr>
              <a:t>J</a:t>
            </a:r>
            <a:r>
              <a:rPr lang="ko-KR" altLang="en-US" sz="3200" dirty="0">
                <a:latin typeface="+mn-ea"/>
              </a:rPr>
              <a:t>가 </a:t>
            </a:r>
            <a:r>
              <a:rPr lang="ko-KR" altLang="en-US" sz="3200" dirty="0" err="1">
                <a:latin typeface="+mn-ea"/>
              </a:rPr>
              <a:t>정사각</a:t>
            </a:r>
            <a:r>
              <a:rPr lang="en-US" altLang="ko-KR" sz="3200" dirty="0">
                <a:latin typeface="+mn-ea"/>
              </a:rPr>
              <a:t>/</a:t>
            </a:r>
            <a:r>
              <a:rPr lang="ko-KR" altLang="en-US" sz="3200" dirty="0">
                <a:latin typeface="+mn-ea"/>
              </a:rPr>
              <a:t>가역</a:t>
            </a:r>
            <a:r>
              <a:rPr lang="en-US" altLang="ko-KR" sz="3200" dirty="0">
                <a:latin typeface="+mn-ea"/>
              </a:rPr>
              <a:t>, </a:t>
            </a:r>
            <a:r>
              <a:rPr lang="ko-KR" altLang="en-US" sz="3200" dirty="0">
                <a:latin typeface="+mn-ea"/>
              </a:rPr>
              <a:t>완전 구동</a:t>
            </a:r>
            <a:r>
              <a:rPr lang="en-US" altLang="ko-KR" sz="3200" dirty="0">
                <a:latin typeface="+mn-ea"/>
              </a:rPr>
              <a:t>, </a:t>
            </a:r>
            <a:r>
              <a:rPr lang="ko-KR" altLang="en-US" sz="3200" dirty="0">
                <a:latin typeface="+mn-ea"/>
              </a:rPr>
              <a:t>접촉</a:t>
            </a:r>
            <a:r>
              <a:rPr lang="en-US" altLang="ko-KR" sz="3200" dirty="0">
                <a:latin typeface="+mn-ea"/>
              </a:rPr>
              <a:t>·</a:t>
            </a:r>
            <a:r>
              <a:rPr lang="ko-KR" altLang="en-US" sz="3200" dirty="0">
                <a:latin typeface="+mn-ea"/>
              </a:rPr>
              <a:t>마찰</a:t>
            </a:r>
            <a:r>
              <a:rPr lang="en-US" altLang="ko-KR" sz="3200" dirty="0">
                <a:latin typeface="+mn-ea"/>
              </a:rPr>
              <a:t>·</a:t>
            </a:r>
            <a:r>
              <a:rPr lang="ko-KR" altLang="en-US" sz="3200" dirty="0">
                <a:latin typeface="+mn-ea"/>
              </a:rPr>
              <a:t>한계가 거의 없음</a:t>
            </a:r>
            <a:endParaRPr lang="en-US" altLang="ko-KR" sz="3200" dirty="0">
              <a:latin typeface="+mn-ea"/>
            </a:endParaRPr>
          </a:p>
          <a:p>
            <a:pPr>
              <a:lnSpc>
                <a:spcPct val="150000"/>
              </a:lnSpc>
            </a:pPr>
            <a:r>
              <a:rPr lang="en-US" altLang="ko-KR" sz="3200" dirty="0">
                <a:latin typeface="+mn-ea"/>
              </a:rPr>
              <a:t>					</a:t>
            </a:r>
            <a:r>
              <a:rPr lang="ko-KR" altLang="en-US" sz="3200" dirty="0">
                <a:latin typeface="+mn-ea"/>
              </a:rPr>
              <a:t>→ 실제 전신 로봇</a:t>
            </a:r>
            <a:r>
              <a:rPr lang="en-US" altLang="ko-KR" sz="3200" dirty="0">
                <a:latin typeface="+mn-ea"/>
              </a:rPr>
              <a:t>/</a:t>
            </a:r>
            <a:r>
              <a:rPr lang="ko-KR" altLang="en-US" sz="3200" dirty="0">
                <a:latin typeface="+mn-ea"/>
              </a:rPr>
              <a:t>이동로봇과 안 맞는 경우가 많음</a:t>
            </a:r>
            <a:endParaRPr lang="en-US" altLang="ko-KR" sz="3200" dirty="0">
              <a:latin typeface="+mn-ea"/>
            </a:endParaRPr>
          </a:p>
          <a:p>
            <a:pPr marL="457200" indent="-457200">
              <a:lnSpc>
                <a:spcPct val="150000"/>
              </a:lnSpc>
              <a:buFont typeface="Arial" panose="020B0604020202020204" pitchFamily="34" charset="0"/>
              <a:buChar char="•"/>
            </a:pPr>
            <a:endParaRPr lang="en-US" altLang="ko-KR" sz="3200" dirty="0">
              <a:latin typeface="+mn-ea"/>
            </a:endParaRPr>
          </a:p>
          <a:p>
            <a:pPr marL="457200" indent="-457200">
              <a:lnSpc>
                <a:spcPct val="150000"/>
              </a:lnSpc>
              <a:buFont typeface="Arial" panose="020B0604020202020204" pitchFamily="34" charset="0"/>
              <a:buChar char="•"/>
            </a:pPr>
            <a:r>
              <a:rPr lang="ko-KR" altLang="en-US" sz="3200" b="1" dirty="0">
                <a:latin typeface="+mn-ea"/>
              </a:rPr>
              <a:t>다중 과업 충돌 </a:t>
            </a:r>
            <a:r>
              <a:rPr lang="en-US" altLang="ko-KR" sz="3200" b="1" dirty="0">
                <a:latin typeface="+mn-ea"/>
              </a:rPr>
              <a:t>: </a:t>
            </a:r>
            <a:r>
              <a:rPr lang="ko-KR" altLang="en-US" sz="3200" dirty="0">
                <a:latin typeface="+mn-ea"/>
              </a:rPr>
              <a:t>한 손 위치</a:t>
            </a:r>
            <a:r>
              <a:rPr lang="en-US" altLang="ko-KR" sz="3200" dirty="0">
                <a:latin typeface="+mn-ea"/>
              </a:rPr>
              <a:t>, </a:t>
            </a:r>
            <a:r>
              <a:rPr lang="ko-KR" altLang="en-US" sz="3200" dirty="0">
                <a:latin typeface="+mn-ea"/>
              </a:rPr>
              <a:t>다른 손 힘</a:t>
            </a:r>
            <a:r>
              <a:rPr lang="en-US" altLang="ko-KR" sz="3200" dirty="0">
                <a:latin typeface="+mn-ea"/>
              </a:rPr>
              <a:t>, </a:t>
            </a:r>
            <a:r>
              <a:rPr lang="ko-KR" altLang="en-US" sz="3200" dirty="0">
                <a:latin typeface="+mn-ea"/>
              </a:rPr>
              <a:t>시선 고정</a:t>
            </a:r>
            <a:r>
              <a:rPr lang="en-US" altLang="ko-KR" sz="3200" dirty="0">
                <a:latin typeface="+mn-ea"/>
              </a:rPr>
              <a:t>, </a:t>
            </a:r>
            <a:r>
              <a:rPr lang="ko-KR" altLang="en-US" sz="3200" dirty="0">
                <a:latin typeface="+mn-ea"/>
              </a:rPr>
              <a:t>몸통 안정 등 여러 목표가 동시에 오면 우선순위</a:t>
            </a:r>
            <a:r>
              <a:rPr lang="en-US" altLang="ko-KR" sz="3200" dirty="0">
                <a:latin typeface="+mn-ea"/>
              </a:rPr>
              <a:t>/</a:t>
            </a:r>
            <a:r>
              <a:rPr lang="ko-KR" altLang="en-US" sz="3200" dirty="0">
                <a:latin typeface="+mn-ea"/>
              </a:rPr>
              <a:t>충돌 해결이 필요하지만</a:t>
            </a:r>
            <a:r>
              <a:rPr lang="en-US" altLang="ko-KR" sz="3200" dirty="0">
                <a:latin typeface="+mn-ea"/>
              </a:rPr>
              <a:t>, </a:t>
            </a:r>
            <a:r>
              <a:rPr lang="ko-KR" altLang="en-US" sz="3200" dirty="0">
                <a:latin typeface="+mn-ea"/>
              </a:rPr>
              <a:t>기본 </a:t>
            </a:r>
            <a:r>
              <a:rPr lang="en-US" altLang="ko-KR" sz="3200" dirty="0">
                <a:latin typeface="+mn-ea"/>
              </a:rPr>
              <a:t>OSC</a:t>
            </a:r>
            <a:r>
              <a:rPr lang="ko-KR" altLang="en-US" sz="3200" dirty="0">
                <a:latin typeface="+mn-ea"/>
              </a:rPr>
              <a:t>는 이를 체계적으로 보장하기 어려움</a:t>
            </a:r>
            <a:endParaRPr lang="en-US" altLang="ko-KR" sz="3200" dirty="0">
              <a:latin typeface="+mn-ea"/>
            </a:endParaRPr>
          </a:p>
          <a:p>
            <a:pPr marL="457200" indent="-457200">
              <a:lnSpc>
                <a:spcPct val="150000"/>
              </a:lnSpc>
              <a:buFont typeface="Arial" panose="020B0604020202020204" pitchFamily="34" charset="0"/>
              <a:buChar char="•"/>
            </a:pPr>
            <a:endParaRPr lang="en-US" altLang="ko-KR" sz="3200" dirty="0">
              <a:latin typeface="+mn-ea"/>
            </a:endParaRPr>
          </a:p>
          <a:p>
            <a:pPr marL="457200" indent="-457200">
              <a:lnSpc>
                <a:spcPct val="150000"/>
              </a:lnSpc>
              <a:buFont typeface="Arial" panose="020B0604020202020204" pitchFamily="34" charset="0"/>
              <a:buChar char="•"/>
            </a:pPr>
            <a:r>
              <a:rPr lang="ko-KR" altLang="en-US" sz="3200" b="1" dirty="0">
                <a:latin typeface="+mn-ea"/>
              </a:rPr>
              <a:t>제약 미포함 </a:t>
            </a:r>
            <a:r>
              <a:rPr lang="en-US" altLang="ko-KR" sz="3200" b="1" dirty="0">
                <a:latin typeface="+mn-ea"/>
              </a:rPr>
              <a:t>: </a:t>
            </a:r>
            <a:r>
              <a:rPr lang="ko-KR" altLang="en-US" sz="3200" dirty="0">
                <a:latin typeface="+mn-ea"/>
              </a:rPr>
              <a:t>조인트 제한</a:t>
            </a:r>
            <a:r>
              <a:rPr lang="en-US" altLang="ko-KR" sz="3200" dirty="0">
                <a:latin typeface="+mn-ea"/>
              </a:rPr>
              <a:t>(</a:t>
            </a:r>
            <a:r>
              <a:rPr lang="ko-KR" altLang="en-US" sz="3200" dirty="0">
                <a:latin typeface="+mn-ea"/>
              </a:rPr>
              <a:t>각도</a:t>
            </a:r>
            <a:r>
              <a:rPr lang="en-US" altLang="ko-KR" sz="3200" dirty="0">
                <a:latin typeface="+mn-ea"/>
              </a:rPr>
              <a:t>/</a:t>
            </a:r>
            <a:r>
              <a:rPr lang="ko-KR" altLang="en-US" sz="3200" dirty="0">
                <a:latin typeface="+mn-ea"/>
              </a:rPr>
              <a:t>속도</a:t>
            </a:r>
            <a:r>
              <a:rPr lang="en-US" altLang="ko-KR" sz="3200" dirty="0">
                <a:latin typeface="+mn-ea"/>
              </a:rPr>
              <a:t>/</a:t>
            </a:r>
            <a:r>
              <a:rPr lang="ko-KR" altLang="en-US" sz="3200" dirty="0">
                <a:latin typeface="+mn-ea"/>
              </a:rPr>
              <a:t>가속도</a:t>
            </a:r>
            <a:r>
              <a:rPr lang="en-US" altLang="ko-KR" sz="3200" dirty="0">
                <a:latin typeface="+mn-ea"/>
              </a:rPr>
              <a:t>/</a:t>
            </a:r>
            <a:r>
              <a:rPr lang="ko-KR" altLang="en-US" sz="3200" dirty="0">
                <a:latin typeface="+mn-ea"/>
              </a:rPr>
              <a:t>토크 한계</a:t>
            </a:r>
            <a:r>
              <a:rPr lang="en-US" altLang="ko-KR" sz="3200" dirty="0">
                <a:latin typeface="+mn-ea"/>
              </a:rPr>
              <a:t>)</a:t>
            </a:r>
            <a:r>
              <a:rPr lang="ko-KR" altLang="en-US" sz="3200" dirty="0">
                <a:latin typeface="+mn-ea"/>
              </a:rPr>
              <a:t>접촉 가속도 제약</a:t>
            </a:r>
            <a:r>
              <a:rPr lang="en-US" altLang="ko-KR" sz="3200" dirty="0">
                <a:latin typeface="+mn-ea"/>
              </a:rPr>
              <a:t>), </a:t>
            </a:r>
            <a:r>
              <a:rPr lang="ko-KR" altLang="en-US" sz="3200" dirty="0" err="1">
                <a:latin typeface="+mn-ea"/>
              </a:rPr>
              <a:t>마찰원뿔</a:t>
            </a:r>
            <a:r>
              <a:rPr lang="en-US" altLang="ko-KR" sz="3200" dirty="0">
                <a:latin typeface="+mn-ea"/>
              </a:rPr>
              <a:t> </a:t>
            </a:r>
            <a:r>
              <a:rPr lang="ko-KR" altLang="en-US" sz="3200" dirty="0">
                <a:latin typeface="+mn-ea"/>
              </a:rPr>
              <a:t>등</a:t>
            </a:r>
            <a:r>
              <a:rPr lang="en-US" altLang="ko-KR" sz="3200" dirty="0">
                <a:latin typeface="+mn-ea"/>
              </a:rPr>
              <a:t>, </a:t>
            </a:r>
            <a:r>
              <a:rPr lang="ko-KR" altLang="en-US" sz="3200" dirty="0">
                <a:latin typeface="+mn-ea"/>
              </a:rPr>
              <a:t>기본 </a:t>
            </a:r>
            <a:r>
              <a:rPr lang="en-US" altLang="ko-KR" sz="3200" dirty="0">
                <a:latin typeface="+mn-ea"/>
              </a:rPr>
              <a:t>OSC </a:t>
            </a:r>
            <a:r>
              <a:rPr lang="ko-KR" altLang="en-US" sz="3200" dirty="0">
                <a:latin typeface="+mn-ea"/>
              </a:rPr>
              <a:t>식에는 이런 부등식</a:t>
            </a:r>
            <a:r>
              <a:rPr lang="en-US" altLang="ko-KR" sz="3200" dirty="0">
                <a:latin typeface="+mn-ea"/>
              </a:rPr>
              <a:t>/</a:t>
            </a:r>
            <a:r>
              <a:rPr lang="ko-KR" altLang="en-US" sz="3200" dirty="0">
                <a:latin typeface="+mn-ea"/>
              </a:rPr>
              <a:t>경계 조건을 안전하게 넣기 힘듦</a:t>
            </a:r>
            <a:endParaRPr lang="en-US" altLang="ko-KR" sz="3200" dirty="0">
              <a:latin typeface="+mn-ea"/>
            </a:endParaRPr>
          </a:p>
          <a:p>
            <a:pPr marL="457200" indent="-457200">
              <a:lnSpc>
                <a:spcPct val="150000"/>
              </a:lnSpc>
              <a:buFont typeface="Arial" panose="020B0604020202020204" pitchFamily="34" charset="0"/>
              <a:buChar char="•"/>
            </a:pPr>
            <a:endParaRPr lang="en-US" altLang="ko-KR" sz="3200" dirty="0">
              <a:latin typeface="+mn-ea"/>
            </a:endParaRPr>
          </a:p>
          <a:p>
            <a:pPr marL="457200" indent="-457200">
              <a:lnSpc>
                <a:spcPct val="150000"/>
              </a:lnSpc>
              <a:buFont typeface="Arial" panose="020B0604020202020204" pitchFamily="34" charset="0"/>
              <a:buChar char="•"/>
            </a:pPr>
            <a:endParaRPr lang="en-US" altLang="ko-KR" sz="3200" dirty="0">
              <a:latin typeface="+mn-ea"/>
            </a:endParaRPr>
          </a:p>
          <a:p>
            <a:pPr marL="457200" indent="-457200">
              <a:lnSpc>
                <a:spcPct val="150000"/>
              </a:lnSpc>
              <a:buFont typeface="Arial" panose="020B0604020202020204" pitchFamily="34" charset="0"/>
              <a:buChar char="•"/>
            </a:pPr>
            <a:endParaRPr lang="en-US" altLang="ko-KR" sz="3200" dirty="0">
              <a:latin typeface="+mn-ea"/>
            </a:endParaRPr>
          </a:p>
          <a:p>
            <a:pPr>
              <a:lnSpc>
                <a:spcPct val="150000"/>
              </a:lnSpc>
            </a:pPr>
            <a:r>
              <a:rPr lang="en-US" altLang="ko-KR" sz="4000" b="1" dirty="0">
                <a:latin typeface="+mn-ea"/>
              </a:rPr>
              <a:t>				</a:t>
            </a:r>
            <a:r>
              <a:rPr lang="ko-KR" altLang="en-US" sz="4000" b="1" dirty="0">
                <a:latin typeface="+mn-ea"/>
              </a:rPr>
              <a:t>이러한 제한 조건들을 해결하기 위해서 </a:t>
            </a:r>
            <a:r>
              <a:rPr lang="en-US" altLang="ko-KR" sz="4000" b="1" dirty="0">
                <a:latin typeface="+mn-ea"/>
              </a:rPr>
              <a:t>TSID</a:t>
            </a:r>
            <a:r>
              <a:rPr lang="ko-KR" altLang="en-US" sz="4000" b="1" dirty="0">
                <a:latin typeface="+mn-ea"/>
              </a:rPr>
              <a:t>와 </a:t>
            </a:r>
            <a:r>
              <a:rPr lang="en-US" altLang="ko-KR" sz="4000" b="1" dirty="0">
                <a:latin typeface="+mn-ea"/>
              </a:rPr>
              <a:t>QP</a:t>
            </a:r>
            <a:r>
              <a:rPr lang="ko-KR" altLang="en-US" sz="4000" b="1" dirty="0">
                <a:latin typeface="+mn-ea"/>
              </a:rPr>
              <a:t>를 적용</a:t>
            </a:r>
            <a:endParaRPr lang="en-US" altLang="ko-KR" sz="4000" b="1" dirty="0">
              <a:latin typeface="+mn-ea"/>
            </a:endParaRPr>
          </a:p>
        </p:txBody>
      </p:sp>
    </p:spTree>
    <p:extLst>
      <p:ext uri="{BB962C8B-B14F-4D97-AF65-F5344CB8AC3E}">
        <p14:creationId xmlns:p14="http://schemas.microsoft.com/office/powerpoint/2010/main" val="4361155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91E47-BFCD-A985-13C7-7AE6D1F7150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6972EBF0-A1B4-A873-2F06-9443770E7AA7}"/>
              </a:ext>
            </a:extLst>
          </p:cNvPr>
          <p:cNvSpPr/>
          <p:nvPr/>
        </p:nvSpPr>
        <p:spPr>
          <a:xfrm>
            <a:off x="0" y="0"/>
            <a:ext cx="821042" cy="1371600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2FA810BF-E6CB-DB8B-C2F1-3FF2B37A3E5F}"/>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5B37A910-4EB7-5690-6096-F6A26FF55DE0}"/>
              </a:ext>
            </a:extLst>
          </p:cNvPr>
          <p:cNvSpPr txBox="1"/>
          <p:nvPr/>
        </p:nvSpPr>
        <p:spPr>
          <a:xfrm>
            <a:off x="1600200" y="609600"/>
            <a:ext cx="10960100" cy="990600"/>
          </a:xfrm>
          <a:prstGeom prst="rect">
            <a:avLst/>
          </a:prstGeom>
        </p:spPr>
        <p:txBody>
          <a:bodyPr lIns="0" tIns="101600" rIns="0" bIns="0" rtlCol="0" anchor="t"/>
          <a:lstStyle/>
          <a:p>
            <a:pPr lvl="0" algn="l">
              <a:lnSpc>
                <a:spcPct val="99600"/>
              </a:lnSpc>
            </a:pPr>
            <a:r>
              <a:rPr lang="en-US" sz="6000" b="1" i="0" u="none" strike="noStrike" dirty="0">
                <a:solidFill>
                  <a:srgbClr val="000000"/>
                </a:solidFill>
                <a:latin typeface="Arial" panose="020B0604020202020204" pitchFamily="34" charset="0"/>
                <a:cs typeface="Arial" panose="020B0604020202020204" pitchFamily="34" charset="0"/>
              </a:rPr>
              <a:t>Thank</a:t>
            </a:r>
            <a:r>
              <a:rPr lang="en-US" sz="6000" b="1" dirty="0">
                <a:solidFill>
                  <a:srgbClr val="000000"/>
                </a:solidFill>
                <a:latin typeface="Arial" panose="020B0604020202020204" pitchFamily="34" charset="0"/>
                <a:cs typeface="Arial" panose="020B0604020202020204" pitchFamily="34" charset="0"/>
              </a:rPr>
              <a:t> you</a:t>
            </a:r>
            <a:endParaRPr lang="en" sz="6000" b="1" i="0" u="none" strike="noStrike" dirty="0">
              <a:solidFill>
                <a:srgbClr val="0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8290297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UTPUTDPI" val="1200"/>
  <p:tag name="ORIGINALHEIGHT" val="55.49307"/>
  <p:tag name="ORIGINALWIDTH" val="71.2411"/>
  <p:tag name="LATEXADDIN" val="\documentclass{article}&#10;\usepackage{amsmath}&#10;\pagestyle{empty}&#10;\begin{document}&#10;&#10;&#10;$&#10;\mathbf{x}&#10;$&#10;&#10;\end{document}"/>
  <p:tag name="IGUANATEXSIZE" val="38"/>
  <p:tag name="IGUANATEXCURSOR" val="94"/>
  <p:tag name="TRANSPARENCY" val="True"/>
  <p:tag name="LATEXENGINEID" val="0"/>
  <p:tag name="TEMPFOLDER" val="c:\temp\"/>
  <p:tag name="LATEXFORMHEIGHT" val="312"/>
  <p:tag name="LATEXFORMWIDTH" val="384"/>
  <p:tag name="LATEXFORMWRAP" val="True"/>
  <p:tag name="BITMAPVECTOR" val="0"/>
</p:tagLst>
</file>

<file path=ppt/tags/tag2.xml><?xml version="1.0" encoding="utf-8"?>
<p:tagLst xmlns:a="http://schemas.openxmlformats.org/drawingml/2006/main" xmlns:r="http://schemas.openxmlformats.org/officeDocument/2006/relationships" xmlns:p="http://schemas.openxmlformats.org/presentationml/2006/main">
  <p:tag name="OUTPUTDPI" val="1200"/>
  <p:tag name="ORIGINALHEIGHT" val="56.99291"/>
  <p:tag name="ORIGINALWIDTH" val="71.99102"/>
  <p:tag name="LATEXADDIN" val="\documentclass{article}&#10;\usepackage{amsmath}&#10;\pagestyle{empty}&#10;\begin{document}&#10;&#10;&#10;$&#10;\mathbf{u}&#10;$&#10;&#10;\end{document}"/>
  <p:tag name="IGUANATEXSIZE" val="38"/>
  <p:tag name="IGUANATEXCURSOR" val="94"/>
  <p:tag name="TRANSPARENCY" val="True"/>
  <p:tag name="LATEXENGINEID" val="0"/>
  <p:tag name="TEMPFOLDER" val="c:\temp\"/>
  <p:tag name="LATEXFORMHEIGHT" val="312"/>
  <p:tag name="LATEXFORMWIDTH" val="384"/>
  <p:tag name="LATEXFORMWRAP" val="True"/>
  <p:tag name="BITMAPVECTOR" val="0"/>
</p:tagLst>
</file>

<file path=ppt/tags/tag3.xml><?xml version="1.0" encoding="utf-8"?>
<p:tagLst xmlns:a="http://schemas.openxmlformats.org/drawingml/2006/main" xmlns:r="http://schemas.openxmlformats.org/officeDocument/2006/relationships" xmlns:p="http://schemas.openxmlformats.org/presentationml/2006/main">
  <p:tag name="OUTPUTDPI" val="1200"/>
  <p:tag name="ORIGINALHEIGHT" val="55.49307"/>
  <p:tag name="ORIGINALWIDTH" val="71.2411"/>
  <p:tag name="LATEXADDIN" val="\documentclass{article}&#10;\usepackage{amsmath}&#10;\pagestyle{empty}&#10;\begin{document}&#10;&#10;&#10;$&#10;\mathbf{x}&#10;$&#10;&#10;\end{document}"/>
  <p:tag name="IGUANATEXSIZE" val="38"/>
  <p:tag name="IGUANATEXCURSOR" val="94"/>
  <p:tag name="TRANSPARENCY" val="True"/>
  <p:tag name="LATEXENGINEID" val="0"/>
  <p:tag name="TEMPFOLDER" val="c:\temp\"/>
  <p:tag name="LATEXFORMHEIGHT" val="312"/>
  <p:tag name="LATEXFORMWIDTH" val="384"/>
  <p:tag name="LATEXFORMWRAP" val="True"/>
  <p:tag name="BITMAPVECTOR" val="0"/>
</p:tagLst>
</file>

<file path=ppt/tags/tag4.xml><?xml version="1.0" encoding="utf-8"?>
<p:tagLst xmlns:a="http://schemas.openxmlformats.org/drawingml/2006/main" xmlns:r="http://schemas.openxmlformats.org/officeDocument/2006/relationships" xmlns:p="http://schemas.openxmlformats.org/presentationml/2006/main">
  <p:tag name="OUTPUTDPI" val="1200"/>
  <p:tag name="ORIGINALHEIGHT" val="56.99291"/>
  <p:tag name="ORIGINALWIDTH" val="71.99102"/>
  <p:tag name="LATEXADDIN" val="\documentclass{article}&#10;\usepackage{amsmath}&#10;\pagestyle{empty}&#10;\begin{document}&#10;&#10;&#10;$&#10;\mathbf{u}&#10;$&#10;&#10;\end{document}"/>
  <p:tag name="IGUANATEXSIZE" val="38"/>
  <p:tag name="IGUANATEXCURSOR" val="94"/>
  <p:tag name="TRANSPARENCY" val="True"/>
  <p:tag name="LATEXENGINEID" val="0"/>
  <p:tag name="TEMPFOLDER" val="c:\temp\"/>
  <p:tag name="LATEXFORMHEIGHT" val="312"/>
  <p:tag name="LATEXFORMWIDTH" val="384"/>
  <p:tag name="LATEXFORMWRAP" val="True"/>
  <p:tag name="BITMAPVECTOR" val="0"/>
</p:tagLst>
</file>

<file path=ppt/tags/tag5.xml><?xml version="1.0" encoding="utf-8"?>
<p:tagLst xmlns:a="http://schemas.openxmlformats.org/drawingml/2006/main" xmlns:r="http://schemas.openxmlformats.org/officeDocument/2006/relationships" xmlns:p="http://schemas.openxmlformats.org/presentationml/2006/main">
  <p:tag name="OUTPUTDPI" val="1200"/>
  <p:tag name="ORIGINALHEIGHT" val="91.48859"/>
  <p:tag name="ORIGINALWIDTH" val="117.7353"/>
  <p:tag name="LATEXADDIN" val="\documentclass{article}&#10;\usepackage{amsmath}&#10;\pagestyle{empty}&#10;\begin{document}&#10;&#10;&#10;$&#10;\mathbf{v}_{q}&#10;$&#10;&#10;\end{document}"/>
  <p:tag name="IGUANATEXSIZE" val="42"/>
  <p:tag name="IGUANATEXCURSOR" val="98"/>
  <p:tag name="TRANSPARENCY" val="True"/>
  <p:tag name="LATEXENGINEID" val="0"/>
  <p:tag name="TEMPFOLDER" val="c:\temp\"/>
  <p:tag name="LATEXFORMHEIGHT" val="312"/>
  <p:tag name="LATEXFORMWIDTH" val="384"/>
  <p:tag name="LATEXFORMWRAP" val="True"/>
  <p:tag name="BITMAPVECTOR" val="0"/>
</p:tagLst>
</file>

<file path=ppt/tags/tag6.xml><?xml version="1.0" encoding="utf-8"?>
<p:tagLst xmlns:a="http://schemas.openxmlformats.org/drawingml/2006/main" xmlns:r="http://schemas.openxmlformats.org/officeDocument/2006/relationships" xmlns:p="http://schemas.openxmlformats.org/presentationml/2006/main">
  <p:tag name="OUTPUTDPI" val="1200"/>
  <p:tag name="ORIGINALHEIGHT" val="299.2126"/>
  <p:tag name="ORIGINALWIDTH" val="436.4454"/>
  <p:tag name="LATEXADDIN" val="\documentclass{article}&#10;\usepackage{amsmath}&#10;\pagestyle{empty}&#10;\begin{document}&#10;&#10;&#10;$&#10;q = \begin{bmatrix} \theta_1 \\ \theta_2 \end{bmatrix}&#10;$&#10;&#10;\end{document}"/>
  <p:tag name="IGUANATEXSIZE" val="32"/>
  <p:tag name="IGUANATEXCURSOR" val="138"/>
  <p:tag name="TRANSPARENCY" val="True"/>
  <p:tag name="LATEXENGINEID" val="0"/>
  <p:tag name="TEMPFOLDER" val="c:\temp\"/>
  <p:tag name="LATEXFORMHEIGHT" val="312"/>
  <p:tag name="LATEXFORMWIDTH" val="384"/>
  <p:tag name="LATEXFORMWRAP" val="True"/>
  <p:tag name="BITMAPVECTOR" val="0"/>
</p:tagLst>
</file>

<file path=ppt/tags/tag7.xml><?xml version="1.0" encoding="utf-8"?>
<p:tagLst xmlns:a="http://schemas.openxmlformats.org/drawingml/2006/main" xmlns:r="http://schemas.openxmlformats.org/officeDocument/2006/relationships" xmlns:p="http://schemas.openxmlformats.org/presentationml/2006/main">
  <p:tag name="OUTPUTDPI" val="1200"/>
  <p:tag name="ORIGINALHEIGHT" val="119.2351"/>
  <p:tag name="ORIGINALWIDTH" val="593.1758"/>
  <p:tag name="LATEXADDIN" val="\documentclass{article}&#10;\usepackage{amsmath}&#10;\pagestyle{empty}&#10;\begin{document}&#10;&#10;&#10;$&#10;\mathbf{u} = \mathbf{v}_{q} = \dot{q}&#10;$&#10;&#10;\end{document}"/>
  <p:tag name="IGUANATEXSIZE" val="44"/>
  <p:tag name="IGUANATEXCURSOR" val="121"/>
  <p:tag name="TRANSPARENCY" val="True"/>
  <p:tag name="LATEXENGINEID" val="0"/>
  <p:tag name="TEMPFOLDER" val="c:\temp\"/>
  <p:tag name="LATEXFORMHEIGHT" val="312"/>
  <p:tag name="LATEXFORMWIDTH" val="384"/>
  <p:tag name="LATEXFORMWRAP" val="True"/>
  <p:tag name="BITMAPVECTOR" val="0"/>
</p:tagLst>
</file>

<file path=ppt/tags/tag8.xml><?xml version="1.0" encoding="utf-8"?>
<p:tagLst xmlns:a="http://schemas.openxmlformats.org/drawingml/2006/main" xmlns:r="http://schemas.openxmlformats.org/officeDocument/2006/relationships" xmlns:p="http://schemas.openxmlformats.org/presentationml/2006/main">
  <p:tag name="OUTPUTDPI" val="1200"/>
  <p:tag name="ORIGINALHEIGHT" val="78.74016"/>
  <p:tag name="ORIGINALWIDTH" val="51.74354"/>
  <p:tag name="LATEXADDIN" val="\documentclass{article}&#10;\usepackage{amsmath}&#10;\pagestyle{empty}&#10;\begin{document}&#10;&#10;&#10;$&#10;q&#10;$&#10;&#10;\end{document}"/>
  <p:tag name="IGUANATEXSIZE" val="42"/>
  <p:tag name="IGUANATEXCURSOR" val="85"/>
  <p:tag name="TRANSPARENCY" val="True"/>
  <p:tag name="LATEXENGINEID" val="0"/>
  <p:tag name="TEMPFOLDER" val="c:\temp\"/>
  <p:tag name="LATEXFORMHEIGHT" val="312"/>
  <p:tag name="LATEXFORMWIDTH" val="384"/>
  <p:tag name="LATEXFORMWRAP" val="True"/>
  <p:tag name="BITMAPVECTOR" val="0"/>
</p:tagLst>
</file>

<file path=ppt/tags/tag9.xml><?xml version="1.0" encoding="utf-8"?>
<p:tagLst xmlns:a="http://schemas.openxmlformats.org/drawingml/2006/main" xmlns:r="http://schemas.openxmlformats.org/officeDocument/2006/relationships" xmlns:p="http://schemas.openxmlformats.org/presentationml/2006/main">
  <p:tag name="OUTPUTDPI" val="1200"/>
  <p:tag name="ORIGINALHEIGHT" val="78.74016"/>
  <p:tag name="ORIGINALWIDTH" val="51.74354"/>
  <p:tag name="LATEXADDIN" val="\documentclass{article}&#10;\usepackage{amsmath}&#10;\pagestyle{empty}&#10;\begin{document}&#10;&#10;&#10;$&#10;q&#10;$&#10;&#10;\end{document}"/>
  <p:tag name="IGUANATEXSIZE" val="42"/>
  <p:tag name="IGUANATEXCURSOR" val="85"/>
  <p:tag name="TRANSPARENCY" val="True"/>
  <p:tag name="LATEXENGINEID" val="0"/>
  <p:tag name="TEMPFOLDER" val="c:\temp\"/>
  <p:tag name="LATEXFORMHEIGHT" val="312"/>
  <p:tag name="LATEXFORMWIDTH" val="384"/>
  <p:tag name="LATEXFORMWRAP" val="True"/>
  <p:tag name="BITMAPVECTOR" val="0"/>
</p:tagLst>
</file>

<file path=ppt/tags/tag10.xml><?xml version="1.0" encoding="utf-8"?>
<p:tagLst xmlns:a="http://schemas.openxmlformats.org/drawingml/2006/main" xmlns:r="http://schemas.openxmlformats.org/officeDocument/2006/relationships" xmlns:p="http://schemas.openxmlformats.org/presentationml/2006/main">
  <p:tag name="OUTPUTDPI" val="1200"/>
  <p:tag name="ORIGINALHEIGHT" val="137.9828"/>
  <p:tag name="ORIGINALWIDTH" val="773.9032"/>
  <p:tag name="LATEXADDIN" val="\documentclass{article}&#10;\usepackage{amsmath}&#10;\pagestyle{empty}&#10;\begin{document}&#10;&#10;&#10;$&#10;q = q(0) + \int \mathbf{u}&#10;$&#10;&#10;\end{document}"/>
  <p:tag name="IGUANATEXSIZE" val="42"/>
  <p:tag name="IGUANATEXCURSOR" val="110"/>
  <p:tag name="TRANSPARENCY" val="True"/>
  <p:tag name="LATEXENGINEID" val="0"/>
  <p:tag name="TEMPFOLDER" val="c:\temp\"/>
  <p:tag name="LATEXFORMHEIGHT" val="312"/>
  <p:tag name="LATEXFORMWIDTH" val="384"/>
  <p:tag name="LATEXFORMWRAP" val="True"/>
  <p:tag name="BITMAPVECTOR" val="0"/>
</p:tagLst>
</file>

<file path=ppt/tags/tag11.xml><?xml version="1.0" encoding="utf-8"?>
<p:tagLst xmlns:a="http://schemas.openxmlformats.org/drawingml/2006/main" xmlns:r="http://schemas.openxmlformats.org/officeDocument/2006/relationships" xmlns:p="http://schemas.openxmlformats.org/presentationml/2006/main">
  <p:tag name="OUTPUTDPI" val="1200"/>
  <p:tag name="ORIGINALHEIGHT" val="57.74276"/>
  <p:tag name="ORIGINALWIDTH" val="316.4605"/>
  <p:tag name="LATEXADDIN" val="\documentclass{article}&#10;\usepackage{amsmath}&#10;\pagestyle{empty}&#10;\begin{document}&#10;&#10;&#10;$&#10;\mathbf{u} = \boldsymbol{\tau}&#10;$&#10;&#10;\end{document}"/>
  <p:tag name="IGUANATEXSIZE" val="44"/>
  <p:tag name="IGUANATEXCURSOR" val="114"/>
  <p:tag name="TRANSPARENCY" val="True"/>
  <p:tag name="LATEXENGINEID" val="0"/>
  <p:tag name="TEMPFOLDER" val="c:\temp\"/>
  <p:tag name="LATEXFORMHEIGHT" val="312"/>
  <p:tag name="LATEXFORMWIDTH" val="384"/>
  <p:tag name="LATEXFORMWRAP" val="True"/>
  <p:tag name="BITMAPVECTOR" val="0"/>
</p:tagLst>
</file>

<file path=ppt/tags/tag12.xml><?xml version="1.0" encoding="utf-8"?>
<p:tagLst xmlns:a="http://schemas.openxmlformats.org/drawingml/2006/main" xmlns:r="http://schemas.openxmlformats.org/officeDocument/2006/relationships" xmlns:p="http://schemas.openxmlformats.org/presentationml/2006/main">
  <p:tag name="OUTPUTDPI" val="1200"/>
  <p:tag name="ORIGINALHEIGHT" val="299.2126"/>
  <p:tag name="ORIGINALWIDTH" val="399.7"/>
  <p:tag name="LATEXADDIN" val="\documentclass{article}&#10;\usepackage{amsmath}&#10;\pagestyle{empty}&#10;\begin{document}&#10;&#10;&#10;$&#10;\mathbf{x} = \begin{bmatrix}q\\ \dot{q}\end{bmatrix}&#10;$&#10;&#10;\end{document}"/>
  <p:tag name="IGUANATEXSIZE" val="42"/>
  <p:tag name="IGUANATEXCURSOR" val="122"/>
  <p:tag name="TRANSPARENCY" val="True"/>
  <p:tag name="LATEXENGINEID" val="0"/>
  <p:tag name="TEMPFOLDER" val="c:\temp\"/>
  <p:tag name="LATEXFORMHEIGHT" val="312"/>
  <p:tag name="LATEXFORMWIDTH" val="384"/>
  <p:tag name="LATEXFORMWRAP" val="True"/>
  <p:tag name="BITMAPVECTOR" val="0"/>
</p:tagLst>
</file>

<file path=ppt/tags/tag13.xml><?xml version="1.0" encoding="utf-8"?>
<p:tagLst xmlns:a="http://schemas.openxmlformats.org/drawingml/2006/main" xmlns:r="http://schemas.openxmlformats.org/officeDocument/2006/relationships" xmlns:p="http://schemas.openxmlformats.org/presentationml/2006/main">
  <p:tag name="OUTPUTDPI" val="1200"/>
  <p:tag name="ORIGINALHEIGHT" val="107.2366"/>
  <p:tag name="ORIGINALWIDTH" val="299.2126"/>
  <p:tag name="LATEXADDIN" val="\documentclass{article}&#10;\usepackage{amsmath}&#10;\pagestyle{empty}&#10;\begin{document}&#10;&#10;&#10;$&#10;\mathbf{u} = \ddot{q}&#10;$&#10;&#10;\end{document}"/>
  <p:tag name="IGUANATEXSIZE" val="44"/>
  <p:tag name="IGUANATEXCURSOR" val="104"/>
  <p:tag name="TRANSPARENCY" val="True"/>
  <p:tag name="LATEXENGINEID" val="0"/>
  <p:tag name="TEMPFOLDER" val="c:\temp\"/>
  <p:tag name="LATEXFORMHEIGHT" val="312"/>
  <p:tag name="LATEXFORMWIDTH" val="384"/>
  <p:tag name="LATEXFORMWRAP" val="True"/>
  <p:tag name="BITMAPVECTOR" val="0"/>
</p:tagLst>
</file>

<file path=ppt/tags/tag14.xml><?xml version="1.0" encoding="utf-8"?>
<p:tagLst xmlns:a="http://schemas.openxmlformats.org/drawingml/2006/main" xmlns:r="http://schemas.openxmlformats.org/officeDocument/2006/relationships" xmlns:p="http://schemas.openxmlformats.org/presentationml/2006/main">
  <p:tag name="OUTPUTDPI" val="1200"/>
  <p:tag name="ORIGINALHEIGHT" val="121.4848"/>
  <p:tag name="ORIGINALWIDTH" val="1045.369"/>
  <p:tag name="LATEXADDIN" val="\documentclass{article}&#10;\usepackage{amsmath}&#10;\pagestyle{empty}&#10;\begin{document}&#10;&#10;&#10;$&#10;\dot{\mathbf{q}} = \mathbf{v}_{q}, \qquad&#10;\dot{\mathbf{v}}_{q} = \mathbf{u}&#10;$&#10;&#10;\end{document}"/>
  <p:tag name="IGUANATEXSIZE" val="42"/>
  <p:tag name="IGUANATEXCURSOR" val="159"/>
  <p:tag name="TRANSPARENCY" val="True"/>
  <p:tag name="LATEXENGINEID" val="0"/>
  <p:tag name="TEMPFOLDER" val="c:\temp\"/>
  <p:tag name="LATEXFORMHEIGHT" val="312"/>
  <p:tag name="LATEXFORMWIDTH" val="384"/>
  <p:tag name="LATEXFORMWRAP" val="True"/>
  <p:tag name="BITMAPVECTOR" val="0"/>
</p:tagLst>
</file>

<file path=ppt/tags/tag15.xml><?xml version="1.0" encoding="utf-8"?>
<p:tagLst xmlns:a="http://schemas.openxmlformats.org/drawingml/2006/main" xmlns:r="http://schemas.openxmlformats.org/officeDocument/2006/relationships" xmlns:p="http://schemas.openxmlformats.org/presentationml/2006/main">
  <p:tag name="OUTPUTDPI" val="1200"/>
  <p:tag name="ORIGINALHEIGHT" val="470.1913"/>
  <p:tag name="ORIGINALWIDTH" val="1574.053"/>
  <p:tag name="LATEXADDIN" val="\documentclass{article}&#10;\usepackage{amsmath}&#10;\pagestyle{empty}&#10;\begin{document}&#10;&#10;&#10;$&#10;\begin{bmatrix}&#10;\mathbf{v}_{q} \\&#10;\dot{\mathbf{v}}_{q}&#10;\end{bmatrix}&#10;=&#10;\underbrace{\begin{bmatrix}&#10;\mathbf{0} &amp; \mathbf{I} \\&#10;\mathbf{0} &amp; \mathbf{0}&#10;\end{bmatrix}}_{\mathbf{A}}&#10;\begin{bmatrix}&#10;\mathbf{q} \\&#10;\mathbf{v}_{q}&#10;\end{bmatrix}&#10;+&#10;\underbrace{\begin{bmatrix}&#10;\mathbf{0} \\&#10;\mathbf{I}&#10;\end{bmatrix}}_{\mathbf{B}}&#10;\,\mathbf{u}&#10;$&#10;&#10;\end{document}"/>
  <p:tag name="IGUANATEXSIZE" val="42"/>
  <p:tag name="IGUANATEXCURSOR" val="416"/>
  <p:tag name="TRANSPARENCY" val="True"/>
  <p:tag name="LATEXENGINEID" val="0"/>
  <p:tag name="TEMPFOLDER" val="c:\temp\"/>
  <p:tag name="LATEXFORMHEIGHT" val="312"/>
  <p:tag name="LATEXFORMWIDTH" val="384"/>
  <p:tag name="LATEXFORMWRAP" val="True"/>
  <p:tag name="BITMAPVECTOR" val="0"/>
</p:tagLst>
</file>

<file path=ppt/tags/tag16.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1211.099"/>
  <p:tag name="LATEXADDIN" val="\documentclass{article}&#10;\usepackage{amsmath}&#10;\pagestyle{empty}&#10;\begin{document}&#10;&#10;&#10;$&#10;\dot{\mathbf{x}}(t) = \mathbf{A}\,\mathbf{x}(t) + \mathbf{B}\,\mathbf{u}(t)&#10;$&#10;&#10;\end{document}"/>
  <p:tag name="IGUANATEXSIZE" val="42"/>
  <p:tag name="IGUANATEXCURSOR" val="159"/>
  <p:tag name="TRANSPARENCY" val="True"/>
  <p:tag name="LATEXENGINEID" val="0"/>
  <p:tag name="TEMPFOLDER" val="c:\temp\"/>
  <p:tag name="LATEXFORMHEIGHT" val="312"/>
  <p:tag name="LATEXFORMWIDTH" val="384"/>
  <p:tag name="LATEXFORMWRAP" val="True"/>
  <p:tag name="BITMAPVECTOR" val="0"/>
</p:tagLst>
</file>

<file path=ppt/tags/tag17.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1063.367"/>
  <p:tag name="LATEXADDIN" val="\documentclass{article}&#10;\usepackage{amsmath}&#10;\pagestyle{empty}&#10;\begin{document}&#10;&#10;&#10;$&#10;\mathbf{x}_{t+1} = \mathbf{x}_{t} + \dot{\mathbf{x}}(t)\,\Delta t&#10;$&#10;&#10;\end{document}"/>
  <p:tag name="IGUANATEXSIZE" val="42"/>
  <p:tag name="IGUANATEXCURSOR" val="149"/>
  <p:tag name="TRANSPARENCY" val="True"/>
  <p:tag name="LATEXENGINEID" val="0"/>
  <p:tag name="TEMPFOLDER" val="c:\temp\"/>
  <p:tag name="LATEXFORMHEIGHT" val="312"/>
  <p:tag name="LATEXFORMWIDTH" val="384"/>
  <p:tag name="LATEXFORMWRAP" val="True"/>
  <p:tag name="BITMAPVECTOR" val="0"/>
</p:tagLst>
</file>

<file path=ppt/tags/tag18.xml><?xml version="1.0" encoding="utf-8"?>
<p:tagLst xmlns:a="http://schemas.openxmlformats.org/drawingml/2006/main" xmlns:r="http://schemas.openxmlformats.org/officeDocument/2006/relationships" xmlns:p="http://schemas.openxmlformats.org/presentationml/2006/main">
  <p:tag name="OUTPUTDPI" val="1200"/>
  <p:tag name="ORIGINALHEIGHT" val="299.2126"/>
  <p:tag name="ORIGINALWIDTH" val="399.7"/>
  <p:tag name="LATEXADDIN" val="\documentclass{article}&#10;\usepackage{amsmath}&#10;\pagestyle{empty}&#10;\begin{document}&#10;&#10;&#10;$&#10;\mathbf{x} = \begin{bmatrix}q\\ \dot{q}\end{bmatrix}&#10;$&#10;&#10;\end{document}"/>
  <p:tag name="IGUANATEXSIZE" val="42"/>
  <p:tag name="IGUANATEXCURSOR" val="122"/>
  <p:tag name="TRANSPARENCY" val="True"/>
  <p:tag name="LATEXENGINEID" val="0"/>
  <p:tag name="TEMPFOLDER" val="c:\temp\"/>
  <p:tag name="LATEXFORMHEIGHT" val="312"/>
  <p:tag name="LATEXFORMWIDTH" val="384"/>
  <p:tag name="LATEXFORMWRAP" val="True"/>
  <p:tag name="BITMAPVECTOR" val="0"/>
</p:tagLst>
</file>

<file path=ppt/tags/tag19.xml><?xml version="1.0" encoding="utf-8"?>
<p:tagLst xmlns:a="http://schemas.openxmlformats.org/drawingml/2006/main" xmlns:r="http://schemas.openxmlformats.org/officeDocument/2006/relationships" xmlns:p="http://schemas.openxmlformats.org/presentationml/2006/main">
  <p:tag name="OUTPUTDPI" val="1200"/>
  <p:tag name="ORIGINALHEIGHT" val="137.2328"/>
  <p:tag name="ORIGINALWIDTH" val="2121.485"/>
  <p:tag name="LATEXADDIN" val="\documentclass{article}&#10;\usepackage{amsmath}&#10;\pagestyle{empty}&#10;\begin{document}&#10;&#10;&#10;$&#10;M(q)\,\ddot q + C(q,\dot q)\,\dot q + g(q) = \tau + J^\top(q) f&#10;$&#10;&#10;\end{document}"/>
  <p:tag name="IGUANATEXSIZE" val="38"/>
  <p:tag name="IGUANATEXCURSOR" val="147"/>
  <p:tag name="TRANSPARENCY" val="True"/>
  <p:tag name="LATEXENGINEID" val="0"/>
  <p:tag name="TEMPFOLDER" val="c:\temp\"/>
  <p:tag name="LATEXFORMHEIGHT" val="312"/>
  <p:tag name="LATEXFORMWIDTH" val="384"/>
  <p:tag name="LATEXFORMWRAP" val="True"/>
  <p:tag name="BITMAPVECTOR" val="0"/>
</p:tagLst>
</file>

<file path=ppt/tags/tag20.xml><?xml version="1.0" encoding="utf-8"?>
<p:tagLst xmlns:a="http://schemas.openxmlformats.org/drawingml/2006/main" xmlns:r="http://schemas.openxmlformats.org/officeDocument/2006/relationships" xmlns:p="http://schemas.openxmlformats.org/presentationml/2006/main">
  <p:tag name="OUTPUTDPI" val="1200"/>
  <p:tag name="ORIGINALHEIGHT" val="57.74276"/>
  <p:tag name="ORIGINALWIDTH" val="316.4605"/>
  <p:tag name="LATEXADDIN" val="\documentclass{article}&#10;\usepackage{amsmath}&#10;\pagestyle{empty}&#10;\begin{document}&#10;&#10;&#10;$&#10;\mathbf{u} = \boldsymbol{\tau}&#10;$&#10;&#10;\end{document}"/>
  <p:tag name="IGUANATEXSIZE" val="44"/>
  <p:tag name="IGUANATEXCURSOR" val="114"/>
  <p:tag name="TRANSPARENCY" val="True"/>
  <p:tag name="LATEXENGINEID" val="0"/>
  <p:tag name="TEMPFOLDER" val="c:\temp\"/>
  <p:tag name="LATEXFORMHEIGHT" val="312"/>
  <p:tag name="LATEXFORMWIDTH" val="384"/>
  <p:tag name="LATEXFORMWRAP" val="True"/>
  <p:tag name="BITMAPVECTOR" val="0"/>
</p:tagLst>
</file>

<file path=ppt/tags/tag21.xml><?xml version="1.0" encoding="utf-8"?>
<p:tagLst xmlns:a="http://schemas.openxmlformats.org/drawingml/2006/main" xmlns:r="http://schemas.openxmlformats.org/officeDocument/2006/relationships" xmlns:p="http://schemas.openxmlformats.org/presentationml/2006/main">
  <p:tag name="OUTPUTDPI" val="1200"/>
  <p:tag name="ORIGINALHEIGHT" val="78.74016"/>
  <p:tag name="ORIGINALWIDTH" val="101.2373"/>
  <p:tag name="LATEXADDIN" val="\documentclass{article}&#10;\usepackage{amsmath}&#10;\pagestyle{empty}&#10;\begin{document}&#10;&#10;&#10;$&#10;q_a&#10;$&#10;&#10;\end{document}"/>
  <p:tag name="IGUANATEXSIZE" val="42"/>
  <p:tag name="IGUANATEXCURSOR" val="87"/>
  <p:tag name="TRANSPARENCY" val="True"/>
  <p:tag name="LATEXENGINEID" val="0"/>
  <p:tag name="TEMPFOLDER" val="c:\temp\"/>
  <p:tag name="LATEXFORMHEIGHT" val="312"/>
  <p:tag name="LATEXFORMWIDTH" val="384"/>
  <p:tag name="LATEXFORMWRAP" val="True"/>
  <p:tag name="BITMAPVECTOR" val="0"/>
</p:tagLst>
</file>

<file path=ppt/tags/tag22.xml><?xml version="1.0" encoding="utf-8"?>
<p:tagLst xmlns:a="http://schemas.openxmlformats.org/drawingml/2006/main" xmlns:r="http://schemas.openxmlformats.org/officeDocument/2006/relationships" xmlns:p="http://schemas.openxmlformats.org/presentationml/2006/main">
  <p:tag name="OUTPUTDPI" val="1200"/>
  <p:tag name="ORIGINALHEIGHT" val="78.74016"/>
  <p:tag name="ORIGINALWIDTH" val="105.7368"/>
  <p:tag name="LATEXADDIN" val="\documentclass{article}&#10;\usepackage{amsmath}&#10;\pagestyle{empty}&#10;\begin{document}&#10;&#10;&#10;$&#10;q_u&#10;$&#10;&#10;\end{document}"/>
  <p:tag name="IGUANATEXSIZE" val="42"/>
  <p:tag name="IGUANATEXCURSOR" val="87"/>
  <p:tag name="TRANSPARENCY" val="True"/>
  <p:tag name="LATEXENGINEID" val="0"/>
  <p:tag name="TEMPFOLDER" val="c:\temp\"/>
  <p:tag name="LATEXFORMHEIGHT" val="312"/>
  <p:tag name="LATEXFORMWIDTH" val="384"/>
  <p:tag name="LATEXFORMWRAP" val="True"/>
  <p:tag name="BITMAPVECTOR" val="0"/>
</p:tagLst>
</file>

<file path=ppt/tags/tag23.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597.6753"/>
  <p:tag name="LATEXADDIN" val="\documentclass{article}&#10;\usepackage{amsmath}&#10;\pagestyle{empty}&#10;\begin{document}&#10;&#10;&#10;$&#10;q=(q_u,q_a)&#10;$&#10;&#10;\end{document}"/>
  <p:tag name="IGUANATEXSIZE" val="42"/>
  <p:tag name="IGUANATEXCURSOR" val="95"/>
  <p:tag name="TRANSPARENCY" val="True"/>
  <p:tag name="LATEXENGINEID" val="0"/>
  <p:tag name="TEMPFOLDER" val="c:\temp\"/>
  <p:tag name="LATEXFORMHEIGHT" val="312"/>
  <p:tag name="LATEXFORMWIDTH" val="384"/>
  <p:tag name="LATEXFORMWRAP" val="True"/>
  <p:tag name="BITMAPVECTOR" val="0"/>
</p:tagLst>
</file>

<file path=ppt/tags/tag24.xml><?xml version="1.0" encoding="utf-8"?>
<p:tagLst xmlns:a="http://schemas.openxmlformats.org/drawingml/2006/main" xmlns:r="http://schemas.openxmlformats.org/officeDocument/2006/relationships" xmlns:p="http://schemas.openxmlformats.org/presentationml/2006/main">
  <p:tag name="OUTPUTDPI" val="1200"/>
  <p:tag name="ORIGINALHEIGHT" val="299.2126"/>
  <p:tag name="ORIGINALWIDTH" val="534.6832"/>
  <p:tag name="LATEXADDIN" val="\documentclass{article}&#10;\usepackage{amsmath}&#10;\pagestyle{empty}&#10;\begin{document}&#10;&#10;&#10;$&#10;\mathbf{v}_q = \begin{bmatrix}\mathbf{v}_u \\ \mathbf{v}_a\end{bmatrix}&#10;$&#10;&#10;\end{document}"/>
  <p:tag name="IGUANATEXSIZE" val="42"/>
  <p:tag name="IGUANATEXCURSOR" val="98"/>
  <p:tag name="TRANSPARENCY" val="True"/>
  <p:tag name="LATEXENGINEID" val="0"/>
  <p:tag name="TEMPFOLDER" val="c:\temp\"/>
  <p:tag name="LATEXFORMHEIGHT" val="312"/>
  <p:tag name="LATEXFORMWIDTH" val="384"/>
  <p:tag name="LATEXFORMWRAP" val="True"/>
  <p:tag name="BITMAPVECTOR" val="0"/>
</p:tagLst>
</file>

<file path=ppt/tags/tag25.xml><?xml version="1.0" encoding="utf-8"?>
<p:tagLst xmlns:a="http://schemas.openxmlformats.org/drawingml/2006/main" xmlns:r="http://schemas.openxmlformats.org/officeDocument/2006/relationships" xmlns:p="http://schemas.openxmlformats.org/presentationml/2006/main">
  <p:tag name="OUTPUTDPI" val="1200"/>
  <p:tag name="ORIGINALHEIGHT" val="149.2313"/>
  <p:tag name="ORIGINALWIDTH" val="1052.119"/>
  <p:tag name="LATEXADDIN" val="\documentclass{article}&#10;\usepackage{amsmath}&#10;\pagestyle{empty}&#10;\begin{document}&#10;&#10;&#10;$&#10;\mathbf{S}\begin{bmatrix}\mathbf{0}_{\,n_{v_a}\times n_{v_u}} &amp; \mathbf{I}_{\,n_{v_a}}\end{bmatrix}&#10;$&#10;&#10;\end{document}"/>
  <p:tag name="IGUANATEXSIZE" val="42"/>
  <p:tag name="IGUANATEXCURSOR" val="183"/>
  <p:tag name="TRANSPARENCY" val="True"/>
  <p:tag name="LATEXENGINEID" val="0"/>
  <p:tag name="TEMPFOLDER" val="c:\temp\"/>
  <p:tag name="LATEXFORMHEIGHT" val="312"/>
  <p:tag name="LATEXFORMWIDTH" val="384"/>
  <p:tag name="LATEXFORMWRAP" val="True"/>
  <p:tag name="BITMAPVECTOR" val="0"/>
</p:tagLst>
</file>

<file path=ppt/tags/tag26.xml><?xml version="1.0" encoding="utf-8"?>
<p:tagLst xmlns:a="http://schemas.openxmlformats.org/drawingml/2006/main" xmlns:r="http://schemas.openxmlformats.org/officeDocument/2006/relationships" xmlns:p="http://schemas.openxmlformats.org/presentationml/2006/main">
  <p:tag name="OUTPUTDPI" val="1200"/>
  <p:tag name="ORIGINALHEIGHT" val="122.9846"/>
  <p:tag name="ORIGINALWIDTH" val="519.6851"/>
  <p:tag name="LATEXADDIN" val="\documentclass{article}&#10;\usepackage{amsmath}&#10;\pagestyle{empty}&#10;\begin{document}&#10;&#10;&#10;$&#10;\mathbf{v}_a = \mathbf{S}\,\mathbf{v}_q&#10;$&#10;&#10;\end{document}"/>
  <p:tag name="IGUANATEXSIZE" val="42"/>
  <p:tag name="IGUANATEXCURSOR" val="123"/>
  <p:tag name="TRANSPARENCY" val="True"/>
  <p:tag name="LATEXENGINEID" val="0"/>
  <p:tag name="TEMPFOLDER" val="c:\temp\"/>
  <p:tag name="LATEXFORMHEIGHT" val="312"/>
  <p:tag name="LATEXFORMWIDTH" val="384"/>
  <p:tag name="LATEXFORMWRAP" val="True"/>
  <p:tag name="BITMAPVECTOR" val="0"/>
</p:tagLst>
</file>

<file path=ppt/tags/tag27.xml><?xml version="1.0" encoding="utf-8"?>
<p:tagLst xmlns:a="http://schemas.openxmlformats.org/drawingml/2006/main" xmlns:r="http://schemas.openxmlformats.org/officeDocument/2006/relationships" xmlns:p="http://schemas.openxmlformats.org/presentationml/2006/main">
  <p:tag name="OUTPUTDPI" val="1200"/>
  <p:tag name="ORIGINALHEIGHT" val="141.7323"/>
  <p:tag name="ORIGINALWIDTH" val="2053.993"/>
  <p:tag name="LATEXADDIN" val="\documentclass{article}&#10;\usepackage{amsmath}&#10;\pagestyle{empty}&#10;\begin{document}&#10;&#10;&#10;$&#10;\mathbf{M}(\mathbf{q})\,\dot{\mathbf{v}}_{q}&#10;+ \mathbf{h}(\mathbf{q},\mathbf{v}_{q})&#10;= \mathbf{S}^{\top}\boldsymbol{\tau}_a&#10;  + \mathbf{J}(\mathbf{q})^{\top}\mathbf{f}&#10;$&#10;&#10;\end{document}"/>
  <p:tag name="IGUANATEXSIZE" val="42"/>
  <p:tag name="IGUANATEXCURSOR" val="251"/>
  <p:tag name="TRANSPARENCY" val="True"/>
  <p:tag name="LATEXENGINEID" val="0"/>
  <p:tag name="TEMPFOLDER" val="c:\temp\"/>
  <p:tag name="LATEXFORMHEIGHT" val="312"/>
  <p:tag name="LATEXFORMWIDTH" val="384"/>
  <p:tag name="LATEXFORMWRAP" val="True"/>
  <p:tag name="BITMAPVECTOR" val="0"/>
</p:tagLst>
</file>

<file path=ppt/tags/tag28.xml><?xml version="1.0" encoding="utf-8"?>
<p:tagLst xmlns:a="http://schemas.openxmlformats.org/drawingml/2006/main" xmlns:r="http://schemas.openxmlformats.org/officeDocument/2006/relationships" xmlns:p="http://schemas.openxmlformats.org/presentationml/2006/main">
  <p:tag name="OUTPUTDPI" val="1200"/>
  <p:tag name="ORIGINALHEIGHT" val="299.2126"/>
  <p:tag name="ORIGINALWIDTH" val="2031.496"/>
  <p:tag name="LATEXADDIN" val="\documentclass{article}&#10;\usepackage{amsmath}&#10;\pagestyle{empty}&#10;\begin{document}&#10;&#10;&#10;$&#10;\mathbf{M} =&#10;\begin{bmatrix}&#10;\mathbf{M}_u \\[2pt] \mathbf{M}_a&#10;\end{bmatrix},&#10;\quad&#10;\mathbf{h} =&#10;\begin{bmatrix}&#10;\mathbf{h}_u \\[2pt] \mathbf{h}_a&#10;\end{bmatrix},&#10;\quad&#10;\mathbf{J} =&#10;\begin{bmatrix}&#10;\mathbf{J}_u \\[2pt] \mathbf{J}_a&#10;\end{bmatrix}&#10;$&#10;&#10;\end{document}"/>
  <p:tag name="IGUANATEXSIZE" val="42"/>
  <p:tag name="IGUANATEXCURSOR" val="328"/>
  <p:tag name="TRANSPARENCY" val="True"/>
  <p:tag name="LATEXENGINEID" val="0"/>
  <p:tag name="TEMPFOLDER" val="c:\temp\"/>
  <p:tag name="LATEXFORMHEIGHT" val="312"/>
  <p:tag name="LATEXFORMWIDTH" val="384"/>
  <p:tag name="LATEXFORMWRAP" val="True"/>
  <p:tag name="BITMAPVECTOR" val="0"/>
</p:tagLst>
</file>

<file path=ppt/tags/tag29.xml><?xml version="1.0" encoding="utf-8"?>
<p:tagLst xmlns:a="http://schemas.openxmlformats.org/drawingml/2006/main" xmlns:r="http://schemas.openxmlformats.org/officeDocument/2006/relationships" xmlns:p="http://schemas.openxmlformats.org/presentationml/2006/main">
  <p:tag name="OUTPUTDPI" val="1200"/>
  <p:tag name="ORIGINALHEIGHT" val="141.7323"/>
  <p:tag name="ORIGINALWIDTH" val="1791.526"/>
  <p:tag name="LATEXADDIN" val="\documentclass{article}&#10;\usepackage{amsmath}&#10;\pagestyle{empty}&#10;\begin{document}&#10;&#10;&#10;$&#10;\mathbf{M}_u(\mathbf{q})\,\dot{\mathbf{v}}_{q}&#10;+ \mathbf{h}_u(\mathbf{q},\mathbf{v}_{q})&#10;= \mathbf{J}_u(\mathbf{q})^{\top}\mathbf{f}&#10;$&#10;&#10;\end{document}"/>
  <p:tag name="IGUANATEXSIZE" val="32"/>
  <p:tag name="IGUANATEXCURSOR" val="216"/>
  <p:tag name="TRANSPARENCY" val="True"/>
  <p:tag name="LATEXENGINEID" val="0"/>
  <p:tag name="TEMPFOLDER" val="c:\temp\"/>
  <p:tag name="LATEXFORMHEIGHT" val="312"/>
  <p:tag name="LATEXFORMWIDTH" val="384"/>
  <p:tag name="LATEXFORMWRAP" val="True"/>
  <p:tag name="BITMAPVECTOR" val="0"/>
</p:tagLst>
</file>

<file path=ppt/tags/tag30.xml><?xml version="1.0" encoding="utf-8"?>
<p:tagLst xmlns:a="http://schemas.openxmlformats.org/drawingml/2006/main" xmlns:r="http://schemas.openxmlformats.org/officeDocument/2006/relationships" xmlns:p="http://schemas.openxmlformats.org/presentationml/2006/main">
  <p:tag name="OUTPUTDPI" val="1200"/>
  <p:tag name="ORIGINALHEIGHT" val="141.7323"/>
  <p:tag name="ORIGINALWIDTH" val="2070.491"/>
  <p:tag name="LATEXADDIN" val="\documentclass{article}&#10;\usepackage{amsmath}&#10;\pagestyle{empty}&#10;\begin{document}&#10;&#10;&#10;$&#10;\mathbf{M}_a(\mathbf{q})\,\dot{\mathbf{v}}_{q}&#10;+ \mathbf{h}_a(\mathbf{q},\mathbf{v}_{q})&#10;= \boldsymbol{\tau}_a + \mathbf{J}_a(\mathbf{q})^{\top}\mathbf{f}&#10;$&#10;&#10;\end{document}"/>
  <p:tag name="IGUANATEXSIZE" val="42"/>
  <p:tag name="IGUANATEXCURSOR" val="238"/>
  <p:tag name="TRANSPARENCY" val="True"/>
  <p:tag name="LATEXENGINEID" val="0"/>
  <p:tag name="TEMPFOLDER" val="c:\temp\"/>
  <p:tag name="LATEXFORMHEIGHT" val="312"/>
  <p:tag name="LATEXFORMWIDTH" val="384"/>
  <p:tag name="LATEXFORMWRAP" val="True"/>
  <p:tag name="BITMAPVECTOR" val="0"/>
</p:tagLst>
</file>

<file path=ppt/tags/tag31.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1436.82"/>
  <p:tag name="LATEXADDIN" val="\documentclass{article}&#10;\usepackage{amsmath}&#10;\pagestyle{empty}&#10;\begin{document}&#10;&#10;&#10;$&#10;\mathbf{e}(\mathbf{x},\mathbf{u},t) = \mathbf{y}(\mathbf{x},\mathbf{u}) - \mathbf{y}^*(t)&#10;$&#10;&#10;\end{document}"/>
  <p:tag name="IGUANATEXSIZE" val="42"/>
  <p:tag name="IGUANATEXCURSOR" val="169"/>
  <p:tag name="TRANSPARENCY" val="True"/>
  <p:tag name="LATEXENGINEID" val="0"/>
  <p:tag name="TEMPFOLDER" val="c:\temp\"/>
  <p:tag name="LATEXFORMHEIGHT" val="312"/>
  <p:tag name="LATEXFORMWIDTH" val="384"/>
  <p:tag name="LATEXFORMWRAP" val="True"/>
  <p:tag name="BITMAPVECTOR" val="0"/>
</p:tagLst>
</file>

<file path=ppt/tags/tag32.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1115.111"/>
  <p:tag name="LATEXADDIN" val="\documentclass{article}&#10;\usepackage{amsmath}&#10;\pagestyle{empty}&#10;\begin{document}&#10;&#10;&#10;$&#10;\mathbf{e}(\mathbf{u},t)=A_u\,\mathbf{u}-\mathbf{a}(t)&#10;$&#10;&#10;\end{document}"/>
  <p:tag name="IGUANATEXSIZE" val="42"/>
  <p:tag name="IGUANATEXCURSOR" val="138"/>
  <p:tag name="TRANSPARENCY" val="True"/>
  <p:tag name="LATEXENGINEID" val="0"/>
  <p:tag name="TEMPFOLDER" val="c:\temp\"/>
  <p:tag name="LATEXFORMHEIGHT" val="312"/>
  <p:tag name="LATEXFORMWIDTH" val="384"/>
  <p:tag name="LATEXFORMWRAP" val="True"/>
  <p:tag name="BITMAPVECTOR" val="0"/>
</p:tagLst>
</file>

<file path=ppt/tags/tag33.xml><?xml version="1.0" encoding="utf-8"?>
<p:tagLst xmlns:a="http://schemas.openxmlformats.org/drawingml/2006/main" xmlns:r="http://schemas.openxmlformats.org/officeDocument/2006/relationships" xmlns:p="http://schemas.openxmlformats.org/presentationml/2006/main">
  <p:tag name="OUTPUTDPI" val="1200"/>
  <p:tag name="ORIGINALHEIGHT" val="129.7338"/>
  <p:tag name="ORIGINALWIDTH" val="1277.09"/>
  <p:tag name="LATEXADDIN" val="\documentclass{article}&#10;\usepackage{amsmath}&#10;\pagestyle{empty}&#10;\begin{document}&#10;&#10;&#10;$&#10;\mathbf{e}(\mathbf{v}_q,t)=\mathbf{y}(\mathbf{v}_q)-\mathbf{y}^*(t)&#10;$&#10;&#10;\end{document}"/>
  <p:tag name="IGUANATEXSIZE" val="32"/>
  <p:tag name="IGUANATEXCURSOR" val="147"/>
  <p:tag name="TRANSPARENCY" val="True"/>
  <p:tag name="LATEXENGINEID" val="0"/>
  <p:tag name="TEMPFOLDER" val="c:\temp\"/>
  <p:tag name="LATEXFORMHEIGHT" val="312"/>
  <p:tag name="LATEXFORMWIDTH" val="384"/>
  <p:tag name="LATEXFORMWRAP" val="True"/>
  <p:tag name="BITMAPVECTOR" val="0"/>
</p:tagLst>
</file>

<file path=ppt/tags/tag34.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1166.854"/>
  <p:tag name="LATEXADDIN" val="\documentclass{article}&#10;\usepackage{amsmath}&#10;\pagestyle{empty}&#10;\begin{document}&#10;&#10;&#10;$&#10;\mathbf{e}(\mathbf{q},t)=\mathbf{y}(\mathbf{q})-\mathbf{y}^*(t)&#10;$&#10;&#10;\end{document}"/>
  <p:tag name="IGUANATEXSIZE" val="42"/>
  <p:tag name="IGUANATEXCURSOR" val="143"/>
  <p:tag name="TRANSPARENCY" val="True"/>
  <p:tag name="LATEXENGINEID" val="0"/>
  <p:tag name="TEMPFOLDER" val="c:\temp\"/>
  <p:tag name="LATEXFORMHEIGHT" val="312"/>
  <p:tag name="LATEXFORMWIDTH" val="384"/>
  <p:tag name="LATEXFORMWRAP" val="True"/>
  <p:tag name="BITMAPVECTOR" val="0"/>
</p:tagLst>
</file>

<file path=ppt/tags/tag35.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1436.82"/>
  <p:tag name="LATEXADDIN" val="\documentclass{article}&#10;\usepackage{amsmath}&#10;\pagestyle{empty}&#10;\begin{document}&#10;&#10;&#10;$&#10;\mathbf{e}(\mathbf{x},\mathbf{u},t) = \mathbf{y}(\mathbf{x},\mathbf{u}) - \mathbf{y}^*(t)&#10;$&#10;&#10;\end{document}"/>
  <p:tag name="IGUANATEXSIZE" val="42"/>
  <p:tag name="IGUANATEXCURSOR" val="169"/>
  <p:tag name="TRANSPARENCY" val="True"/>
  <p:tag name="LATEXENGINEID" val="0"/>
  <p:tag name="TEMPFOLDER" val="c:\temp\"/>
  <p:tag name="LATEXFORMHEIGHT" val="312"/>
  <p:tag name="LATEXFORMWIDTH" val="384"/>
  <p:tag name="LATEXFORMWRAP" val="True"/>
  <p:tag name="BITMAPVECTOR" val="0"/>
</p:tagLst>
</file>

<file path=ppt/tags/tag36.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457.4428"/>
  <p:tag name="LATEXADDIN" val="\documentclass{article}&#10;\usepackage{amsmath}&#10;\pagestyle{empty}&#10;\begin{document}&#10;&#10;&#10;$&#10;\mathbf{e}(\mathbf{x},\mathbf{u},t)&#10;$&#10;&#10;\end{document}"/>
  <p:tag name="IGUANATEXSIZE" val="42"/>
  <p:tag name="IGUANATEXCURSOR" val="119"/>
  <p:tag name="TRANSPARENCY" val="True"/>
  <p:tag name="LATEXENGINEID" val="0"/>
  <p:tag name="TEMPFOLDER" val="c:\temp\"/>
  <p:tag name="LATEXFORMHEIGHT" val="312"/>
  <p:tag name="LATEXFORMWIDTH" val="384"/>
  <p:tag name="LATEXFORMWRAP" val="True"/>
  <p:tag name="BITMAPVECTOR" val="0"/>
</p:tagLst>
</file>

<file path=ppt/tags/tag37.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1137.608"/>
  <p:tag name="LATEXADDIN" val="\documentclass{article}&#10;\usepackage{amsmath}&#10;\pagestyle{empty}&#10;\begin{document}&#10;&#10;&#10;$&#10; \lim_{t\to\infty}\mathbf{e}(\mathbf{x},\mathbf{u},t)=\mathbf{0}\&#10;$&#10;&#10;\end{document}"/>
  <p:tag name="IGUANATEXSIZE" val="42"/>
  <p:tag name="IGUANATEXCURSOR" val="137"/>
  <p:tag name="TRANSPARENCY" val="True"/>
  <p:tag name="LATEXENGINEID" val="0"/>
  <p:tag name="TEMPFOLDER" val="c:\temp\"/>
  <p:tag name="LATEXFORMHEIGHT" val="312"/>
  <p:tag name="LATEXFORMWIDTH" val="384"/>
  <p:tag name="LATEXFORMWRAP" val="True"/>
  <p:tag name="BITMAPVECTOR" val="0"/>
</p:tagLst>
</file>

<file path=ppt/tags/tag38.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1137.608"/>
  <p:tag name="LATEXADDIN" val="\documentclass{article}&#10;\usepackage{amsmath}&#10;\pagestyle{empty}&#10;\begin{document}&#10;&#10;&#10;$&#10; \lim_{t\to\infty}\mathbf{e}(\mathbf{x},\mathbf{u},t)=\mathbf{0}\&#10;$&#10;&#10;\end{document}"/>
  <p:tag name="IGUANATEXSIZE" val="42"/>
  <p:tag name="IGUANATEXCURSOR" val="137"/>
  <p:tag name="TRANSPARENCY" val="True"/>
  <p:tag name="LATEXENGINEID" val="0"/>
  <p:tag name="TEMPFOLDER" val="c:\temp\"/>
  <p:tag name="LATEXFORMHEIGHT" val="312"/>
  <p:tag name="LATEXFORMWIDTH" val="384"/>
  <p:tag name="LATEXFORMWRAP" val="True"/>
  <p:tag name="BITMAPVECTOR" val="0"/>
</p:tagLst>
</file>

<file path=ppt/tags/tag39.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1137.608"/>
  <p:tag name="LATEXADDIN" val="\documentclass{article}&#10;\usepackage{amsmath}&#10;\pagestyle{empty}&#10;\begin{document}&#10;&#10;&#10;$&#10; \lim_{t\to\infty}\mathbf{e}(\mathbf{x},\mathbf{u},t)=\mathbf{0}\&#10;$&#10;&#10;\end{document}"/>
  <p:tag name="IGUANATEXSIZE" val="42"/>
  <p:tag name="IGUANATEXCURSOR" val="137"/>
  <p:tag name="TRANSPARENCY" val="True"/>
  <p:tag name="LATEXENGINEID" val="0"/>
  <p:tag name="TEMPFOLDER" val="c:\temp\"/>
  <p:tag name="LATEXFORMHEIGHT" val="312"/>
  <p:tag name="LATEXFORMWIDTH" val="384"/>
  <p:tag name="LATEXFORMWRAP" val="True"/>
  <p:tag name="BITMAPVECTOR" val="0"/>
</p:tagLst>
</file>

<file path=ppt/tags/tag40.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1343.082"/>
  <p:tag name="LATEXADDIN" val="\documentclass{article}&#10;\usepackage{amsmath}&#10;\pagestyle{empty}&#10;\begin{document}&#10;&#10;&#10;$&#10;\dot e(t) = -k\,e(t), \qquad k&gt;0&#10;$&#10;&#10;\end{document}"/>
  <p:tag name="IGUANATEXSIZE" val="42"/>
  <p:tag name="IGUANATEXCURSOR" val="116"/>
  <p:tag name="TRANSPARENCY" val="True"/>
  <p:tag name="LATEXENGINEID" val="0"/>
  <p:tag name="TEMPFOLDER" val="c:\temp\"/>
  <p:tag name="LATEXFORMHEIGHT" val="312"/>
  <p:tag name="LATEXFORMWIDTH" val="384"/>
  <p:tag name="LATEXFORMWRAP" val="True"/>
  <p:tag name="BITMAPVECTOR" val="0"/>
</p:tagLst>
</file>

<file path=ppt/tags/tag41.xml><?xml version="1.0" encoding="utf-8"?>
<p:tagLst xmlns:a="http://schemas.openxmlformats.org/drawingml/2006/main" xmlns:r="http://schemas.openxmlformats.org/officeDocument/2006/relationships" xmlns:p="http://schemas.openxmlformats.org/presentationml/2006/main">
  <p:tag name="OUTPUTDPI" val="1200"/>
  <p:tag name="ORIGINALHEIGHT" val="137.2328"/>
  <p:tag name="ORIGINALWIDTH" val="1658.793"/>
  <p:tag name="LATEXADDIN" val="\documentclass{article}&#10;\usepackage{amsmath}&#10;\pagestyle{empty}&#10;\begin{document}&#10;&#10;&#10;$&#10;e(0)=e_0 \quad \Rightarrow \quad e(t)=e_0\,e^{-k t}&#10;$&#10;&#10;\end{document}"/>
  <p:tag name="IGUANATEXSIZE" val="42"/>
  <p:tag name="IGUANATEXCURSOR" val="135"/>
  <p:tag name="TRANSPARENCY" val="True"/>
  <p:tag name="LATEXENGINEID" val="0"/>
  <p:tag name="TEMPFOLDER" val="c:\temp\"/>
  <p:tag name="LATEXFORMHEIGHT" val="312"/>
  <p:tag name="LATEXFORMWIDTH" val="384"/>
  <p:tag name="LATEXFORMWRAP" val="True"/>
  <p:tag name="BITMAPVECTOR" val="0"/>
</p:tagLst>
</file>

<file path=ppt/tags/tag42.xml><?xml version="1.0" encoding="utf-8"?>
<p:tagLst xmlns:a="http://schemas.openxmlformats.org/drawingml/2006/main" xmlns:r="http://schemas.openxmlformats.org/officeDocument/2006/relationships" xmlns:p="http://schemas.openxmlformats.org/presentationml/2006/main">
  <p:tag name="OUTPUTDPI" val="1200"/>
  <p:tag name="ORIGINALHEIGHT" val="134.2332"/>
  <p:tag name="ORIGINALWIDTH" val="2605.174"/>
  <p:tag name="LATEXADDIN" val="\documentclass{article}&#10;\usepackage{amsmath}&#10;\pagestyle{empty}&#10;\begin{document}&#10;&#10;&#10;$&#10;\ddot e(t) + 2\zeta\omega_n \dot e(t) + \omega_n^2 e(t) = 0,&#10;\qquad \omega_n&gt;0,\ \zeta&gt;0&#10;$&#10;&#10;\end{document}"/>
  <p:tag name="IGUANATEXSIZE" val="42"/>
  <p:tag name="IGUANATEXCURSOR" val="172"/>
  <p:tag name="TRANSPARENCY" val="True"/>
  <p:tag name="LATEXENGINEID" val="0"/>
  <p:tag name="TEMPFOLDER" val="c:\temp\"/>
  <p:tag name="LATEXFORMHEIGHT" val="312"/>
  <p:tag name="LATEXFORMWIDTH" val="384"/>
  <p:tag name="LATEXFORMWRAP" val="True"/>
  <p:tag name="BITMAPVECTOR" val="0"/>
</p:tagLst>
</file>

<file path=ppt/tags/tag43.xml><?xml version="1.0" encoding="utf-8"?>
<p:tagLst xmlns:a="http://schemas.openxmlformats.org/drawingml/2006/main" xmlns:r="http://schemas.openxmlformats.org/officeDocument/2006/relationships" xmlns:p="http://schemas.openxmlformats.org/presentationml/2006/main">
  <p:tag name="OUTPUTDPI" val="1200"/>
  <p:tag name="ORIGINALHEIGHT" val="56.99291"/>
  <p:tag name="ORIGINALWIDTH" val="71.99102"/>
  <p:tag name="LATEXADDIN" val="\documentclass{article}&#10;\usepackage{amsmath}&#10;\pagestyle{empty}&#10;\begin{document}&#10;&#10;&#10;$&#10;\mathbf{u}&#10;$&#10;&#10;\end{document}"/>
  <p:tag name="IGUANATEXSIZE" val="38"/>
  <p:tag name="IGUANATEXCURSOR" val="94"/>
  <p:tag name="TRANSPARENCY" val="True"/>
  <p:tag name="LATEXENGINEID" val="0"/>
  <p:tag name="TEMPFOLDER" val="c:\temp\"/>
  <p:tag name="LATEXFORMHEIGHT" val="312"/>
  <p:tag name="LATEXFORMWIDTH" val="384"/>
  <p:tag name="LATEXFORMWRAP" val="True"/>
  <p:tag name="BITMAPVECTOR" val="0"/>
</p:tagLst>
</file>

<file path=ppt/tags/tag44.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666.6667"/>
  <p:tag name="LATEXADDIN" val="\documentclass{article}&#10;\usepackage{amsmath}&#10;\pagestyle{empty}&#10;\begin{document}&#10;&#10;&#10;$&#10;(\mathbf{x}_d,\ \dot{\mathbf{x}}_d,\ \ddot{\mathbf{x}}_d)&#10;$&#10;&#10;\end{document}"/>
  <p:tag name="IGUANATEXSIZE" val="32"/>
  <p:tag name="IGUANATEXCURSOR" val="141"/>
  <p:tag name="TRANSPARENCY" val="True"/>
  <p:tag name="LATEXENGINEID" val="0"/>
  <p:tag name="TEMPFOLDER" val="c:\temp\"/>
  <p:tag name="LATEXFORMHEIGHT" val="312"/>
  <p:tag name="LATEXFORMWIDTH" val="384"/>
  <p:tag name="LATEXFORMWRAP" val="True"/>
  <p:tag name="BITMAPVECTOR" val="0"/>
</p:tagLst>
</file>

<file path=ppt/tags/tag45.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1753.281"/>
  <p:tag name="LATEXADDIN" val="\documentclass{article}&#10;\usepackage{amsmath}&#10;\pagestyle{empty}&#10;\begin{document}&#10;&#10;&#10;$&#10;\mathbf{e} = \mathbf{x}_d - \mathbf{x}, &#10;\qquad &#10;\dot{\mathbf{e}} = \dot{\mathbf{x}}_d - \mathbf{J}(\mathbf{q})\,\dot{\mathbf{q}}&#10;$&#10;&#10;\end{document}"/>
  <p:tag name="IGUANATEXSIZE" val="42"/>
  <p:tag name="IGUANATEXCURSOR" val="213"/>
  <p:tag name="TRANSPARENCY" val="True"/>
  <p:tag name="LATEXENGINEID" val="0"/>
  <p:tag name="TEMPFOLDER" val="c:\temp\"/>
  <p:tag name="LATEXFORMHEIGHT" val="312"/>
  <p:tag name="LATEXFORMWIDTH" val="384"/>
  <p:tag name="LATEXFORMWRAP" val="True"/>
  <p:tag name="BITMAPVECTOR" val="0"/>
</p:tagLst>
</file>

<file path=ppt/tags/tag46.xml><?xml version="1.0" encoding="utf-8"?>
<p:tagLst xmlns:a="http://schemas.openxmlformats.org/drawingml/2006/main" xmlns:r="http://schemas.openxmlformats.org/officeDocument/2006/relationships" xmlns:p="http://schemas.openxmlformats.org/presentationml/2006/main">
  <p:tag name="OUTPUTDPI" val="1200"/>
  <p:tag name="ORIGINALHEIGHT" val="119.2351"/>
  <p:tag name="ORIGINALWIDTH" val="1298.838"/>
  <p:tag name="LATEXADDIN" val="\documentclass{article}&#10;\usepackage{amsmath}&#10;\pagestyle{empty}&#10;\begin{document}&#10;&#10;&#10;$&#10;\mathbf{a}_x^\star &#10;= \ddot{\mathbf{x}}_d + \mathbf{K}_D\,\dot{\mathbf{e}} + \mathbf{K}_P\,\mathbf{e}&#10;$&#10;&#10;\end{document}"/>
  <p:tag name="IGUANATEXSIZE" val="42"/>
  <p:tag name="IGUANATEXCURSOR" val="185"/>
  <p:tag name="TRANSPARENCY" val="True"/>
  <p:tag name="LATEXENGINEID" val="0"/>
  <p:tag name="TEMPFOLDER" val="c:\temp\"/>
  <p:tag name="LATEXFORMHEIGHT" val="312"/>
  <p:tag name="LATEXFORMWIDTH" val="384"/>
  <p:tag name="LATEXFORMWRAP" val="True"/>
  <p:tag name="BITMAPVECTOR" val="0"/>
</p:tagLst>
</file>

<file path=ppt/tags/tag47.xml><?xml version="1.0" encoding="utf-8"?>
<p:tagLst xmlns:a="http://schemas.openxmlformats.org/drawingml/2006/main" xmlns:r="http://schemas.openxmlformats.org/officeDocument/2006/relationships" xmlns:p="http://schemas.openxmlformats.org/presentationml/2006/main">
  <p:tag name="OUTPUTDPI" val="1200"/>
  <p:tag name="ORIGINALHEIGHT" val="224.222"/>
  <p:tag name="ORIGINALWIDTH" val="1492.313"/>
  <p:tag name="LATEXADDIN" val="\documentclass{article}&#10;\usepackage{amsmath}&#10;\pagestyle{empty}&#10;\begin{document}&#10;&#10;&#10;$&#10;y= \mathbf{J}(\mathbf{q})^{-1}\!\left(\mathbf{a}_x^\star - \dot{\mathbf{J}}(\mathbf{q},\dot{\mathbf{q}})\,\dot{\mathbf{q}}\right)&#10;$&#10;&#10;\end{document}"/>
  <p:tag name="IGUANATEXSIZE" val="42"/>
  <p:tag name="IGUANATEXCURSOR" val="113"/>
  <p:tag name="TRANSPARENCY" val="True"/>
  <p:tag name="LATEXENGINEID" val="0"/>
  <p:tag name="TEMPFOLDER" val="c:\temp\"/>
  <p:tag name="LATEXFORMHEIGHT" val="312"/>
  <p:tag name="LATEXFORMWIDTH" val="384"/>
  <p:tag name="LATEXFORMWRAP" val="True"/>
  <p:tag name="BITMAPVECTOR" val="0"/>
</p:tagLst>
</file>

<file path=ppt/tags/tag48.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1686.539"/>
  <p:tag name="LATEXADDIN" val="\documentclass{article}&#10;\usepackage{amsmath}&#10;\pagestyle{empty}&#10;\begin{document}&#10;&#10;&#10;$&#10;\mathbf{u} &#10;= \mathbf{M}(\mathbf{q})\,\ddot{\mathbf{q}} + \mathbf{C}(\mathbf{q},\dot{\mathbf{q}})\,\dot{\mathbf{q}}&#10;  + \mathbf{g}(\mathbf{q})&#10;$&#10;&#10;\end{document}"/>
  <p:tag name="IGUANATEXSIZE" val="42"/>
  <p:tag name="IGUANATEXCURSOR" val="140"/>
  <p:tag name="TRANSPARENCY" val="True"/>
  <p:tag name="LATEXENGINEID" val="0"/>
  <p:tag name="TEMPFOLDER" val="c:\temp\"/>
  <p:tag name="LATEXFORMHEIGHT" val="312"/>
  <p:tag name="LATEXFORMWIDTH" val="384"/>
  <p:tag name="LATEXFORMWRAP" val="True"/>
  <p:tag name="BITMAPVECTOR" val="0"/>
</p:tagLst>
</file>

<file path=ppt/tags/tag49.xml><?xml version="1.0" encoding="utf-8"?>
<p:tagLst xmlns:a="http://schemas.openxmlformats.org/drawingml/2006/main" xmlns:r="http://schemas.openxmlformats.org/officeDocument/2006/relationships" xmlns:p="http://schemas.openxmlformats.org/presentationml/2006/main">
  <p:tag name="OUTPUTDPI" val="1200"/>
  <p:tag name="ORIGINALHEIGHT" val="80.24"/>
  <p:tag name="ORIGINALWIDTH" val="614.9232"/>
  <p:tag name="LATEXADDIN" val="\documentclass{article}&#10;\usepackage{amsmath}&#10;\pagestyle{empty}&#10;\begin{document}&#10;&#10;&#10;$&#10;\mathbf{e} = \mathbf{x}_d - \mathbf{x}, \qquad&#10;$&#10;&#10;\end{document}"/>
  <p:tag name="IGUANATEXSIZE" val="42"/>
  <p:tag name="IGUANATEXCURSOR" val="130"/>
  <p:tag name="TRANSPARENCY" val="True"/>
  <p:tag name="LATEXENGINEID" val="0"/>
  <p:tag name="TEMPFOLDER" val="c:\temp\"/>
  <p:tag name="LATEXFORMHEIGHT" val="312"/>
  <p:tag name="LATEXFORMWIDTH" val="384"/>
  <p:tag name="LATEXFORMWRAP" val="True"/>
  <p:tag name="BITMAPVECTOR" val="0"/>
</p:tagLst>
</file>

<file path=ppt/tags/tag50.xml><?xml version="1.0" encoding="utf-8"?>
<p:tagLst xmlns:a="http://schemas.openxmlformats.org/drawingml/2006/main" xmlns:r="http://schemas.openxmlformats.org/officeDocument/2006/relationships" xmlns:p="http://schemas.openxmlformats.org/presentationml/2006/main">
  <p:tag name="OUTPUTDPI" val="1200"/>
  <p:tag name="ORIGINALHEIGHT" val="104.9868"/>
  <p:tag name="ORIGINALWIDTH" val="587.1766"/>
  <p:tag name="LATEXADDIN" val="\documentclass{article}&#10;\usepackage{amsmath}&#10;\pagestyle{empty}&#10;\begin{document}&#10;&#10;&#10;$&#10;\dot{\mathbf{e}} = \dot{\mathbf{x}}_d - \dot{\mathbf{x}}&#10;$&#10;&#10;\end{document}"/>
  <p:tag name="IGUANATEXSIZE" val="42"/>
  <p:tag name="IGUANATEXCURSOR" val="140"/>
  <p:tag name="TRANSPARENCY" val="True"/>
  <p:tag name="LATEXENGINEID" val="0"/>
  <p:tag name="TEMPFOLDER" val="c:\temp\"/>
  <p:tag name="LATEXFORMHEIGHT" val="312"/>
  <p:tag name="LATEXFORMWIDTH" val="384"/>
  <p:tag name="LATEXFORMWRAP" val="True"/>
  <p:tag name="BITMAPVECTOR" val="0"/>
</p:tagLst>
</file>

<file path=ppt/tags/tag51.xml><?xml version="1.0" encoding="utf-8"?>
<p:tagLst xmlns:a="http://schemas.openxmlformats.org/drawingml/2006/main" xmlns:r="http://schemas.openxmlformats.org/officeDocument/2006/relationships" xmlns:p="http://schemas.openxmlformats.org/presentationml/2006/main">
  <p:tag name="OUTPUTDPI" val="1200"/>
  <p:tag name="ORIGINALHEIGHT" val="104.237"/>
  <p:tag name="ORIGINALWIDTH" val="1127.109"/>
  <p:tag name="LATEXADDIN" val="\documentclass{article}&#10;\usepackage{amsmath}&#10;\pagestyle{empty}&#10;\begin{document}&#10;&#10;&#10;$&#10;\ddot{\mathbf{e}} + \mathbf{K}_D \dot{\mathbf{e}} + \mathbf{K}_P \mathbf{e} = \mathbf{0}&#10;$&#10;&#10;\end{document}"/>
  <p:tag name="IGUANATEXSIZE" val="42"/>
  <p:tag name="IGUANATEXCURSOR" val="172"/>
  <p:tag name="TRANSPARENCY" val="True"/>
  <p:tag name="LATEXENGINEID" val="0"/>
  <p:tag name="TEMPFOLDER" val="c:\temp\"/>
  <p:tag name="LATEXFORMHEIGHT" val="312"/>
  <p:tag name="LATEXFORMWIDTH" val="384"/>
  <p:tag name="LATEXFORMWRAP" val="True"/>
  <p:tag name="BITMAPVECTOR" val="0"/>
</p:tagLst>
</file>

<file path=ppt/tags/tag52.xml><?xml version="1.0" encoding="utf-8"?>
<p:tagLst xmlns:a="http://schemas.openxmlformats.org/drawingml/2006/main" xmlns:r="http://schemas.openxmlformats.org/officeDocument/2006/relationships" xmlns:p="http://schemas.openxmlformats.org/presentationml/2006/main">
  <p:tag name="OUTPUTDPI" val="1200"/>
  <p:tag name="ORIGINALHEIGHT" val="119.2351"/>
  <p:tag name="ORIGINALWIDTH" val="1538.058"/>
  <p:tag name="LATEXADDIN" val="\documentclass{article}&#10;\usepackage{amsmath}&#10;\pagestyle{empty}&#10;\begin{document}&#10;&#10;&#10;$&#10;\Rightarrow\quad&#10;\mathbf{a}_x^\star&#10;= \ddot{\mathbf{x}}_d + \mathbf{K}_D \dot{\mathbf{e}} + \mathbf{K}_P \mathbf{e}&#10;$&#10;&#10;\end{document}"/>
  <p:tag name="IGUANATEXSIZE" val="42"/>
  <p:tag name="IGUANATEXCURSOR" val="199"/>
  <p:tag name="TRANSPARENCY" val="True"/>
  <p:tag name="LATEXENGINEID" val="0"/>
  <p:tag name="TEMPFOLDER" val="c:\temp\"/>
  <p:tag name="LATEXFORMHEIGHT" val="312"/>
  <p:tag name="LATEXFORMWIDTH" val="384"/>
  <p:tag name="LATEXFORMWRAP" val="True"/>
  <p:tag name="BITMAPVECTOR" val="0"/>
</p:tagLst>
</file>

<file path=ppt/tags/tag53.xml><?xml version="1.0" encoding="utf-8"?>
<p:tagLst xmlns:a="http://schemas.openxmlformats.org/drawingml/2006/main" xmlns:r="http://schemas.openxmlformats.org/officeDocument/2006/relationships" xmlns:p="http://schemas.openxmlformats.org/presentationml/2006/main">
  <p:tag name="OUTPUTDPI" val="1200"/>
  <p:tag name="ORIGINALHEIGHT" val="146.9817"/>
  <p:tag name="ORIGINALWIDTH" val="1207.349"/>
  <p:tag name="LATEXADDIN" val="\documentclass{article}&#10;\usepackage{amsmath}&#10;\pagestyle{empty}&#10;\begin{document}&#10;&#10;&#10;$&#10;\ddot{\mathbf{x}} = \mathbf{J}(\mathbf{q})\,\ddot{\mathbf{q}}&#10;                   + \dot{\mathbf{J}}(\mathbf{q},\dot{\mathbf{q}})\,\dot{\mathbf{q}}&#10;$&#10;&#10;\end{document}"/>
  <p:tag name="IGUANATEXSIZE" val="42"/>
  <p:tag name="IGUANATEXCURSOR" val="230"/>
  <p:tag name="TRANSPARENCY" val="True"/>
  <p:tag name="LATEXENGINEID" val="0"/>
  <p:tag name="TEMPFOLDER" val="c:\temp\"/>
  <p:tag name="LATEXFORMHEIGHT" val="312"/>
  <p:tag name="LATEXFORMWIDTH" val="384"/>
  <p:tag name="LATEXFORMWRAP" val="True"/>
  <p:tag name="BITMAPVECTOR" val="0"/>
</p:tagLst>
</file>

<file path=ppt/tags/tag54.xml><?xml version="1.0" encoding="utf-8"?>
<p:tagLst xmlns:a="http://schemas.openxmlformats.org/drawingml/2006/main" xmlns:r="http://schemas.openxmlformats.org/officeDocument/2006/relationships" xmlns:p="http://schemas.openxmlformats.org/presentationml/2006/main">
  <p:tag name="OUTPUTDPI" val="1200"/>
  <p:tag name="ORIGINALHEIGHT" val="224.222"/>
  <p:tag name="ORIGINALWIDTH" val="1558.305"/>
  <p:tag name="LATEXADDIN" val="\documentclass{article}&#10;\usepackage{amsmath}&#10;\pagestyle{empty}&#10;\begin{document}&#10;&#10;&#10;$&#10;\ddot{\mathbf{q}}^\star&#10;= \mathbf{J}(\mathbf{q})^{-1}\!\left(&#10;    \mathbf{a}_x^\star&#10;    - \dot{\mathbf{J}}(\mathbf{q},\dot{\mathbf{q}})\,\dot{\mathbf{q}}&#10;  \right)&#10;$&#10;&#10;\end{document}"/>
  <p:tag name="IGUANATEXSIZE" val="42"/>
  <p:tag name="IGUANATEXCURSOR" val="248"/>
  <p:tag name="TRANSPARENCY" val="True"/>
  <p:tag name="LATEXENGINEID" val="0"/>
  <p:tag name="TEMPFOLDER" val="c:\temp\"/>
  <p:tag name="LATEXFORMHEIGHT" val="312"/>
  <p:tag name="LATEXFORMWIDTH" val="384"/>
  <p:tag name="LATEXFORMWRAP" val="True"/>
  <p:tag name="BITMAPVECTOR" val="0"/>
</p:tagLst>
</file>

<file path=ppt/tags/tag55.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296.213"/>
  <p:tag name="LATEXADDIN" val="\documentclass{article}&#10;\usepackage{amsmath}&#10;\pagestyle{empty}&#10;\begin{document}&#10;&#10;&#10;$&#10;(\ddot{\mathbf{x}}_d - \ddot{\mathbf{x}})&#10;+ \mathbf{K}_D(\dot{\mathbf{x}}_d - \dot{\mathbf{x}})&#10;+ \mathbf{K}_P(\mathbf{x}_d - \mathbf{x})&#10;= \mathbf{0}&#10;$&#10;&#10;\end{document}"/>
  <p:tag name="IGUANATEXSIZE" val="42"/>
  <p:tag name="IGUANATEXCURSOR" val="234"/>
  <p:tag name="TRANSPARENCY" val="True"/>
  <p:tag name="LATEXENGINEID" val="0"/>
  <p:tag name="TEMPFOLDER" val="c:\temp\"/>
  <p:tag name="LATEXFORMHEIGHT" val="312"/>
  <p:tag name="LATEXFORMWIDTH" val="384"/>
  <p:tag name="LATEXFORMWRAP" val="True"/>
  <p:tag name="BITMAPVECTOR" val="0"/>
</p:tagLst>
</file>

<file path=ppt/tags/tag56.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1979.003"/>
  <p:tag name="LATEXADDIN" val="\documentclass{article}&#10;\usepackage{amsmath}&#10;\pagestyle{empty}&#10;\begin{document}&#10;&#10;&#10;$&#10;\ddot{\mathbf{x}}&#10;= \ddot{\mathbf{x}}_d&#10;+ \mathbf{K}_D(\dot{\mathbf{x}}_d - \dot{\mathbf{x}})&#10;+ \mathbf{K}_P(\mathbf{x}_d - \mathbf{x})&#10;$&#10;&#10;\end{document}"/>
  <p:tag name="IGUANATEXSIZE" val="42"/>
  <p:tag name="IGUANATEXCURSOR" val="219"/>
  <p:tag name="TRANSPARENCY" val="True"/>
  <p:tag name="LATEXENGINEID" val="0"/>
  <p:tag name="TEMPFOLDER" val="c:\temp\"/>
  <p:tag name="LATEXFORMHEIGHT" val="312"/>
  <p:tag name="LATEXFORMWIDTH" val="384"/>
  <p:tag name="LATEXFORMWRAP" val="True"/>
  <p:tag name="BITMAPVECTOR" val="0"/>
</p:tagLst>
</file>

<file path=ppt/tags/tag57.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650.9186"/>
  <p:tag name="LATEXADDIN" val="\documentclass{article}&#10;\usepackage{amsmath}&#10;\pagestyle{empty}&#10;\begin{document}&#10;&#10;&#10;$&#10;\dot{\mathbf{x}} \;=\; \mathbf{J}(\mathbf{q})\,\dot{\mathbf{q}}&#10;$&#10;&#10;\end{document}"/>
  <p:tag name="IGUANATEXSIZE" val="38"/>
  <p:tag name="IGUANATEXCURSOR" val="147"/>
  <p:tag name="TRANSPARENCY" val="True"/>
  <p:tag name="LATEXENGINEID" val="0"/>
  <p:tag name="TEMPFOLDER" val="c:\temp\"/>
  <p:tag name="LATEXFORMHEIGHT" val="312"/>
  <p:tag name="LATEXFORMWIDTH" val="384"/>
  <p:tag name="LATEXFORMWRAP" val="True"/>
  <p:tag name="BITMAPVECTOR" val="0"/>
</p:tagLst>
</file>

<file path=ppt/tags/tag58.xml><?xml version="1.0" encoding="utf-8"?>
<p:tagLst xmlns:a="http://schemas.openxmlformats.org/drawingml/2006/main" xmlns:r="http://schemas.openxmlformats.org/officeDocument/2006/relationships" xmlns:p="http://schemas.openxmlformats.org/presentationml/2006/main">
  <p:tag name="OUTPUTDPI" val="1200"/>
  <p:tag name="ORIGINALHEIGHT" val="224.222"/>
  <p:tag name="ORIGINALWIDTH" val="1558.305"/>
  <p:tag name="LATEXADDIN" val="\documentclass{article}&#10;\usepackage{amsmath}&#10;\pagestyle{empty}&#10;\begin{document}&#10;&#10;&#10;$&#10;\ddot{\mathbf{q}}^\star&#10;= \mathbf{J}(\mathbf{q})^{-1}\!\left(&#10;    \mathbf{a}_x^\star&#10;    - \dot{\mathbf{J}}(\mathbf{q},\dot{\mathbf{q}})\,\dot{\mathbf{q}}&#10;  \right)&#10;$&#10;&#10;\end{document}"/>
  <p:tag name="IGUANATEXSIZE" val="42"/>
  <p:tag name="IGUANATEXCURSOR" val="248"/>
  <p:tag name="TRANSPARENCY" val="True"/>
  <p:tag name="LATEXENGINEID" val="0"/>
  <p:tag name="TEMPFOLDER" val="c:\temp\"/>
  <p:tag name="LATEXFORMHEIGHT" val="312"/>
  <p:tag name="LATEXFORMWIDTH" val="384"/>
  <p:tag name="LATEXFORMWRAP" val="True"/>
  <p:tag name="BITMAPVECTOR" val="0"/>
</p:tagLst>
</file>

<file path=ppt/tags/tag59.xml><?xml version="1.0" encoding="utf-8"?>
<p:tagLst xmlns:a="http://schemas.openxmlformats.org/drawingml/2006/main" xmlns:r="http://schemas.openxmlformats.org/officeDocument/2006/relationships" xmlns:p="http://schemas.openxmlformats.org/presentationml/2006/main">
  <p:tag name="OUTPUTDPI" val="1200"/>
  <p:tag name="ORIGINALHEIGHT" val="119.2351"/>
  <p:tag name="ORIGINALWIDTH" val="1538.058"/>
  <p:tag name="LATEXADDIN" val="\documentclass{article}&#10;\usepackage{amsmath}&#10;\pagestyle{empty}&#10;\begin{document}&#10;&#10;&#10;$&#10;\Rightarrow\quad&#10;\mathbf{a}_x^\star&#10;= \ddot{\mathbf{x}}_d + \mathbf{K}_D \dot{\mathbf{e}} + \mathbf{K}_P \mathbf{e}&#10;$&#10;&#10;\end{document}"/>
  <p:tag name="IGUANATEXSIZE" val="42"/>
  <p:tag name="IGUANATEXCURSOR" val="199"/>
  <p:tag name="TRANSPARENCY" val="True"/>
  <p:tag name="LATEXENGINEID" val="0"/>
  <p:tag name="TEMPFOLDER" val="c:\temp\"/>
  <p:tag name="LATEXFORMHEIGHT" val="312"/>
  <p:tag name="LATEXFORMWIDTH" val="384"/>
  <p:tag name="LATEXFORMWRAP" val="True"/>
  <p:tag name="BITMAPVECTOR" val="0"/>
</p:tagLst>
</file>

<file path=ppt/tags/tag60.xml><?xml version="1.0" encoding="utf-8"?>
<p:tagLst xmlns:a="http://schemas.openxmlformats.org/drawingml/2006/main" xmlns:r="http://schemas.openxmlformats.org/officeDocument/2006/relationships" xmlns:p="http://schemas.openxmlformats.org/presentationml/2006/main">
  <p:tag name="OUTPUTDPI" val="1200"/>
  <p:tag name="ORIGINALHEIGHT" val="146.9817"/>
  <p:tag name="ORIGINALWIDTH" val="1207.349"/>
  <p:tag name="LATEXADDIN" val="\documentclass{article}&#10;\usepackage{amsmath}&#10;\pagestyle{empty}&#10;\begin{document}&#10;&#10;&#10;$&#10;\ddot{\mathbf{x}} = \mathbf{J}(\mathbf{q})\,\ddot{\mathbf{q}}&#10;                   + \dot{\mathbf{J}}(\mathbf{q},\dot{\mathbf{q}})\,\dot{\mathbf{q}}&#10;$&#10;&#10;\end{document}"/>
  <p:tag name="IGUANATEXSIZE" val="42"/>
  <p:tag name="IGUANATEXCURSOR" val="230"/>
  <p:tag name="TRANSPARENCY" val="True"/>
  <p:tag name="LATEXENGINEID" val="0"/>
  <p:tag name="TEMPFOLDER" val="c:\temp\"/>
  <p:tag name="LATEXFORMHEIGHT" val="312"/>
  <p:tag name="LATEXFORMWIDTH" val="384"/>
  <p:tag name="LATEXFORMWRAP" val="True"/>
  <p:tag name="BITMAPVECTOR" val="0"/>
</p:tagLst>
</file>

<file path=ppt/tags/tag61.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1686.539"/>
  <p:tag name="LATEXADDIN" val="\documentclass{article}&#10;\usepackage{amsmath}&#10;\pagestyle{empty}&#10;\begin{document}&#10;&#10;&#10;$&#10;\mathbf{u} &#10;= \mathbf{M}(\mathbf{q})\,\ddot{\mathbf{q}} + \mathbf{C}(\mathbf{q},\dot{\mathbf{q}})\,\dot{\mathbf{q}}&#10;  + \mathbf{g}(\mathbf{q})&#10;$&#10;&#10;\end{document}"/>
  <p:tag name="IGUANATEXSIZE" val="42"/>
  <p:tag name="IGUANATEXCURSOR" val="140"/>
  <p:tag name="TRANSPARENCY" val="True"/>
  <p:tag name="LATEXENGINEID" val="0"/>
  <p:tag name="TEMPFOLDER" val="c:\temp\"/>
  <p:tag name="LATEXFORMHEIGHT" val="312"/>
  <p:tag name="LATEXFORMWIDTH" val="384"/>
  <p:tag name="LATEXFORMWRAP" val="True"/>
  <p:tag name="BITMAPVECTOR" val="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2150</TotalTime>
  <Words>878</Words>
  <Application>Microsoft Office PowerPoint</Application>
  <PresentationFormat>사용자 지정</PresentationFormat>
  <Paragraphs>183</Paragraphs>
  <Slides>16</Slides>
  <Notes>13</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16</vt:i4>
      </vt:variant>
    </vt:vector>
  </HeadingPairs>
  <TitlesOfParts>
    <vt:vector size="22" baseType="lpstr">
      <vt:lpstr>Cambria Math</vt:lpstr>
      <vt:lpstr>Arial</vt:lpstr>
      <vt:lpstr>굴림</vt:lpstr>
      <vt:lpstr>Calibri</vt:lpstr>
      <vt:lpstr>맑은 고딕</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강민 이</cp:lastModifiedBy>
  <cp:revision>182</cp:revision>
  <dcterms:created xsi:type="dcterms:W3CDTF">2006-08-16T00:00:00Z</dcterms:created>
  <dcterms:modified xsi:type="dcterms:W3CDTF">2025-11-18T11:03:37Z</dcterms:modified>
</cp:coreProperties>
</file>