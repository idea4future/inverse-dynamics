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2.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3.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notesSlides/notesSlide4.xml" ContentType="application/vnd.openxmlformats-officedocument.presentationml.notesSlide+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notesSlides/notesSlide5.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notesSlides/notesSlide6.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notesSlides/notesSlide7.xml" ContentType="application/vnd.openxmlformats-officedocument.presentationml.notesSlide+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notesSlides/notesSlide8.xml" ContentType="application/vnd.openxmlformats-officedocument.presentationml.notesSlide+xml"/>
  <Override PartName="/ppt/tags/tag33.xml" ContentType="application/vnd.openxmlformats-officedocument.presentationml.tags+xml"/>
  <Override PartName="/ppt/notesSlides/notesSlide9.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notesSlides/notesSlide10.xml" ContentType="application/vnd.openxmlformats-officedocument.presentationml.notesSlide+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notesSlides/notesSlide11.xml" ContentType="application/vnd.openxmlformats-officedocument.presentationml.notesSlide+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notesSlides/notesSlide12.xml" ContentType="application/vnd.openxmlformats-officedocument.presentationml.notesSlide+xml"/>
  <Override PartName="/ppt/tags/tag45.xml" ContentType="application/vnd.openxmlformats-officedocument.presentationml.tags+xml"/>
  <Override PartName="/ppt/tags/tag46.xml" ContentType="application/vnd.openxmlformats-officedocument.presentationml.tags+xml"/>
  <Override PartName="/ppt/notesSlides/notesSlide13.xml" ContentType="application/vnd.openxmlformats-officedocument.presentationml.notesSlide+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7"/>
  </p:notesMasterIdLst>
  <p:sldIdLst>
    <p:sldId id="335" r:id="rId2"/>
    <p:sldId id="336" r:id="rId3"/>
    <p:sldId id="342" r:id="rId4"/>
    <p:sldId id="344" r:id="rId5"/>
    <p:sldId id="343" r:id="rId6"/>
    <p:sldId id="345" r:id="rId7"/>
    <p:sldId id="346" r:id="rId8"/>
    <p:sldId id="347" r:id="rId9"/>
    <p:sldId id="348" r:id="rId10"/>
    <p:sldId id="350" r:id="rId11"/>
    <p:sldId id="349" r:id="rId12"/>
    <p:sldId id="351" r:id="rId13"/>
    <p:sldId id="353" r:id="rId14"/>
    <p:sldId id="354" r:id="rId15"/>
    <p:sldId id="321" r:id="rId16"/>
  </p:sldIdLst>
  <p:sldSz cx="24384000" cy="13716000"/>
  <p:notesSz cx="6858000" cy="9144000"/>
  <p:embeddedFontLst>
    <p:embeddedFont>
      <p:font typeface="맑은 고딕" panose="020B0503020000020004" pitchFamily="50" charset="-127"/>
      <p:regular r:id="rId18"/>
      <p:bold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F4E05D"/>
    <a:srgbClr val="FFFFFF"/>
    <a:srgbClr val="1E1B35"/>
    <a:srgbClr val="001D58"/>
    <a:srgbClr val="000E2A"/>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071" autoAdjust="0"/>
    <p:restoredTop sz="88685" autoAdjust="0"/>
  </p:normalViewPr>
  <p:slideViewPr>
    <p:cSldViewPr>
      <p:cViewPr>
        <p:scale>
          <a:sx n="33" d="100"/>
          <a:sy n="33" d="100"/>
        </p:scale>
        <p:origin x="1056" y="3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5130ED-C0B9-4FC1-BB2D-D58A566FAF25}" type="datetimeFigureOut">
              <a:rPr lang="ko-KR" altLang="en-US" smtClean="0"/>
              <a:t>2025-11-18</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8FB9C9-7C23-4F4E-9852-726E7DBF3378}" type="slidenum">
              <a:rPr lang="ko-KR" altLang="en-US" smtClean="0"/>
              <a:t>‹#›</a:t>
            </a:fld>
            <a:endParaRPr lang="ko-KR" altLang="en-US"/>
          </a:p>
        </p:txBody>
      </p:sp>
    </p:spTree>
    <p:extLst>
      <p:ext uri="{BB962C8B-B14F-4D97-AF65-F5344CB8AC3E}">
        <p14:creationId xmlns:p14="http://schemas.microsoft.com/office/powerpoint/2010/main" val="812639357"/>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2A522F-DD4B-5B62-2D9A-BFA3CCA1B7D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367A7123-169B-987B-184A-DF5F0E7CE97F}"/>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EA319A18-2DDC-A413-B239-F717FEE1EF33}"/>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0EAD49CE-C85A-235A-8274-B37D0F38F684}"/>
              </a:ext>
            </a:extLst>
          </p:cNvPr>
          <p:cNvSpPr>
            <a:spLocks noGrp="1"/>
          </p:cNvSpPr>
          <p:nvPr>
            <p:ph type="sldNum" sz="quarter" idx="5"/>
          </p:nvPr>
        </p:nvSpPr>
        <p:spPr/>
        <p:txBody>
          <a:bodyPr/>
          <a:lstStyle/>
          <a:p>
            <a:fld id="{818FB9C9-7C23-4F4E-9852-726E7DBF3378}" type="slidenum">
              <a:rPr lang="ko-KR" altLang="en-US" smtClean="0"/>
              <a:t>1</a:t>
            </a:fld>
            <a:endParaRPr lang="ko-KR" altLang="en-US"/>
          </a:p>
        </p:txBody>
      </p:sp>
    </p:spTree>
    <p:extLst>
      <p:ext uri="{BB962C8B-B14F-4D97-AF65-F5344CB8AC3E}">
        <p14:creationId xmlns:p14="http://schemas.microsoft.com/office/powerpoint/2010/main" val="37715573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EFB6FF-F0DC-34ED-4875-875149E68712}"/>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9E51E6B6-3CDD-DAEB-6C51-A8453DFA72F4}"/>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C0D61B92-9F58-7766-4750-5303BE7D29B2}"/>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8276A7DC-964C-6149-5027-DF276B5A5731}"/>
              </a:ext>
            </a:extLst>
          </p:cNvPr>
          <p:cNvSpPr>
            <a:spLocks noGrp="1"/>
          </p:cNvSpPr>
          <p:nvPr>
            <p:ph type="sldNum" sz="quarter" idx="5"/>
          </p:nvPr>
        </p:nvSpPr>
        <p:spPr/>
        <p:txBody>
          <a:bodyPr/>
          <a:lstStyle/>
          <a:p>
            <a:fld id="{818FB9C9-7C23-4F4E-9852-726E7DBF3378}" type="slidenum">
              <a:rPr lang="ko-KR" altLang="en-US" smtClean="0"/>
              <a:t>2</a:t>
            </a:fld>
            <a:endParaRPr lang="ko-KR" altLang="en-US"/>
          </a:p>
        </p:txBody>
      </p:sp>
    </p:spTree>
    <p:extLst>
      <p:ext uri="{BB962C8B-B14F-4D97-AF65-F5344CB8AC3E}">
        <p14:creationId xmlns:p14="http://schemas.microsoft.com/office/powerpoint/2010/main" val="29472503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4D5852-AC17-B384-BAFE-1F9EC9187636}"/>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F506476E-5D1B-C378-7F3F-3D3A6BB0F77E}"/>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AE744395-2C89-07D8-F6EC-49EE5E9D01E7}"/>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0884D7C8-E426-C667-A037-329105262382}"/>
              </a:ext>
            </a:extLst>
          </p:cNvPr>
          <p:cNvSpPr>
            <a:spLocks noGrp="1"/>
          </p:cNvSpPr>
          <p:nvPr>
            <p:ph type="sldNum" sz="quarter" idx="5"/>
          </p:nvPr>
        </p:nvSpPr>
        <p:spPr/>
        <p:txBody>
          <a:bodyPr/>
          <a:lstStyle/>
          <a:p>
            <a:fld id="{818FB9C9-7C23-4F4E-9852-726E7DBF3378}" type="slidenum">
              <a:rPr lang="ko-KR" altLang="en-US" smtClean="0"/>
              <a:t>3</a:t>
            </a:fld>
            <a:endParaRPr lang="ko-KR" altLang="en-US"/>
          </a:p>
        </p:txBody>
      </p:sp>
    </p:spTree>
    <p:extLst>
      <p:ext uri="{BB962C8B-B14F-4D97-AF65-F5344CB8AC3E}">
        <p14:creationId xmlns:p14="http://schemas.microsoft.com/office/powerpoint/2010/main" val="9278332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FCAB0-6524-A47A-0C0D-EC74AF377C10}"/>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9998FDB-D182-438D-4C78-5EB89E2301E8}"/>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A7F1ED3B-66CB-5E43-D760-C7E6E6F839E8}"/>
              </a:ext>
            </a:extLst>
          </p:cNvPr>
          <p:cNvSpPr>
            <a:spLocks noGrp="1"/>
          </p:cNvSpPr>
          <p:nvPr>
            <p:ph type="body" idx="1"/>
          </p:nvPr>
        </p:nvSpPr>
        <p:spPr/>
        <p:txBody>
          <a:bodyPr/>
          <a:lstStyle/>
          <a:p>
            <a:r>
              <a:rPr lang="en-US" altLang="ko-KR" dirty="0"/>
              <a:t>OSC</a:t>
            </a:r>
            <a:r>
              <a:rPr lang="ko-KR" altLang="en-US" dirty="0"/>
              <a:t>에서는 여기서 </a:t>
            </a:r>
            <a:r>
              <a:rPr lang="en-US" altLang="ko-KR" dirty="0"/>
              <a:t>J</a:t>
            </a:r>
            <a:r>
              <a:rPr lang="ko-KR" altLang="en-US" dirty="0"/>
              <a:t>를 넘겨서 </a:t>
            </a:r>
            <a:r>
              <a:rPr lang="en-US" altLang="ko-KR" dirty="0" err="1"/>
              <a:t>dot_v</a:t>
            </a:r>
            <a:r>
              <a:rPr lang="ko-KR" altLang="en-US" dirty="0"/>
              <a:t>를 구한 후 운동방정식에 대입하여 토크를 구했다</a:t>
            </a:r>
            <a:r>
              <a:rPr lang="en-US" altLang="ko-KR" dirty="0"/>
              <a:t>. </a:t>
            </a:r>
            <a:r>
              <a:rPr lang="ko-KR" altLang="en-US" dirty="0"/>
              <a:t>하지만 이는 매우 이상적인 상황이며</a:t>
            </a:r>
            <a:r>
              <a:rPr lang="en-US" altLang="ko-KR" dirty="0"/>
              <a:t>, </a:t>
            </a:r>
            <a:r>
              <a:rPr lang="ko-KR" altLang="en-US" dirty="0"/>
              <a:t>제약이 없는 경우에만 </a:t>
            </a:r>
            <a:r>
              <a:rPr lang="ko-KR" altLang="en-US" dirty="0" err="1"/>
              <a:t>적용가능하다</a:t>
            </a:r>
            <a:r>
              <a:rPr lang="en-US" altLang="ko-KR" dirty="0"/>
              <a:t>. </a:t>
            </a:r>
            <a:r>
              <a:rPr lang="ko-KR" altLang="en-US" dirty="0"/>
              <a:t>따라서 더 복잡한 경우일때는 단순히 넘길 수가 없기 때문에 </a:t>
            </a:r>
            <a:r>
              <a:rPr lang="en-US" altLang="ko-KR" dirty="0"/>
              <a:t>J</a:t>
            </a:r>
            <a:r>
              <a:rPr lang="ko-KR" altLang="en-US" dirty="0"/>
              <a:t>를 남기고 </a:t>
            </a:r>
            <a:r>
              <a:rPr lang="en-US" altLang="ko-KR" dirty="0"/>
              <a:t>TSID</a:t>
            </a:r>
            <a:r>
              <a:rPr lang="ko-KR" altLang="en-US" dirty="0"/>
              <a:t>라는 다른 방법을 적용한다</a:t>
            </a:r>
          </a:p>
        </p:txBody>
      </p:sp>
      <p:sp>
        <p:nvSpPr>
          <p:cNvPr id="4" name="슬라이드 번호 개체 틀 3">
            <a:extLst>
              <a:ext uri="{FF2B5EF4-FFF2-40B4-BE49-F238E27FC236}">
                <a16:creationId xmlns:a16="http://schemas.microsoft.com/office/drawing/2014/main" id="{807479D8-D4FA-A050-0D60-D203AB028888}"/>
              </a:ext>
            </a:extLst>
          </p:cNvPr>
          <p:cNvSpPr>
            <a:spLocks noGrp="1"/>
          </p:cNvSpPr>
          <p:nvPr>
            <p:ph type="sldNum" sz="quarter" idx="5"/>
          </p:nvPr>
        </p:nvSpPr>
        <p:spPr/>
        <p:txBody>
          <a:bodyPr/>
          <a:lstStyle/>
          <a:p>
            <a:fld id="{818FB9C9-7C23-4F4E-9852-726E7DBF3378}" type="slidenum">
              <a:rPr lang="ko-KR" altLang="en-US" smtClean="0"/>
              <a:t>4</a:t>
            </a:fld>
            <a:endParaRPr lang="ko-KR" altLang="en-US"/>
          </a:p>
        </p:txBody>
      </p:sp>
    </p:spTree>
    <p:extLst>
      <p:ext uri="{BB962C8B-B14F-4D97-AF65-F5344CB8AC3E}">
        <p14:creationId xmlns:p14="http://schemas.microsoft.com/office/powerpoint/2010/main" val="28458929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A414A-8AC7-0C08-CC54-02324BC09CCF}"/>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BF0254AA-4C84-CE64-0B5A-C48E951B67CC}"/>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EF61837F-A363-3AB2-CA2C-6BB545965320}"/>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06082A6B-98E0-43D5-F1BD-B8860CD28EC4}"/>
              </a:ext>
            </a:extLst>
          </p:cNvPr>
          <p:cNvSpPr>
            <a:spLocks noGrp="1"/>
          </p:cNvSpPr>
          <p:nvPr>
            <p:ph type="sldNum" sz="quarter" idx="5"/>
          </p:nvPr>
        </p:nvSpPr>
        <p:spPr/>
        <p:txBody>
          <a:bodyPr/>
          <a:lstStyle/>
          <a:p>
            <a:fld id="{818FB9C9-7C23-4F4E-9852-726E7DBF3378}" type="slidenum">
              <a:rPr lang="ko-KR" altLang="en-US" smtClean="0"/>
              <a:t>5</a:t>
            </a:fld>
            <a:endParaRPr lang="ko-KR" altLang="en-US"/>
          </a:p>
        </p:txBody>
      </p:sp>
    </p:spTree>
    <p:extLst>
      <p:ext uri="{BB962C8B-B14F-4D97-AF65-F5344CB8AC3E}">
        <p14:creationId xmlns:p14="http://schemas.microsoft.com/office/powerpoint/2010/main" val="18213158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B48448-59E9-EE8E-9FDC-02E11BC25D48}"/>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715CBD8F-C3CA-B108-23EE-E94BAB1183F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2C01DFEC-E9D3-4657-5937-87C8F0389920}"/>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DA4C257A-5AEB-2F88-CC4D-1793D039C9E1}"/>
              </a:ext>
            </a:extLst>
          </p:cNvPr>
          <p:cNvSpPr>
            <a:spLocks noGrp="1"/>
          </p:cNvSpPr>
          <p:nvPr>
            <p:ph type="sldNum" sz="quarter" idx="5"/>
          </p:nvPr>
        </p:nvSpPr>
        <p:spPr/>
        <p:txBody>
          <a:bodyPr/>
          <a:lstStyle/>
          <a:p>
            <a:fld id="{818FB9C9-7C23-4F4E-9852-726E7DBF3378}" type="slidenum">
              <a:rPr lang="ko-KR" altLang="en-US" smtClean="0"/>
              <a:t>6</a:t>
            </a:fld>
            <a:endParaRPr lang="ko-KR" altLang="en-US"/>
          </a:p>
        </p:txBody>
      </p:sp>
    </p:spTree>
    <p:extLst>
      <p:ext uri="{BB962C8B-B14F-4D97-AF65-F5344CB8AC3E}">
        <p14:creationId xmlns:p14="http://schemas.microsoft.com/office/powerpoint/2010/main" val="37950088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E41055-D85C-3F58-FDBF-51DD48C42A53}"/>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49FB4717-7E95-89F2-E5E1-2F67E4A1F4B6}"/>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A1920AE5-CEA2-CC40-5A89-A46C8A13CD63}"/>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E8063E20-6000-51B2-487F-B206D72DA699}"/>
              </a:ext>
            </a:extLst>
          </p:cNvPr>
          <p:cNvSpPr>
            <a:spLocks noGrp="1"/>
          </p:cNvSpPr>
          <p:nvPr>
            <p:ph type="sldNum" sz="quarter" idx="5"/>
          </p:nvPr>
        </p:nvSpPr>
        <p:spPr/>
        <p:txBody>
          <a:bodyPr/>
          <a:lstStyle/>
          <a:p>
            <a:fld id="{818FB9C9-7C23-4F4E-9852-726E7DBF3378}" type="slidenum">
              <a:rPr lang="ko-KR" altLang="en-US" smtClean="0"/>
              <a:t>7</a:t>
            </a:fld>
            <a:endParaRPr lang="ko-KR" altLang="en-US"/>
          </a:p>
        </p:txBody>
      </p:sp>
    </p:spTree>
    <p:extLst>
      <p:ext uri="{BB962C8B-B14F-4D97-AF65-F5344CB8AC3E}">
        <p14:creationId xmlns:p14="http://schemas.microsoft.com/office/powerpoint/2010/main" val="38910628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6FF691-0944-20C1-8891-9A2CE7791AF7}"/>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61EE5A02-9711-093A-400C-EEDF79DE59B9}"/>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C8CDE54D-EE39-CC66-A75E-04561B83E6DC}"/>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0576D68D-6ABA-4F31-2491-F46306B9BC01}"/>
              </a:ext>
            </a:extLst>
          </p:cNvPr>
          <p:cNvSpPr>
            <a:spLocks noGrp="1"/>
          </p:cNvSpPr>
          <p:nvPr>
            <p:ph type="sldNum" sz="quarter" idx="5"/>
          </p:nvPr>
        </p:nvSpPr>
        <p:spPr/>
        <p:txBody>
          <a:bodyPr/>
          <a:lstStyle/>
          <a:p>
            <a:fld id="{818FB9C9-7C23-4F4E-9852-726E7DBF3378}" type="slidenum">
              <a:rPr lang="ko-KR" altLang="en-US" smtClean="0"/>
              <a:t>8</a:t>
            </a:fld>
            <a:endParaRPr lang="ko-KR" altLang="en-US"/>
          </a:p>
        </p:txBody>
      </p:sp>
    </p:spTree>
    <p:extLst>
      <p:ext uri="{BB962C8B-B14F-4D97-AF65-F5344CB8AC3E}">
        <p14:creationId xmlns:p14="http://schemas.microsoft.com/office/powerpoint/2010/main" val="27539936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D26F0-7C79-7FAC-750B-C1A4998D9978}"/>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926695E6-F37D-2B6C-BE0E-4F4BFE4810DD}"/>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CDA8478D-2BC8-EFD0-F992-6EA766713BDD}"/>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88ED338B-16CA-3BE5-2068-86EDD39AB217}"/>
              </a:ext>
            </a:extLst>
          </p:cNvPr>
          <p:cNvSpPr>
            <a:spLocks noGrp="1"/>
          </p:cNvSpPr>
          <p:nvPr>
            <p:ph type="sldNum" sz="quarter" idx="5"/>
          </p:nvPr>
        </p:nvSpPr>
        <p:spPr/>
        <p:txBody>
          <a:bodyPr/>
          <a:lstStyle/>
          <a:p>
            <a:fld id="{818FB9C9-7C23-4F4E-9852-726E7DBF3378}" type="slidenum">
              <a:rPr lang="ko-KR" altLang="en-US" smtClean="0"/>
              <a:t>9</a:t>
            </a:fld>
            <a:endParaRPr lang="ko-KR" altLang="en-US"/>
          </a:p>
        </p:txBody>
      </p:sp>
    </p:spTree>
    <p:extLst>
      <p:ext uri="{BB962C8B-B14F-4D97-AF65-F5344CB8AC3E}">
        <p14:creationId xmlns:p14="http://schemas.microsoft.com/office/powerpoint/2010/main" val="36096109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1F7EF3-07C5-F255-FD41-B80CCAA00004}"/>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04AA6AC0-383A-4CE0-0CCE-4C2B9ECCCB6A}"/>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1A77782B-E9BA-E4C0-6B6C-2955A9973EFE}"/>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F602C168-D31F-5E32-045F-8F11088442D6}"/>
              </a:ext>
            </a:extLst>
          </p:cNvPr>
          <p:cNvSpPr>
            <a:spLocks noGrp="1"/>
          </p:cNvSpPr>
          <p:nvPr>
            <p:ph type="sldNum" sz="quarter" idx="5"/>
          </p:nvPr>
        </p:nvSpPr>
        <p:spPr/>
        <p:txBody>
          <a:bodyPr/>
          <a:lstStyle/>
          <a:p>
            <a:fld id="{818FB9C9-7C23-4F4E-9852-726E7DBF3378}" type="slidenum">
              <a:rPr lang="ko-KR" altLang="en-US" smtClean="0"/>
              <a:t>10</a:t>
            </a:fld>
            <a:endParaRPr lang="ko-KR" altLang="en-US"/>
          </a:p>
        </p:txBody>
      </p:sp>
    </p:spTree>
    <p:extLst>
      <p:ext uri="{BB962C8B-B14F-4D97-AF65-F5344CB8AC3E}">
        <p14:creationId xmlns:p14="http://schemas.microsoft.com/office/powerpoint/2010/main" val="20736104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D9D45C-66E1-1C9B-EDC6-7B851342F57A}"/>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7C0728E6-D9CC-E700-9994-818678C6CECE}"/>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415AD97B-341B-9FEB-641E-DA54736A3D30}"/>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B6FC381A-173C-B4AD-A557-CB5741208C6C}"/>
              </a:ext>
            </a:extLst>
          </p:cNvPr>
          <p:cNvSpPr>
            <a:spLocks noGrp="1"/>
          </p:cNvSpPr>
          <p:nvPr>
            <p:ph type="sldNum" sz="quarter" idx="5"/>
          </p:nvPr>
        </p:nvSpPr>
        <p:spPr/>
        <p:txBody>
          <a:bodyPr/>
          <a:lstStyle/>
          <a:p>
            <a:fld id="{818FB9C9-7C23-4F4E-9852-726E7DBF3378}" type="slidenum">
              <a:rPr lang="ko-KR" altLang="en-US" smtClean="0"/>
              <a:t>11</a:t>
            </a:fld>
            <a:endParaRPr lang="ko-KR" altLang="en-US"/>
          </a:p>
        </p:txBody>
      </p:sp>
    </p:spTree>
    <p:extLst>
      <p:ext uri="{BB962C8B-B14F-4D97-AF65-F5344CB8AC3E}">
        <p14:creationId xmlns:p14="http://schemas.microsoft.com/office/powerpoint/2010/main" val="1975694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8D9009-2EED-D194-F275-4C7A88685956}"/>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6923BA17-E155-4145-962C-1FDD03191AA0}"/>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A3E3545D-92DF-532C-E77E-CE48B19C15CD}"/>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7B26209C-CC78-5856-0EBB-ECFA931E7795}"/>
              </a:ext>
            </a:extLst>
          </p:cNvPr>
          <p:cNvSpPr>
            <a:spLocks noGrp="1"/>
          </p:cNvSpPr>
          <p:nvPr>
            <p:ph type="sldNum" sz="quarter" idx="5"/>
          </p:nvPr>
        </p:nvSpPr>
        <p:spPr/>
        <p:txBody>
          <a:bodyPr/>
          <a:lstStyle/>
          <a:p>
            <a:fld id="{818FB9C9-7C23-4F4E-9852-726E7DBF3378}" type="slidenum">
              <a:rPr lang="ko-KR" altLang="en-US" smtClean="0"/>
              <a:t>12</a:t>
            </a:fld>
            <a:endParaRPr lang="ko-KR" altLang="en-US"/>
          </a:p>
        </p:txBody>
      </p:sp>
    </p:spTree>
    <p:extLst>
      <p:ext uri="{BB962C8B-B14F-4D97-AF65-F5344CB8AC3E}">
        <p14:creationId xmlns:p14="http://schemas.microsoft.com/office/powerpoint/2010/main" val="27889879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81A53-DC75-D09E-54DE-4F1C7B552401}"/>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F092DCBA-6EE9-7C46-A941-8E4E41665EEE}"/>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3E08A4F1-3E47-7A7C-3946-9B971D5A7672}"/>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999BC309-C609-1EB4-157F-2B6FEE368AB9}"/>
              </a:ext>
            </a:extLst>
          </p:cNvPr>
          <p:cNvSpPr>
            <a:spLocks noGrp="1"/>
          </p:cNvSpPr>
          <p:nvPr>
            <p:ph type="sldNum" sz="quarter" idx="5"/>
          </p:nvPr>
        </p:nvSpPr>
        <p:spPr/>
        <p:txBody>
          <a:bodyPr/>
          <a:lstStyle/>
          <a:p>
            <a:fld id="{818FB9C9-7C23-4F4E-9852-726E7DBF3378}" type="slidenum">
              <a:rPr lang="ko-KR" altLang="en-US" smtClean="0"/>
              <a:t>13</a:t>
            </a:fld>
            <a:endParaRPr lang="ko-KR" altLang="en-US"/>
          </a:p>
        </p:txBody>
      </p:sp>
    </p:spTree>
    <p:extLst>
      <p:ext uri="{BB962C8B-B14F-4D97-AF65-F5344CB8AC3E}">
        <p14:creationId xmlns:p14="http://schemas.microsoft.com/office/powerpoint/2010/main" val="13825354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0D64E8-32D2-A759-C67C-9FB833367C47}"/>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C2628E26-D3CF-B385-2E42-1B4E59F03A00}"/>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22FF76ED-4BA1-8637-A189-AA6A3BB894AB}"/>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55034EDB-7D47-C6CF-AA7E-FC041D79756D}"/>
              </a:ext>
            </a:extLst>
          </p:cNvPr>
          <p:cNvSpPr>
            <a:spLocks noGrp="1"/>
          </p:cNvSpPr>
          <p:nvPr>
            <p:ph type="sldNum" sz="quarter" idx="5"/>
          </p:nvPr>
        </p:nvSpPr>
        <p:spPr/>
        <p:txBody>
          <a:bodyPr/>
          <a:lstStyle/>
          <a:p>
            <a:fld id="{818FB9C9-7C23-4F4E-9852-726E7DBF3378}" type="slidenum">
              <a:rPr lang="ko-KR" altLang="en-US" smtClean="0"/>
              <a:t>14</a:t>
            </a:fld>
            <a:endParaRPr lang="ko-KR" altLang="en-US"/>
          </a:p>
        </p:txBody>
      </p:sp>
    </p:spTree>
    <p:extLst>
      <p:ext uri="{BB962C8B-B14F-4D97-AF65-F5344CB8AC3E}">
        <p14:creationId xmlns:p14="http://schemas.microsoft.com/office/powerpoint/2010/main" val="14757544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3.xml"/><Relationship Id="rId7" Type="http://schemas.openxmlformats.org/officeDocument/2006/relationships/image" Target="../media/image2.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notesSlide" Target="../notesSlides/notesSlide2.xml"/><Relationship Id="rId11" Type="http://schemas.openxmlformats.org/officeDocument/2006/relationships/image" Target="../media/image6.png"/><Relationship Id="rId5" Type="http://schemas.openxmlformats.org/officeDocument/2006/relationships/slideLayout" Target="../slideLayouts/slideLayout7.xml"/><Relationship Id="rId10" Type="http://schemas.openxmlformats.org/officeDocument/2006/relationships/image" Target="../media/image5.png"/><Relationship Id="rId4" Type="http://schemas.openxmlformats.org/officeDocument/2006/relationships/tags" Target="../tags/tag4.xml"/><Relationship Id="rId9"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7.xml"/><Relationship Id="rId7" Type="http://schemas.openxmlformats.org/officeDocument/2006/relationships/image" Target="../media/image2.png"/><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notesSlide" Target="../notesSlides/notesSlide3.xml"/><Relationship Id="rId11" Type="http://schemas.openxmlformats.org/officeDocument/2006/relationships/image" Target="../media/image10.png"/><Relationship Id="rId5" Type="http://schemas.openxmlformats.org/officeDocument/2006/relationships/slideLayout" Target="../slideLayouts/slideLayout7.xml"/><Relationship Id="rId10" Type="http://schemas.openxmlformats.org/officeDocument/2006/relationships/image" Target="../media/image9.png"/><Relationship Id="rId4" Type="http://schemas.openxmlformats.org/officeDocument/2006/relationships/tags" Target="../tags/tag8.xml"/><Relationship Id="rId9"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4.xml"/><Relationship Id="rId13" Type="http://schemas.openxmlformats.org/officeDocument/2006/relationships/image" Target="../media/image12.png"/><Relationship Id="rId3" Type="http://schemas.openxmlformats.org/officeDocument/2006/relationships/tags" Target="../tags/tag11.xml"/><Relationship Id="rId7" Type="http://schemas.openxmlformats.org/officeDocument/2006/relationships/slideLayout" Target="../slideLayouts/slideLayout7.xml"/><Relationship Id="rId12" Type="http://schemas.openxmlformats.org/officeDocument/2006/relationships/image" Target="../media/image11.png"/><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tags" Target="../tags/tag14.xml"/><Relationship Id="rId11" Type="http://schemas.openxmlformats.org/officeDocument/2006/relationships/image" Target="../media/image6.png"/><Relationship Id="rId5" Type="http://schemas.openxmlformats.org/officeDocument/2006/relationships/tags" Target="../tags/tag13.xml"/><Relationship Id="rId10" Type="http://schemas.openxmlformats.org/officeDocument/2006/relationships/image" Target="../media/image10.png"/><Relationship Id="rId4" Type="http://schemas.openxmlformats.org/officeDocument/2006/relationships/tags" Target="../tags/tag12.xml"/><Relationship Id="rId9" Type="http://schemas.openxmlformats.org/officeDocument/2006/relationships/image" Target="../media/image2.png"/><Relationship Id="rId14" Type="http://schemas.openxmlformats.org/officeDocument/2006/relationships/image" Target="../media/image13.png"/></Relationships>
</file>

<file path=ppt/slides/_rels/slide5.xml.rels><?xml version="1.0" encoding="UTF-8" standalone="yes"?>
<Relationships xmlns="http://schemas.openxmlformats.org/package/2006/relationships"><Relationship Id="rId8" Type="http://schemas.openxmlformats.org/officeDocument/2006/relationships/slideLayout" Target="../slideLayouts/slideLayout7.xml"/><Relationship Id="rId13" Type="http://schemas.openxmlformats.org/officeDocument/2006/relationships/image" Target="../media/image15.png"/><Relationship Id="rId3" Type="http://schemas.openxmlformats.org/officeDocument/2006/relationships/tags" Target="../tags/tag17.xml"/><Relationship Id="rId7" Type="http://schemas.openxmlformats.org/officeDocument/2006/relationships/tags" Target="../tags/tag21.xml"/><Relationship Id="rId12" Type="http://schemas.openxmlformats.org/officeDocument/2006/relationships/image" Target="../media/image13.png"/><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tags" Target="../tags/tag20.xml"/><Relationship Id="rId11" Type="http://schemas.openxmlformats.org/officeDocument/2006/relationships/image" Target="../media/image14.png"/><Relationship Id="rId5" Type="http://schemas.openxmlformats.org/officeDocument/2006/relationships/tags" Target="../tags/tag19.xml"/><Relationship Id="rId10" Type="http://schemas.openxmlformats.org/officeDocument/2006/relationships/image" Target="../media/image2.png"/><Relationship Id="rId4" Type="http://schemas.openxmlformats.org/officeDocument/2006/relationships/tags" Target="../tags/tag18.xml"/><Relationship Id="rId9" Type="http://schemas.openxmlformats.org/officeDocument/2006/relationships/notesSlide" Target="../notesSlides/notesSlide5.xml"/><Relationship Id="rId14" Type="http://schemas.openxmlformats.org/officeDocument/2006/relationships/image" Target="../media/image11.png"/></Relationships>
</file>

<file path=ppt/slides/_rels/slide6.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tags" Target="../tags/tag24.xml"/><Relationship Id="rId7" Type="http://schemas.openxmlformats.org/officeDocument/2006/relationships/image" Target="../media/image16.png"/><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notesSlide" Target="../notesSlides/notesSlide6.xml"/><Relationship Id="rId5" Type="http://schemas.openxmlformats.org/officeDocument/2006/relationships/slideLayout" Target="../slideLayouts/slideLayout7.xml"/><Relationship Id="rId10" Type="http://schemas.openxmlformats.org/officeDocument/2006/relationships/image" Target="../media/image19.png"/><Relationship Id="rId4" Type="http://schemas.openxmlformats.org/officeDocument/2006/relationships/tags" Target="../tags/tag25.xml"/><Relationship Id="rId9"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image" Target="../media/image13.png"/><Relationship Id="rId5" Type="http://schemas.openxmlformats.org/officeDocument/2006/relationships/image" Target="../media/image19.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tags" Target="../tags/tag30.xml"/><Relationship Id="rId7" Type="http://schemas.openxmlformats.org/officeDocument/2006/relationships/notesSlide" Target="../notesSlides/notesSlide8.xml"/><Relationship Id="rId12" Type="http://schemas.openxmlformats.org/officeDocument/2006/relationships/image" Target="../media/image24.png"/><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slideLayout" Target="../slideLayouts/slideLayout7.xml"/><Relationship Id="rId11" Type="http://schemas.openxmlformats.org/officeDocument/2006/relationships/image" Target="../media/image23.png"/><Relationship Id="rId5" Type="http://schemas.openxmlformats.org/officeDocument/2006/relationships/tags" Target="../tags/tag32.xml"/><Relationship Id="rId10" Type="http://schemas.openxmlformats.org/officeDocument/2006/relationships/image" Target="../media/image22.png"/><Relationship Id="rId4" Type="http://schemas.openxmlformats.org/officeDocument/2006/relationships/tags" Target="../tags/tag31.xml"/><Relationship Id="rId9"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tags" Target="../tags/tag33.xml"/><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tags" Target="../tags/tag36.xml"/><Relationship Id="rId7" Type="http://schemas.openxmlformats.org/officeDocument/2006/relationships/image" Target="../media/image26.png"/><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notesSlide" Target="../notesSlides/notesSlide10.xml"/><Relationship Id="rId5" Type="http://schemas.openxmlformats.org/officeDocument/2006/relationships/slideLayout" Target="../slideLayouts/slideLayout7.xml"/><Relationship Id="rId10" Type="http://schemas.openxmlformats.org/officeDocument/2006/relationships/image" Target="../media/image29.png"/><Relationship Id="rId4" Type="http://schemas.openxmlformats.org/officeDocument/2006/relationships/tags" Target="../tags/tag37.xml"/><Relationship Id="rId9" Type="http://schemas.openxmlformats.org/officeDocument/2006/relationships/image" Target="../media/image28.png"/></Relationships>
</file>

<file path=ppt/slides/_rels/slide11.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tags" Target="../tags/tag40.xml"/><Relationship Id="rId7" Type="http://schemas.openxmlformats.org/officeDocument/2006/relationships/image" Target="../media/image30.png"/><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notesSlide" Target="../notesSlides/notesSlide11.xml"/><Relationship Id="rId5" Type="http://schemas.openxmlformats.org/officeDocument/2006/relationships/slideLayout" Target="../slideLayouts/slideLayout7.xml"/><Relationship Id="rId10" Type="http://schemas.openxmlformats.org/officeDocument/2006/relationships/image" Target="../media/image33.png"/><Relationship Id="rId4" Type="http://schemas.openxmlformats.org/officeDocument/2006/relationships/tags" Target="../tags/tag41.xml"/><Relationship Id="rId9" Type="http://schemas.openxmlformats.org/officeDocument/2006/relationships/image" Target="../media/image32.png"/></Relationships>
</file>

<file path=ppt/slides/_rels/slide12.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tags" Target="../tags/tag44.xml"/><Relationship Id="rId7" Type="http://schemas.openxmlformats.org/officeDocument/2006/relationships/image" Target="../media/image32.png"/><Relationship Id="rId2" Type="http://schemas.openxmlformats.org/officeDocument/2006/relationships/tags" Target="../tags/tag43.xml"/><Relationship Id="rId1" Type="http://schemas.openxmlformats.org/officeDocument/2006/relationships/tags" Target="../tags/tag42.xml"/><Relationship Id="rId6" Type="http://schemas.openxmlformats.org/officeDocument/2006/relationships/image" Target="../media/image31.png"/><Relationship Id="rId5" Type="http://schemas.openxmlformats.org/officeDocument/2006/relationships/notesSlide" Target="../notesSlides/notesSlide12.xml"/><Relationship Id="rId4"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tags" Target="../tags/tag49.xml"/><Relationship Id="rId7" Type="http://schemas.openxmlformats.org/officeDocument/2006/relationships/image" Target="../media/image38.png"/><Relationship Id="rId2" Type="http://schemas.openxmlformats.org/officeDocument/2006/relationships/tags" Target="../tags/tag48.xml"/><Relationship Id="rId1" Type="http://schemas.openxmlformats.org/officeDocument/2006/relationships/tags" Target="../tags/tag47.xml"/><Relationship Id="rId6" Type="http://schemas.openxmlformats.org/officeDocument/2006/relationships/image" Target="../media/image37.png"/><Relationship Id="rId5" Type="http://schemas.openxmlformats.org/officeDocument/2006/relationships/notesSlide" Target="../notesSlides/notesSlide14.xml"/><Relationship Id="rId4"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D7572-5000-A1E3-D92D-127F3F5215CE}"/>
            </a:ext>
          </a:extLst>
        </p:cNvPr>
        <p:cNvGrpSpPr/>
        <p:nvPr/>
      </p:nvGrpSpPr>
      <p:grpSpPr>
        <a:xfrm>
          <a:off x="0" y="0"/>
          <a:ext cx="0" cy="0"/>
          <a:chOff x="0" y="0"/>
          <a:chExt cx="0" cy="0"/>
        </a:xfrm>
      </p:grpSpPr>
      <p:pic>
        <p:nvPicPr>
          <p:cNvPr id="13" name="그림 12">
            <a:extLst>
              <a:ext uri="{FF2B5EF4-FFF2-40B4-BE49-F238E27FC236}">
                <a16:creationId xmlns:a16="http://schemas.microsoft.com/office/drawing/2014/main" id="{D0EB92F1-8F1A-BFB2-268C-1DCD8F2B4A95}"/>
              </a:ext>
            </a:extLst>
          </p:cNvPr>
          <p:cNvPicPr>
            <a:picLocks noChangeAspect="1"/>
          </p:cNvPicPr>
          <p:nvPr/>
        </p:nvPicPr>
        <p:blipFill>
          <a:blip r:embed="rId3"/>
          <a:stretch>
            <a:fillRect/>
          </a:stretch>
        </p:blipFill>
        <p:spPr>
          <a:xfrm flipH="1">
            <a:off x="-36232" y="20319"/>
            <a:ext cx="24420232" cy="13695681"/>
          </a:xfrm>
          <a:prstGeom prst="rect">
            <a:avLst/>
          </a:prstGeom>
        </p:spPr>
      </p:pic>
      <p:sp>
        <p:nvSpPr>
          <p:cNvPr id="14" name="직사각형 13">
            <a:extLst>
              <a:ext uri="{FF2B5EF4-FFF2-40B4-BE49-F238E27FC236}">
                <a16:creationId xmlns:a16="http://schemas.microsoft.com/office/drawing/2014/main" id="{CD4E8A21-984B-70E9-1569-EAE4431A028A}"/>
              </a:ext>
            </a:extLst>
          </p:cNvPr>
          <p:cNvSpPr/>
          <p:nvPr/>
        </p:nvSpPr>
        <p:spPr>
          <a:xfrm>
            <a:off x="-25400" y="2286001"/>
            <a:ext cx="16027400" cy="9570720"/>
          </a:xfrm>
          <a:prstGeom prst="rect">
            <a:avLst/>
          </a:prstGeom>
          <a:solidFill>
            <a:srgbClr val="F2F2F2">
              <a:alpha val="8784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TextBox 4">
            <a:extLst>
              <a:ext uri="{FF2B5EF4-FFF2-40B4-BE49-F238E27FC236}">
                <a16:creationId xmlns:a16="http://schemas.microsoft.com/office/drawing/2014/main" id="{94B62F32-B8B0-0BA4-8453-2602B51DA3B9}"/>
              </a:ext>
            </a:extLst>
          </p:cNvPr>
          <p:cNvSpPr txBox="1"/>
          <p:nvPr/>
        </p:nvSpPr>
        <p:spPr>
          <a:xfrm>
            <a:off x="1371600" y="4279900"/>
            <a:ext cx="15405100" cy="4406900"/>
          </a:xfrm>
          <a:prstGeom prst="rect">
            <a:avLst/>
          </a:prstGeom>
        </p:spPr>
        <p:txBody>
          <a:bodyPr lIns="0" tIns="169333" rIns="0" bIns="0" rtlCol="0" anchor="t"/>
          <a:lstStyle/>
          <a:p>
            <a:pPr lvl="0" algn="l">
              <a:lnSpc>
                <a:spcPct val="99600"/>
              </a:lnSpc>
            </a:pPr>
            <a:r>
              <a:rPr lang="en" sz="11100" b="1" i="0" u="none" strike="noStrike" dirty="0">
                <a:solidFill>
                  <a:srgbClr val="002060"/>
                </a:solidFill>
                <a:latin typeface="Arial" panose="020B0604020202020204" pitchFamily="34" charset="0"/>
                <a:cs typeface="Arial" panose="020B0604020202020204" pitchFamily="34" charset="0"/>
              </a:rPr>
              <a:t>Inverse-Dynamics</a:t>
            </a:r>
          </a:p>
          <a:p>
            <a:pPr lvl="0" algn="l">
              <a:lnSpc>
                <a:spcPct val="99600"/>
              </a:lnSpc>
            </a:pPr>
            <a:r>
              <a:rPr lang="en" sz="11100" b="0" i="0" u="none" strike="noStrike" dirty="0">
                <a:solidFill>
                  <a:srgbClr val="002060"/>
                </a:solidFill>
                <a:latin typeface="Arial" panose="020B0604020202020204" pitchFamily="34" charset="0"/>
                <a:cs typeface="Arial" panose="020B0604020202020204" pitchFamily="34" charset="0"/>
              </a:rPr>
              <a:t>Tutorial</a:t>
            </a:r>
            <a:endParaRPr lang="en" sz="4000" i="0" u="none" strike="noStrike" dirty="0">
              <a:solidFill>
                <a:srgbClr val="002060"/>
              </a:solidFill>
              <a:latin typeface="Arial" panose="020B0604020202020204" pitchFamily="34" charset="0"/>
              <a:cs typeface="Arial" panose="020B0604020202020204" pitchFamily="34" charset="0"/>
            </a:endParaRPr>
          </a:p>
        </p:txBody>
      </p:sp>
      <p:sp>
        <p:nvSpPr>
          <p:cNvPr id="5" name="TextBox 5">
            <a:extLst>
              <a:ext uri="{FF2B5EF4-FFF2-40B4-BE49-F238E27FC236}">
                <a16:creationId xmlns:a16="http://schemas.microsoft.com/office/drawing/2014/main" id="{A0AF0E22-0539-F58A-5B32-C2FAFB096EFD}"/>
              </a:ext>
            </a:extLst>
          </p:cNvPr>
          <p:cNvSpPr txBox="1"/>
          <p:nvPr/>
        </p:nvSpPr>
        <p:spPr>
          <a:xfrm>
            <a:off x="1447800" y="3111500"/>
            <a:ext cx="13754100" cy="952500"/>
          </a:xfrm>
          <a:prstGeom prst="rect">
            <a:avLst/>
          </a:prstGeom>
        </p:spPr>
        <p:txBody>
          <a:bodyPr lIns="0" tIns="67733" rIns="0" bIns="0" rtlCol="0" anchor="t"/>
          <a:lstStyle/>
          <a:p>
            <a:pPr lvl="0" algn="l">
              <a:lnSpc>
                <a:spcPct val="99600"/>
              </a:lnSpc>
            </a:pPr>
            <a:r>
              <a:rPr lang="en-US" sz="5333" spc="426" dirty="0">
                <a:solidFill>
                  <a:schemeClr val="tx1">
                    <a:lumMod val="75000"/>
                    <a:lumOff val="25000"/>
                  </a:schemeClr>
                </a:solidFill>
                <a:latin typeface="Arial" panose="020B0604020202020204" pitchFamily="34" charset="0"/>
                <a:cs typeface="Arial" panose="020B0604020202020204" pitchFamily="34" charset="0"/>
              </a:rPr>
              <a:t>Week 3</a:t>
            </a:r>
            <a:endParaRPr lang="en" sz="5333" b="0" i="0" u="none" strike="noStrike" spc="426"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6" name="TextBox 6">
            <a:extLst>
              <a:ext uri="{FF2B5EF4-FFF2-40B4-BE49-F238E27FC236}">
                <a16:creationId xmlns:a16="http://schemas.microsoft.com/office/drawing/2014/main" id="{56BE15A2-0E9C-7000-F017-27621DEEAFD3}"/>
              </a:ext>
            </a:extLst>
          </p:cNvPr>
          <p:cNvSpPr txBox="1"/>
          <p:nvPr/>
        </p:nvSpPr>
        <p:spPr>
          <a:xfrm>
            <a:off x="1447800" y="8686800"/>
            <a:ext cx="13677900" cy="596900"/>
          </a:xfrm>
          <a:prstGeom prst="rect">
            <a:avLst/>
          </a:prstGeom>
        </p:spPr>
        <p:txBody>
          <a:bodyPr lIns="0" tIns="42333" rIns="0" bIns="0" rtlCol="0" anchor="t"/>
          <a:lstStyle/>
          <a:p>
            <a:pPr lvl="0" algn="l">
              <a:lnSpc>
                <a:spcPct val="99600"/>
              </a:lnSpc>
            </a:pPr>
            <a:r>
              <a:rPr lang="en-US" altLang="ko-KR" sz="3333" b="1" dirty="0" err="1">
                <a:solidFill>
                  <a:schemeClr val="tx1">
                    <a:lumMod val="75000"/>
                    <a:lumOff val="25000"/>
                  </a:schemeClr>
                </a:solidFill>
                <a:latin typeface="Arial" panose="020B0604020202020204" pitchFamily="34" charset="0"/>
                <a:cs typeface="Arial" panose="020B0604020202020204" pitchFamily="34" charset="0"/>
              </a:rPr>
              <a:t>Kangmin</a:t>
            </a:r>
            <a:r>
              <a:rPr lang="en-US" altLang="ko-KR" sz="3333" b="1" dirty="0">
                <a:solidFill>
                  <a:schemeClr val="tx1">
                    <a:lumMod val="75000"/>
                    <a:lumOff val="25000"/>
                  </a:schemeClr>
                </a:solidFill>
                <a:latin typeface="Arial" panose="020B0604020202020204" pitchFamily="34" charset="0"/>
                <a:cs typeface="Arial" panose="020B0604020202020204" pitchFamily="34" charset="0"/>
              </a:rPr>
              <a:t> Lee </a:t>
            </a:r>
          </a:p>
        </p:txBody>
      </p:sp>
      <p:sp>
        <p:nvSpPr>
          <p:cNvPr id="9" name="TextBox 9">
            <a:extLst>
              <a:ext uri="{FF2B5EF4-FFF2-40B4-BE49-F238E27FC236}">
                <a16:creationId xmlns:a16="http://schemas.microsoft.com/office/drawing/2014/main" id="{4BEE5A06-1706-5DB7-1CBE-EBED15180910}"/>
              </a:ext>
            </a:extLst>
          </p:cNvPr>
          <p:cNvSpPr txBox="1"/>
          <p:nvPr/>
        </p:nvSpPr>
        <p:spPr>
          <a:xfrm>
            <a:off x="1371600" y="9753600"/>
            <a:ext cx="13106400" cy="1607821"/>
          </a:xfrm>
          <a:prstGeom prst="rect">
            <a:avLst/>
          </a:prstGeom>
        </p:spPr>
        <p:txBody>
          <a:bodyPr rtlCol="0" anchor="t"/>
          <a:lstStyle/>
          <a:p>
            <a:pPr lvl="0">
              <a:lnSpc>
                <a:spcPct val="124499"/>
              </a:lnSpc>
            </a:pPr>
            <a:r>
              <a:rPr lang="en-US" altLang="ko-KR" sz="2400" dirty="0">
                <a:solidFill>
                  <a:schemeClr val="tx1">
                    <a:lumMod val="65000"/>
                    <a:lumOff val="35000"/>
                  </a:schemeClr>
                </a:solidFill>
              </a:rPr>
              <a:t>This tutorial covers inverse-dynamics from Operational Space Control to QP, HQP, and TSID focusing on the math, intuition, and practical design patterns behind them. Through code and simulation, you’ll learn to formulate tasks and constraints and compute constraint-satisfying torques suitable for robots.</a:t>
            </a:r>
            <a:endParaRPr lang="en" sz="2266" b="0" i="0" u="none" strike="noStrike" dirty="0">
              <a:solidFill>
                <a:schemeClr val="tx1">
                  <a:lumMod val="65000"/>
                  <a:lumOff val="35000"/>
                </a:schemeClr>
              </a:solidFill>
              <a:latin typeface="Arial" panose="020B0604020202020204" pitchFamily="34" charset="0"/>
            </a:endParaRPr>
          </a:p>
        </p:txBody>
      </p:sp>
    </p:spTree>
    <p:extLst>
      <p:ext uri="{BB962C8B-B14F-4D97-AF65-F5344CB8AC3E}">
        <p14:creationId xmlns:p14="http://schemas.microsoft.com/office/powerpoint/2010/main" val="39472338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CB664-7E92-CBCC-E639-6719F9367CCE}"/>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5DEBE700-954F-DB63-DCAD-A7FD669AD415}"/>
              </a:ext>
            </a:extLst>
          </p:cNvPr>
          <p:cNvSpPr/>
          <p:nvPr/>
        </p:nvSpPr>
        <p:spPr>
          <a:xfrm>
            <a:off x="0" y="0"/>
            <a:ext cx="821042" cy="13716000"/>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각 삼각형 58">
            <a:extLst>
              <a:ext uri="{FF2B5EF4-FFF2-40B4-BE49-F238E27FC236}">
                <a16:creationId xmlns:a16="http://schemas.microsoft.com/office/drawing/2014/main" id="{C98D27D4-C66C-AB5C-245F-9DD65D2EE05D}"/>
              </a:ext>
            </a:extLst>
          </p:cNvPr>
          <p:cNvSpPr/>
          <p:nvPr/>
        </p:nvSpPr>
        <p:spPr>
          <a:xfrm rot="10800000" flipH="1">
            <a:off x="1" y="0"/>
            <a:ext cx="1905000" cy="1828800"/>
          </a:xfrm>
          <a:prstGeom prst="rtTriangle">
            <a:avLst/>
          </a:prstGeom>
          <a:solidFill>
            <a:srgbClr val="1E1B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4">
            <a:extLst>
              <a:ext uri="{FF2B5EF4-FFF2-40B4-BE49-F238E27FC236}">
                <a16:creationId xmlns:a16="http://schemas.microsoft.com/office/drawing/2014/main" id="{05D2DAF6-1F31-594D-91C5-47B2E593F6FB}"/>
              </a:ext>
            </a:extLst>
          </p:cNvPr>
          <p:cNvSpPr txBox="1"/>
          <p:nvPr/>
        </p:nvSpPr>
        <p:spPr>
          <a:xfrm>
            <a:off x="1600200" y="609600"/>
            <a:ext cx="13182600" cy="990600"/>
          </a:xfrm>
          <a:prstGeom prst="rect">
            <a:avLst/>
          </a:prstGeom>
        </p:spPr>
        <p:txBody>
          <a:bodyPr lIns="0" tIns="101600" rIns="0" bIns="0" rtlCol="0" anchor="t"/>
          <a:lstStyle/>
          <a:p>
            <a:pPr lvl="0">
              <a:lnSpc>
                <a:spcPct val="99600"/>
              </a:lnSpc>
            </a:pPr>
            <a:r>
              <a:rPr lang="en" sz="6000" b="1" i="0" u="none" strike="noStrike" dirty="0">
                <a:solidFill>
                  <a:srgbClr val="000000"/>
                </a:solidFill>
                <a:latin typeface="Arial" panose="020B0604020202020204" pitchFamily="34" charset="0"/>
                <a:cs typeface="Arial" panose="020B0604020202020204" pitchFamily="34" charset="0"/>
              </a:rPr>
              <a:t>TSID</a:t>
            </a:r>
          </a:p>
        </p:txBody>
      </p:sp>
      <p:sp>
        <p:nvSpPr>
          <p:cNvPr id="6" name="TextBox 5">
            <a:extLst>
              <a:ext uri="{FF2B5EF4-FFF2-40B4-BE49-F238E27FC236}">
                <a16:creationId xmlns:a16="http://schemas.microsoft.com/office/drawing/2014/main" id="{D0A1D4CC-32FF-E061-0F12-9B15B47670F6}"/>
              </a:ext>
            </a:extLst>
          </p:cNvPr>
          <p:cNvSpPr txBox="1"/>
          <p:nvPr/>
        </p:nvSpPr>
        <p:spPr>
          <a:xfrm>
            <a:off x="2086897" y="2244213"/>
            <a:ext cx="21154103" cy="6645152"/>
          </a:xfrm>
          <a:prstGeom prst="rect">
            <a:avLst/>
          </a:prstGeom>
          <a:noFill/>
        </p:spPr>
        <p:txBody>
          <a:bodyPr wrap="square">
            <a:spAutoFit/>
          </a:bodyPr>
          <a:lstStyle/>
          <a:p>
            <a:pPr marL="457200" indent="-457200">
              <a:lnSpc>
                <a:spcPct val="150000"/>
              </a:lnSpc>
              <a:buFont typeface="Arial" panose="020B0604020202020204" pitchFamily="34" charset="0"/>
              <a:buChar char="•"/>
            </a:pPr>
            <a:r>
              <a:rPr lang="ko-KR" altLang="en-US" sz="3200" b="1" dirty="0">
                <a:latin typeface="+mn-ea"/>
              </a:rPr>
              <a:t>마찬가지로 오차방정식 시스템을 만족한다고 가정하고 시작</a:t>
            </a:r>
            <a:endParaRPr lang="en-US" altLang="ko-KR" sz="3200" b="1" dirty="0">
              <a:latin typeface="+mn-ea"/>
            </a:endParaRPr>
          </a:p>
          <a:p>
            <a:pPr marL="457200" indent="-457200">
              <a:lnSpc>
                <a:spcPct val="150000"/>
              </a:lnSpc>
              <a:buFont typeface="Arial" panose="020B0604020202020204" pitchFamily="34" charset="0"/>
              <a:buChar char="•"/>
            </a:pPr>
            <a:r>
              <a:rPr lang="ko-KR" altLang="en-US" sz="3200" b="1" dirty="0">
                <a:latin typeface="+mn-ea"/>
              </a:rPr>
              <a:t>반드시 </a:t>
            </a:r>
            <a:r>
              <a:rPr lang="en-US" altLang="ko-KR" sz="3200" b="1" dirty="0">
                <a:latin typeface="+mn-ea"/>
              </a:rPr>
              <a:t>1</a:t>
            </a:r>
            <a:r>
              <a:rPr lang="ko-KR" altLang="en-US" sz="3200" b="1" dirty="0">
                <a:latin typeface="+mn-ea"/>
              </a:rPr>
              <a:t>차일 필요 없음</a:t>
            </a:r>
            <a:r>
              <a:rPr lang="en-US" altLang="ko-KR" sz="3200" b="1" dirty="0">
                <a:latin typeface="+mn-ea"/>
              </a:rPr>
              <a:t>, </a:t>
            </a:r>
            <a:r>
              <a:rPr lang="ko-KR" altLang="en-US" sz="3200" b="1" dirty="0">
                <a:latin typeface="+mn-ea"/>
              </a:rPr>
              <a:t>하나의 대표적인 예시</a:t>
            </a:r>
            <a:endParaRPr lang="en-US" altLang="ko-KR" sz="3200" b="1" dirty="0">
              <a:latin typeface="+mn-ea"/>
            </a:endParaRPr>
          </a:p>
          <a:p>
            <a:pPr marL="457200" indent="-457200">
              <a:lnSpc>
                <a:spcPct val="150000"/>
              </a:lnSpc>
              <a:buFont typeface="Arial" panose="020B0604020202020204" pitchFamily="34" charset="0"/>
              <a:buChar char="•"/>
            </a:pPr>
            <a:endParaRPr lang="en-US" altLang="ko-KR" sz="3200" b="1" dirty="0">
              <a:latin typeface="+mn-ea"/>
            </a:endParaRPr>
          </a:p>
          <a:p>
            <a:pPr marL="457200" indent="-457200">
              <a:lnSpc>
                <a:spcPct val="150000"/>
              </a:lnSpc>
              <a:buFont typeface="Arial" panose="020B0604020202020204" pitchFamily="34" charset="0"/>
              <a:buChar char="•"/>
            </a:pPr>
            <a:endParaRPr lang="en-US" altLang="ko-KR" sz="3200" b="1" dirty="0">
              <a:latin typeface="+mn-ea"/>
            </a:endParaRPr>
          </a:p>
          <a:p>
            <a:pPr>
              <a:lnSpc>
                <a:spcPct val="150000"/>
              </a:lnSpc>
            </a:pPr>
            <a:r>
              <a:rPr lang="en-US" altLang="ko-KR" sz="3200" b="1" dirty="0">
                <a:latin typeface="+mn-ea"/>
              </a:rPr>
              <a:t>Task Function  </a:t>
            </a:r>
          </a:p>
          <a:p>
            <a:pPr>
              <a:lnSpc>
                <a:spcPct val="150000"/>
              </a:lnSpc>
            </a:pPr>
            <a:endParaRPr lang="en-US" altLang="ko-KR" sz="3200" b="1" dirty="0">
              <a:latin typeface="+mn-ea"/>
            </a:endParaRPr>
          </a:p>
          <a:p>
            <a:pPr>
              <a:lnSpc>
                <a:spcPct val="150000"/>
              </a:lnSpc>
            </a:pPr>
            <a:r>
              <a:rPr lang="ko-KR" altLang="en-US" sz="3200" b="1" dirty="0">
                <a:latin typeface="+mn-ea"/>
              </a:rPr>
              <a:t>시스템 가정</a:t>
            </a:r>
            <a:endParaRPr lang="en-US" altLang="ko-KR" sz="3200" b="1" dirty="0">
              <a:latin typeface="+mn-ea"/>
            </a:endParaRPr>
          </a:p>
          <a:p>
            <a:pPr>
              <a:lnSpc>
                <a:spcPct val="150000"/>
              </a:lnSpc>
            </a:pPr>
            <a:endParaRPr lang="en-US" altLang="ko-KR" sz="3200" b="1" dirty="0">
              <a:latin typeface="+mn-ea"/>
            </a:endParaRPr>
          </a:p>
          <a:p>
            <a:pPr>
              <a:lnSpc>
                <a:spcPct val="150000"/>
              </a:lnSpc>
            </a:pPr>
            <a:r>
              <a:rPr lang="ko-KR" altLang="en-US" sz="3200" b="1" dirty="0">
                <a:latin typeface="+mn-ea"/>
              </a:rPr>
              <a:t>전개</a:t>
            </a:r>
            <a:endParaRPr lang="en-US" altLang="ko-KR" sz="3200" b="1" dirty="0">
              <a:latin typeface="+mn-ea"/>
            </a:endParaRPr>
          </a:p>
        </p:txBody>
      </p:sp>
      <p:pic>
        <p:nvPicPr>
          <p:cNvPr id="2" name="그림 1">
            <a:extLst>
              <a:ext uri="{FF2B5EF4-FFF2-40B4-BE49-F238E27FC236}">
                <a16:creationId xmlns:a16="http://schemas.microsoft.com/office/drawing/2014/main" id="{02D08190-164C-E35A-11CF-ECDE496C6072}"/>
              </a:ext>
            </a:extLst>
          </p:cNvPr>
          <p:cNvPicPr>
            <a:picLocks noChangeAspect="1"/>
          </p:cNvPicPr>
          <p:nvPr/>
        </p:nvPicPr>
        <p:blipFill>
          <a:blip r:embed="rId7"/>
          <a:stretch>
            <a:fillRect/>
          </a:stretch>
        </p:blipFill>
        <p:spPr>
          <a:xfrm>
            <a:off x="14990091" y="381000"/>
            <a:ext cx="9012909" cy="3233932"/>
          </a:xfrm>
          <a:prstGeom prst="rect">
            <a:avLst/>
          </a:prstGeom>
          <a:ln w="57150">
            <a:solidFill>
              <a:srgbClr val="FF0000"/>
            </a:solidFill>
          </a:ln>
        </p:spPr>
      </p:pic>
      <p:pic>
        <p:nvPicPr>
          <p:cNvPr id="9" name="그림 8" descr="\documentclass{article}&#10;\usepackage{amsmath}&#10;\pagestyle{empty}&#10;\begin{document}&#10;&#10;&#10;$&#10;e(v_q,t) \;=\; y(v_q) - y^*(t)&#10;$&#10;&#10;\end{document}" title="IguanaTex Bitmap Display">
            <a:extLst>
              <a:ext uri="{FF2B5EF4-FFF2-40B4-BE49-F238E27FC236}">
                <a16:creationId xmlns:a16="http://schemas.microsoft.com/office/drawing/2014/main" id="{9593588D-A045-50EE-F75F-0F78B4FD5F3B}"/>
              </a:ext>
            </a:extLst>
          </p:cNvPr>
          <p:cNvPicPr>
            <a:picLocks noChangeAspect="1"/>
          </p:cNvPicPr>
          <p:nvPr>
            <p:custDataLst>
              <p:tags r:id="rId1"/>
            </p:custDataLst>
          </p:nvPr>
        </p:nvPicPr>
        <p:blipFill>
          <a:blip r:embed="rId8" cstate="print">
            <a:extLst>
              <a:ext uri="{28A0092B-C50C-407E-A947-70E740481C1C}">
                <a14:useLocalDpi xmlns:a14="http://schemas.microsoft.com/office/drawing/2010/main" val="0"/>
              </a:ext>
            </a:extLst>
          </a:blip>
          <a:stretch>
            <a:fillRect/>
          </a:stretch>
        </p:blipFill>
        <p:spPr>
          <a:xfrm>
            <a:off x="6567600" y="5336432"/>
            <a:ext cx="5472000" cy="553600"/>
          </a:xfrm>
          <a:prstGeom prst="rect">
            <a:avLst/>
          </a:prstGeom>
        </p:spPr>
      </p:pic>
      <p:pic>
        <p:nvPicPr>
          <p:cNvPr id="11" name="그림 10" descr="\documentclass{article}&#10;\usepackage{amsmath}&#10;\pagestyle{empty}&#10;\begin{document}&#10;&#10;&#10;$&#10;\dot e \;=\; -K\,e&#10;$&#10;&#10;\end{document}" title="IguanaTex Bitmap Display">
            <a:extLst>
              <a:ext uri="{FF2B5EF4-FFF2-40B4-BE49-F238E27FC236}">
                <a16:creationId xmlns:a16="http://schemas.microsoft.com/office/drawing/2014/main" id="{408D0970-5D65-ABF8-4031-2E7B2887D6AD}"/>
              </a:ext>
            </a:extLst>
          </p:cNvPr>
          <p:cNvPicPr>
            <a:picLocks noChangeAspect="1"/>
          </p:cNvPicPr>
          <p:nvPr>
            <p:custDataLst>
              <p:tags r:id="rId2"/>
            </p:custDataLst>
          </p:nvPr>
        </p:nvPicPr>
        <p:blipFill>
          <a:blip r:embed="rId9" cstate="print">
            <a:extLst>
              <a:ext uri="{28A0092B-C50C-407E-A947-70E740481C1C}">
                <a14:useLocalDpi xmlns:a14="http://schemas.microsoft.com/office/drawing/2010/main" val="0"/>
              </a:ext>
            </a:extLst>
          </a:blip>
          <a:stretch>
            <a:fillRect/>
          </a:stretch>
        </p:blipFill>
        <p:spPr>
          <a:xfrm>
            <a:off x="6594639" y="6826069"/>
            <a:ext cx="2804999" cy="421116"/>
          </a:xfrm>
          <a:prstGeom prst="rect">
            <a:avLst/>
          </a:prstGeom>
        </p:spPr>
      </p:pic>
      <p:pic>
        <p:nvPicPr>
          <p:cNvPr id="14" name="그림 13" descr="\documentclass{article}&#10;\usepackage{amsmath}&#10;\pagestyle{empty}&#10;\begin{document}&#10;&#10;&#10;$&#10;\underbrace{\frac{\partial y}{\partial v_q}}_{\text{Jacobian}}\;\dot v_q \;-\; \dot y^* \;=\; -K\,e&#10;$&#10;&#10;\end{document}" title="IguanaTex Bitmap Display">
            <a:extLst>
              <a:ext uri="{FF2B5EF4-FFF2-40B4-BE49-F238E27FC236}">
                <a16:creationId xmlns:a16="http://schemas.microsoft.com/office/drawing/2014/main" id="{2B115878-E4D1-AF49-B305-71F4D813EE31}"/>
              </a:ext>
            </a:extLst>
          </p:cNvPr>
          <p:cNvPicPr>
            <a:picLocks noChangeAspect="1"/>
          </p:cNvPicPr>
          <p:nvPr>
            <p:custDataLst>
              <p:tags r:id="rId3"/>
            </p:custDataLst>
          </p:nvPr>
        </p:nvPicPr>
        <p:blipFill>
          <a:blip r:embed="rId10" cstate="print">
            <a:extLst>
              <a:ext uri="{28A0092B-C50C-407E-A947-70E740481C1C}">
                <a14:useLocalDpi xmlns:a14="http://schemas.microsoft.com/office/drawing/2010/main" val="0"/>
              </a:ext>
            </a:extLst>
          </a:blip>
          <a:stretch>
            <a:fillRect/>
          </a:stretch>
        </p:blipFill>
        <p:spPr>
          <a:xfrm>
            <a:off x="6000338" y="8265622"/>
            <a:ext cx="6028800" cy="1993600"/>
          </a:xfrm>
          <a:prstGeom prst="rect">
            <a:avLst/>
          </a:prstGeom>
        </p:spPr>
      </p:pic>
      <p:pic>
        <p:nvPicPr>
          <p:cNvPr id="20" name="그림 19" descr="\documentclass{article}&#10;\usepackage{amsmath}&#10;\pagestyle{empty}&#10;\begin{document}&#10;&#10;&#10;$&#10;\underbrace{J}_{A_v}\,\dot v_q&#10;\;=\;&#10;\underbrace{\dot y^* - K\,e}_{a}&#10;$&#10;&#10;\end{document}" title="IguanaTex Bitmap Display">
            <a:extLst>
              <a:ext uri="{FF2B5EF4-FFF2-40B4-BE49-F238E27FC236}">
                <a16:creationId xmlns:a16="http://schemas.microsoft.com/office/drawing/2014/main" id="{573DA338-3FA2-9861-21E5-7585F6AFB407}"/>
              </a:ext>
            </a:extLst>
          </p:cNvPr>
          <p:cNvPicPr>
            <a:picLocks noChangeAspect="1"/>
          </p:cNvPicPr>
          <p:nvPr>
            <p:custDataLst>
              <p:tags r:id="rId4"/>
            </p:custDataLst>
          </p:nvPr>
        </p:nvPicPr>
        <p:blipFill>
          <a:blip r:embed="rId11" cstate="print">
            <a:extLst>
              <a:ext uri="{28A0092B-C50C-407E-A947-70E740481C1C}">
                <a14:useLocalDpi xmlns:a14="http://schemas.microsoft.com/office/drawing/2010/main" val="0"/>
              </a:ext>
            </a:extLst>
          </a:blip>
          <a:stretch>
            <a:fillRect/>
          </a:stretch>
        </p:blipFill>
        <p:spPr>
          <a:xfrm>
            <a:off x="6567600" y="11471787"/>
            <a:ext cx="4656000" cy="1200000"/>
          </a:xfrm>
          <a:prstGeom prst="rect">
            <a:avLst/>
          </a:prstGeom>
        </p:spPr>
      </p:pic>
    </p:spTree>
    <p:extLst>
      <p:ext uri="{BB962C8B-B14F-4D97-AF65-F5344CB8AC3E}">
        <p14:creationId xmlns:p14="http://schemas.microsoft.com/office/powerpoint/2010/main" val="10672556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91C3C3-8926-A327-D4BD-01ECF803EE45}"/>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5B64198E-A5DC-7BB5-C85F-F9A44FEDE105}"/>
              </a:ext>
            </a:extLst>
          </p:cNvPr>
          <p:cNvSpPr/>
          <p:nvPr/>
        </p:nvSpPr>
        <p:spPr>
          <a:xfrm>
            <a:off x="0" y="0"/>
            <a:ext cx="821042" cy="13716000"/>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각 삼각형 58">
            <a:extLst>
              <a:ext uri="{FF2B5EF4-FFF2-40B4-BE49-F238E27FC236}">
                <a16:creationId xmlns:a16="http://schemas.microsoft.com/office/drawing/2014/main" id="{FBB4DF72-010C-D88B-7A30-03CC5BC36892}"/>
              </a:ext>
            </a:extLst>
          </p:cNvPr>
          <p:cNvSpPr/>
          <p:nvPr/>
        </p:nvSpPr>
        <p:spPr>
          <a:xfrm rot="10800000" flipH="1">
            <a:off x="1" y="0"/>
            <a:ext cx="1905000" cy="1828800"/>
          </a:xfrm>
          <a:prstGeom prst="rtTriangle">
            <a:avLst/>
          </a:prstGeom>
          <a:solidFill>
            <a:srgbClr val="1E1B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4">
            <a:extLst>
              <a:ext uri="{FF2B5EF4-FFF2-40B4-BE49-F238E27FC236}">
                <a16:creationId xmlns:a16="http://schemas.microsoft.com/office/drawing/2014/main" id="{D80543DC-B164-AD32-BB24-8A20EE87D3AB}"/>
              </a:ext>
            </a:extLst>
          </p:cNvPr>
          <p:cNvSpPr txBox="1"/>
          <p:nvPr/>
        </p:nvSpPr>
        <p:spPr>
          <a:xfrm>
            <a:off x="1600200" y="609600"/>
            <a:ext cx="13182600" cy="990600"/>
          </a:xfrm>
          <a:prstGeom prst="rect">
            <a:avLst/>
          </a:prstGeom>
        </p:spPr>
        <p:txBody>
          <a:bodyPr lIns="0" tIns="101600" rIns="0" bIns="0" rtlCol="0" anchor="t"/>
          <a:lstStyle/>
          <a:p>
            <a:pPr lvl="0">
              <a:lnSpc>
                <a:spcPct val="99600"/>
              </a:lnSpc>
            </a:pPr>
            <a:r>
              <a:rPr lang="en" sz="6000" b="1" i="0" u="none" strike="noStrike" dirty="0">
                <a:solidFill>
                  <a:srgbClr val="000000"/>
                </a:solidFill>
                <a:latin typeface="Arial" panose="020B0604020202020204" pitchFamily="34" charset="0"/>
                <a:cs typeface="Arial" panose="020B0604020202020204" pitchFamily="34" charset="0"/>
              </a:rPr>
              <a:t>TSID</a:t>
            </a:r>
          </a:p>
        </p:txBody>
      </p:sp>
      <p:sp>
        <p:nvSpPr>
          <p:cNvPr id="6" name="TextBox 5">
            <a:extLst>
              <a:ext uri="{FF2B5EF4-FFF2-40B4-BE49-F238E27FC236}">
                <a16:creationId xmlns:a16="http://schemas.microsoft.com/office/drawing/2014/main" id="{F6A3558F-687E-3901-5385-41FE53305813}"/>
              </a:ext>
            </a:extLst>
          </p:cNvPr>
          <p:cNvSpPr txBox="1"/>
          <p:nvPr/>
        </p:nvSpPr>
        <p:spPr>
          <a:xfrm>
            <a:off x="2086897" y="2244213"/>
            <a:ext cx="21154103" cy="6645152"/>
          </a:xfrm>
          <a:prstGeom prst="rect">
            <a:avLst/>
          </a:prstGeom>
          <a:noFill/>
        </p:spPr>
        <p:txBody>
          <a:bodyPr wrap="square">
            <a:spAutoFit/>
          </a:bodyPr>
          <a:lstStyle/>
          <a:p>
            <a:pPr marL="457200" indent="-457200">
              <a:lnSpc>
                <a:spcPct val="150000"/>
              </a:lnSpc>
              <a:buFont typeface="Arial" panose="020B0604020202020204" pitchFamily="34" charset="0"/>
              <a:buChar char="•"/>
            </a:pPr>
            <a:r>
              <a:rPr lang="ko-KR" altLang="en-US" sz="3200" b="1" dirty="0">
                <a:latin typeface="+mn-ea"/>
              </a:rPr>
              <a:t>마찬가지로 오차방정식 시스템을 만족한다고 가정하고 시작</a:t>
            </a:r>
            <a:endParaRPr lang="en-US" altLang="ko-KR" sz="3200" b="1" dirty="0">
              <a:latin typeface="+mn-ea"/>
            </a:endParaRPr>
          </a:p>
          <a:p>
            <a:pPr marL="457200" indent="-457200">
              <a:lnSpc>
                <a:spcPct val="150000"/>
              </a:lnSpc>
              <a:buFont typeface="Arial" panose="020B0604020202020204" pitchFamily="34" charset="0"/>
              <a:buChar char="•"/>
            </a:pPr>
            <a:r>
              <a:rPr lang="ko-KR" altLang="en-US" sz="3200" b="1" dirty="0">
                <a:latin typeface="+mn-ea"/>
              </a:rPr>
              <a:t>반드시 </a:t>
            </a:r>
            <a:r>
              <a:rPr lang="en-US" altLang="ko-KR" sz="3200" b="1" dirty="0">
                <a:latin typeface="+mn-ea"/>
              </a:rPr>
              <a:t>2</a:t>
            </a:r>
            <a:r>
              <a:rPr lang="ko-KR" altLang="en-US" sz="3200" b="1" dirty="0">
                <a:latin typeface="+mn-ea"/>
              </a:rPr>
              <a:t>차일 필요 없음</a:t>
            </a:r>
            <a:r>
              <a:rPr lang="en-US" altLang="ko-KR" sz="3200" b="1" dirty="0">
                <a:latin typeface="+mn-ea"/>
              </a:rPr>
              <a:t>, </a:t>
            </a:r>
            <a:r>
              <a:rPr lang="ko-KR" altLang="en-US" sz="3200" b="1" dirty="0">
                <a:latin typeface="+mn-ea"/>
              </a:rPr>
              <a:t>하나의 대표적인 예시</a:t>
            </a:r>
            <a:endParaRPr lang="en-US" altLang="ko-KR" sz="3200" b="1" dirty="0">
              <a:latin typeface="+mn-ea"/>
            </a:endParaRPr>
          </a:p>
          <a:p>
            <a:pPr marL="457200" indent="-457200">
              <a:lnSpc>
                <a:spcPct val="150000"/>
              </a:lnSpc>
              <a:buFont typeface="Arial" panose="020B0604020202020204" pitchFamily="34" charset="0"/>
              <a:buChar char="•"/>
            </a:pPr>
            <a:endParaRPr lang="en-US" altLang="ko-KR" sz="3200" b="1" dirty="0">
              <a:latin typeface="+mn-ea"/>
            </a:endParaRPr>
          </a:p>
          <a:p>
            <a:pPr marL="457200" indent="-457200">
              <a:lnSpc>
                <a:spcPct val="150000"/>
              </a:lnSpc>
              <a:buFont typeface="Arial" panose="020B0604020202020204" pitchFamily="34" charset="0"/>
              <a:buChar char="•"/>
            </a:pPr>
            <a:endParaRPr lang="en-US" altLang="ko-KR" sz="3200" b="1" dirty="0">
              <a:latin typeface="+mn-ea"/>
            </a:endParaRPr>
          </a:p>
          <a:p>
            <a:pPr>
              <a:lnSpc>
                <a:spcPct val="150000"/>
              </a:lnSpc>
            </a:pPr>
            <a:r>
              <a:rPr lang="en-US" altLang="ko-KR" sz="3200" b="1" dirty="0">
                <a:latin typeface="+mn-ea"/>
              </a:rPr>
              <a:t>Task Function  </a:t>
            </a:r>
          </a:p>
          <a:p>
            <a:pPr>
              <a:lnSpc>
                <a:spcPct val="150000"/>
              </a:lnSpc>
            </a:pPr>
            <a:endParaRPr lang="en-US" altLang="ko-KR" sz="3200" b="1" dirty="0">
              <a:latin typeface="+mn-ea"/>
            </a:endParaRPr>
          </a:p>
          <a:p>
            <a:pPr>
              <a:lnSpc>
                <a:spcPct val="150000"/>
              </a:lnSpc>
            </a:pPr>
            <a:r>
              <a:rPr lang="ko-KR" altLang="en-US" sz="3200" b="1" dirty="0">
                <a:latin typeface="+mn-ea"/>
              </a:rPr>
              <a:t>시스템 가정</a:t>
            </a:r>
            <a:endParaRPr lang="en-US" altLang="ko-KR" sz="3200" b="1" dirty="0">
              <a:latin typeface="+mn-ea"/>
            </a:endParaRPr>
          </a:p>
          <a:p>
            <a:pPr>
              <a:lnSpc>
                <a:spcPct val="150000"/>
              </a:lnSpc>
            </a:pPr>
            <a:endParaRPr lang="en-US" altLang="ko-KR" sz="3200" b="1" dirty="0">
              <a:latin typeface="+mn-ea"/>
            </a:endParaRPr>
          </a:p>
          <a:p>
            <a:pPr>
              <a:lnSpc>
                <a:spcPct val="150000"/>
              </a:lnSpc>
            </a:pPr>
            <a:r>
              <a:rPr lang="ko-KR" altLang="en-US" sz="3200" b="1" dirty="0">
                <a:latin typeface="+mn-ea"/>
              </a:rPr>
              <a:t>전개</a:t>
            </a:r>
            <a:endParaRPr lang="en-US" altLang="ko-KR" sz="3200" b="1" dirty="0">
              <a:latin typeface="+mn-ea"/>
            </a:endParaRPr>
          </a:p>
        </p:txBody>
      </p:sp>
      <p:pic>
        <p:nvPicPr>
          <p:cNvPr id="2" name="그림 1">
            <a:extLst>
              <a:ext uri="{FF2B5EF4-FFF2-40B4-BE49-F238E27FC236}">
                <a16:creationId xmlns:a16="http://schemas.microsoft.com/office/drawing/2014/main" id="{E9C0A378-3928-8A10-C4D8-650D97357F1D}"/>
              </a:ext>
            </a:extLst>
          </p:cNvPr>
          <p:cNvPicPr>
            <a:picLocks noChangeAspect="1"/>
          </p:cNvPicPr>
          <p:nvPr/>
        </p:nvPicPr>
        <p:blipFill>
          <a:blip r:embed="rId7"/>
          <a:stretch>
            <a:fillRect/>
          </a:stretch>
        </p:blipFill>
        <p:spPr>
          <a:xfrm>
            <a:off x="14990091" y="381000"/>
            <a:ext cx="9012909" cy="3233932"/>
          </a:xfrm>
          <a:prstGeom prst="rect">
            <a:avLst/>
          </a:prstGeom>
          <a:ln w="57150">
            <a:solidFill>
              <a:srgbClr val="FF0000"/>
            </a:solidFill>
          </a:ln>
        </p:spPr>
      </p:pic>
      <p:pic>
        <p:nvPicPr>
          <p:cNvPr id="7" name="그림 6" descr="\documentclass{article}&#10;\usepackage{amsmath}&#10;\pagestyle{empty}&#10;\begin{document}&#10;&#10;&#10;$&#10;e(q,t) \;=\; y(q) - y^*(t)&#10;$&#10;&#10;\end{document}" title="IguanaTex Bitmap Display">
            <a:extLst>
              <a:ext uri="{FF2B5EF4-FFF2-40B4-BE49-F238E27FC236}">
                <a16:creationId xmlns:a16="http://schemas.microsoft.com/office/drawing/2014/main" id="{00499C2F-2870-7A5B-7DDA-7C232876646F}"/>
              </a:ext>
            </a:extLst>
          </p:cNvPr>
          <p:cNvPicPr>
            <a:picLocks noChangeAspect="1"/>
          </p:cNvPicPr>
          <p:nvPr>
            <p:custDataLst>
              <p:tags r:id="rId1"/>
            </p:custDataLst>
          </p:nvPr>
        </p:nvPicPr>
        <p:blipFill>
          <a:blip r:embed="rId8" cstate="print">
            <a:extLst>
              <a:ext uri="{28A0092B-C50C-407E-A947-70E740481C1C}">
                <a14:useLocalDpi xmlns:a14="http://schemas.microsoft.com/office/drawing/2010/main" val="0"/>
              </a:ext>
            </a:extLst>
          </a:blip>
          <a:stretch>
            <a:fillRect/>
          </a:stretch>
        </p:blipFill>
        <p:spPr>
          <a:xfrm>
            <a:off x="5690700" y="5334000"/>
            <a:ext cx="5001600" cy="534400"/>
          </a:xfrm>
          <a:prstGeom prst="rect">
            <a:avLst/>
          </a:prstGeom>
        </p:spPr>
      </p:pic>
      <p:pic>
        <p:nvPicPr>
          <p:cNvPr id="10" name="그림 9" descr="\documentclass{article}&#10;\usepackage{amsmath}&#10;\pagestyle{empty}&#10;\begin{document}&#10;&#10;&#10;$&#10;\ddot e \;=\; -K\,e \;-\; D\,\dot e&#10;$&#10;&#10;\end{document}" title="IguanaTex Bitmap Display">
            <a:extLst>
              <a:ext uri="{FF2B5EF4-FFF2-40B4-BE49-F238E27FC236}">
                <a16:creationId xmlns:a16="http://schemas.microsoft.com/office/drawing/2014/main" id="{BCBB9B89-9D3E-10B6-864C-F3E300190B5B}"/>
              </a:ext>
            </a:extLst>
          </p:cNvPr>
          <p:cNvPicPr>
            <a:picLocks noChangeAspect="1"/>
          </p:cNvPicPr>
          <p:nvPr>
            <p:custDataLst>
              <p:tags r:id="rId2"/>
            </p:custDataLst>
          </p:nvPr>
        </p:nvPicPr>
        <p:blipFill>
          <a:blip r:embed="rId9" cstate="print">
            <a:extLst>
              <a:ext uri="{28A0092B-C50C-407E-A947-70E740481C1C}">
                <a14:useLocalDpi xmlns:a14="http://schemas.microsoft.com/office/drawing/2010/main" val="0"/>
              </a:ext>
            </a:extLst>
          </a:blip>
          <a:stretch>
            <a:fillRect/>
          </a:stretch>
        </p:blipFill>
        <p:spPr>
          <a:xfrm>
            <a:off x="5812766" y="6858000"/>
            <a:ext cx="4185600" cy="368000"/>
          </a:xfrm>
          <a:prstGeom prst="rect">
            <a:avLst/>
          </a:prstGeom>
        </p:spPr>
      </p:pic>
      <p:pic>
        <p:nvPicPr>
          <p:cNvPr id="13" name="그림 12" descr="\documentclass{article}&#10;\usepackage{amsmath}&#10;\pagestyle{empty}&#10;\begin{document}&#10;&#10;&#10;$&#10;\underbrace{J(q)}_{\text{Jacobian}}\,\ddot q \;+\; \dot J(q,\dot q)\,\dot q \;-\; \ddot y^*&#10;\;=\; -K\,e \;-\; D\,\dot e&#10;$&#10;&#10;\end{document}" title="IguanaTex Bitmap Display">
            <a:extLst>
              <a:ext uri="{FF2B5EF4-FFF2-40B4-BE49-F238E27FC236}">
                <a16:creationId xmlns:a16="http://schemas.microsoft.com/office/drawing/2014/main" id="{FFD73FBC-C0D4-04A2-0F96-DAB278354881}"/>
              </a:ext>
            </a:extLst>
          </p:cNvPr>
          <p:cNvPicPr>
            <a:picLocks noChangeAspect="1"/>
          </p:cNvPicPr>
          <p:nvPr>
            <p:custDataLst>
              <p:tags r:id="rId3"/>
            </p:custDataLst>
          </p:nvPr>
        </p:nvPicPr>
        <p:blipFill>
          <a:blip r:embed="rId10" cstate="print">
            <a:extLst>
              <a:ext uri="{28A0092B-C50C-407E-A947-70E740481C1C}">
                <a14:useLocalDpi xmlns:a14="http://schemas.microsoft.com/office/drawing/2010/main" val="0"/>
              </a:ext>
            </a:extLst>
          </a:blip>
          <a:stretch>
            <a:fillRect/>
          </a:stretch>
        </p:blipFill>
        <p:spPr>
          <a:xfrm>
            <a:off x="5181600" y="8226436"/>
            <a:ext cx="10265600" cy="1356800"/>
          </a:xfrm>
          <a:prstGeom prst="rect">
            <a:avLst/>
          </a:prstGeom>
        </p:spPr>
      </p:pic>
      <p:pic>
        <p:nvPicPr>
          <p:cNvPr id="21" name="그림 20" descr="\documentclass{article}&#10;\usepackage{amsmath}&#10;\pagestyle{empty}&#10;\begin{document}&#10;&#10;&#10;$&#10;\underbrace{J(q)}_{A_v}\,\dot v_q&#10;\;=\;&#10;\underbrace{\ddot y^* \;-\; \dot J(q,\dot q)\,\dot q \;-\; K\,e \;-\; D\,\dot e}_{a}&#10;$&#10;&#10;\end{document}" title="IguanaTex Bitmap Display">
            <a:extLst>
              <a:ext uri="{FF2B5EF4-FFF2-40B4-BE49-F238E27FC236}">
                <a16:creationId xmlns:a16="http://schemas.microsoft.com/office/drawing/2014/main" id="{49387399-6A8A-9572-87A7-44C787F30C22}"/>
              </a:ext>
            </a:extLst>
          </p:cNvPr>
          <p:cNvPicPr>
            <a:picLocks noChangeAspect="1"/>
          </p:cNvPicPr>
          <p:nvPr>
            <p:custDataLst>
              <p:tags r:id="rId4"/>
            </p:custDataLst>
          </p:nvPr>
        </p:nvPicPr>
        <p:blipFill>
          <a:blip r:embed="rId11" cstate="print">
            <a:extLst>
              <a:ext uri="{28A0092B-C50C-407E-A947-70E740481C1C}">
                <a14:useLocalDpi xmlns:a14="http://schemas.microsoft.com/office/drawing/2010/main" val="0"/>
              </a:ext>
            </a:extLst>
          </a:blip>
          <a:stretch>
            <a:fillRect/>
          </a:stretch>
        </p:blipFill>
        <p:spPr>
          <a:xfrm>
            <a:off x="5564110" y="11136704"/>
            <a:ext cx="9542400" cy="1401600"/>
          </a:xfrm>
          <a:prstGeom prst="rect">
            <a:avLst/>
          </a:prstGeom>
        </p:spPr>
      </p:pic>
    </p:spTree>
    <p:extLst>
      <p:ext uri="{BB962C8B-B14F-4D97-AF65-F5344CB8AC3E}">
        <p14:creationId xmlns:p14="http://schemas.microsoft.com/office/powerpoint/2010/main" val="24672979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9F5E7-524A-7D9E-F434-FE2397BDF5DF}"/>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7519BFB8-3D07-1034-0E6B-89C427702DD4}"/>
              </a:ext>
            </a:extLst>
          </p:cNvPr>
          <p:cNvSpPr/>
          <p:nvPr/>
        </p:nvSpPr>
        <p:spPr>
          <a:xfrm>
            <a:off x="0" y="0"/>
            <a:ext cx="821042" cy="13716000"/>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각 삼각형 58">
            <a:extLst>
              <a:ext uri="{FF2B5EF4-FFF2-40B4-BE49-F238E27FC236}">
                <a16:creationId xmlns:a16="http://schemas.microsoft.com/office/drawing/2014/main" id="{B1FA41B5-C6DC-AC8A-B92E-B905179BB2E6}"/>
              </a:ext>
            </a:extLst>
          </p:cNvPr>
          <p:cNvSpPr/>
          <p:nvPr/>
        </p:nvSpPr>
        <p:spPr>
          <a:xfrm rot="10800000" flipH="1">
            <a:off x="1" y="0"/>
            <a:ext cx="1905000" cy="1828800"/>
          </a:xfrm>
          <a:prstGeom prst="rtTriangle">
            <a:avLst/>
          </a:prstGeom>
          <a:solidFill>
            <a:srgbClr val="1E1B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4">
            <a:extLst>
              <a:ext uri="{FF2B5EF4-FFF2-40B4-BE49-F238E27FC236}">
                <a16:creationId xmlns:a16="http://schemas.microsoft.com/office/drawing/2014/main" id="{9BDEF026-B14A-CFFC-9BD8-3A907D82CDF5}"/>
              </a:ext>
            </a:extLst>
          </p:cNvPr>
          <p:cNvSpPr txBox="1"/>
          <p:nvPr/>
        </p:nvSpPr>
        <p:spPr>
          <a:xfrm>
            <a:off x="1600200" y="609600"/>
            <a:ext cx="13182600" cy="990600"/>
          </a:xfrm>
          <a:prstGeom prst="rect">
            <a:avLst/>
          </a:prstGeom>
        </p:spPr>
        <p:txBody>
          <a:bodyPr lIns="0" tIns="101600" rIns="0" bIns="0" rtlCol="0" anchor="t"/>
          <a:lstStyle/>
          <a:p>
            <a:pPr lvl="0">
              <a:lnSpc>
                <a:spcPct val="99600"/>
              </a:lnSpc>
            </a:pPr>
            <a:r>
              <a:rPr lang="en" sz="6000" b="1" i="0" u="none" strike="noStrike" dirty="0">
                <a:solidFill>
                  <a:srgbClr val="000000"/>
                </a:solidFill>
                <a:latin typeface="Arial" panose="020B0604020202020204" pitchFamily="34" charset="0"/>
                <a:cs typeface="Arial" panose="020B0604020202020204" pitchFamily="34" charset="0"/>
              </a:rPr>
              <a:t>TSID </a:t>
            </a:r>
            <a:r>
              <a:rPr lang="ko-KR" altLang="en-US" sz="6000" b="1" i="0" u="none" strike="noStrike" dirty="0">
                <a:solidFill>
                  <a:srgbClr val="000000"/>
                </a:solidFill>
                <a:latin typeface="Arial" panose="020B0604020202020204" pitchFamily="34" charset="0"/>
                <a:cs typeface="Arial" panose="020B0604020202020204" pitchFamily="34" charset="0"/>
              </a:rPr>
              <a:t>정리</a:t>
            </a:r>
            <a:endParaRPr lang="en" sz="6000" b="1" i="0" u="none" strike="noStrike" dirty="0">
              <a:solidFill>
                <a:srgbClr val="000000"/>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22429AFA-5580-3762-562F-544A1065D42D}"/>
              </a:ext>
            </a:extLst>
          </p:cNvPr>
          <p:cNvSpPr txBox="1"/>
          <p:nvPr/>
        </p:nvSpPr>
        <p:spPr>
          <a:xfrm>
            <a:off x="1905001" y="6815515"/>
            <a:ext cx="21154103" cy="6891374"/>
          </a:xfrm>
          <a:prstGeom prst="rect">
            <a:avLst/>
          </a:prstGeom>
          <a:noFill/>
        </p:spPr>
        <p:txBody>
          <a:bodyPr wrap="square">
            <a:spAutoFit/>
          </a:bodyPr>
          <a:lstStyle/>
          <a:p>
            <a:pPr marL="457200" indent="-457200">
              <a:lnSpc>
                <a:spcPct val="150000"/>
              </a:lnSpc>
              <a:buFont typeface="Arial" panose="020B0604020202020204" pitchFamily="34" charset="0"/>
              <a:buChar char="•"/>
            </a:pPr>
            <a:r>
              <a:rPr lang="ko-KR" altLang="en-US" sz="3200" b="1" dirty="0">
                <a:latin typeface="+mn-ea"/>
              </a:rPr>
              <a:t>        함수로 정리 </a:t>
            </a:r>
            <a:r>
              <a:rPr lang="en-US" altLang="ko-KR" sz="3200" b="1" dirty="0">
                <a:latin typeface="+mn-ea"/>
              </a:rPr>
              <a:t>:</a:t>
            </a:r>
          </a:p>
          <a:p>
            <a:pPr>
              <a:lnSpc>
                <a:spcPct val="150000"/>
              </a:lnSpc>
            </a:pPr>
            <a:endParaRPr lang="en-US" altLang="ko-KR" sz="3200" b="1" dirty="0">
              <a:latin typeface="+mn-ea"/>
            </a:endParaRPr>
          </a:p>
          <a:p>
            <a:pPr marL="457200" indent="-457200">
              <a:lnSpc>
                <a:spcPct val="200000"/>
              </a:lnSpc>
              <a:buFont typeface="Arial" panose="020B0604020202020204" pitchFamily="34" charset="0"/>
              <a:buChar char="•"/>
            </a:pPr>
            <a:r>
              <a:rPr lang="ko-KR" altLang="en-US" sz="3200" b="1" dirty="0">
                <a:latin typeface="+mn-ea"/>
              </a:rPr>
              <a:t>        가 </a:t>
            </a:r>
            <a:r>
              <a:rPr lang="en-US" altLang="ko-KR" sz="3200" b="1" dirty="0">
                <a:latin typeface="+mn-ea"/>
              </a:rPr>
              <a:t>0 </a:t>
            </a:r>
            <a:r>
              <a:rPr lang="ko-KR" altLang="en-US" sz="3200" b="1" dirty="0">
                <a:latin typeface="+mn-ea"/>
              </a:rPr>
              <a:t>이 되면 초기 가정한 </a:t>
            </a:r>
            <a:r>
              <a:rPr lang="en-US" altLang="ko-KR" sz="3200" b="1" dirty="0">
                <a:latin typeface="+mn-ea"/>
              </a:rPr>
              <a:t>1, 2</a:t>
            </a:r>
            <a:r>
              <a:rPr lang="ko-KR" altLang="en-US" sz="3200" b="1" dirty="0">
                <a:latin typeface="+mn-ea"/>
              </a:rPr>
              <a:t>차 미분방정식을 만족한다는 것</a:t>
            </a:r>
            <a:endParaRPr lang="en-US" altLang="ko-KR" sz="3200" b="1" dirty="0">
              <a:latin typeface="+mn-ea"/>
            </a:endParaRPr>
          </a:p>
          <a:p>
            <a:pPr>
              <a:lnSpc>
                <a:spcPct val="200000"/>
              </a:lnSpc>
            </a:pPr>
            <a:r>
              <a:rPr lang="en-US" altLang="ko-KR" sz="3200" b="1" dirty="0">
                <a:latin typeface="+mn-ea"/>
              </a:rPr>
              <a:t>	&gt; </a:t>
            </a:r>
            <a:r>
              <a:rPr lang="ko-KR" altLang="en-US" sz="3200" b="1" dirty="0">
                <a:latin typeface="+mn-ea"/>
              </a:rPr>
              <a:t>즉</a:t>
            </a:r>
            <a:r>
              <a:rPr lang="en-US" altLang="ko-KR" sz="3200" b="1" dirty="0">
                <a:latin typeface="+mn-ea"/>
              </a:rPr>
              <a:t>, </a:t>
            </a:r>
            <a:r>
              <a:rPr lang="ko-KR" altLang="en-US" sz="3200" b="1" dirty="0">
                <a:latin typeface="+mn-ea"/>
              </a:rPr>
              <a:t>수렴성이 보장된다</a:t>
            </a:r>
            <a:endParaRPr lang="en-US" altLang="ko-KR" sz="3200" b="1" dirty="0">
              <a:latin typeface="+mn-ea"/>
            </a:endParaRPr>
          </a:p>
          <a:p>
            <a:pPr>
              <a:lnSpc>
                <a:spcPct val="200000"/>
              </a:lnSpc>
            </a:pPr>
            <a:r>
              <a:rPr lang="en-US" altLang="ko-KR" sz="3200" b="1" dirty="0">
                <a:latin typeface="+mn-ea"/>
              </a:rPr>
              <a:t>	&gt; error </a:t>
            </a:r>
            <a:r>
              <a:rPr lang="ko-KR" altLang="en-US" sz="3200" b="1" dirty="0">
                <a:latin typeface="+mn-ea"/>
              </a:rPr>
              <a:t>가 </a:t>
            </a:r>
            <a:r>
              <a:rPr lang="en-US" altLang="ko-KR" sz="3200" b="1" dirty="0">
                <a:latin typeface="+mn-ea"/>
              </a:rPr>
              <a:t>0</a:t>
            </a:r>
            <a:r>
              <a:rPr lang="ko-KR" altLang="en-US" sz="3200" b="1" dirty="0">
                <a:latin typeface="+mn-ea"/>
              </a:rPr>
              <a:t>이다 </a:t>
            </a:r>
            <a:endParaRPr lang="en-US" altLang="ko-KR" sz="3200" b="1" dirty="0">
              <a:latin typeface="+mn-ea"/>
            </a:endParaRPr>
          </a:p>
          <a:p>
            <a:pPr>
              <a:lnSpc>
                <a:spcPct val="200000"/>
              </a:lnSpc>
            </a:pPr>
            <a:r>
              <a:rPr lang="en-US" altLang="ko-KR" sz="3200" b="1" dirty="0">
                <a:latin typeface="+mn-ea"/>
              </a:rPr>
              <a:t>	&gt; </a:t>
            </a:r>
            <a:r>
              <a:rPr lang="ko-KR" altLang="en-US" sz="3200" b="1" dirty="0">
                <a:latin typeface="+mn-ea"/>
              </a:rPr>
              <a:t>제어가 되었다</a:t>
            </a:r>
            <a:endParaRPr lang="en-US" altLang="ko-KR" sz="3200" b="1" dirty="0">
              <a:latin typeface="+mn-ea"/>
            </a:endParaRPr>
          </a:p>
          <a:p>
            <a:pPr marL="457200" indent="-457200">
              <a:lnSpc>
                <a:spcPct val="150000"/>
              </a:lnSpc>
              <a:buFont typeface="Arial" panose="020B0604020202020204" pitchFamily="34" charset="0"/>
              <a:buChar char="•"/>
            </a:pPr>
            <a:endParaRPr lang="en-US" altLang="ko-KR" sz="3200" b="1" dirty="0">
              <a:latin typeface="+mn-ea"/>
            </a:endParaRPr>
          </a:p>
          <a:p>
            <a:pPr marL="457200" indent="-457200">
              <a:lnSpc>
                <a:spcPct val="150000"/>
              </a:lnSpc>
              <a:buFont typeface="Arial" panose="020B0604020202020204" pitchFamily="34" charset="0"/>
              <a:buChar char="•"/>
            </a:pPr>
            <a:endParaRPr lang="en-US" altLang="ko-KR" sz="3200" b="1" dirty="0">
              <a:latin typeface="+mn-ea"/>
            </a:endParaRPr>
          </a:p>
        </p:txBody>
      </p:sp>
      <p:pic>
        <p:nvPicPr>
          <p:cNvPr id="2" name="그림 1">
            <a:extLst>
              <a:ext uri="{FF2B5EF4-FFF2-40B4-BE49-F238E27FC236}">
                <a16:creationId xmlns:a16="http://schemas.microsoft.com/office/drawing/2014/main" id="{2B59A1F6-B6B7-3B7D-FA21-816A559FAC9A}"/>
              </a:ext>
            </a:extLst>
          </p:cNvPr>
          <p:cNvPicPr>
            <a:picLocks noChangeAspect="1"/>
          </p:cNvPicPr>
          <p:nvPr/>
        </p:nvPicPr>
        <p:blipFill>
          <a:blip r:embed="rId9"/>
          <a:stretch>
            <a:fillRect/>
          </a:stretch>
        </p:blipFill>
        <p:spPr>
          <a:xfrm>
            <a:off x="14990091" y="381000"/>
            <a:ext cx="9012909" cy="3233932"/>
          </a:xfrm>
          <a:prstGeom prst="rect">
            <a:avLst/>
          </a:prstGeom>
          <a:ln w="57150">
            <a:solidFill>
              <a:srgbClr val="FF0000"/>
            </a:solidFill>
          </a:ln>
        </p:spPr>
      </p:pic>
      <p:pic>
        <p:nvPicPr>
          <p:cNvPr id="21" name="그림 20" descr="\documentclass{article}&#10;\usepackage{amsmath}&#10;\pagestyle{empty}&#10;\begin{document}&#10;&#10;&#10;$&#10;\underbrace{J(q)}_{A_v}\,\dot v_q&#10;\;=\;&#10;\underbrace{\ddot y^* \;-\; \dot J(q,\dot q)\,\dot q \;-\; K\,e \;-\; D\,\dot e}_{a}&#10;$&#10;&#10;\end{document}" title="IguanaTex Bitmap Display">
            <a:extLst>
              <a:ext uri="{FF2B5EF4-FFF2-40B4-BE49-F238E27FC236}">
                <a16:creationId xmlns:a16="http://schemas.microsoft.com/office/drawing/2014/main" id="{A330BDAD-9B0A-FF19-DD6F-AC1BDFF18ADD}"/>
              </a:ext>
            </a:extLst>
          </p:cNvPr>
          <p:cNvPicPr>
            <a:picLocks noChangeAspect="1"/>
          </p:cNvPicPr>
          <p:nvPr>
            <p:custDataLst>
              <p:tags r:id="rId1"/>
            </p:custDataLst>
          </p:nvPr>
        </p:nvPicPr>
        <p:blipFill>
          <a:blip r:embed="rId10" cstate="print">
            <a:extLst>
              <a:ext uri="{28A0092B-C50C-407E-A947-70E740481C1C}">
                <a14:useLocalDpi xmlns:a14="http://schemas.microsoft.com/office/drawing/2010/main" val="0"/>
              </a:ext>
            </a:extLst>
          </a:blip>
          <a:stretch>
            <a:fillRect/>
          </a:stretch>
        </p:blipFill>
        <p:spPr>
          <a:xfrm>
            <a:off x="2043704" y="4381742"/>
            <a:ext cx="9542400" cy="1401600"/>
          </a:xfrm>
          <a:prstGeom prst="rect">
            <a:avLst/>
          </a:prstGeom>
        </p:spPr>
      </p:pic>
      <p:pic>
        <p:nvPicPr>
          <p:cNvPr id="5" name="그림 4" descr="\documentclass{article}&#10;\usepackage{amsmath}&#10;\pagestyle{empty}&#10;\begin{document}&#10;&#10;&#10;$&#10;\underbrace{J}_{A_v}\,\dot v_q&#10;\;=\;&#10;\underbrace{\dot y^* - K\,e}_{a}&#10;$&#10;&#10;\end{document}" title="IguanaTex Bitmap Display">
            <a:extLst>
              <a:ext uri="{FF2B5EF4-FFF2-40B4-BE49-F238E27FC236}">
                <a16:creationId xmlns:a16="http://schemas.microsoft.com/office/drawing/2014/main" id="{E48BEF6E-19F4-B27B-F36A-2817855BDE84}"/>
              </a:ext>
            </a:extLst>
          </p:cNvPr>
          <p:cNvPicPr>
            <a:picLocks noChangeAspect="1"/>
          </p:cNvPicPr>
          <p:nvPr>
            <p:custDataLst>
              <p:tags r:id="rId2"/>
            </p:custDataLst>
          </p:nvPr>
        </p:nvPicPr>
        <p:blipFill>
          <a:blip r:embed="rId11" cstate="print">
            <a:extLst>
              <a:ext uri="{28A0092B-C50C-407E-A947-70E740481C1C}">
                <a14:useLocalDpi xmlns:a14="http://schemas.microsoft.com/office/drawing/2010/main" val="0"/>
              </a:ext>
            </a:extLst>
          </a:blip>
          <a:stretch>
            <a:fillRect/>
          </a:stretch>
        </p:blipFill>
        <p:spPr>
          <a:xfrm>
            <a:off x="2043704" y="2629834"/>
            <a:ext cx="4656000" cy="1200000"/>
          </a:xfrm>
          <a:prstGeom prst="rect">
            <a:avLst/>
          </a:prstGeom>
        </p:spPr>
      </p:pic>
      <p:cxnSp>
        <p:nvCxnSpPr>
          <p:cNvPr id="15" name="직선 화살표 연결선 14">
            <a:extLst>
              <a:ext uri="{FF2B5EF4-FFF2-40B4-BE49-F238E27FC236}">
                <a16:creationId xmlns:a16="http://schemas.microsoft.com/office/drawing/2014/main" id="{C76E0FBA-60D2-5E66-B190-89A5588618A5}"/>
              </a:ext>
            </a:extLst>
          </p:cNvPr>
          <p:cNvCxnSpPr>
            <a:cxnSpLocks/>
          </p:cNvCxnSpPr>
          <p:nvPr/>
        </p:nvCxnSpPr>
        <p:spPr>
          <a:xfrm>
            <a:off x="11421398" y="7315200"/>
            <a:ext cx="990600" cy="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pic>
        <p:nvPicPr>
          <p:cNvPr id="18" name="그림 17" descr="\documentclass{article}&#10;\usepackage{amsmath}&#10;\pagestyle{empty}&#10;\begin{document}&#10;&#10;&#10;$&#10;g(y)=A_v \dot{v_q} -a&#10;$&#10;&#10;\end{document}" title="IguanaTex Bitmap Display">
            <a:extLst>
              <a:ext uri="{FF2B5EF4-FFF2-40B4-BE49-F238E27FC236}">
                <a16:creationId xmlns:a16="http://schemas.microsoft.com/office/drawing/2014/main" id="{0AB25981-7AD7-818D-5155-267F8DCBF237}"/>
              </a:ext>
            </a:extLst>
          </p:cNvPr>
          <p:cNvPicPr>
            <a:picLocks noChangeAspect="1"/>
          </p:cNvPicPr>
          <p:nvPr>
            <p:custDataLst>
              <p:tags r:id="rId3"/>
            </p:custDataLst>
          </p:nvPr>
        </p:nvPicPr>
        <p:blipFill>
          <a:blip r:embed="rId12" cstate="print">
            <a:extLst>
              <a:ext uri="{28A0092B-C50C-407E-A947-70E740481C1C}">
                <a14:useLocalDpi xmlns:a14="http://schemas.microsoft.com/office/drawing/2010/main" val="0"/>
              </a:ext>
            </a:extLst>
          </a:blip>
          <a:stretch>
            <a:fillRect/>
          </a:stretch>
        </p:blipFill>
        <p:spPr>
          <a:xfrm>
            <a:off x="7163198" y="7030417"/>
            <a:ext cx="3724800" cy="553600"/>
          </a:xfrm>
          <a:prstGeom prst="rect">
            <a:avLst/>
          </a:prstGeom>
        </p:spPr>
      </p:pic>
      <p:pic>
        <p:nvPicPr>
          <p:cNvPr id="20" name="그림 19" descr="\documentclass{article}&#10;\usepackage{amsmath}&#10;\pagestyle{empty}&#10;\begin{document}&#10;&#10;&#10;$&#10;g(y)=0&#10;$&#10;&#10;\end{document}" title="IguanaTex Bitmap Display">
            <a:extLst>
              <a:ext uri="{FF2B5EF4-FFF2-40B4-BE49-F238E27FC236}">
                <a16:creationId xmlns:a16="http://schemas.microsoft.com/office/drawing/2014/main" id="{D92E062D-BC44-1D3B-C154-27E57D9E276D}"/>
              </a:ext>
            </a:extLst>
          </p:cNvPr>
          <p:cNvPicPr>
            <a:picLocks noChangeAspect="1"/>
          </p:cNvPicPr>
          <p:nvPr>
            <p:custDataLst>
              <p:tags r:id="rId4"/>
            </p:custDataLst>
          </p:nvPr>
        </p:nvPicPr>
        <p:blipFill>
          <a:blip r:embed="rId13" cstate="print">
            <a:extLst>
              <a:ext uri="{28A0092B-C50C-407E-A947-70E740481C1C}">
                <a14:useLocalDpi xmlns:a14="http://schemas.microsoft.com/office/drawing/2010/main" val="0"/>
              </a:ext>
            </a:extLst>
          </a:blip>
          <a:stretch>
            <a:fillRect/>
          </a:stretch>
        </p:blipFill>
        <p:spPr>
          <a:xfrm>
            <a:off x="13021600" y="7049617"/>
            <a:ext cx="1913600" cy="534400"/>
          </a:xfrm>
          <a:prstGeom prst="rect">
            <a:avLst/>
          </a:prstGeom>
        </p:spPr>
      </p:pic>
      <p:pic>
        <p:nvPicPr>
          <p:cNvPr id="22" name="그림 21" descr="\documentclass{article}&#10;\usepackage{amsmath}&#10;\pagestyle{empty}&#10;\begin{document}&#10;&#10;&#10;$&#10;g(y)&#10;$&#10;&#10;\end{document}" title="IguanaTex Bitmap Display">
            <a:extLst>
              <a:ext uri="{FF2B5EF4-FFF2-40B4-BE49-F238E27FC236}">
                <a16:creationId xmlns:a16="http://schemas.microsoft.com/office/drawing/2014/main" id="{CF729CD5-6CDB-53E7-B75C-5F9B81AC6827}"/>
              </a:ext>
            </a:extLst>
          </p:cNvPr>
          <p:cNvPicPr>
            <a:picLocks noChangeAspect="1"/>
          </p:cNvPicPr>
          <p:nvPr>
            <p:custDataLst>
              <p:tags r:id="rId5"/>
            </p:custDataLst>
          </p:nvPr>
        </p:nvPicPr>
        <p:blipFill>
          <a:blip r:embed="rId14" cstate="print">
            <a:extLst>
              <a:ext uri="{28A0092B-C50C-407E-A947-70E740481C1C}">
                <a14:useLocalDpi xmlns:a14="http://schemas.microsoft.com/office/drawing/2010/main" val="0"/>
              </a:ext>
            </a:extLst>
          </a:blip>
          <a:stretch>
            <a:fillRect/>
          </a:stretch>
        </p:blipFill>
        <p:spPr>
          <a:xfrm>
            <a:off x="2514600" y="8610600"/>
            <a:ext cx="838200" cy="494627"/>
          </a:xfrm>
          <a:prstGeom prst="rect">
            <a:avLst/>
          </a:prstGeom>
        </p:spPr>
      </p:pic>
      <p:pic>
        <p:nvPicPr>
          <p:cNvPr id="23" name="그림 22" descr="\documentclass{article}&#10;\usepackage{amsmath}&#10;\pagestyle{empty}&#10;\begin{document}&#10;&#10;&#10;$&#10;g(y)&#10;$&#10;&#10;\end{document}" title="IguanaTex Bitmap Display">
            <a:extLst>
              <a:ext uri="{FF2B5EF4-FFF2-40B4-BE49-F238E27FC236}">
                <a16:creationId xmlns:a16="http://schemas.microsoft.com/office/drawing/2014/main" id="{0A4725F0-B914-B13D-FC07-9937586CF859}"/>
              </a:ext>
            </a:extLst>
          </p:cNvPr>
          <p:cNvPicPr>
            <a:picLocks noChangeAspect="1"/>
          </p:cNvPicPr>
          <p:nvPr>
            <p:custDataLst>
              <p:tags r:id="rId6"/>
            </p:custDataLst>
          </p:nvPr>
        </p:nvPicPr>
        <p:blipFill>
          <a:blip r:embed="rId14" cstate="print">
            <a:extLst>
              <a:ext uri="{28A0092B-C50C-407E-A947-70E740481C1C}">
                <a14:useLocalDpi xmlns:a14="http://schemas.microsoft.com/office/drawing/2010/main" val="0"/>
              </a:ext>
            </a:extLst>
          </a:blip>
          <a:stretch>
            <a:fillRect/>
          </a:stretch>
        </p:blipFill>
        <p:spPr>
          <a:xfrm>
            <a:off x="2535544" y="7010400"/>
            <a:ext cx="838200" cy="494627"/>
          </a:xfrm>
          <a:prstGeom prst="rect">
            <a:avLst/>
          </a:prstGeom>
        </p:spPr>
      </p:pic>
    </p:spTree>
    <p:extLst>
      <p:ext uri="{BB962C8B-B14F-4D97-AF65-F5344CB8AC3E}">
        <p14:creationId xmlns:p14="http://schemas.microsoft.com/office/powerpoint/2010/main" val="36587631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666A3-432C-6B4F-FD95-43864034FD5D}"/>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F6A657CD-E4D6-2D4D-AB19-FF7CC4300C97}"/>
              </a:ext>
            </a:extLst>
          </p:cNvPr>
          <p:cNvSpPr/>
          <p:nvPr/>
        </p:nvSpPr>
        <p:spPr>
          <a:xfrm>
            <a:off x="0" y="0"/>
            <a:ext cx="821042" cy="13716000"/>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각 삼각형 58">
            <a:extLst>
              <a:ext uri="{FF2B5EF4-FFF2-40B4-BE49-F238E27FC236}">
                <a16:creationId xmlns:a16="http://schemas.microsoft.com/office/drawing/2014/main" id="{8C17D05C-C692-2214-CC07-52A954F44BE7}"/>
              </a:ext>
            </a:extLst>
          </p:cNvPr>
          <p:cNvSpPr/>
          <p:nvPr/>
        </p:nvSpPr>
        <p:spPr>
          <a:xfrm rot="10800000" flipH="1">
            <a:off x="1" y="0"/>
            <a:ext cx="1905000" cy="1828800"/>
          </a:xfrm>
          <a:prstGeom prst="rtTriangle">
            <a:avLst/>
          </a:prstGeom>
          <a:solidFill>
            <a:srgbClr val="1E1B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4">
            <a:extLst>
              <a:ext uri="{FF2B5EF4-FFF2-40B4-BE49-F238E27FC236}">
                <a16:creationId xmlns:a16="http://schemas.microsoft.com/office/drawing/2014/main" id="{2764C189-4434-422D-7F80-BEBAA20A4CF2}"/>
              </a:ext>
            </a:extLst>
          </p:cNvPr>
          <p:cNvSpPr txBox="1"/>
          <p:nvPr/>
        </p:nvSpPr>
        <p:spPr>
          <a:xfrm>
            <a:off x="1600200" y="609600"/>
            <a:ext cx="13182600" cy="990600"/>
          </a:xfrm>
          <a:prstGeom prst="rect">
            <a:avLst/>
          </a:prstGeom>
        </p:spPr>
        <p:txBody>
          <a:bodyPr lIns="0" tIns="101600" rIns="0" bIns="0" rtlCol="0" anchor="t"/>
          <a:lstStyle/>
          <a:p>
            <a:pPr lvl="0">
              <a:lnSpc>
                <a:spcPct val="99600"/>
              </a:lnSpc>
            </a:pPr>
            <a:r>
              <a:rPr lang="en" sz="6000" b="1" i="0" u="none" strike="noStrike" dirty="0">
                <a:solidFill>
                  <a:srgbClr val="000000"/>
                </a:solidFill>
                <a:latin typeface="Arial" panose="020B0604020202020204" pitchFamily="34" charset="0"/>
                <a:cs typeface="Arial" panose="020B0604020202020204" pitchFamily="34" charset="0"/>
              </a:rPr>
              <a:t>TSID </a:t>
            </a:r>
            <a:r>
              <a:rPr lang="ko-KR" altLang="en-US" sz="6000" b="1" i="0" u="none" strike="noStrike" dirty="0">
                <a:solidFill>
                  <a:srgbClr val="000000"/>
                </a:solidFill>
                <a:latin typeface="Arial" panose="020B0604020202020204" pitchFamily="34" charset="0"/>
                <a:cs typeface="Arial" panose="020B0604020202020204" pitchFamily="34" charset="0"/>
              </a:rPr>
              <a:t>일반화식</a:t>
            </a:r>
            <a:endParaRPr lang="en" sz="6000" b="1" i="0" u="none" strike="noStrike" dirty="0">
              <a:solidFill>
                <a:srgbClr val="000000"/>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50631D69-DAA7-CB4E-9E8B-0B3422B84D54}"/>
              </a:ext>
            </a:extLst>
          </p:cNvPr>
          <p:cNvSpPr txBox="1"/>
          <p:nvPr/>
        </p:nvSpPr>
        <p:spPr>
          <a:xfrm>
            <a:off x="2086897" y="2244213"/>
            <a:ext cx="21154103" cy="10276916"/>
          </a:xfrm>
          <a:prstGeom prst="rect">
            <a:avLst/>
          </a:prstGeom>
          <a:noFill/>
        </p:spPr>
        <p:txBody>
          <a:bodyPr wrap="square">
            <a:spAutoFit/>
          </a:bodyPr>
          <a:lstStyle/>
          <a:p>
            <a:pPr>
              <a:lnSpc>
                <a:spcPct val="150000"/>
              </a:lnSpc>
            </a:pPr>
            <a:r>
              <a:rPr lang="en-US" altLang="ko-KR" sz="3200" b="1" dirty="0">
                <a:latin typeface="+mn-ea"/>
              </a:rPr>
              <a:t>			        </a:t>
            </a:r>
            <a:r>
              <a:rPr lang="ko-KR" altLang="en-US" sz="3200" b="1" dirty="0">
                <a:latin typeface="+mn-ea"/>
              </a:rPr>
              <a:t>형태로 정리하여 </a:t>
            </a:r>
            <a:r>
              <a:rPr lang="en-US" altLang="ko-KR" sz="3200" b="1" dirty="0">
                <a:latin typeface="+mn-ea"/>
              </a:rPr>
              <a:t>       </a:t>
            </a:r>
            <a:r>
              <a:rPr lang="ko-KR" altLang="en-US" sz="3200" b="1" dirty="0">
                <a:latin typeface="+mn-ea"/>
              </a:rPr>
              <a:t>가 </a:t>
            </a:r>
            <a:r>
              <a:rPr lang="en-US" altLang="ko-KR" sz="3200" b="1" dirty="0">
                <a:latin typeface="+mn-ea"/>
              </a:rPr>
              <a:t>0</a:t>
            </a:r>
            <a:r>
              <a:rPr lang="ko-KR" altLang="en-US" sz="3200" b="1" dirty="0">
                <a:latin typeface="+mn-ea"/>
              </a:rPr>
              <a:t>이 되도록 함</a:t>
            </a:r>
            <a:endParaRPr lang="en-US" altLang="ko-KR" sz="3200" b="1" dirty="0">
              <a:latin typeface="+mn-ea"/>
            </a:endParaRPr>
          </a:p>
          <a:p>
            <a:pPr>
              <a:lnSpc>
                <a:spcPct val="150000"/>
              </a:lnSpc>
            </a:pPr>
            <a:endParaRPr lang="en-US" altLang="ko-KR" sz="3200" b="1" dirty="0">
              <a:latin typeface="+mn-ea"/>
            </a:endParaRPr>
          </a:p>
          <a:p>
            <a:pPr>
              <a:lnSpc>
                <a:spcPct val="150000"/>
              </a:lnSpc>
            </a:pPr>
            <a:endParaRPr lang="en-US" altLang="ko-KR" sz="3200" b="1" dirty="0">
              <a:latin typeface="+mn-ea"/>
            </a:endParaRPr>
          </a:p>
          <a:p>
            <a:pPr>
              <a:lnSpc>
                <a:spcPct val="150000"/>
              </a:lnSpc>
            </a:pPr>
            <a:r>
              <a:rPr lang="ko-KR" altLang="en-US" sz="3200" b="1" dirty="0">
                <a:latin typeface="+mn-ea"/>
              </a:rPr>
              <a:t>입력 </a:t>
            </a:r>
            <a:r>
              <a:rPr lang="en-US" altLang="ko-KR" sz="3200" b="1" dirty="0">
                <a:latin typeface="+mn-ea"/>
              </a:rPr>
              <a:t>u</a:t>
            </a:r>
            <a:r>
              <a:rPr lang="ko-KR" altLang="en-US" sz="3200" b="1" dirty="0">
                <a:latin typeface="+mn-ea"/>
              </a:rPr>
              <a:t>에 대한 선형 함수까지 포함하면 다음과 같이 일반화 가능</a:t>
            </a:r>
            <a:endParaRPr lang="en-US" altLang="ko-KR" sz="3200" b="1" dirty="0">
              <a:latin typeface="+mn-ea"/>
            </a:endParaRPr>
          </a:p>
          <a:p>
            <a:pPr>
              <a:lnSpc>
                <a:spcPct val="150000"/>
              </a:lnSpc>
            </a:pPr>
            <a:endParaRPr lang="en-US" altLang="ko-KR" sz="3200" b="1" dirty="0">
              <a:latin typeface="+mn-ea"/>
            </a:endParaRPr>
          </a:p>
          <a:p>
            <a:pPr>
              <a:lnSpc>
                <a:spcPct val="150000"/>
              </a:lnSpc>
            </a:pPr>
            <a:r>
              <a:rPr lang="ko-KR" altLang="en-US" sz="3200" b="1" dirty="0">
                <a:latin typeface="+mn-ea"/>
              </a:rPr>
              <a:t>일반화된 </a:t>
            </a:r>
            <a:r>
              <a:rPr lang="en-US" altLang="ko-KR" sz="3200" b="1" dirty="0">
                <a:latin typeface="+mn-ea"/>
              </a:rPr>
              <a:t>       :</a:t>
            </a:r>
          </a:p>
          <a:p>
            <a:pPr>
              <a:lnSpc>
                <a:spcPct val="150000"/>
              </a:lnSpc>
            </a:pPr>
            <a:endParaRPr lang="en-US" altLang="ko-KR" sz="3200" b="1" dirty="0">
              <a:latin typeface="+mn-ea"/>
            </a:endParaRPr>
          </a:p>
          <a:p>
            <a:pPr>
              <a:lnSpc>
                <a:spcPct val="150000"/>
              </a:lnSpc>
            </a:pPr>
            <a:endParaRPr lang="en-US" altLang="ko-KR" sz="3200" b="1" dirty="0">
              <a:latin typeface="+mn-ea"/>
            </a:endParaRPr>
          </a:p>
          <a:p>
            <a:pPr>
              <a:lnSpc>
                <a:spcPct val="150000"/>
              </a:lnSpc>
            </a:pPr>
            <a:endParaRPr lang="en-US" altLang="ko-KR" sz="3200" b="1" dirty="0">
              <a:latin typeface="+mn-ea"/>
            </a:endParaRPr>
          </a:p>
          <a:p>
            <a:pPr>
              <a:lnSpc>
                <a:spcPct val="150000"/>
              </a:lnSpc>
            </a:pPr>
            <a:r>
              <a:rPr lang="ko-KR" altLang="en-US" sz="3200" b="1" dirty="0">
                <a:latin typeface="+mn-ea"/>
              </a:rPr>
              <a:t>행렬로 표기했을 때의 장점 </a:t>
            </a:r>
            <a:r>
              <a:rPr lang="en-US" altLang="ko-KR" sz="3200" b="1" dirty="0">
                <a:latin typeface="+mn-ea"/>
              </a:rPr>
              <a:t>:</a:t>
            </a:r>
          </a:p>
          <a:p>
            <a:pPr marL="457200" indent="-457200">
              <a:lnSpc>
                <a:spcPct val="200000"/>
              </a:lnSpc>
              <a:buFont typeface="Arial" panose="020B0604020202020204" pitchFamily="34" charset="0"/>
              <a:buChar char="•"/>
            </a:pPr>
            <a:r>
              <a:rPr lang="ko-KR" altLang="en-US" sz="3200" dirty="0">
                <a:latin typeface="+mn-ea"/>
              </a:rPr>
              <a:t>여러 태스크 동시에 다루기 위해 쌓을 수가 있음</a:t>
            </a:r>
            <a:endParaRPr lang="en-US" altLang="ko-KR" sz="3200" dirty="0">
              <a:latin typeface="+mn-ea"/>
            </a:endParaRPr>
          </a:p>
          <a:p>
            <a:pPr>
              <a:lnSpc>
                <a:spcPct val="200000"/>
              </a:lnSpc>
            </a:pPr>
            <a:endParaRPr lang="en-US" altLang="ko-KR" sz="3200" dirty="0">
              <a:latin typeface="+mn-ea"/>
            </a:endParaRPr>
          </a:p>
          <a:p>
            <a:pPr marL="457200" indent="-457200">
              <a:lnSpc>
                <a:spcPct val="200000"/>
              </a:lnSpc>
              <a:buFont typeface="Arial" panose="020B0604020202020204" pitchFamily="34" charset="0"/>
              <a:buChar char="•"/>
            </a:pPr>
            <a:r>
              <a:rPr lang="ko-KR" altLang="en-US" sz="3200" dirty="0">
                <a:latin typeface="+mn-ea"/>
              </a:rPr>
              <a:t>각 태스크별</a:t>
            </a:r>
            <a:r>
              <a:rPr lang="en-US" altLang="ko-KR" sz="3200" dirty="0">
                <a:latin typeface="+mn-ea"/>
              </a:rPr>
              <a:t> </a:t>
            </a:r>
            <a:r>
              <a:rPr lang="ko-KR" altLang="en-US" sz="3200" dirty="0">
                <a:latin typeface="+mn-ea"/>
              </a:rPr>
              <a:t>모든    </a:t>
            </a:r>
            <a:r>
              <a:rPr lang="en-US" altLang="ko-KR" sz="3200" dirty="0">
                <a:latin typeface="+mn-ea"/>
              </a:rPr>
              <a:t>     </a:t>
            </a:r>
            <a:r>
              <a:rPr lang="ko-KR" altLang="en-US" sz="3200" dirty="0">
                <a:latin typeface="+mn-ea"/>
              </a:rPr>
              <a:t>를 </a:t>
            </a:r>
            <a:r>
              <a:rPr lang="en-US" altLang="ko-KR" sz="3200" dirty="0">
                <a:latin typeface="+mn-ea"/>
              </a:rPr>
              <a:t>0</a:t>
            </a:r>
            <a:r>
              <a:rPr lang="ko-KR" altLang="en-US" sz="3200" dirty="0">
                <a:latin typeface="+mn-ea"/>
              </a:rPr>
              <a:t>으로 만들기란 어려움</a:t>
            </a:r>
            <a:r>
              <a:rPr lang="en-US" altLang="ko-KR" sz="3200" dirty="0">
                <a:latin typeface="+mn-ea"/>
              </a:rPr>
              <a:t>  &gt;  </a:t>
            </a:r>
            <a:r>
              <a:rPr lang="ko-KR" altLang="en-US" sz="3200" dirty="0">
                <a:latin typeface="+mn-ea"/>
              </a:rPr>
              <a:t>따라서 최소가 되는        를 찾기 위함</a:t>
            </a:r>
            <a:endParaRPr lang="en-US" altLang="ko-KR" sz="3200" dirty="0">
              <a:latin typeface="+mn-ea"/>
            </a:endParaRPr>
          </a:p>
        </p:txBody>
      </p:sp>
      <p:pic>
        <p:nvPicPr>
          <p:cNvPr id="2" name="그림 1">
            <a:extLst>
              <a:ext uri="{FF2B5EF4-FFF2-40B4-BE49-F238E27FC236}">
                <a16:creationId xmlns:a16="http://schemas.microsoft.com/office/drawing/2014/main" id="{7896A14A-9590-57A8-6FE2-F85141EE9C49}"/>
              </a:ext>
            </a:extLst>
          </p:cNvPr>
          <p:cNvPicPr>
            <a:picLocks noChangeAspect="1"/>
          </p:cNvPicPr>
          <p:nvPr/>
        </p:nvPicPr>
        <p:blipFill>
          <a:blip r:embed="rId10"/>
          <a:stretch>
            <a:fillRect/>
          </a:stretch>
        </p:blipFill>
        <p:spPr>
          <a:xfrm>
            <a:off x="14990091" y="381000"/>
            <a:ext cx="9012909" cy="3233932"/>
          </a:xfrm>
          <a:prstGeom prst="rect">
            <a:avLst/>
          </a:prstGeom>
          <a:ln w="57150">
            <a:solidFill>
              <a:srgbClr val="FF0000"/>
            </a:solidFill>
          </a:ln>
        </p:spPr>
      </p:pic>
      <p:pic>
        <p:nvPicPr>
          <p:cNvPr id="23" name="그림 22" descr="\documentclass{article}&#10;\usepackage{amsmath}&#10;\pagestyle{empty}&#10;\begin{document}&#10;&#10;&#10;$&#10;g(y)= \;&#10;\underbrace{\begin{bmatrix} A_v &amp; A_u \end{bmatrix}}_{A}\,&#10;\underbrace{\begin{bmatrix} \dot v_q \\[2pt] u \end{bmatrix}}_{y}&#10;\;-\;&#10;a&#10;$&#10;&#10;\end{document}" title="IguanaTex Bitmap Display">
            <a:extLst>
              <a:ext uri="{FF2B5EF4-FFF2-40B4-BE49-F238E27FC236}">
                <a16:creationId xmlns:a16="http://schemas.microsoft.com/office/drawing/2014/main" id="{16E2681F-DD7A-19BD-055E-E6F2C81A0A6E}"/>
              </a:ext>
            </a:extLst>
          </p:cNvPr>
          <p:cNvPicPr>
            <a:picLocks noChangeAspect="1"/>
          </p:cNvPicPr>
          <p:nvPr>
            <p:custDataLst>
              <p:tags r:id="rId1"/>
            </p:custDataLst>
          </p:nvPr>
        </p:nvPicPr>
        <p:blipFill>
          <a:blip r:embed="rId11" cstate="print">
            <a:extLst>
              <a:ext uri="{28A0092B-C50C-407E-A947-70E740481C1C}">
                <a14:useLocalDpi xmlns:a14="http://schemas.microsoft.com/office/drawing/2010/main" val="0"/>
              </a:ext>
            </a:extLst>
          </a:blip>
          <a:stretch>
            <a:fillRect/>
          </a:stretch>
        </p:blipFill>
        <p:spPr>
          <a:xfrm>
            <a:off x="5715000" y="5603563"/>
            <a:ext cx="7614052" cy="2508874"/>
          </a:xfrm>
          <a:prstGeom prst="rect">
            <a:avLst/>
          </a:prstGeom>
        </p:spPr>
      </p:pic>
      <p:pic>
        <p:nvPicPr>
          <p:cNvPr id="25" name="그림 24" descr="\documentclass{article}&#10;\usepackage{amsmath}&#10;\pagestyle{empty}&#10;\begin{document}&#10;&#10;&#10;$&#10;g(y)&#10;$&#10;&#10;\end{document}" title="IguanaTex Bitmap Display">
            <a:extLst>
              <a:ext uri="{FF2B5EF4-FFF2-40B4-BE49-F238E27FC236}">
                <a16:creationId xmlns:a16="http://schemas.microsoft.com/office/drawing/2014/main" id="{31D9C001-E706-9531-AB8C-367AB7E18CAB}"/>
              </a:ext>
            </a:extLst>
          </p:cNvPr>
          <p:cNvPicPr>
            <a:picLocks noChangeAspect="1"/>
          </p:cNvPicPr>
          <p:nvPr>
            <p:custDataLst>
              <p:tags r:id="rId2"/>
            </p:custDataLst>
          </p:nvPr>
        </p:nvPicPr>
        <p:blipFill>
          <a:blip r:embed="rId12" cstate="print">
            <a:extLst>
              <a:ext uri="{28A0092B-C50C-407E-A947-70E740481C1C}">
                <a14:useLocalDpi xmlns:a14="http://schemas.microsoft.com/office/drawing/2010/main" val="0"/>
              </a:ext>
            </a:extLst>
          </a:blip>
          <a:stretch>
            <a:fillRect/>
          </a:stretch>
        </p:blipFill>
        <p:spPr>
          <a:xfrm>
            <a:off x="6096000" y="11887200"/>
            <a:ext cx="838200" cy="494627"/>
          </a:xfrm>
          <a:prstGeom prst="rect">
            <a:avLst/>
          </a:prstGeom>
        </p:spPr>
      </p:pic>
      <p:pic>
        <p:nvPicPr>
          <p:cNvPr id="26" name="그림 25" descr="\documentclass{article}&#10;\usepackage{amsmath}&#10;\pagestyle{empty}&#10;\begin{document}&#10;&#10;&#10;$&#10;g(y)&#10;$&#10;&#10;\end{document}" title="IguanaTex Bitmap Display">
            <a:extLst>
              <a:ext uri="{FF2B5EF4-FFF2-40B4-BE49-F238E27FC236}">
                <a16:creationId xmlns:a16="http://schemas.microsoft.com/office/drawing/2014/main" id="{E263EDAE-965B-2CAB-EC59-7708F31E7BA6}"/>
              </a:ext>
            </a:extLst>
          </p:cNvPr>
          <p:cNvPicPr>
            <a:picLocks noChangeAspect="1"/>
          </p:cNvPicPr>
          <p:nvPr>
            <p:custDataLst>
              <p:tags r:id="rId3"/>
            </p:custDataLst>
          </p:nvPr>
        </p:nvPicPr>
        <p:blipFill>
          <a:blip r:embed="rId12" cstate="print">
            <a:extLst>
              <a:ext uri="{28A0092B-C50C-407E-A947-70E740481C1C}">
                <a14:useLocalDpi xmlns:a14="http://schemas.microsoft.com/office/drawing/2010/main" val="0"/>
              </a:ext>
            </a:extLst>
          </a:blip>
          <a:stretch>
            <a:fillRect/>
          </a:stretch>
        </p:blipFill>
        <p:spPr>
          <a:xfrm>
            <a:off x="16383000" y="11887200"/>
            <a:ext cx="838200" cy="494627"/>
          </a:xfrm>
          <a:prstGeom prst="rect">
            <a:avLst/>
          </a:prstGeom>
        </p:spPr>
      </p:pic>
      <p:pic>
        <p:nvPicPr>
          <p:cNvPr id="34" name="그림 33" descr="\documentclass{article}&#10;\usepackage{amsmath}&#10;\pagestyle{empty}&#10;\begin{document}&#10;&#10;&#10;$&#10;g(y) \;=&#10;\underbrace{\begin{bmatrix}&#10;A_{v,1} &amp; A_{u,1} \\&#10;A_{v,2} &amp; A_{u,2} \\&#10;\vdots  &amp; \vdots  \\&#10;A_{v,\ell} &amp; A_{u,\ell}&#10;\end{bmatrix}}_{=A}&#10;\underbrace{\begin{bmatrix} \dot v_q \\[2pt] u \end{bmatrix}}_{=y}&#10;\;-\;&#10;\underbrace{\begin{bmatrix}&#10;a_{1}\\ a_{2}\\ \vdots\\ a_{\ell}&#10;\end{bmatrix}}_{=a}&#10;\;=\; A y - a&#10;$&#10;&#10;\end{document}" title="IguanaTex Bitmap Display">
            <a:extLst>
              <a:ext uri="{FF2B5EF4-FFF2-40B4-BE49-F238E27FC236}">
                <a16:creationId xmlns:a16="http://schemas.microsoft.com/office/drawing/2014/main" id="{310AAE1B-DA53-5433-E1A6-5A3BA417DE6B}"/>
              </a:ext>
            </a:extLst>
          </p:cNvPr>
          <p:cNvPicPr>
            <a:picLocks noChangeAspect="1"/>
          </p:cNvPicPr>
          <p:nvPr>
            <p:custDataLst>
              <p:tags r:id="rId4"/>
            </p:custDataLst>
          </p:nvPr>
        </p:nvPicPr>
        <p:blipFill>
          <a:blip r:embed="rId13" cstate="print">
            <a:extLst>
              <a:ext uri="{28A0092B-C50C-407E-A947-70E740481C1C}">
                <a14:useLocalDpi xmlns:a14="http://schemas.microsoft.com/office/drawing/2010/main" val="0"/>
              </a:ext>
            </a:extLst>
          </a:blip>
          <a:stretch>
            <a:fillRect/>
          </a:stretch>
        </p:blipFill>
        <p:spPr>
          <a:xfrm>
            <a:off x="13857188" y="8112437"/>
            <a:ext cx="9764812" cy="3233932"/>
          </a:xfrm>
          <a:prstGeom prst="rect">
            <a:avLst/>
          </a:prstGeom>
        </p:spPr>
      </p:pic>
      <p:pic>
        <p:nvPicPr>
          <p:cNvPr id="35" name="그림 34" descr="\documentclass{article}&#10;\usepackage{amsmath}&#10;\pagestyle{empty}&#10;\begin{document}&#10;&#10;&#10;$&#10;g(y)&#10;$&#10;&#10;\end{document}" title="IguanaTex Bitmap Display">
            <a:extLst>
              <a:ext uri="{FF2B5EF4-FFF2-40B4-BE49-F238E27FC236}">
                <a16:creationId xmlns:a16="http://schemas.microsoft.com/office/drawing/2014/main" id="{E7A94EE7-676D-879B-2626-A76B930C68BE}"/>
              </a:ext>
            </a:extLst>
          </p:cNvPr>
          <p:cNvPicPr>
            <a:picLocks noChangeAspect="1"/>
          </p:cNvPicPr>
          <p:nvPr>
            <p:custDataLst>
              <p:tags r:id="rId5"/>
            </p:custDataLst>
          </p:nvPr>
        </p:nvPicPr>
        <p:blipFill>
          <a:blip r:embed="rId12" cstate="print">
            <a:extLst>
              <a:ext uri="{28A0092B-C50C-407E-A947-70E740481C1C}">
                <a14:useLocalDpi xmlns:a14="http://schemas.microsoft.com/office/drawing/2010/main" val="0"/>
              </a:ext>
            </a:extLst>
          </a:blip>
          <a:stretch>
            <a:fillRect/>
          </a:stretch>
        </p:blipFill>
        <p:spPr>
          <a:xfrm>
            <a:off x="9220577" y="2427854"/>
            <a:ext cx="838200" cy="494627"/>
          </a:xfrm>
          <a:prstGeom prst="rect">
            <a:avLst/>
          </a:prstGeom>
        </p:spPr>
      </p:pic>
      <p:pic>
        <p:nvPicPr>
          <p:cNvPr id="5" name="그림 4" descr="\documentclass{article}&#10;\usepackage{amsmath}&#10;\pagestyle{empty}&#10;\begin{document}&#10;&#10;&#10;$&#10;g(y)=A_v \dot{v_q} -a&#10;$&#10;&#10;\end{document}" title="IguanaTex Bitmap Display">
            <a:extLst>
              <a:ext uri="{FF2B5EF4-FFF2-40B4-BE49-F238E27FC236}">
                <a16:creationId xmlns:a16="http://schemas.microsoft.com/office/drawing/2014/main" id="{E3C95DC1-A4E0-7F70-0BD4-E7C3524825AB}"/>
              </a:ext>
            </a:extLst>
          </p:cNvPr>
          <p:cNvPicPr>
            <a:picLocks noChangeAspect="1"/>
          </p:cNvPicPr>
          <p:nvPr>
            <p:custDataLst>
              <p:tags r:id="rId6"/>
            </p:custDataLst>
          </p:nvPr>
        </p:nvPicPr>
        <p:blipFill>
          <a:blip r:embed="rId14" cstate="print">
            <a:extLst>
              <a:ext uri="{28A0092B-C50C-407E-A947-70E740481C1C}">
                <a14:useLocalDpi xmlns:a14="http://schemas.microsoft.com/office/drawing/2010/main" val="0"/>
              </a:ext>
            </a:extLst>
          </a:blip>
          <a:stretch>
            <a:fillRect/>
          </a:stretch>
        </p:blipFill>
        <p:spPr>
          <a:xfrm>
            <a:off x="2070684" y="2398368"/>
            <a:ext cx="3724800" cy="553600"/>
          </a:xfrm>
          <a:prstGeom prst="rect">
            <a:avLst/>
          </a:prstGeom>
        </p:spPr>
      </p:pic>
      <p:pic>
        <p:nvPicPr>
          <p:cNvPr id="7" name="그림 6" descr="\documentclass{article}&#10;\usepackage{amsmath}&#10;\pagestyle{empty}&#10;\begin{document}&#10;&#10;&#10;$&#10;g(y)&#10;$&#10;&#10;\end{document}" title="IguanaTex Bitmap Display">
            <a:extLst>
              <a:ext uri="{FF2B5EF4-FFF2-40B4-BE49-F238E27FC236}">
                <a16:creationId xmlns:a16="http://schemas.microsoft.com/office/drawing/2014/main" id="{D1E736DE-7F01-F628-F950-40B1508C3E1F}"/>
              </a:ext>
            </a:extLst>
          </p:cNvPr>
          <p:cNvPicPr>
            <a:picLocks noChangeAspect="1"/>
          </p:cNvPicPr>
          <p:nvPr>
            <p:custDataLst>
              <p:tags r:id="rId7"/>
            </p:custDataLst>
          </p:nvPr>
        </p:nvPicPr>
        <p:blipFill>
          <a:blip r:embed="rId12" cstate="print">
            <a:extLst>
              <a:ext uri="{28A0092B-C50C-407E-A947-70E740481C1C}">
                <a14:useLocalDpi xmlns:a14="http://schemas.microsoft.com/office/drawing/2010/main" val="0"/>
              </a:ext>
            </a:extLst>
          </a:blip>
          <a:stretch>
            <a:fillRect/>
          </a:stretch>
        </p:blipFill>
        <p:spPr>
          <a:xfrm>
            <a:off x="3962400" y="6096000"/>
            <a:ext cx="838200" cy="494627"/>
          </a:xfrm>
          <a:prstGeom prst="rect">
            <a:avLst/>
          </a:prstGeom>
        </p:spPr>
      </p:pic>
    </p:spTree>
    <p:extLst>
      <p:ext uri="{BB962C8B-B14F-4D97-AF65-F5344CB8AC3E}">
        <p14:creationId xmlns:p14="http://schemas.microsoft.com/office/powerpoint/2010/main" val="6195213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94C94D-C831-7BC3-748C-28A3BAE060DD}"/>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B39A74A4-BB26-5E53-565A-1E8C3D36BF70}"/>
              </a:ext>
            </a:extLst>
          </p:cNvPr>
          <p:cNvSpPr/>
          <p:nvPr/>
        </p:nvSpPr>
        <p:spPr>
          <a:xfrm>
            <a:off x="0" y="0"/>
            <a:ext cx="821042" cy="13716000"/>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각 삼각형 58">
            <a:extLst>
              <a:ext uri="{FF2B5EF4-FFF2-40B4-BE49-F238E27FC236}">
                <a16:creationId xmlns:a16="http://schemas.microsoft.com/office/drawing/2014/main" id="{B40EAD40-74C9-2B50-6551-A2128BFDEC5F}"/>
              </a:ext>
            </a:extLst>
          </p:cNvPr>
          <p:cNvSpPr/>
          <p:nvPr/>
        </p:nvSpPr>
        <p:spPr>
          <a:xfrm rot="10800000" flipH="1">
            <a:off x="1" y="0"/>
            <a:ext cx="1905000" cy="1828800"/>
          </a:xfrm>
          <a:prstGeom prst="rtTriangle">
            <a:avLst/>
          </a:prstGeom>
          <a:solidFill>
            <a:srgbClr val="1E1B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4">
            <a:extLst>
              <a:ext uri="{FF2B5EF4-FFF2-40B4-BE49-F238E27FC236}">
                <a16:creationId xmlns:a16="http://schemas.microsoft.com/office/drawing/2014/main" id="{A8C51F2A-0643-6612-B13C-2A6804F79D9D}"/>
              </a:ext>
            </a:extLst>
          </p:cNvPr>
          <p:cNvSpPr txBox="1"/>
          <p:nvPr/>
        </p:nvSpPr>
        <p:spPr>
          <a:xfrm>
            <a:off x="1600200" y="609600"/>
            <a:ext cx="13182600" cy="990600"/>
          </a:xfrm>
          <a:prstGeom prst="rect">
            <a:avLst/>
          </a:prstGeom>
        </p:spPr>
        <p:txBody>
          <a:bodyPr lIns="0" tIns="101600" rIns="0" bIns="0" rtlCol="0" anchor="t"/>
          <a:lstStyle/>
          <a:p>
            <a:pPr lvl="0">
              <a:lnSpc>
                <a:spcPct val="99600"/>
              </a:lnSpc>
            </a:pPr>
            <a:r>
              <a:rPr lang="en-US" altLang="ko-KR" sz="6000" b="1" dirty="0">
                <a:solidFill>
                  <a:srgbClr val="000000"/>
                </a:solidFill>
                <a:latin typeface="Arial" panose="020B0604020202020204" pitchFamily="34" charset="0"/>
                <a:cs typeface="Arial" panose="020B0604020202020204" pitchFamily="34" charset="0"/>
              </a:rPr>
              <a:t>QP </a:t>
            </a:r>
            <a:r>
              <a:rPr lang="en" altLang="ko-KR" sz="6000" b="1" dirty="0">
                <a:solidFill>
                  <a:srgbClr val="000000"/>
                </a:solidFill>
                <a:latin typeface="Arial" panose="020B0604020202020204" pitchFamily="34" charset="0"/>
                <a:cs typeface="Arial" panose="020B0604020202020204" pitchFamily="34" charset="0"/>
              </a:rPr>
              <a:t>(</a:t>
            </a:r>
            <a:r>
              <a:rPr lang="en-US" altLang="ko-KR" sz="6000" b="1" dirty="0">
                <a:solidFill>
                  <a:srgbClr val="000000"/>
                </a:solidFill>
                <a:latin typeface="Arial" panose="020B0604020202020204" pitchFamily="34" charset="0"/>
                <a:cs typeface="Arial" panose="020B0604020202020204" pitchFamily="34" charset="0"/>
              </a:rPr>
              <a:t>Quadratic Program)</a:t>
            </a:r>
            <a:endParaRPr lang="en" altLang="ko-KR" sz="6000" b="1" dirty="0">
              <a:solidFill>
                <a:srgbClr val="000000"/>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BFC4FAFE-691A-9058-BA61-FB4213F13926}"/>
              </a:ext>
            </a:extLst>
          </p:cNvPr>
          <p:cNvSpPr txBox="1"/>
          <p:nvPr/>
        </p:nvSpPr>
        <p:spPr>
          <a:xfrm>
            <a:off x="2086897" y="2244213"/>
            <a:ext cx="21154103" cy="8861144"/>
          </a:xfrm>
          <a:prstGeom prst="rect">
            <a:avLst/>
          </a:prstGeom>
          <a:noFill/>
        </p:spPr>
        <p:txBody>
          <a:bodyPr wrap="square">
            <a:spAutoFit/>
          </a:bodyPr>
          <a:lstStyle/>
          <a:p>
            <a:pPr>
              <a:lnSpc>
                <a:spcPct val="150000"/>
              </a:lnSpc>
            </a:pPr>
            <a:r>
              <a:rPr lang="ko-KR" altLang="en-US" sz="3200" dirty="0">
                <a:latin typeface="+mn-ea"/>
              </a:rPr>
              <a:t>제어 문제를 최적화 문제로 </a:t>
            </a:r>
            <a:r>
              <a:rPr lang="ko-KR" altLang="en-US" sz="3200" dirty="0" err="1">
                <a:latin typeface="+mn-ea"/>
              </a:rPr>
              <a:t>정식화한다</a:t>
            </a:r>
            <a:endParaRPr lang="en-US" altLang="ko-KR" sz="3200" dirty="0">
              <a:latin typeface="+mn-ea"/>
            </a:endParaRPr>
          </a:p>
          <a:p>
            <a:pPr>
              <a:lnSpc>
                <a:spcPct val="150000"/>
              </a:lnSpc>
            </a:pPr>
            <a:endParaRPr lang="en-US" altLang="ko-KR" sz="3200" dirty="0">
              <a:latin typeface="+mn-ea"/>
            </a:endParaRPr>
          </a:p>
          <a:p>
            <a:pPr>
              <a:lnSpc>
                <a:spcPct val="150000"/>
              </a:lnSpc>
            </a:pPr>
            <a:r>
              <a:rPr lang="ko-KR" altLang="en-US" sz="3200" b="1" dirty="0">
                <a:latin typeface="+mn-ea"/>
              </a:rPr>
              <a:t>핵심 요소</a:t>
            </a:r>
            <a:endParaRPr lang="en-US" altLang="ko-KR" sz="3200" b="1" dirty="0">
              <a:latin typeface="+mn-ea"/>
            </a:endParaRPr>
          </a:p>
          <a:p>
            <a:pPr>
              <a:lnSpc>
                <a:spcPct val="200000"/>
              </a:lnSpc>
            </a:pPr>
            <a:endParaRPr lang="en-US" altLang="ko-KR" sz="3200" b="1" dirty="0">
              <a:latin typeface="+mn-ea"/>
            </a:endParaRPr>
          </a:p>
          <a:p>
            <a:pPr marL="457200" indent="-457200">
              <a:lnSpc>
                <a:spcPct val="200000"/>
              </a:lnSpc>
              <a:buFont typeface="Arial" panose="020B0604020202020204" pitchFamily="34" charset="0"/>
              <a:buChar char="•"/>
            </a:pPr>
            <a:r>
              <a:rPr lang="ko-KR" altLang="en-US" sz="3200" b="1" dirty="0">
                <a:latin typeface="+mn-ea"/>
              </a:rPr>
              <a:t>상태 </a:t>
            </a:r>
            <a:r>
              <a:rPr lang="en-US" altLang="ko-KR" sz="3200" b="1" dirty="0">
                <a:latin typeface="+mn-ea"/>
              </a:rPr>
              <a:t>: </a:t>
            </a:r>
          </a:p>
          <a:p>
            <a:pPr marL="457200" indent="-457200">
              <a:lnSpc>
                <a:spcPct val="200000"/>
              </a:lnSpc>
              <a:buFont typeface="Arial" panose="020B0604020202020204" pitchFamily="34" charset="0"/>
              <a:buChar char="•"/>
            </a:pPr>
            <a:r>
              <a:rPr lang="ko-KR" altLang="en-US" sz="3200" b="1" dirty="0">
                <a:latin typeface="+mn-ea"/>
              </a:rPr>
              <a:t>제어 입력 </a:t>
            </a:r>
            <a:r>
              <a:rPr lang="en-US" altLang="ko-KR" sz="3200" b="1" dirty="0">
                <a:latin typeface="+mn-ea"/>
              </a:rPr>
              <a:t>: </a:t>
            </a:r>
          </a:p>
          <a:p>
            <a:pPr marL="457200" indent="-457200">
              <a:lnSpc>
                <a:spcPct val="200000"/>
              </a:lnSpc>
              <a:buFont typeface="Arial" panose="020B0604020202020204" pitchFamily="34" charset="0"/>
              <a:buChar char="•"/>
            </a:pPr>
            <a:r>
              <a:rPr lang="ko-KR" altLang="en-US" sz="3200" b="1" dirty="0">
                <a:latin typeface="+mn-ea"/>
              </a:rPr>
              <a:t>동역학 방정식</a:t>
            </a:r>
            <a:r>
              <a:rPr lang="en-US" altLang="ko-KR" sz="3200" b="1" dirty="0">
                <a:latin typeface="+mn-ea"/>
              </a:rPr>
              <a:t>(no contacts) :</a:t>
            </a:r>
          </a:p>
          <a:p>
            <a:pPr marL="457200" indent="-457200">
              <a:lnSpc>
                <a:spcPct val="200000"/>
              </a:lnSpc>
              <a:buFont typeface="Arial" panose="020B0604020202020204" pitchFamily="34" charset="0"/>
              <a:buChar char="•"/>
            </a:pPr>
            <a:r>
              <a:rPr lang="ko-KR" altLang="en-US" sz="3200" b="1" dirty="0">
                <a:latin typeface="+mn-ea"/>
              </a:rPr>
              <a:t>최소화할 </a:t>
            </a:r>
            <a:r>
              <a:rPr lang="en-US" altLang="ko-KR" sz="3200" b="1" dirty="0">
                <a:latin typeface="+mn-ea"/>
              </a:rPr>
              <a:t>Task Function :</a:t>
            </a:r>
          </a:p>
          <a:p>
            <a:pPr marL="457200" indent="-457200">
              <a:lnSpc>
                <a:spcPct val="200000"/>
              </a:lnSpc>
              <a:buFont typeface="Arial" panose="020B0604020202020204" pitchFamily="34" charset="0"/>
              <a:buChar char="•"/>
            </a:pPr>
            <a:endParaRPr lang="en-US" altLang="ko-KR" sz="3200" b="1" dirty="0">
              <a:latin typeface="+mn-ea"/>
            </a:endParaRPr>
          </a:p>
          <a:p>
            <a:pPr marL="457200" indent="-457200">
              <a:lnSpc>
                <a:spcPct val="150000"/>
              </a:lnSpc>
              <a:buFont typeface="Arial" panose="020B0604020202020204" pitchFamily="34" charset="0"/>
              <a:buChar char="•"/>
            </a:pPr>
            <a:endParaRPr lang="en-US" altLang="ko-KR" sz="3200" b="1" dirty="0">
              <a:latin typeface="+mn-ea"/>
            </a:endParaRPr>
          </a:p>
        </p:txBody>
      </p:sp>
      <p:pic>
        <p:nvPicPr>
          <p:cNvPr id="7" name="그림 6" descr="\documentclass{article}&#10;\usepackage{amsmath}&#10;\pagestyle{empty}&#10;\begin{document}&#10;&#10;&#10;$&#10;x = (\,q,\, v_q\,)&#10;$&#10;&#10;\end{document}" title="IguanaTex Bitmap Display">
            <a:extLst>
              <a:ext uri="{FF2B5EF4-FFF2-40B4-BE49-F238E27FC236}">
                <a16:creationId xmlns:a16="http://schemas.microsoft.com/office/drawing/2014/main" id="{4057A8D4-28AB-C747-1288-03A6795116F2}"/>
              </a:ext>
            </a:extLst>
          </p:cNvPr>
          <p:cNvPicPr>
            <a:picLocks noChangeAspect="1"/>
          </p:cNvPicPr>
          <p:nvPr>
            <p:custDataLst>
              <p:tags r:id="rId1"/>
            </p:custDataLst>
          </p:nvPr>
        </p:nvPicPr>
        <p:blipFill>
          <a:blip r:embed="rId7" cstate="print">
            <a:extLst>
              <a:ext uri="{28A0092B-C50C-407E-A947-70E740481C1C}">
                <a14:useLocalDpi xmlns:a14="http://schemas.microsoft.com/office/drawing/2010/main" val="0"/>
              </a:ext>
            </a:extLst>
          </a:blip>
          <a:stretch>
            <a:fillRect/>
          </a:stretch>
        </p:blipFill>
        <p:spPr>
          <a:xfrm>
            <a:off x="4114800" y="5771000"/>
            <a:ext cx="2611200" cy="553600"/>
          </a:xfrm>
          <a:prstGeom prst="rect">
            <a:avLst/>
          </a:prstGeom>
        </p:spPr>
      </p:pic>
      <p:pic>
        <p:nvPicPr>
          <p:cNvPr id="10" name="그림 9" descr="\documentclass{article}&#10;\usepackage{amsmath}&#10;\pagestyle{empty}&#10;\begin{document}&#10;&#10;&#10;$&#10;u = \tau&#10;$&#10;&#10;\end{document}" title="IguanaTex Bitmap Display">
            <a:extLst>
              <a:ext uri="{FF2B5EF4-FFF2-40B4-BE49-F238E27FC236}">
                <a16:creationId xmlns:a16="http://schemas.microsoft.com/office/drawing/2014/main" id="{F2BF70D4-63E1-03F3-5FB2-010803D7FF9F}"/>
              </a:ext>
            </a:extLst>
          </p:cNvPr>
          <p:cNvPicPr>
            <a:picLocks noChangeAspect="1"/>
          </p:cNvPicPr>
          <p:nvPr>
            <p:custDataLst>
              <p:tags r:id="rId2"/>
            </p:custDataLst>
          </p:nvPr>
        </p:nvPicPr>
        <p:blipFill>
          <a:blip r:embed="rId8" cstate="print">
            <a:extLst>
              <a:ext uri="{28A0092B-C50C-407E-A947-70E740481C1C}">
                <a14:useLocalDpi xmlns:a14="http://schemas.microsoft.com/office/drawing/2010/main" val="0"/>
              </a:ext>
            </a:extLst>
          </a:blip>
          <a:stretch>
            <a:fillRect/>
          </a:stretch>
        </p:blipFill>
        <p:spPr>
          <a:xfrm>
            <a:off x="5214226" y="6937731"/>
            <a:ext cx="1511774" cy="284882"/>
          </a:xfrm>
          <a:prstGeom prst="rect">
            <a:avLst/>
          </a:prstGeom>
        </p:spPr>
      </p:pic>
      <p:pic>
        <p:nvPicPr>
          <p:cNvPr id="12" name="그림 11" descr="\documentclass{article}&#10;\usepackage{amsmath}&#10;\pagestyle{empty}&#10;\begin{document}&#10;&#10;&#10;$&#10;M(q)\,\dot v_q \;+\; h(q,v_q) \;=\; S^{\top}\,\tau&#10;$&#10;&#10;\end{document}" title="IguanaTex Bitmap Display">
            <a:extLst>
              <a:ext uri="{FF2B5EF4-FFF2-40B4-BE49-F238E27FC236}">
                <a16:creationId xmlns:a16="http://schemas.microsoft.com/office/drawing/2014/main" id="{28113018-90EA-9FC7-72A9-5653F6C1F939}"/>
              </a:ext>
            </a:extLst>
          </p:cNvPr>
          <p:cNvPicPr>
            <a:picLocks noChangeAspect="1"/>
          </p:cNvPicPr>
          <p:nvPr>
            <p:custDataLst>
              <p:tags r:id="rId3"/>
            </p:custDataLst>
          </p:nvPr>
        </p:nvPicPr>
        <p:blipFill>
          <a:blip r:embed="rId9" cstate="print">
            <a:extLst>
              <a:ext uri="{28A0092B-C50C-407E-A947-70E740481C1C}">
                <a14:useLocalDpi xmlns:a14="http://schemas.microsoft.com/office/drawing/2010/main" val="0"/>
              </a:ext>
            </a:extLst>
          </a:blip>
          <a:stretch>
            <a:fillRect/>
          </a:stretch>
        </p:blipFill>
        <p:spPr>
          <a:xfrm>
            <a:off x="8556400" y="7696200"/>
            <a:ext cx="6531200" cy="604800"/>
          </a:xfrm>
          <a:prstGeom prst="rect">
            <a:avLst/>
          </a:prstGeom>
        </p:spPr>
      </p:pic>
      <p:pic>
        <p:nvPicPr>
          <p:cNvPr id="14" name="그림 13" descr="\documentclass{article}&#10;\usepackage{amsmath}&#10;\pagestyle{empty}&#10;\begin{document}&#10;&#10;&#10;$&#10;\|g(y)\|^{2} \;= \|A y - a\|^{2}&#10;$&#10;&#10;\end{document}" title="IguanaTex Bitmap Display">
            <a:extLst>
              <a:ext uri="{FF2B5EF4-FFF2-40B4-BE49-F238E27FC236}">
                <a16:creationId xmlns:a16="http://schemas.microsoft.com/office/drawing/2014/main" id="{ED33D58D-4F7B-5D74-82ED-9029A1B7AA0D}"/>
              </a:ext>
            </a:extLst>
          </p:cNvPr>
          <p:cNvPicPr>
            <a:picLocks noChangeAspect="1"/>
          </p:cNvPicPr>
          <p:nvPr>
            <p:custDataLst>
              <p:tags r:id="rId4"/>
            </p:custDataLst>
          </p:nvPr>
        </p:nvPicPr>
        <p:blipFill>
          <a:blip r:embed="rId10" cstate="print">
            <a:extLst>
              <a:ext uri="{28A0092B-C50C-407E-A947-70E740481C1C}">
                <a14:useLocalDpi xmlns:a14="http://schemas.microsoft.com/office/drawing/2010/main" val="0"/>
              </a:ext>
            </a:extLst>
          </a:blip>
          <a:stretch>
            <a:fillRect/>
          </a:stretch>
        </p:blipFill>
        <p:spPr>
          <a:xfrm>
            <a:off x="7772400" y="8686800"/>
            <a:ext cx="4851200" cy="572800"/>
          </a:xfrm>
          <a:prstGeom prst="rect">
            <a:avLst/>
          </a:prstGeom>
        </p:spPr>
      </p:pic>
    </p:spTree>
    <p:extLst>
      <p:ext uri="{BB962C8B-B14F-4D97-AF65-F5344CB8AC3E}">
        <p14:creationId xmlns:p14="http://schemas.microsoft.com/office/powerpoint/2010/main" val="26128735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F4B2F-0FB4-D573-C9CD-5DB1DEFE016B}"/>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366BDDDD-2AA1-0D19-A22D-63DAECD6F2BF}"/>
              </a:ext>
            </a:extLst>
          </p:cNvPr>
          <p:cNvSpPr/>
          <p:nvPr/>
        </p:nvSpPr>
        <p:spPr>
          <a:xfrm>
            <a:off x="0" y="0"/>
            <a:ext cx="821042" cy="13716000"/>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각 삼각형 58">
            <a:extLst>
              <a:ext uri="{FF2B5EF4-FFF2-40B4-BE49-F238E27FC236}">
                <a16:creationId xmlns:a16="http://schemas.microsoft.com/office/drawing/2014/main" id="{F102E1F5-6C50-9BC1-22E8-4AD3FDBBE0DE}"/>
              </a:ext>
            </a:extLst>
          </p:cNvPr>
          <p:cNvSpPr/>
          <p:nvPr/>
        </p:nvSpPr>
        <p:spPr>
          <a:xfrm rot="10800000" flipH="1">
            <a:off x="1" y="0"/>
            <a:ext cx="1905000" cy="1828800"/>
          </a:xfrm>
          <a:prstGeom prst="rtTriangle">
            <a:avLst/>
          </a:prstGeom>
          <a:solidFill>
            <a:srgbClr val="1E1B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4">
            <a:extLst>
              <a:ext uri="{FF2B5EF4-FFF2-40B4-BE49-F238E27FC236}">
                <a16:creationId xmlns:a16="http://schemas.microsoft.com/office/drawing/2014/main" id="{65B97DBD-6904-ECE3-A58A-AB2BD7B4FEDC}"/>
              </a:ext>
            </a:extLst>
          </p:cNvPr>
          <p:cNvSpPr txBox="1"/>
          <p:nvPr/>
        </p:nvSpPr>
        <p:spPr>
          <a:xfrm>
            <a:off x="1600200" y="609600"/>
            <a:ext cx="13182600" cy="990600"/>
          </a:xfrm>
          <a:prstGeom prst="rect">
            <a:avLst/>
          </a:prstGeom>
        </p:spPr>
        <p:txBody>
          <a:bodyPr lIns="0" tIns="101600" rIns="0" bIns="0" rtlCol="0" anchor="t"/>
          <a:lstStyle/>
          <a:p>
            <a:pPr lvl="0">
              <a:lnSpc>
                <a:spcPct val="99600"/>
              </a:lnSpc>
            </a:pPr>
            <a:r>
              <a:rPr lang="en-US" altLang="ko-KR" sz="6000" b="1" dirty="0">
                <a:solidFill>
                  <a:srgbClr val="000000"/>
                </a:solidFill>
                <a:latin typeface="Arial" panose="020B0604020202020204" pitchFamily="34" charset="0"/>
                <a:cs typeface="Arial" panose="020B0604020202020204" pitchFamily="34" charset="0"/>
              </a:rPr>
              <a:t>QP </a:t>
            </a:r>
            <a:r>
              <a:rPr lang="en" altLang="ko-KR" sz="6000" b="1" dirty="0">
                <a:solidFill>
                  <a:srgbClr val="000000"/>
                </a:solidFill>
                <a:latin typeface="Arial" panose="020B0604020202020204" pitchFamily="34" charset="0"/>
                <a:cs typeface="Arial" panose="020B0604020202020204" pitchFamily="34" charset="0"/>
              </a:rPr>
              <a:t>(</a:t>
            </a:r>
            <a:r>
              <a:rPr lang="en-US" altLang="ko-KR" sz="6000" b="1" dirty="0">
                <a:solidFill>
                  <a:srgbClr val="000000"/>
                </a:solidFill>
                <a:latin typeface="Arial" panose="020B0604020202020204" pitchFamily="34" charset="0"/>
                <a:cs typeface="Arial" panose="020B0604020202020204" pitchFamily="34" charset="0"/>
              </a:rPr>
              <a:t>Quadratic Program)</a:t>
            </a:r>
            <a:endParaRPr lang="en" altLang="ko-KR" sz="6000" b="1" dirty="0">
              <a:solidFill>
                <a:srgbClr val="000000"/>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E4E422EA-6954-E5A4-D238-1CF7EDFBE3DF}"/>
              </a:ext>
            </a:extLst>
          </p:cNvPr>
          <p:cNvSpPr txBox="1"/>
          <p:nvPr/>
        </p:nvSpPr>
        <p:spPr>
          <a:xfrm>
            <a:off x="2086897" y="2244213"/>
            <a:ext cx="21154103" cy="9846029"/>
          </a:xfrm>
          <a:prstGeom prst="rect">
            <a:avLst/>
          </a:prstGeom>
          <a:noFill/>
        </p:spPr>
        <p:txBody>
          <a:bodyPr wrap="square">
            <a:spAutoFit/>
          </a:bodyPr>
          <a:lstStyle/>
          <a:p>
            <a:pPr marL="457200" indent="-457200">
              <a:lnSpc>
                <a:spcPct val="200000"/>
              </a:lnSpc>
              <a:buFont typeface="Arial" panose="020B0604020202020204" pitchFamily="34" charset="0"/>
              <a:buChar char="•"/>
            </a:pPr>
            <a:r>
              <a:rPr lang="ko-KR" altLang="en-US" sz="3200" b="1" dirty="0">
                <a:latin typeface="+mn-ea"/>
              </a:rPr>
              <a:t>최소화할 </a:t>
            </a:r>
            <a:r>
              <a:rPr lang="en-US" altLang="ko-KR" sz="3200" b="1" dirty="0">
                <a:latin typeface="+mn-ea"/>
              </a:rPr>
              <a:t>Task Function :</a:t>
            </a:r>
          </a:p>
          <a:p>
            <a:pPr>
              <a:lnSpc>
                <a:spcPct val="200000"/>
              </a:lnSpc>
            </a:pPr>
            <a:endParaRPr lang="en-US" altLang="ko-KR" sz="3200" b="1" dirty="0">
              <a:latin typeface="+mn-ea"/>
            </a:endParaRPr>
          </a:p>
          <a:p>
            <a:pPr>
              <a:lnSpc>
                <a:spcPct val="200000"/>
              </a:lnSpc>
            </a:pPr>
            <a:r>
              <a:rPr lang="ko-KR" altLang="en-US" sz="4000" b="1" dirty="0">
                <a:latin typeface="+mn-ea"/>
              </a:rPr>
              <a:t>절댓값을 취한 후</a:t>
            </a:r>
            <a:r>
              <a:rPr lang="en-US" altLang="ko-KR" sz="4000" b="1" dirty="0">
                <a:latin typeface="+mn-ea"/>
              </a:rPr>
              <a:t>, </a:t>
            </a:r>
            <a:r>
              <a:rPr lang="ko-KR" altLang="en-US" sz="4000" b="1" dirty="0">
                <a:latin typeface="+mn-ea"/>
              </a:rPr>
              <a:t>제곱을 하여 계산하는 이유</a:t>
            </a:r>
            <a:endParaRPr lang="en-US" altLang="ko-KR" sz="3200" dirty="0">
              <a:latin typeface="+mn-ea"/>
            </a:endParaRPr>
          </a:p>
          <a:p>
            <a:pPr marL="457200" indent="-457200">
              <a:lnSpc>
                <a:spcPct val="200000"/>
              </a:lnSpc>
              <a:buFont typeface="Arial" panose="020B0604020202020204" pitchFamily="34" charset="0"/>
              <a:buChar char="•"/>
            </a:pPr>
            <a:r>
              <a:rPr lang="ko-KR" altLang="en-US" sz="3200" dirty="0">
                <a:latin typeface="+mn-ea"/>
              </a:rPr>
              <a:t>        자체는 벡터이기 때문에 </a:t>
            </a:r>
            <a:r>
              <a:rPr lang="en-US" altLang="ko-KR" sz="3200" dirty="0">
                <a:latin typeface="+mn-ea"/>
              </a:rPr>
              <a:t>0</a:t>
            </a:r>
            <a:r>
              <a:rPr lang="ko-KR" altLang="en-US" sz="3200" dirty="0">
                <a:latin typeface="+mn-ea"/>
              </a:rPr>
              <a:t>에 가까운 </a:t>
            </a:r>
            <a:r>
              <a:rPr lang="ko-KR" altLang="en-US" sz="3200" dirty="0" err="1">
                <a:latin typeface="+mn-ea"/>
              </a:rPr>
              <a:t>최적값을</a:t>
            </a:r>
            <a:r>
              <a:rPr lang="ko-KR" altLang="en-US" sz="3200" dirty="0">
                <a:latin typeface="+mn-ea"/>
              </a:rPr>
              <a:t> 구하기 위해서 스칼라 형태로 변형</a:t>
            </a:r>
            <a:endParaRPr lang="en-US" altLang="ko-KR" sz="3200" dirty="0">
              <a:latin typeface="+mn-ea"/>
            </a:endParaRPr>
          </a:p>
          <a:p>
            <a:pPr marL="457200" indent="-457200">
              <a:lnSpc>
                <a:spcPct val="200000"/>
              </a:lnSpc>
              <a:buFont typeface="Arial" panose="020B0604020202020204" pitchFamily="34" charset="0"/>
              <a:buChar char="•"/>
            </a:pPr>
            <a:r>
              <a:rPr lang="ko-KR" altLang="en-US" sz="3200" dirty="0">
                <a:latin typeface="+mn-ea"/>
              </a:rPr>
              <a:t>제곱을 한 것과 하지 않은 것의 해는 동일</a:t>
            </a:r>
            <a:endParaRPr lang="en-US" altLang="ko-KR" sz="3200" dirty="0">
              <a:latin typeface="+mn-ea"/>
            </a:endParaRPr>
          </a:p>
          <a:p>
            <a:pPr marL="457200" indent="-457200">
              <a:lnSpc>
                <a:spcPct val="200000"/>
              </a:lnSpc>
              <a:buFont typeface="Arial" panose="020B0604020202020204" pitchFamily="34" charset="0"/>
              <a:buChar char="•"/>
            </a:pPr>
            <a:r>
              <a:rPr lang="ko-KR" altLang="en-US" sz="3200" dirty="0">
                <a:latin typeface="+mn-ea"/>
              </a:rPr>
              <a:t>제곱을 하게 되면 볼록한 이차 형태가 되어</a:t>
            </a:r>
            <a:r>
              <a:rPr lang="en-US" altLang="ko-KR" sz="3200" dirty="0">
                <a:latin typeface="+mn-ea"/>
              </a:rPr>
              <a:t>, </a:t>
            </a:r>
            <a:r>
              <a:rPr lang="ko-KR" altLang="en-US" sz="3200" dirty="0">
                <a:latin typeface="+mn-ea"/>
              </a:rPr>
              <a:t>오차를 부드럽게 만들 수 있다</a:t>
            </a:r>
            <a:endParaRPr lang="en-US" altLang="ko-KR" sz="3200" dirty="0">
              <a:latin typeface="+mn-ea"/>
            </a:endParaRPr>
          </a:p>
          <a:p>
            <a:pPr marL="457200" indent="-457200">
              <a:lnSpc>
                <a:spcPct val="200000"/>
              </a:lnSpc>
              <a:buFont typeface="Arial" panose="020B0604020202020204" pitchFamily="34" charset="0"/>
              <a:buChar char="•"/>
            </a:pPr>
            <a:r>
              <a:rPr lang="ko-KR" altLang="en-US" sz="3200" dirty="0">
                <a:latin typeface="+mn-ea"/>
              </a:rPr>
              <a:t>이차 형태일 경우 더욱 빠르고 안정적이게 되어</a:t>
            </a:r>
            <a:r>
              <a:rPr lang="en-US" altLang="ko-KR" sz="3200" dirty="0">
                <a:latin typeface="+mn-ea"/>
              </a:rPr>
              <a:t>, QP</a:t>
            </a:r>
            <a:r>
              <a:rPr lang="ko-KR" altLang="en-US" sz="3200" dirty="0">
                <a:latin typeface="+mn-ea"/>
              </a:rPr>
              <a:t>를 푸는데 실시간성과 신뢰성을 부여할 수 있다</a:t>
            </a:r>
            <a:endParaRPr lang="en-US" altLang="ko-KR" sz="3200" dirty="0">
              <a:latin typeface="+mn-ea"/>
            </a:endParaRPr>
          </a:p>
          <a:p>
            <a:pPr marL="457200" indent="-457200">
              <a:lnSpc>
                <a:spcPct val="200000"/>
              </a:lnSpc>
              <a:buFont typeface="Arial" panose="020B0604020202020204" pitchFamily="34" charset="0"/>
              <a:buChar char="•"/>
            </a:pPr>
            <a:r>
              <a:rPr lang="ko-KR" altLang="en-US" sz="3200" dirty="0">
                <a:latin typeface="+mn-ea"/>
              </a:rPr>
              <a:t>제곱을 하지 않고 단순히 절댓값만 사용하면</a:t>
            </a:r>
            <a:r>
              <a:rPr lang="en-US" altLang="ko-KR" sz="3200" dirty="0">
                <a:latin typeface="+mn-ea"/>
              </a:rPr>
              <a:t>, </a:t>
            </a:r>
            <a:r>
              <a:rPr lang="ko-KR" altLang="en-US" sz="3200" dirty="0">
                <a:latin typeface="+mn-ea"/>
              </a:rPr>
              <a:t>미분 불가 지점이 생기며 토크가 커지고 불안정해질 수 있다</a:t>
            </a:r>
            <a:endParaRPr lang="en-US" altLang="ko-KR" sz="3200" dirty="0">
              <a:latin typeface="+mn-ea"/>
            </a:endParaRPr>
          </a:p>
          <a:p>
            <a:pPr>
              <a:lnSpc>
                <a:spcPct val="200000"/>
              </a:lnSpc>
            </a:pPr>
            <a:r>
              <a:rPr lang="en-US" altLang="ko-KR" sz="3200" dirty="0">
                <a:latin typeface="+mn-ea"/>
              </a:rPr>
              <a:t> 	&gt; </a:t>
            </a:r>
            <a:r>
              <a:rPr lang="ko-KR" altLang="en-US" sz="3200" dirty="0">
                <a:latin typeface="+mn-ea"/>
              </a:rPr>
              <a:t>튜닝에 까다로움</a:t>
            </a:r>
            <a:endParaRPr lang="en-US" altLang="ko-KR" sz="3200" dirty="0">
              <a:latin typeface="+mn-ea"/>
            </a:endParaRPr>
          </a:p>
          <a:p>
            <a:pPr marL="457200" indent="-457200">
              <a:lnSpc>
                <a:spcPct val="150000"/>
              </a:lnSpc>
              <a:buFont typeface="Arial" panose="020B0604020202020204" pitchFamily="34" charset="0"/>
              <a:buChar char="•"/>
            </a:pPr>
            <a:endParaRPr lang="en-US" altLang="ko-KR" sz="3200" dirty="0">
              <a:latin typeface="+mn-ea"/>
            </a:endParaRPr>
          </a:p>
        </p:txBody>
      </p:sp>
      <p:pic>
        <p:nvPicPr>
          <p:cNvPr id="14" name="그림 13" descr="\documentclass{article}&#10;\usepackage{amsmath}&#10;\pagestyle{empty}&#10;\begin{document}&#10;&#10;&#10;$&#10;\|g(y)\|^{2} \;= \|A y - a\|^{2}&#10;$&#10;&#10;\end{document}" title="IguanaTex Bitmap Display">
            <a:extLst>
              <a:ext uri="{FF2B5EF4-FFF2-40B4-BE49-F238E27FC236}">
                <a16:creationId xmlns:a16="http://schemas.microsoft.com/office/drawing/2014/main" id="{5A63B4BB-1065-D4E8-8D1A-9259A0572B44}"/>
              </a:ext>
            </a:extLst>
          </p:cNvPr>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a:xfrm>
            <a:off x="7827496" y="2590800"/>
            <a:ext cx="4851200" cy="572800"/>
          </a:xfrm>
          <a:prstGeom prst="rect">
            <a:avLst/>
          </a:prstGeom>
        </p:spPr>
      </p:pic>
      <p:pic>
        <p:nvPicPr>
          <p:cNvPr id="2" name="그림 1" descr="\documentclass{article}&#10;\usepackage{amsmath}&#10;\pagestyle{empty}&#10;\begin{document}&#10;&#10;&#10;$&#10;g(y)&#10;$&#10;&#10;\end{document}" title="IguanaTex Bitmap Display">
            <a:extLst>
              <a:ext uri="{FF2B5EF4-FFF2-40B4-BE49-F238E27FC236}">
                <a16:creationId xmlns:a16="http://schemas.microsoft.com/office/drawing/2014/main" id="{C669E2BA-C7F5-1291-C961-F54B336D8B42}"/>
              </a:ext>
            </a:extLst>
          </p:cNvPr>
          <p:cNvPicPr>
            <a:picLocks noChangeAspect="1"/>
          </p:cNvPicPr>
          <p:nvPr>
            <p:custDataLst>
              <p:tags r:id="rId2"/>
            </p:custDataLst>
          </p:nvPr>
        </p:nvPicPr>
        <p:blipFill>
          <a:blip r:embed="rId6" cstate="print">
            <a:extLst>
              <a:ext uri="{28A0092B-C50C-407E-A947-70E740481C1C}">
                <a14:useLocalDpi xmlns:a14="http://schemas.microsoft.com/office/drawing/2010/main" val="0"/>
              </a:ext>
            </a:extLst>
          </a:blip>
          <a:stretch>
            <a:fillRect/>
          </a:stretch>
        </p:blipFill>
        <p:spPr>
          <a:xfrm>
            <a:off x="2819400" y="5791200"/>
            <a:ext cx="838200" cy="494627"/>
          </a:xfrm>
          <a:prstGeom prst="rect">
            <a:avLst/>
          </a:prstGeom>
        </p:spPr>
      </p:pic>
    </p:spTree>
    <p:extLst>
      <p:ext uri="{BB962C8B-B14F-4D97-AF65-F5344CB8AC3E}">
        <p14:creationId xmlns:p14="http://schemas.microsoft.com/office/powerpoint/2010/main" val="35956290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0A5F7-DA1A-B23C-D720-F8A67DDC8506}"/>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2DD64C1D-BDE4-09DB-8F14-83E7E3884CC8}"/>
              </a:ext>
            </a:extLst>
          </p:cNvPr>
          <p:cNvSpPr/>
          <p:nvPr/>
        </p:nvSpPr>
        <p:spPr>
          <a:xfrm>
            <a:off x="0" y="0"/>
            <a:ext cx="821042" cy="13716000"/>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각 삼각형 58">
            <a:extLst>
              <a:ext uri="{FF2B5EF4-FFF2-40B4-BE49-F238E27FC236}">
                <a16:creationId xmlns:a16="http://schemas.microsoft.com/office/drawing/2014/main" id="{0162B87F-7B76-DAAD-DF8C-A6E35E5CFC41}"/>
              </a:ext>
            </a:extLst>
          </p:cNvPr>
          <p:cNvSpPr/>
          <p:nvPr/>
        </p:nvSpPr>
        <p:spPr>
          <a:xfrm rot="10800000" flipH="1">
            <a:off x="1" y="0"/>
            <a:ext cx="1905000" cy="1828800"/>
          </a:xfrm>
          <a:prstGeom prst="rtTriangle">
            <a:avLst/>
          </a:prstGeom>
          <a:solidFill>
            <a:srgbClr val="1E1B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4">
            <a:extLst>
              <a:ext uri="{FF2B5EF4-FFF2-40B4-BE49-F238E27FC236}">
                <a16:creationId xmlns:a16="http://schemas.microsoft.com/office/drawing/2014/main" id="{BC4D0B3B-1C12-91A0-336F-AC2472A8F1C0}"/>
              </a:ext>
            </a:extLst>
          </p:cNvPr>
          <p:cNvSpPr txBox="1"/>
          <p:nvPr/>
        </p:nvSpPr>
        <p:spPr>
          <a:xfrm>
            <a:off x="1600200" y="609600"/>
            <a:ext cx="13182600" cy="990600"/>
          </a:xfrm>
          <a:prstGeom prst="rect">
            <a:avLst/>
          </a:prstGeom>
        </p:spPr>
        <p:txBody>
          <a:bodyPr lIns="0" tIns="101600" rIns="0" bIns="0" rtlCol="0" anchor="t"/>
          <a:lstStyle/>
          <a:p>
            <a:pPr lvl="0">
              <a:lnSpc>
                <a:spcPct val="99600"/>
              </a:lnSpc>
            </a:pPr>
            <a:r>
              <a:rPr lang="en-US" sz="6000" b="1" dirty="0">
                <a:solidFill>
                  <a:srgbClr val="000000"/>
                </a:solidFill>
                <a:latin typeface="Arial" panose="020B0604020202020204" pitchFamily="34" charset="0"/>
                <a:cs typeface="Arial" panose="020B0604020202020204" pitchFamily="34" charset="0"/>
              </a:rPr>
              <a:t>QP </a:t>
            </a:r>
            <a:r>
              <a:rPr lang="en" sz="6000" b="1" dirty="0">
                <a:solidFill>
                  <a:srgbClr val="000000"/>
                </a:solidFill>
                <a:latin typeface="Arial" panose="020B0604020202020204" pitchFamily="34" charset="0"/>
                <a:cs typeface="Arial" panose="020B0604020202020204" pitchFamily="34" charset="0"/>
              </a:rPr>
              <a:t>(</a:t>
            </a:r>
            <a:r>
              <a:rPr lang="en-US" sz="6000" b="1" dirty="0">
                <a:solidFill>
                  <a:srgbClr val="000000"/>
                </a:solidFill>
                <a:latin typeface="Arial" panose="020B0604020202020204" pitchFamily="34" charset="0"/>
                <a:cs typeface="Arial" panose="020B0604020202020204" pitchFamily="34" charset="0"/>
              </a:rPr>
              <a:t>Quadratic Program)</a:t>
            </a:r>
            <a:endParaRPr lang="en" sz="6000" b="1" i="0" u="none" strike="noStrike" dirty="0">
              <a:solidFill>
                <a:srgbClr val="000000"/>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3E118B60-96A0-9E08-B082-7501146A03CF}"/>
              </a:ext>
            </a:extLst>
          </p:cNvPr>
          <p:cNvSpPr txBox="1"/>
          <p:nvPr/>
        </p:nvSpPr>
        <p:spPr>
          <a:xfrm>
            <a:off x="2086897" y="2244213"/>
            <a:ext cx="21154103" cy="9784473"/>
          </a:xfrm>
          <a:prstGeom prst="rect">
            <a:avLst/>
          </a:prstGeom>
          <a:noFill/>
        </p:spPr>
        <p:txBody>
          <a:bodyPr wrap="square">
            <a:spAutoFit/>
          </a:bodyPr>
          <a:lstStyle/>
          <a:p>
            <a:pPr marL="457200" indent="-457200">
              <a:lnSpc>
                <a:spcPct val="200000"/>
              </a:lnSpc>
              <a:buFont typeface="Arial" panose="020B0604020202020204" pitchFamily="34" charset="0"/>
              <a:buChar char="•"/>
            </a:pPr>
            <a:r>
              <a:rPr lang="ko-KR" altLang="en-US" sz="3200" b="1" dirty="0">
                <a:latin typeface="+mn-ea"/>
              </a:rPr>
              <a:t>운동방정식 </a:t>
            </a:r>
            <a:r>
              <a:rPr lang="en-US" altLang="ko-KR" sz="3200" b="1" dirty="0">
                <a:latin typeface="+mn-ea"/>
              </a:rPr>
              <a:t>:</a:t>
            </a:r>
          </a:p>
          <a:p>
            <a:pPr marL="457200" indent="-457200">
              <a:lnSpc>
                <a:spcPct val="200000"/>
              </a:lnSpc>
              <a:buFont typeface="Arial" panose="020B0604020202020204" pitchFamily="34" charset="0"/>
              <a:buChar char="•"/>
            </a:pPr>
            <a:endParaRPr lang="en-US" altLang="ko-KR" sz="3200" b="1" dirty="0">
              <a:latin typeface="+mn-ea"/>
            </a:endParaRPr>
          </a:p>
          <a:p>
            <a:pPr marL="457200" indent="-457200">
              <a:lnSpc>
                <a:spcPct val="200000"/>
              </a:lnSpc>
              <a:buFont typeface="Arial" panose="020B0604020202020204" pitchFamily="34" charset="0"/>
              <a:buChar char="•"/>
            </a:pPr>
            <a:endParaRPr lang="en-US" altLang="ko-KR" sz="3200" b="1" dirty="0">
              <a:latin typeface="+mn-ea"/>
            </a:endParaRPr>
          </a:p>
          <a:p>
            <a:pPr marL="457200" indent="-457200">
              <a:lnSpc>
                <a:spcPct val="200000"/>
              </a:lnSpc>
              <a:buFont typeface="Arial" panose="020B0604020202020204" pitchFamily="34" charset="0"/>
              <a:buChar char="•"/>
            </a:pPr>
            <a:endParaRPr lang="en-US" altLang="ko-KR" sz="3200" b="1" dirty="0">
              <a:latin typeface="+mn-ea"/>
            </a:endParaRPr>
          </a:p>
          <a:p>
            <a:pPr>
              <a:lnSpc>
                <a:spcPct val="200000"/>
              </a:lnSpc>
            </a:pPr>
            <a:endParaRPr lang="en-US" altLang="ko-KR" sz="3200" b="1" dirty="0">
              <a:latin typeface="+mn-ea"/>
            </a:endParaRPr>
          </a:p>
          <a:p>
            <a:pPr marL="457200" indent="-457200">
              <a:lnSpc>
                <a:spcPct val="200000"/>
              </a:lnSpc>
              <a:buFont typeface="Arial" panose="020B0604020202020204" pitchFamily="34" charset="0"/>
              <a:buChar char="•"/>
            </a:pPr>
            <a:r>
              <a:rPr lang="ko-KR" altLang="en-US" sz="3200" b="1" dirty="0">
                <a:latin typeface="+mn-ea"/>
              </a:rPr>
              <a:t>최종 </a:t>
            </a:r>
            <a:r>
              <a:rPr lang="en-US" altLang="ko-KR" sz="3200" b="1" dirty="0">
                <a:latin typeface="+mn-ea"/>
              </a:rPr>
              <a:t>QP </a:t>
            </a:r>
            <a:r>
              <a:rPr lang="ko-KR" altLang="en-US" sz="3200" b="1" dirty="0">
                <a:latin typeface="+mn-ea"/>
              </a:rPr>
              <a:t>문제 형태</a:t>
            </a:r>
            <a:endParaRPr lang="en-US" altLang="ko-KR" sz="3200" b="1" dirty="0">
              <a:latin typeface="+mn-ea"/>
            </a:endParaRPr>
          </a:p>
          <a:p>
            <a:pPr marL="457200" indent="-457200">
              <a:lnSpc>
                <a:spcPct val="200000"/>
              </a:lnSpc>
              <a:buFont typeface="Arial" panose="020B0604020202020204" pitchFamily="34" charset="0"/>
              <a:buChar char="•"/>
            </a:pPr>
            <a:endParaRPr lang="en-US" altLang="ko-KR" sz="3200" b="1" dirty="0">
              <a:latin typeface="+mn-ea"/>
            </a:endParaRPr>
          </a:p>
          <a:p>
            <a:pPr marL="457200" indent="-457200">
              <a:lnSpc>
                <a:spcPct val="200000"/>
              </a:lnSpc>
              <a:buFont typeface="Arial" panose="020B0604020202020204" pitchFamily="34" charset="0"/>
              <a:buChar char="•"/>
            </a:pPr>
            <a:endParaRPr lang="en-US" altLang="ko-KR" sz="3200" b="1" dirty="0">
              <a:latin typeface="+mn-ea"/>
            </a:endParaRPr>
          </a:p>
          <a:p>
            <a:pPr marL="457200" indent="-457200">
              <a:lnSpc>
                <a:spcPct val="200000"/>
              </a:lnSpc>
              <a:buFont typeface="Arial" panose="020B0604020202020204" pitchFamily="34" charset="0"/>
              <a:buChar char="•"/>
            </a:pPr>
            <a:endParaRPr lang="en-US" altLang="ko-KR" sz="3200" b="1" dirty="0">
              <a:latin typeface="+mn-ea"/>
            </a:endParaRPr>
          </a:p>
          <a:p>
            <a:pPr marL="457200" indent="-457200">
              <a:lnSpc>
                <a:spcPct val="200000"/>
              </a:lnSpc>
              <a:buFont typeface="Arial" panose="020B0604020202020204" pitchFamily="34" charset="0"/>
              <a:buChar char="•"/>
            </a:pPr>
            <a:r>
              <a:rPr lang="ko-KR" altLang="en-US" sz="3200" b="1" dirty="0">
                <a:latin typeface="+mn-ea"/>
              </a:rPr>
              <a:t>문제를 최소화할 </a:t>
            </a:r>
            <a:r>
              <a:rPr lang="en-US" altLang="ko-KR" sz="3200" b="1" dirty="0">
                <a:latin typeface="+mn-ea"/>
              </a:rPr>
              <a:t>y</a:t>
            </a:r>
            <a:r>
              <a:rPr lang="ko-KR" altLang="en-US" sz="3200" b="1" dirty="0">
                <a:latin typeface="+mn-ea"/>
              </a:rPr>
              <a:t>를 구하는 것</a:t>
            </a:r>
            <a:r>
              <a:rPr lang="en-US" altLang="ko-KR" sz="3200" b="1" dirty="0">
                <a:latin typeface="+mn-ea"/>
              </a:rPr>
              <a:t>! </a:t>
            </a:r>
            <a:endParaRPr lang="en-US" altLang="ko-KR" sz="3200" dirty="0">
              <a:latin typeface="+mn-ea"/>
            </a:endParaRPr>
          </a:p>
        </p:txBody>
      </p:sp>
      <p:pic>
        <p:nvPicPr>
          <p:cNvPr id="9" name="그림 8" descr="\documentclass{article}&#10;\usepackage{amsmath}&#10;\pagestyle{empty}&#10;\begin{document}&#10;&#10;&#10;$&#10;\mathbf{M}(\mathbf{q})\,\ddot{\mathbf{q}}&#10;\;+\; \mathbf{h}(\mathbf{q},\dot{\mathbf{q}})&#10;\;=\; \mathbf{S}^\top \boldsymbol{\tau}&#10;$&#10;&#10;\end{document}" title="IguanaTex Bitmap Display">
            <a:extLst>
              <a:ext uri="{FF2B5EF4-FFF2-40B4-BE49-F238E27FC236}">
                <a16:creationId xmlns:a16="http://schemas.microsoft.com/office/drawing/2014/main" id="{09E47AF2-D3F9-524C-302E-8F9BA7C3E7BF}"/>
              </a:ext>
            </a:extLst>
          </p:cNvPr>
          <p:cNvPicPr>
            <a:picLocks noChangeAspect="1"/>
          </p:cNvPicPr>
          <p:nvPr>
            <p:custDataLst>
              <p:tags r:id="rId1"/>
            </p:custDataLst>
          </p:nvPr>
        </p:nvPicPr>
        <p:blipFill>
          <a:blip r:embed="rId8" cstate="print">
            <a:extLst>
              <a:ext uri="{28A0092B-C50C-407E-A947-70E740481C1C}">
                <a14:useLocalDpi xmlns:a14="http://schemas.microsoft.com/office/drawing/2010/main" val="0"/>
              </a:ext>
            </a:extLst>
          </a:blip>
          <a:stretch>
            <a:fillRect/>
          </a:stretch>
        </p:blipFill>
        <p:spPr>
          <a:xfrm>
            <a:off x="5562600" y="2579121"/>
            <a:ext cx="6310400" cy="585600"/>
          </a:xfrm>
          <a:prstGeom prst="rect">
            <a:avLst/>
          </a:prstGeom>
        </p:spPr>
      </p:pic>
      <p:pic>
        <p:nvPicPr>
          <p:cNvPr id="12" name="그림 11" descr="\documentclass{article}&#10;\usepackage{amsmath}&#10;\pagestyle{empty}&#10;\begin{document}&#10;&#10;&#10;$&#10;\min_{\mathbf{y}=(\ddot{\mathbf{q}},\,\boldsymbol{\tau})}&#10;\;\;\,\big\| \mathbf{A}\,\mathbf{y} - \mathbf{a} \big\|^2&#10;\quad&#10;\text{s.t.}\quad&#10;\big[\,\mathbf{M}\;\;-\mathbf{S}^\top\,\big]\,\mathbf{y} = -\,\mathbf{h}&#10;$&#10;&#10;\end{document}" title="IguanaTex Bitmap Display">
            <a:extLst>
              <a:ext uri="{FF2B5EF4-FFF2-40B4-BE49-F238E27FC236}">
                <a16:creationId xmlns:a16="http://schemas.microsoft.com/office/drawing/2014/main" id="{D732D3E6-8031-CA52-AAFC-1312130D20A6}"/>
              </a:ext>
            </a:extLst>
          </p:cNvPr>
          <p:cNvPicPr>
            <a:picLocks noChangeAspect="1"/>
          </p:cNvPicPr>
          <p:nvPr>
            <p:custDataLst>
              <p:tags r:id="rId2"/>
            </p:custDataLst>
          </p:nvPr>
        </p:nvPicPr>
        <p:blipFill>
          <a:blip r:embed="rId9" cstate="print">
            <a:extLst>
              <a:ext uri="{28A0092B-C50C-407E-A947-70E740481C1C}">
                <a14:useLocalDpi xmlns:a14="http://schemas.microsoft.com/office/drawing/2010/main" val="0"/>
              </a:ext>
            </a:extLst>
          </a:blip>
          <a:stretch>
            <a:fillRect/>
          </a:stretch>
        </p:blipFill>
        <p:spPr>
          <a:xfrm>
            <a:off x="5334000" y="9068000"/>
            <a:ext cx="12246400" cy="761600"/>
          </a:xfrm>
          <a:prstGeom prst="rect">
            <a:avLst/>
          </a:prstGeom>
        </p:spPr>
      </p:pic>
      <p:pic>
        <p:nvPicPr>
          <p:cNvPr id="17" name="그림 16" descr="\documentclass{article}&#10;\usepackage{amsmath}&#10;\pagestyle{empty}&#10;\begin{document}&#10;&#10;&#10;$&#10;\big[\,\mathbf{M}\;\;-\mathbf{S}^\top\,\big]\;&#10;\mathbf{y}&#10;\;=\;&#10;-\,\mathbf{h}&#10;$&#10;&#10;\end{document}" title="IguanaTex Bitmap Display">
            <a:extLst>
              <a:ext uri="{FF2B5EF4-FFF2-40B4-BE49-F238E27FC236}">
                <a16:creationId xmlns:a16="http://schemas.microsoft.com/office/drawing/2014/main" id="{8CEEC1F2-52F0-798F-6E05-430968617189}"/>
              </a:ext>
            </a:extLst>
          </p:cNvPr>
          <p:cNvPicPr>
            <a:picLocks noChangeAspect="1"/>
          </p:cNvPicPr>
          <p:nvPr>
            <p:custDataLst>
              <p:tags r:id="rId3"/>
            </p:custDataLst>
          </p:nvPr>
        </p:nvPicPr>
        <p:blipFill>
          <a:blip r:embed="rId10" cstate="print">
            <a:extLst>
              <a:ext uri="{28A0092B-C50C-407E-A947-70E740481C1C}">
                <a14:useLocalDpi xmlns:a14="http://schemas.microsoft.com/office/drawing/2010/main" val="0"/>
              </a:ext>
            </a:extLst>
          </a:blip>
          <a:stretch>
            <a:fillRect/>
          </a:stretch>
        </p:blipFill>
        <p:spPr>
          <a:xfrm>
            <a:off x="5562600" y="5334000"/>
            <a:ext cx="5049600" cy="636800"/>
          </a:xfrm>
          <a:prstGeom prst="rect">
            <a:avLst/>
          </a:prstGeom>
        </p:spPr>
      </p:pic>
      <p:pic>
        <p:nvPicPr>
          <p:cNvPr id="19" name="그림 18" descr="\documentclass{article}&#10;\usepackage{amsmath}&#10;\pagestyle{empty}&#10;\begin{document}&#10;&#10;&#10;$&#10;\mathbf{y} \;=\;&#10;\begin{bmatrix}&#10;\ddot{\mathbf{q}}\\[2pt]&#10;\boldsymbol{\tau}&#10;\end{bmatrix}&#10;$&#10;&#10;\end{document}" title="IguanaTex Bitmap Display">
            <a:extLst>
              <a:ext uri="{FF2B5EF4-FFF2-40B4-BE49-F238E27FC236}">
                <a16:creationId xmlns:a16="http://schemas.microsoft.com/office/drawing/2014/main" id="{B4909AD4-8653-7951-4A8B-71DC5E35A144}"/>
              </a:ext>
            </a:extLst>
          </p:cNvPr>
          <p:cNvPicPr>
            <a:picLocks noChangeAspect="1"/>
          </p:cNvPicPr>
          <p:nvPr>
            <p:custDataLst>
              <p:tags r:id="rId4"/>
            </p:custDataLst>
          </p:nvPr>
        </p:nvPicPr>
        <p:blipFill>
          <a:blip r:embed="rId11" cstate="print">
            <a:extLst>
              <a:ext uri="{28A0092B-C50C-407E-A947-70E740481C1C}">
                <a14:useLocalDpi xmlns:a14="http://schemas.microsoft.com/office/drawing/2010/main" val="0"/>
              </a:ext>
            </a:extLst>
          </a:blip>
          <a:stretch>
            <a:fillRect/>
          </a:stretch>
        </p:blipFill>
        <p:spPr>
          <a:xfrm>
            <a:off x="13640087" y="3309366"/>
            <a:ext cx="2102400" cy="1276800"/>
          </a:xfrm>
          <a:prstGeom prst="rect">
            <a:avLst/>
          </a:prstGeom>
        </p:spPr>
      </p:pic>
      <p:pic>
        <p:nvPicPr>
          <p:cNvPr id="23" name="그림 22" descr="\documentclass{article}&#10;\usepackage{amsmath}&#10;\pagestyle{empty}&#10;\begin{document}&#10;&#10;&#10;$&#10;\mathbf{M}(\mathbf{q})\,\ddot{\mathbf{q}}&#10;\;-\; \mathbf{S}^\top \boldsymbol{\tau}&#10;\;=\; -\,\mathbf{h}(\mathbf{q},\dot{\mathbf{q}})&#10;$&#10;&#10;\end{document}" title="IguanaTex Bitmap Display">
            <a:extLst>
              <a:ext uri="{FF2B5EF4-FFF2-40B4-BE49-F238E27FC236}">
                <a16:creationId xmlns:a16="http://schemas.microsoft.com/office/drawing/2014/main" id="{684AC29F-7957-F129-83A0-DF745A8DCDCF}"/>
              </a:ext>
            </a:extLst>
          </p:cNvPr>
          <p:cNvPicPr>
            <a:picLocks noChangeAspect="1"/>
          </p:cNvPicPr>
          <p:nvPr>
            <p:custDataLst>
              <p:tags r:id="rId5"/>
            </p:custDataLst>
          </p:nvPr>
        </p:nvPicPr>
        <p:blipFill>
          <a:blip r:embed="rId12" cstate="print">
            <a:extLst>
              <a:ext uri="{28A0092B-C50C-407E-A947-70E740481C1C}">
                <a14:useLocalDpi xmlns:a14="http://schemas.microsoft.com/office/drawing/2010/main" val="0"/>
              </a:ext>
            </a:extLst>
          </a:blip>
          <a:stretch>
            <a:fillRect/>
          </a:stretch>
        </p:blipFill>
        <p:spPr>
          <a:xfrm>
            <a:off x="5562600" y="3654966"/>
            <a:ext cx="6784000" cy="585600"/>
          </a:xfrm>
          <a:prstGeom prst="rect">
            <a:avLst/>
          </a:prstGeom>
        </p:spPr>
      </p:pic>
      <p:sp>
        <p:nvSpPr>
          <p:cNvPr id="24" name="화살표: 오른쪽 23">
            <a:extLst>
              <a:ext uri="{FF2B5EF4-FFF2-40B4-BE49-F238E27FC236}">
                <a16:creationId xmlns:a16="http://schemas.microsoft.com/office/drawing/2014/main" id="{CFBBC078-3395-551D-B827-5CC93E8FDA41}"/>
              </a:ext>
            </a:extLst>
          </p:cNvPr>
          <p:cNvSpPr/>
          <p:nvPr/>
        </p:nvSpPr>
        <p:spPr>
          <a:xfrm>
            <a:off x="4114800" y="5486400"/>
            <a:ext cx="821042" cy="304800"/>
          </a:xfrm>
          <a:prstGeom prst="rightArrow">
            <a:avLst/>
          </a:prstGeom>
          <a:solidFill>
            <a:srgbClr val="FFC000"/>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ko-KR" altLang="en-US"/>
          </a:p>
        </p:txBody>
      </p:sp>
      <p:cxnSp>
        <p:nvCxnSpPr>
          <p:cNvPr id="5" name="직선 연결선 4">
            <a:extLst>
              <a:ext uri="{FF2B5EF4-FFF2-40B4-BE49-F238E27FC236}">
                <a16:creationId xmlns:a16="http://schemas.microsoft.com/office/drawing/2014/main" id="{95678C99-CCC3-0BEF-E0CA-1D884289D53E}"/>
              </a:ext>
            </a:extLst>
          </p:cNvPr>
          <p:cNvCxnSpPr>
            <a:cxnSpLocks/>
          </p:cNvCxnSpPr>
          <p:nvPr/>
        </p:nvCxnSpPr>
        <p:spPr>
          <a:xfrm>
            <a:off x="6172200" y="9837838"/>
            <a:ext cx="1676400"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22746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877AD2-5B70-5128-66D1-1E7625F8A5F1}"/>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D3F2F796-C226-7E4E-34C4-673A435B9909}"/>
              </a:ext>
            </a:extLst>
          </p:cNvPr>
          <p:cNvSpPr/>
          <p:nvPr/>
        </p:nvSpPr>
        <p:spPr>
          <a:xfrm>
            <a:off x="0" y="0"/>
            <a:ext cx="821042" cy="1371600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각 삼각형 58">
            <a:extLst>
              <a:ext uri="{FF2B5EF4-FFF2-40B4-BE49-F238E27FC236}">
                <a16:creationId xmlns:a16="http://schemas.microsoft.com/office/drawing/2014/main" id="{5ACBE0CA-D6FE-564E-3DDC-732B03C861EE}"/>
              </a:ext>
            </a:extLst>
          </p:cNvPr>
          <p:cNvSpPr/>
          <p:nvPr/>
        </p:nvSpPr>
        <p:spPr>
          <a:xfrm rot="10800000" flipH="1">
            <a:off x="1" y="0"/>
            <a:ext cx="1905000" cy="1828800"/>
          </a:xfrm>
          <a:prstGeom prst="rtTriangle">
            <a:avLst/>
          </a:prstGeom>
          <a:solidFill>
            <a:srgbClr val="1E1B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4">
            <a:extLst>
              <a:ext uri="{FF2B5EF4-FFF2-40B4-BE49-F238E27FC236}">
                <a16:creationId xmlns:a16="http://schemas.microsoft.com/office/drawing/2014/main" id="{AAF648E9-7D51-A5CC-5357-E3ABF7ADC7BA}"/>
              </a:ext>
            </a:extLst>
          </p:cNvPr>
          <p:cNvSpPr txBox="1"/>
          <p:nvPr/>
        </p:nvSpPr>
        <p:spPr>
          <a:xfrm>
            <a:off x="1600200" y="609600"/>
            <a:ext cx="13182600" cy="990600"/>
          </a:xfrm>
          <a:prstGeom prst="rect">
            <a:avLst/>
          </a:prstGeom>
        </p:spPr>
        <p:txBody>
          <a:bodyPr lIns="0" tIns="101600" rIns="0" bIns="0" rtlCol="0" anchor="t"/>
          <a:lstStyle/>
          <a:p>
            <a:pPr lvl="0">
              <a:lnSpc>
                <a:spcPct val="99600"/>
              </a:lnSpc>
            </a:pPr>
            <a:r>
              <a:rPr lang="en-US" sz="6000" b="1" i="0" u="none" strike="noStrike" dirty="0">
                <a:solidFill>
                  <a:srgbClr val="000000"/>
                </a:solidFill>
                <a:latin typeface="Arial" panose="020B0604020202020204" pitchFamily="34" charset="0"/>
                <a:cs typeface="Arial" panose="020B0604020202020204" pitchFamily="34" charset="0"/>
              </a:rPr>
              <a:t>Contact (</a:t>
            </a:r>
            <a:r>
              <a:rPr lang="ko-KR" altLang="en-US" sz="6000" b="1" i="0" u="none" strike="noStrike" dirty="0">
                <a:solidFill>
                  <a:srgbClr val="000000"/>
                </a:solidFill>
                <a:latin typeface="Arial" panose="020B0604020202020204" pitchFamily="34" charset="0"/>
                <a:cs typeface="Arial" panose="020B0604020202020204" pitchFamily="34" charset="0"/>
              </a:rPr>
              <a:t>접촉 제약</a:t>
            </a:r>
            <a:r>
              <a:rPr lang="en-US" altLang="ko-KR" sz="6000" b="1" i="0" u="none" strike="noStrike" dirty="0">
                <a:solidFill>
                  <a:srgbClr val="000000"/>
                </a:solidFill>
                <a:latin typeface="Arial" panose="020B0604020202020204" pitchFamily="34" charset="0"/>
                <a:cs typeface="Arial" panose="020B0604020202020204" pitchFamily="34" charset="0"/>
              </a:rPr>
              <a:t>) </a:t>
            </a:r>
            <a:r>
              <a:rPr lang="ko-KR" altLang="en-US" sz="6000" b="1" i="0" u="none" strike="noStrike" dirty="0">
                <a:solidFill>
                  <a:srgbClr val="000000"/>
                </a:solidFill>
                <a:latin typeface="Arial" panose="020B0604020202020204" pitchFamily="34" charset="0"/>
                <a:cs typeface="Arial" panose="020B0604020202020204" pitchFamily="34" charset="0"/>
              </a:rPr>
              <a:t>추가</a:t>
            </a:r>
            <a:r>
              <a:rPr lang="en-US" altLang="ko-KR" sz="6000" b="1" i="0" u="none" strike="noStrike" dirty="0">
                <a:solidFill>
                  <a:srgbClr val="000000"/>
                </a:solidFill>
                <a:latin typeface="Arial" panose="020B0604020202020204" pitchFamily="34" charset="0"/>
                <a:cs typeface="Arial" panose="020B0604020202020204" pitchFamily="34" charset="0"/>
              </a:rPr>
              <a:t> </a:t>
            </a:r>
            <a:endParaRPr lang="en" sz="6000" b="1" i="0" u="none" strike="noStrike" dirty="0">
              <a:solidFill>
                <a:srgbClr val="000000"/>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0418D535-BD26-FB78-69FB-8B990BA4D12E}"/>
              </a:ext>
            </a:extLst>
          </p:cNvPr>
          <p:cNvSpPr txBox="1"/>
          <p:nvPr/>
        </p:nvSpPr>
        <p:spPr>
          <a:xfrm>
            <a:off x="2086897" y="2244213"/>
            <a:ext cx="21154103" cy="5106270"/>
          </a:xfrm>
          <a:prstGeom prst="rect">
            <a:avLst/>
          </a:prstGeom>
          <a:noFill/>
        </p:spPr>
        <p:txBody>
          <a:bodyPr wrap="square">
            <a:spAutoFit/>
          </a:bodyPr>
          <a:lstStyle/>
          <a:p>
            <a:pPr>
              <a:lnSpc>
                <a:spcPct val="200000"/>
              </a:lnSpc>
            </a:pPr>
            <a:r>
              <a:rPr lang="en-US" altLang="ko-KR" sz="4000" b="1" dirty="0">
                <a:latin typeface="+mn-ea"/>
              </a:rPr>
              <a:t>Soft Contact </a:t>
            </a:r>
          </a:p>
          <a:p>
            <a:pPr marL="457200" indent="-457200">
              <a:lnSpc>
                <a:spcPct val="200000"/>
              </a:lnSpc>
              <a:buFont typeface="Arial" panose="020B0604020202020204" pitchFamily="34" charset="0"/>
              <a:buChar char="•"/>
            </a:pPr>
            <a:r>
              <a:rPr lang="en-US" altLang="ko-KR" sz="3200" dirty="0">
                <a:latin typeface="+mn-ea"/>
              </a:rPr>
              <a:t>Soft Contact</a:t>
            </a:r>
            <a:r>
              <a:rPr lang="ko-KR" altLang="en-US" sz="3200" dirty="0">
                <a:latin typeface="+mn-ea"/>
              </a:rPr>
              <a:t>의 경우 바닥이 탄성을 갖고 있어 약간은 움직일 수 있는 상태라 본다</a:t>
            </a:r>
            <a:endParaRPr lang="en-US" altLang="ko-KR" sz="3200" dirty="0">
              <a:latin typeface="+mn-ea"/>
            </a:endParaRPr>
          </a:p>
          <a:p>
            <a:pPr>
              <a:lnSpc>
                <a:spcPct val="200000"/>
              </a:lnSpc>
            </a:pPr>
            <a:r>
              <a:rPr lang="en-US" altLang="ko-KR" sz="3200" dirty="0">
                <a:latin typeface="+mn-ea"/>
              </a:rPr>
              <a:t>	&gt; </a:t>
            </a:r>
            <a:r>
              <a:rPr lang="ko-KR" altLang="en-US" sz="3200" dirty="0">
                <a:latin typeface="+mn-ea"/>
              </a:rPr>
              <a:t>즉</a:t>
            </a:r>
            <a:r>
              <a:rPr lang="en-US" altLang="ko-KR" sz="3200" dirty="0">
                <a:latin typeface="+mn-ea"/>
              </a:rPr>
              <a:t>, </a:t>
            </a:r>
            <a:r>
              <a:rPr lang="ko-KR" altLang="en-US" sz="3200" dirty="0">
                <a:latin typeface="+mn-ea"/>
              </a:rPr>
              <a:t>속도</a:t>
            </a:r>
            <a:r>
              <a:rPr lang="en-US" altLang="ko-KR" sz="3200" dirty="0">
                <a:latin typeface="+mn-ea"/>
              </a:rPr>
              <a:t>=0, </a:t>
            </a:r>
            <a:r>
              <a:rPr lang="ko-KR" altLang="en-US" sz="3200" dirty="0">
                <a:latin typeface="+mn-ea"/>
              </a:rPr>
              <a:t>가속도</a:t>
            </a:r>
            <a:r>
              <a:rPr lang="en-US" altLang="ko-KR" sz="3200" dirty="0">
                <a:latin typeface="+mn-ea"/>
              </a:rPr>
              <a:t>=0 </a:t>
            </a:r>
            <a:r>
              <a:rPr lang="ko-KR" altLang="en-US" sz="3200" dirty="0">
                <a:latin typeface="+mn-ea"/>
              </a:rPr>
              <a:t>과 같은 강한 구속 조건을 추가하지 않음</a:t>
            </a:r>
            <a:endParaRPr lang="en-US" altLang="ko-KR" sz="3200" dirty="0">
              <a:latin typeface="+mn-ea"/>
            </a:endParaRPr>
          </a:p>
          <a:p>
            <a:pPr>
              <a:lnSpc>
                <a:spcPct val="200000"/>
              </a:lnSpc>
            </a:pPr>
            <a:endParaRPr lang="en-US" altLang="ko-KR" sz="3200" dirty="0">
              <a:latin typeface="+mn-ea"/>
            </a:endParaRPr>
          </a:p>
          <a:p>
            <a:pPr marL="457200" indent="-457200">
              <a:lnSpc>
                <a:spcPct val="200000"/>
              </a:lnSpc>
              <a:buFont typeface="Arial" panose="020B0604020202020204" pitchFamily="34" charset="0"/>
              <a:buChar char="•"/>
            </a:pPr>
            <a:r>
              <a:rPr lang="ko-KR" altLang="en-US" sz="3200" dirty="0">
                <a:latin typeface="+mn-ea"/>
              </a:rPr>
              <a:t> 접촉으로 인해 발생하는 힘</a:t>
            </a:r>
            <a:r>
              <a:rPr lang="en-US" altLang="ko-KR" sz="3200" dirty="0">
                <a:latin typeface="+mn-ea"/>
              </a:rPr>
              <a:t>(</a:t>
            </a:r>
            <a:r>
              <a:rPr lang="ko-KR" altLang="en-US" sz="3200" dirty="0">
                <a:latin typeface="+mn-ea"/>
              </a:rPr>
              <a:t>외력</a:t>
            </a:r>
            <a:r>
              <a:rPr lang="en-US" altLang="ko-KR" sz="3200" dirty="0">
                <a:latin typeface="+mn-ea"/>
              </a:rPr>
              <a:t>)</a:t>
            </a:r>
            <a:r>
              <a:rPr lang="ko-KR" altLang="en-US" sz="3200" dirty="0">
                <a:latin typeface="+mn-ea"/>
              </a:rPr>
              <a:t>을 더해주기만 하면 됨</a:t>
            </a:r>
            <a:endParaRPr lang="en-US" altLang="ko-KR" sz="3200" dirty="0">
              <a:latin typeface="+mn-ea"/>
            </a:endParaRPr>
          </a:p>
        </p:txBody>
      </p:sp>
      <p:pic>
        <p:nvPicPr>
          <p:cNvPr id="7" name="그림 6" descr="\documentclass{article}&#10;\usepackage{amsmath}&#10;\pagestyle{empty}&#10;\begin{document}&#10;&#10;&#10;$&#10;\min_{y=(\ddot q,\;\tau)} \,\|A y - a\|^{2}&#10;\quad\text{s.t.}\quad&#10;\begin{bmatrix} M &amp; -S^{\top} \end{bmatrix}&#10;y&#10;= -\,h + J^{\top}\hat{f}&#10;$&#10;&#10;\end{document}" title="IguanaTex Bitmap Display">
            <a:extLst>
              <a:ext uri="{FF2B5EF4-FFF2-40B4-BE49-F238E27FC236}">
                <a16:creationId xmlns:a16="http://schemas.microsoft.com/office/drawing/2014/main" id="{CC6096B2-BBEE-36BA-55BA-E6A953AF0410}"/>
              </a:ext>
            </a:extLst>
          </p:cNvPr>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5628800" y="9296400"/>
            <a:ext cx="13126400" cy="697600"/>
          </a:xfrm>
          <a:prstGeom prst="rect">
            <a:avLst/>
          </a:prstGeom>
        </p:spPr>
      </p:pic>
    </p:spTree>
    <p:extLst>
      <p:ext uri="{BB962C8B-B14F-4D97-AF65-F5344CB8AC3E}">
        <p14:creationId xmlns:p14="http://schemas.microsoft.com/office/powerpoint/2010/main" val="6531475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F2F79C-314A-D563-25C3-EC927F392ABA}"/>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3B64B055-43E3-CE44-FA2D-4E6FBD72EF25}"/>
              </a:ext>
            </a:extLst>
          </p:cNvPr>
          <p:cNvSpPr/>
          <p:nvPr/>
        </p:nvSpPr>
        <p:spPr>
          <a:xfrm>
            <a:off x="0" y="0"/>
            <a:ext cx="821042" cy="1371600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각 삼각형 58">
            <a:extLst>
              <a:ext uri="{FF2B5EF4-FFF2-40B4-BE49-F238E27FC236}">
                <a16:creationId xmlns:a16="http://schemas.microsoft.com/office/drawing/2014/main" id="{764A4C71-0E1E-1D4A-A479-A1CEAD604876}"/>
              </a:ext>
            </a:extLst>
          </p:cNvPr>
          <p:cNvSpPr/>
          <p:nvPr/>
        </p:nvSpPr>
        <p:spPr>
          <a:xfrm rot="10800000" flipH="1">
            <a:off x="1" y="0"/>
            <a:ext cx="1905000" cy="1828800"/>
          </a:xfrm>
          <a:prstGeom prst="rtTriangle">
            <a:avLst/>
          </a:prstGeom>
          <a:solidFill>
            <a:srgbClr val="1E1B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4">
            <a:extLst>
              <a:ext uri="{FF2B5EF4-FFF2-40B4-BE49-F238E27FC236}">
                <a16:creationId xmlns:a16="http://schemas.microsoft.com/office/drawing/2014/main" id="{29FAB5D0-FBFC-5086-348E-E4CAFFAF656A}"/>
              </a:ext>
            </a:extLst>
          </p:cNvPr>
          <p:cNvSpPr txBox="1"/>
          <p:nvPr/>
        </p:nvSpPr>
        <p:spPr>
          <a:xfrm>
            <a:off x="1600200" y="609600"/>
            <a:ext cx="13182600" cy="990600"/>
          </a:xfrm>
          <a:prstGeom prst="rect">
            <a:avLst/>
          </a:prstGeom>
        </p:spPr>
        <p:txBody>
          <a:bodyPr lIns="0" tIns="101600" rIns="0" bIns="0" rtlCol="0" anchor="t"/>
          <a:lstStyle/>
          <a:p>
            <a:pPr lvl="0">
              <a:lnSpc>
                <a:spcPct val="99600"/>
              </a:lnSpc>
            </a:pPr>
            <a:r>
              <a:rPr lang="en-US" altLang="ko-KR" sz="6000" b="1" dirty="0">
                <a:solidFill>
                  <a:srgbClr val="000000"/>
                </a:solidFill>
                <a:latin typeface="Arial" panose="020B0604020202020204" pitchFamily="34" charset="0"/>
                <a:cs typeface="Arial" panose="020B0604020202020204" pitchFamily="34" charset="0"/>
              </a:rPr>
              <a:t>Contact (</a:t>
            </a:r>
            <a:r>
              <a:rPr lang="ko-KR" altLang="en-US" sz="6000" b="1" dirty="0">
                <a:solidFill>
                  <a:srgbClr val="000000"/>
                </a:solidFill>
                <a:latin typeface="Arial" panose="020B0604020202020204" pitchFamily="34" charset="0"/>
                <a:cs typeface="Arial" panose="020B0604020202020204" pitchFamily="34" charset="0"/>
              </a:rPr>
              <a:t>접촉 제약</a:t>
            </a:r>
            <a:r>
              <a:rPr lang="en-US" altLang="ko-KR" sz="6000" b="1" dirty="0">
                <a:solidFill>
                  <a:srgbClr val="000000"/>
                </a:solidFill>
                <a:latin typeface="Arial" panose="020B0604020202020204" pitchFamily="34" charset="0"/>
                <a:cs typeface="Arial" panose="020B0604020202020204" pitchFamily="34" charset="0"/>
              </a:rPr>
              <a:t>) </a:t>
            </a:r>
            <a:r>
              <a:rPr lang="ko-KR" altLang="en-US" sz="6000" b="1" dirty="0">
                <a:solidFill>
                  <a:srgbClr val="000000"/>
                </a:solidFill>
                <a:latin typeface="Arial" panose="020B0604020202020204" pitchFamily="34" charset="0"/>
                <a:cs typeface="Arial" panose="020B0604020202020204" pitchFamily="34" charset="0"/>
              </a:rPr>
              <a:t>추가</a:t>
            </a:r>
            <a:r>
              <a:rPr lang="en-US" altLang="ko-KR" sz="6000" b="1" dirty="0">
                <a:solidFill>
                  <a:srgbClr val="000000"/>
                </a:solidFill>
                <a:latin typeface="Arial" panose="020B0604020202020204" pitchFamily="34" charset="0"/>
                <a:cs typeface="Arial" panose="020B0604020202020204" pitchFamily="34" charset="0"/>
              </a:rPr>
              <a:t> </a:t>
            </a:r>
            <a:endParaRPr lang="en" altLang="ko-KR" sz="6000" b="1" dirty="0">
              <a:solidFill>
                <a:srgbClr val="000000"/>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101E3036-DA5B-11CD-3358-77DB374B888D}"/>
              </a:ext>
            </a:extLst>
          </p:cNvPr>
          <p:cNvSpPr txBox="1"/>
          <p:nvPr/>
        </p:nvSpPr>
        <p:spPr>
          <a:xfrm>
            <a:off x="2086897" y="2244213"/>
            <a:ext cx="21154103" cy="8307146"/>
          </a:xfrm>
          <a:prstGeom prst="rect">
            <a:avLst/>
          </a:prstGeom>
          <a:noFill/>
        </p:spPr>
        <p:txBody>
          <a:bodyPr wrap="square">
            <a:spAutoFit/>
          </a:bodyPr>
          <a:lstStyle/>
          <a:p>
            <a:pPr>
              <a:lnSpc>
                <a:spcPct val="200000"/>
              </a:lnSpc>
            </a:pPr>
            <a:r>
              <a:rPr lang="en-US" altLang="ko-KR" sz="4000" b="1" dirty="0">
                <a:latin typeface="+mn-ea"/>
              </a:rPr>
              <a:t>Rigid Contact </a:t>
            </a:r>
          </a:p>
          <a:p>
            <a:pPr marL="457200" indent="-457200">
              <a:lnSpc>
                <a:spcPct val="200000"/>
              </a:lnSpc>
              <a:buFont typeface="Arial" panose="020B0604020202020204" pitchFamily="34" charset="0"/>
              <a:buChar char="•"/>
            </a:pPr>
            <a:r>
              <a:rPr lang="en-US" altLang="ko-KR" sz="3200" dirty="0">
                <a:latin typeface="+mn-ea"/>
              </a:rPr>
              <a:t>Rigid Contact</a:t>
            </a:r>
            <a:r>
              <a:rPr lang="ko-KR" altLang="en-US" sz="3200" dirty="0">
                <a:latin typeface="+mn-ea"/>
              </a:rPr>
              <a:t>의 경우 단단한 바닥</a:t>
            </a:r>
            <a:r>
              <a:rPr lang="en-US" altLang="ko-KR" sz="3200" dirty="0">
                <a:latin typeface="+mn-ea"/>
              </a:rPr>
              <a:t>/</a:t>
            </a:r>
            <a:r>
              <a:rPr lang="ko-KR" altLang="en-US" sz="3200" dirty="0">
                <a:latin typeface="+mn-ea"/>
              </a:rPr>
              <a:t>벽에 의해 고정되어 움직이지 못하는 상태라 본다</a:t>
            </a:r>
            <a:endParaRPr lang="en-US" altLang="ko-KR" sz="3200" dirty="0">
              <a:latin typeface="+mn-ea"/>
            </a:endParaRPr>
          </a:p>
          <a:p>
            <a:pPr>
              <a:lnSpc>
                <a:spcPct val="200000"/>
              </a:lnSpc>
            </a:pPr>
            <a:r>
              <a:rPr lang="en-US" altLang="ko-KR" sz="3200" dirty="0">
                <a:latin typeface="+mn-ea"/>
              </a:rPr>
              <a:t>	&gt; </a:t>
            </a:r>
            <a:r>
              <a:rPr lang="ko-KR" altLang="en-US" sz="3200" dirty="0">
                <a:latin typeface="+mn-ea"/>
              </a:rPr>
              <a:t>즉</a:t>
            </a:r>
            <a:r>
              <a:rPr lang="en-US" altLang="ko-KR" sz="3200" dirty="0">
                <a:latin typeface="+mn-ea"/>
              </a:rPr>
              <a:t>, </a:t>
            </a:r>
            <a:r>
              <a:rPr lang="ko-KR" altLang="en-US" sz="3200" dirty="0">
                <a:latin typeface="+mn-ea"/>
              </a:rPr>
              <a:t>속도</a:t>
            </a:r>
            <a:r>
              <a:rPr lang="en-US" altLang="ko-KR" sz="3200" dirty="0">
                <a:latin typeface="+mn-ea"/>
              </a:rPr>
              <a:t>=0, </a:t>
            </a:r>
            <a:r>
              <a:rPr lang="ko-KR" altLang="en-US" sz="3200" dirty="0">
                <a:latin typeface="+mn-ea"/>
              </a:rPr>
              <a:t>가속도</a:t>
            </a:r>
            <a:r>
              <a:rPr lang="en-US" altLang="ko-KR" sz="3200" dirty="0">
                <a:latin typeface="+mn-ea"/>
              </a:rPr>
              <a:t>=0 </a:t>
            </a:r>
            <a:r>
              <a:rPr lang="ko-KR" altLang="en-US" sz="3200" dirty="0">
                <a:latin typeface="+mn-ea"/>
              </a:rPr>
              <a:t>과 같은 강한 구속 조건을 추가</a:t>
            </a:r>
            <a:endParaRPr lang="en-US" altLang="ko-KR" sz="3200" dirty="0">
              <a:latin typeface="+mn-ea"/>
            </a:endParaRPr>
          </a:p>
          <a:p>
            <a:pPr>
              <a:lnSpc>
                <a:spcPct val="200000"/>
              </a:lnSpc>
            </a:pPr>
            <a:endParaRPr lang="en-US" altLang="ko-KR" sz="3200" dirty="0">
              <a:latin typeface="+mn-ea"/>
            </a:endParaRPr>
          </a:p>
          <a:p>
            <a:pPr>
              <a:lnSpc>
                <a:spcPct val="200000"/>
              </a:lnSpc>
            </a:pPr>
            <a:r>
              <a:rPr lang="ko-KR" altLang="en-US" sz="4000" b="1" dirty="0">
                <a:latin typeface="+mn-ea"/>
              </a:rPr>
              <a:t>기구학적 구속</a:t>
            </a:r>
            <a:endParaRPr lang="en-US" altLang="ko-KR" sz="4000" dirty="0">
              <a:latin typeface="+mn-ea"/>
            </a:endParaRPr>
          </a:p>
          <a:p>
            <a:pPr marL="342900" indent="-342900">
              <a:lnSpc>
                <a:spcPct val="200000"/>
              </a:lnSpc>
              <a:buFont typeface="Arial" panose="020B0604020202020204" pitchFamily="34" charset="0"/>
              <a:buChar char="•"/>
            </a:pPr>
            <a:r>
              <a:rPr lang="en-US" altLang="ko-KR" sz="3200" dirty="0">
                <a:latin typeface="+mn-ea"/>
              </a:rPr>
              <a:t>            : </a:t>
            </a:r>
            <a:r>
              <a:rPr lang="ko-KR" altLang="en-US" sz="3200" dirty="0">
                <a:latin typeface="+mn-ea"/>
              </a:rPr>
              <a:t>일반화좌표 𝑞에서 접촉점의 위치</a:t>
            </a:r>
            <a:r>
              <a:rPr lang="en-US" altLang="ko-KR" sz="3200" dirty="0">
                <a:latin typeface="+mn-ea"/>
              </a:rPr>
              <a:t>/</a:t>
            </a:r>
            <a:r>
              <a:rPr lang="ko-KR" altLang="en-US" sz="3200" dirty="0">
                <a:latin typeface="+mn-ea"/>
              </a:rPr>
              <a:t>자세</a:t>
            </a:r>
            <a:endParaRPr lang="en-US" altLang="ko-KR" sz="3200" dirty="0">
              <a:latin typeface="+mn-ea"/>
            </a:endParaRPr>
          </a:p>
          <a:p>
            <a:pPr marL="342900" indent="-342900">
              <a:lnSpc>
                <a:spcPct val="200000"/>
              </a:lnSpc>
              <a:buFont typeface="Arial" panose="020B0604020202020204" pitchFamily="34" charset="0"/>
              <a:buChar char="•"/>
            </a:pPr>
            <a:r>
              <a:rPr lang="en-US" altLang="ko-KR" sz="3200" dirty="0">
                <a:latin typeface="+mn-ea"/>
              </a:rPr>
              <a:t>            : </a:t>
            </a:r>
            <a:r>
              <a:rPr lang="ko-KR" altLang="en-US" sz="3200" dirty="0">
                <a:latin typeface="+mn-ea"/>
              </a:rPr>
              <a:t>고정된</a:t>
            </a:r>
            <a:r>
              <a:rPr lang="en-US" altLang="ko-KR" sz="3200" dirty="0">
                <a:latin typeface="+mn-ea"/>
              </a:rPr>
              <a:t>(</a:t>
            </a:r>
            <a:r>
              <a:rPr lang="ko-KR" altLang="en-US" sz="3200" dirty="0">
                <a:latin typeface="+mn-ea"/>
              </a:rPr>
              <a:t>변하지 않는</a:t>
            </a:r>
            <a:r>
              <a:rPr lang="en-US" altLang="ko-KR" sz="3200" dirty="0">
                <a:latin typeface="+mn-ea"/>
              </a:rPr>
              <a:t>) </a:t>
            </a:r>
            <a:r>
              <a:rPr lang="ko-KR" altLang="en-US" sz="3200" dirty="0">
                <a:latin typeface="+mn-ea"/>
              </a:rPr>
              <a:t>목표 위치</a:t>
            </a:r>
            <a:r>
              <a:rPr lang="en-US" altLang="ko-KR" sz="3200" dirty="0">
                <a:latin typeface="+mn-ea"/>
              </a:rPr>
              <a:t>/</a:t>
            </a:r>
            <a:r>
              <a:rPr lang="ko-KR" altLang="en-US" sz="3200" dirty="0">
                <a:latin typeface="+mn-ea"/>
              </a:rPr>
              <a:t>자세</a:t>
            </a:r>
          </a:p>
          <a:p>
            <a:pPr>
              <a:lnSpc>
                <a:spcPct val="200000"/>
              </a:lnSpc>
            </a:pPr>
            <a:endParaRPr lang="en-US" altLang="ko-KR" sz="3200" dirty="0">
              <a:latin typeface="+mn-ea"/>
            </a:endParaRPr>
          </a:p>
        </p:txBody>
      </p:sp>
      <p:pic>
        <p:nvPicPr>
          <p:cNvPr id="5" name="그림 4" descr="\documentclass{article}&#10;\usepackage{amsmath}&#10;\pagestyle{empty}&#10;\begin{document}&#10;&#10;&#10;$&#10;c(q) = 0&#10;$&#10;&#10;\end{document}" title="IguanaTex Bitmap Display">
            <a:extLst>
              <a:ext uri="{FF2B5EF4-FFF2-40B4-BE49-F238E27FC236}">
                <a16:creationId xmlns:a16="http://schemas.microsoft.com/office/drawing/2014/main" id="{697AA1C8-B71E-7D7E-AC8B-80E60F6D94A7}"/>
              </a:ext>
            </a:extLst>
          </p:cNvPr>
          <p:cNvPicPr>
            <a:picLocks noChangeAspect="1"/>
          </p:cNvPicPr>
          <p:nvPr>
            <p:custDataLst>
              <p:tags r:id="rId1"/>
            </p:custDataLst>
          </p:nvPr>
        </p:nvPicPr>
        <p:blipFill>
          <a:blip r:embed="rId7" cstate="print">
            <a:extLst>
              <a:ext uri="{28A0092B-C50C-407E-A947-70E740481C1C}">
                <a14:useLocalDpi xmlns:a14="http://schemas.microsoft.com/office/drawing/2010/main" val="0"/>
              </a:ext>
            </a:extLst>
          </a:blip>
          <a:stretch>
            <a:fillRect/>
          </a:stretch>
        </p:blipFill>
        <p:spPr>
          <a:xfrm>
            <a:off x="11422000" y="6933200"/>
            <a:ext cx="1836800" cy="534400"/>
          </a:xfrm>
          <a:prstGeom prst="rect">
            <a:avLst/>
          </a:prstGeom>
        </p:spPr>
      </p:pic>
      <p:pic>
        <p:nvPicPr>
          <p:cNvPr id="9" name="그림 8" descr="\documentclass{article}&#10;\usepackage{amsmath}&#10;\pagestyle{empty}&#10;\begin{document}&#10;&#10;&#10;$&#10;c(q) \;=\; r_c(q) - r_c^\star&#10;$&#10;&#10;\end{document}" title="IguanaTex Bitmap Display">
            <a:extLst>
              <a:ext uri="{FF2B5EF4-FFF2-40B4-BE49-F238E27FC236}">
                <a16:creationId xmlns:a16="http://schemas.microsoft.com/office/drawing/2014/main" id="{16A3968C-450F-5CD1-7B70-EB20D8F8F361}"/>
              </a:ext>
            </a:extLst>
          </p:cNvPr>
          <p:cNvPicPr>
            <a:picLocks noChangeAspect="1"/>
          </p:cNvPicPr>
          <p:nvPr>
            <p:custDataLst>
              <p:tags r:id="rId2"/>
            </p:custDataLst>
          </p:nvPr>
        </p:nvPicPr>
        <p:blipFill>
          <a:blip r:embed="rId8" cstate="print">
            <a:extLst>
              <a:ext uri="{28A0092B-C50C-407E-A947-70E740481C1C}">
                <a14:useLocalDpi xmlns:a14="http://schemas.microsoft.com/office/drawing/2010/main" val="0"/>
              </a:ext>
            </a:extLst>
          </a:blip>
          <a:stretch>
            <a:fillRect/>
          </a:stretch>
        </p:blipFill>
        <p:spPr>
          <a:xfrm>
            <a:off x="6400800" y="6933200"/>
            <a:ext cx="3733800" cy="484495"/>
          </a:xfrm>
          <a:prstGeom prst="rect">
            <a:avLst/>
          </a:prstGeom>
        </p:spPr>
      </p:pic>
      <p:pic>
        <p:nvPicPr>
          <p:cNvPr id="11" name="그림 10" descr="\documentclass{article}&#10;\usepackage{amsmath}&#10;\pagestyle{empty}&#10;\begin{document}&#10;&#10;&#10;$&#10;r_c(q)&#10;$&#10;&#10;\end{document}" title="IguanaTex Bitmap Display">
            <a:extLst>
              <a:ext uri="{FF2B5EF4-FFF2-40B4-BE49-F238E27FC236}">
                <a16:creationId xmlns:a16="http://schemas.microsoft.com/office/drawing/2014/main" id="{10E22E9F-9558-4CD9-67CF-DE0ED62AF0BF}"/>
              </a:ext>
            </a:extLst>
          </p:cNvPr>
          <p:cNvPicPr>
            <a:picLocks noChangeAspect="1"/>
          </p:cNvPicPr>
          <p:nvPr>
            <p:custDataLst>
              <p:tags r:id="rId3"/>
            </p:custDataLst>
          </p:nvPr>
        </p:nvPicPr>
        <p:blipFill>
          <a:blip r:embed="rId9" cstate="print">
            <a:extLst>
              <a:ext uri="{28A0092B-C50C-407E-A947-70E740481C1C}">
                <a14:useLocalDpi xmlns:a14="http://schemas.microsoft.com/office/drawing/2010/main" val="0"/>
              </a:ext>
            </a:extLst>
          </a:blip>
          <a:stretch>
            <a:fillRect/>
          </a:stretch>
        </p:blipFill>
        <p:spPr>
          <a:xfrm>
            <a:off x="2915433" y="8044294"/>
            <a:ext cx="838200" cy="422898"/>
          </a:xfrm>
          <a:prstGeom prst="rect">
            <a:avLst/>
          </a:prstGeom>
        </p:spPr>
      </p:pic>
      <p:pic>
        <p:nvPicPr>
          <p:cNvPr id="13" name="그림 12" descr="\documentclass{article}&#10;\usepackage{amsmath}&#10;\pagestyle{empty}&#10;\begin{document}&#10;&#10;&#10;$&#10;r_c^\star&#10;$&#10;&#10;\end{document}" title="IguanaTex Bitmap Display">
            <a:extLst>
              <a:ext uri="{FF2B5EF4-FFF2-40B4-BE49-F238E27FC236}">
                <a16:creationId xmlns:a16="http://schemas.microsoft.com/office/drawing/2014/main" id="{DABCDDBB-18F7-1DDC-872D-18992969D9BF}"/>
              </a:ext>
            </a:extLst>
          </p:cNvPr>
          <p:cNvPicPr>
            <a:picLocks noChangeAspect="1"/>
          </p:cNvPicPr>
          <p:nvPr>
            <p:custDataLst>
              <p:tags r:id="rId4"/>
            </p:custDataLst>
          </p:nvPr>
        </p:nvPicPr>
        <p:blipFill>
          <a:blip r:embed="rId10" cstate="print">
            <a:extLst>
              <a:ext uri="{28A0092B-C50C-407E-A947-70E740481C1C}">
                <a14:useLocalDpi xmlns:a14="http://schemas.microsoft.com/office/drawing/2010/main" val="0"/>
              </a:ext>
            </a:extLst>
          </a:blip>
          <a:stretch>
            <a:fillRect/>
          </a:stretch>
        </p:blipFill>
        <p:spPr>
          <a:xfrm>
            <a:off x="3087667" y="9067800"/>
            <a:ext cx="341333" cy="387657"/>
          </a:xfrm>
          <a:prstGeom prst="rect">
            <a:avLst/>
          </a:prstGeom>
        </p:spPr>
      </p:pic>
    </p:spTree>
    <p:extLst>
      <p:ext uri="{BB962C8B-B14F-4D97-AF65-F5344CB8AC3E}">
        <p14:creationId xmlns:p14="http://schemas.microsoft.com/office/powerpoint/2010/main" val="27079806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09533-166E-C225-B9E8-7C00EBE0F1A2}"/>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CE9EB9B9-DAA3-56EE-7B15-CFF923FA361F}"/>
              </a:ext>
            </a:extLst>
          </p:cNvPr>
          <p:cNvSpPr/>
          <p:nvPr/>
        </p:nvSpPr>
        <p:spPr>
          <a:xfrm>
            <a:off x="0" y="0"/>
            <a:ext cx="821042" cy="1371600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각 삼각형 58">
            <a:extLst>
              <a:ext uri="{FF2B5EF4-FFF2-40B4-BE49-F238E27FC236}">
                <a16:creationId xmlns:a16="http://schemas.microsoft.com/office/drawing/2014/main" id="{2BB0D729-A3FD-B860-E9C6-CEACF5D7EB06}"/>
              </a:ext>
            </a:extLst>
          </p:cNvPr>
          <p:cNvSpPr/>
          <p:nvPr/>
        </p:nvSpPr>
        <p:spPr>
          <a:xfrm rot="10800000" flipH="1">
            <a:off x="1" y="0"/>
            <a:ext cx="1905000" cy="1828800"/>
          </a:xfrm>
          <a:prstGeom prst="rtTriangle">
            <a:avLst/>
          </a:prstGeom>
          <a:solidFill>
            <a:srgbClr val="1E1B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4">
            <a:extLst>
              <a:ext uri="{FF2B5EF4-FFF2-40B4-BE49-F238E27FC236}">
                <a16:creationId xmlns:a16="http://schemas.microsoft.com/office/drawing/2014/main" id="{166C7FE8-C35F-C5A0-CB98-CD3F6E3553EE}"/>
              </a:ext>
            </a:extLst>
          </p:cNvPr>
          <p:cNvSpPr txBox="1"/>
          <p:nvPr/>
        </p:nvSpPr>
        <p:spPr>
          <a:xfrm>
            <a:off x="1600200" y="609600"/>
            <a:ext cx="13182600" cy="990600"/>
          </a:xfrm>
          <a:prstGeom prst="rect">
            <a:avLst/>
          </a:prstGeom>
        </p:spPr>
        <p:txBody>
          <a:bodyPr lIns="0" tIns="101600" rIns="0" bIns="0" rtlCol="0" anchor="t"/>
          <a:lstStyle/>
          <a:p>
            <a:pPr lvl="0">
              <a:lnSpc>
                <a:spcPct val="99600"/>
              </a:lnSpc>
            </a:pPr>
            <a:r>
              <a:rPr lang="en-US" altLang="ko-KR" sz="6000" b="1" dirty="0">
                <a:solidFill>
                  <a:srgbClr val="000000"/>
                </a:solidFill>
                <a:latin typeface="Arial" panose="020B0604020202020204" pitchFamily="34" charset="0"/>
                <a:cs typeface="Arial" panose="020B0604020202020204" pitchFamily="34" charset="0"/>
              </a:rPr>
              <a:t>Contact (</a:t>
            </a:r>
            <a:r>
              <a:rPr lang="ko-KR" altLang="en-US" sz="6000" b="1" dirty="0">
                <a:solidFill>
                  <a:srgbClr val="000000"/>
                </a:solidFill>
                <a:latin typeface="Arial" panose="020B0604020202020204" pitchFamily="34" charset="0"/>
                <a:cs typeface="Arial" panose="020B0604020202020204" pitchFamily="34" charset="0"/>
              </a:rPr>
              <a:t>접촉 제약</a:t>
            </a:r>
            <a:r>
              <a:rPr lang="en-US" altLang="ko-KR" sz="6000" b="1" dirty="0">
                <a:solidFill>
                  <a:srgbClr val="000000"/>
                </a:solidFill>
                <a:latin typeface="Arial" panose="020B0604020202020204" pitchFamily="34" charset="0"/>
                <a:cs typeface="Arial" panose="020B0604020202020204" pitchFamily="34" charset="0"/>
              </a:rPr>
              <a:t>) </a:t>
            </a:r>
            <a:r>
              <a:rPr lang="ko-KR" altLang="en-US" sz="6000" b="1" dirty="0">
                <a:solidFill>
                  <a:srgbClr val="000000"/>
                </a:solidFill>
                <a:latin typeface="Arial" panose="020B0604020202020204" pitchFamily="34" charset="0"/>
                <a:cs typeface="Arial" panose="020B0604020202020204" pitchFamily="34" charset="0"/>
              </a:rPr>
              <a:t>추가</a:t>
            </a:r>
            <a:r>
              <a:rPr lang="en-US" altLang="ko-KR" sz="6000" b="1" dirty="0">
                <a:solidFill>
                  <a:srgbClr val="000000"/>
                </a:solidFill>
                <a:latin typeface="Arial" panose="020B0604020202020204" pitchFamily="34" charset="0"/>
                <a:cs typeface="Arial" panose="020B0604020202020204" pitchFamily="34" charset="0"/>
              </a:rPr>
              <a:t> </a:t>
            </a:r>
            <a:endParaRPr lang="en" altLang="ko-KR" sz="6000" b="1" dirty="0">
              <a:solidFill>
                <a:srgbClr val="000000"/>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60AD355B-CA59-E9A7-55A9-93C950C50B5F}"/>
              </a:ext>
            </a:extLst>
          </p:cNvPr>
          <p:cNvSpPr txBox="1"/>
          <p:nvPr/>
        </p:nvSpPr>
        <p:spPr>
          <a:xfrm>
            <a:off x="2086897" y="2244213"/>
            <a:ext cx="21154103" cy="8060925"/>
          </a:xfrm>
          <a:prstGeom prst="rect">
            <a:avLst/>
          </a:prstGeom>
          <a:noFill/>
        </p:spPr>
        <p:txBody>
          <a:bodyPr wrap="square">
            <a:spAutoFit/>
          </a:bodyPr>
          <a:lstStyle/>
          <a:p>
            <a:pPr>
              <a:lnSpc>
                <a:spcPct val="200000"/>
              </a:lnSpc>
            </a:pPr>
            <a:r>
              <a:rPr lang="ko-KR" altLang="en-US" sz="4000" b="1" dirty="0">
                <a:latin typeface="+mn-ea"/>
              </a:rPr>
              <a:t>속도</a:t>
            </a:r>
            <a:r>
              <a:rPr lang="en-US" altLang="ko-KR" sz="4000" b="1" dirty="0">
                <a:latin typeface="+mn-ea"/>
              </a:rPr>
              <a:t>/</a:t>
            </a:r>
            <a:r>
              <a:rPr lang="ko-KR" altLang="en-US" sz="4000" b="1" dirty="0">
                <a:latin typeface="+mn-ea"/>
              </a:rPr>
              <a:t>가속도 구속</a:t>
            </a:r>
            <a:endParaRPr lang="en-US" altLang="ko-KR" sz="4000" dirty="0">
              <a:latin typeface="+mn-ea"/>
            </a:endParaRPr>
          </a:p>
          <a:p>
            <a:pPr marL="342900" indent="-342900">
              <a:lnSpc>
                <a:spcPct val="200000"/>
              </a:lnSpc>
              <a:buFont typeface="Arial" panose="020B0604020202020204" pitchFamily="34" charset="0"/>
              <a:buChar char="•"/>
            </a:pPr>
            <a:r>
              <a:rPr lang="en-US" altLang="ko-KR" sz="3200" dirty="0">
                <a:latin typeface="+mn-ea"/>
              </a:rPr>
              <a:t>1</a:t>
            </a:r>
            <a:r>
              <a:rPr lang="ko-KR" altLang="en-US" sz="3200" dirty="0">
                <a:latin typeface="+mn-ea"/>
              </a:rPr>
              <a:t>차 미분 </a:t>
            </a:r>
            <a:r>
              <a:rPr lang="en-US" altLang="ko-KR" sz="3200" dirty="0">
                <a:latin typeface="+mn-ea"/>
              </a:rPr>
              <a:t>: </a:t>
            </a:r>
            <a:r>
              <a:rPr lang="ko-KR" altLang="en-US" sz="3200" dirty="0">
                <a:latin typeface="+mn-ea"/>
              </a:rPr>
              <a:t>해당 고정점에서의 속도는 </a:t>
            </a:r>
            <a:r>
              <a:rPr lang="en-US" altLang="ko-KR" sz="3200" dirty="0">
                <a:latin typeface="+mn-ea"/>
              </a:rPr>
              <a:t>0 </a:t>
            </a:r>
            <a:r>
              <a:rPr lang="ko-KR" altLang="en-US" sz="3200" dirty="0">
                <a:latin typeface="+mn-ea"/>
              </a:rPr>
              <a:t>이다</a:t>
            </a:r>
            <a:endParaRPr lang="en-US" altLang="ko-KR" sz="3200" dirty="0">
              <a:latin typeface="+mn-ea"/>
            </a:endParaRPr>
          </a:p>
          <a:p>
            <a:pPr marL="342900" indent="-342900">
              <a:lnSpc>
                <a:spcPct val="200000"/>
              </a:lnSpc>
              <a:buFont typeface="Arial" panose="020B0604020202020204" pitchFamily="34" charset="0"/>
              <a:buChar char="•"/>
            </a:pPr>
            <a:endParaRPr lang="en-US" altLang="ko-KR" sz="3200" dirty="0">
              <a:latin typeface="+mn-ea"/>
            </a:endParaRPr>
          </a:p>
          <a:p>
            <a:pPr marL="342900" indent="-342900">
              <a:lnSpc>
                <a:spcPct val="200000"/>
              </a:lnSpc>
              <a:buFont typeface="Arial" panose="020B0604020202020204" pitchFamily="34" charset="0"/>
              <a:buChar char="•"/>
            </a:pPr>
            <a:endParaRPr lang="en-US" altLang="ko-KR" sz="3200" dirty="0">
              <a:latin typeface="+mn-ea"/>
            </a:endParaRPr>
          </a:p>
          <a:p>
            <a:pPr marL="342900" indent="-342900">
              <a:lnSpc>
                <a:spcPct val="200000"/>
              </a:lnSpc>
              <a:buFont typeface="Arial" panose="020B0604020202020204" pitchFamily="34" charset="0"/>
              <a:buChar char="•"/>
            </a:pPr>
            <a:r>
              <a:rPr lang="en-US" altLang="ko-KR" sz="3200" dirty="0">
                <a:latin typeface="+mn-ea"/>
              </a:rPr>
              <a:t>2</a:t>
            </a:r>
            <a:r>
              <a:rPr lang="ko-KR" altLang="en-US" sz="3200" dirty="0">
                <a:latin typeface="+mn-ea"/>
              </a:rPr>
              <a:t>차 미분 </a:t>
            </a:r>
            <a:r>
              <a:rPr lang="en-US" altLang="ko-KR" sz="3200" dirty="0">
                <a:latin typeface="+mn-ea"/>
              </a:rPr>
              <a:t>: </a:t>
            </a:r>
            <a:r>
              <a:rPr lang="ko-KR" altLang="en-US" sz="3200" dirty="0">
                <a:latin typeface="+mn-ea"/>
              </a:rPr>
              <a:t>해당 고정점에서의 가속도는 </a:t>
            </a:r>
            <a:r>
              <a:rPr lang="en-US" altLang="ko-KR" sz="3200" dirty="0">
                <a:latin typeface="+mn-ea"/>
              </a:rPr>
              <a:t>0 </a:t>
            </a:r>
            <a:r>
              <a:rPr lang="ko-KR" altLang="en-US" sz="3200" dirty="0">
                <a:latin typeface="+mn-ea"/>
              </a:rPr>
              <a:t>이다</a:t>
            </a:r>
            <a:endParaRPr lang="en-US" altLang="ko-KR" sz="3200" dirty="0">
              <a:latin typeface="+mn-ea"/>
            </a:endParaRPr>
          </a:p>
          <a:p>
            <a:pPr marL="342900" indent="-342900">
              <a:lnSpc>
                <a:spcPct val="200000"/>
              </a:lnSpc>
              <a:buFont typeface="Arial" panose="020B0604020202020204" pitchFamily="34" charset="0"/>
              <a:buChar char="•"/>
            </a:pPr>
            <a:endParaRPr lang="en-US" altLang="ko-KR" sz="3200" dirty="0">
              <a:latin typeface="+mn-ea"/>
            </a:endParaRPr>
          </a:p>
          <a:p>
            <a:pPr marL="342900" indent="-342900">
              <a:lnSpc>
                <a:spcPct val="200000"/>
              </a:lnSpc>
              <a:buFont typeface="Arial" panose="020B0604020202020204" pitchFamily="34" charset="0"/>
              <a:buChar char="•"/>
            </a:pPr>
            <a:r>
              <a:rPr lang="ko-KR" altLang="en-US" sz="3200" b="1" dirty="0">
                <a:latin typeface="+mn-ea"/>
              </a:rPr>
              <a:t>운동방정식과 결합한 최종 </a:t>
            </a:r>
            <a:r>
              <a:rPr lang="en-US" altLang="ko-KR" sz="3200" b="1" dirty="0">
                <a:latin typeface="+mn-ea"/>
              </a:rPr>
              <a:t>QP </a:t>
            </a:r>
            <a:r>
              <a:rPr lang="ko-KR" altLang="en-US" sz="3200" b="1" dirty="0">
                <a:latin typeface="+mn-ea"/>
              </a:rPr>
              <a:t>형태</a:t>
            </a:r>
            <a:r>
              <a:rPr lang="en-US" altLang="ko-KR" sz="3200" b="1" dirty="0">
                <a:latin typeface="+mn-ea"/>
              </a:rPr>
              <a:t> :</a:t>
            </a:r>
          </a:p>
          <a:p>
            <a:pPr marL="342900" indent="-342900">
              <a:lnSpc>
                <a:spcPct val="200000"/>
              </a:lnSpc>
              <a:buFont typeface="Arial" panose="020B0604020202020204" pitchFamily="34" charset="0"/>
              <a:buChar char="•"/>
            </a:pPr>
            <a:endParaRPr lang="en-US" altLang="ko-KR" sz="3200" dirty="0">
              <a:latin typeface="+mn-ea"/>
            </a:endParaRPr>
          </a:p>
        </p:txBody>
      </p:sp>
      <p:pic>
        <p:nvPicPr>
          <p:cNvPr id="15" name="그림 14" descr="\documentclass{article}&#10;\usepackage{amsmath}&#10;\pagestyle{empty}&#10;\begin{document}&#10;&#10;&#10;$&#10;\frac{d}{dt}\,c(q(t))&#10;=\frac{\partial c}{\partial q}\,\dot q&#10;= J(q)\,\dot q&#10;= 0&#10;$&#10;&#10;\end{document}" title="IguanaTex Bitmap Display">
            <a:extLst>
              <a:ext uri="{FF2B5EF4-FFF2-40B4-BE49-F238E27FC236}">
                <a16:creationId xmlns:a16="http://schemas.microsoft.com/office/drawing/2014/main" id="{9C56D4CC-FE2D-28B0-03D5-F82277D227BA}"/>
              </a:ext>
            </a:extLst>
          </p:cNvPr>
          <p:cNvPicPr>
            <a:picLocks noChangeAspect="1"/>
          </p:cNvPicPr>
          <p:nvPr>
            <p:custDataLst>
              <p:tags r:id="rId1"/>
            </p:custDataLst>
          </p:nvPr>
        </p:nvPicPr>
        <p:blipFill>
          <a:blip r:embed="rId7" cstate="print">
            <a:extLst>
              <a:ext uri="{28A0092B-C50C-407E-A947-70E740481C1C}">
                <a14:useLocalDpi xmlns:a14="http://schemas.microsoft.com/office/drawing/2010/main" val="0"/>
              </a:ext>
            </a:extLst>
          </a:blip>
          <a:stretch>
            <a:fillRect/>
          </a:stretch>
        </p:blipFill>
        <p:spPr>
          <a:xfrm>
            <a:off x="12573000" y="3674054"/>
            <a:ext cx="6700800" cy="732800"/>
          </a:xfrm>
          <a:prstGeom prst="rect">
            <a:avLst/>
          </a:prstGeom>
        </p:spPr>
      </p:pic>
      <p:pic>
        <p:nvPicPr>
          <p:cNvPr id="16" name="그림 15" descr="\documentclass{article}&#10;\usepackage{amsmath}&#10;\pagestyle{empty}&#10;\begin{document}&#10;&#10;&#10;$&#10;\frac{d}{dt}\big(J(q)\,\dot q\big)&#10;= \dot J(q,\dot q)\,\dot q + J(q)\,\ddot q&#10;= 0&#10;$&#10;&#10;\end{document}" title="IguanaTex Bitmap Display">
            <a:extLst>
              <a:ext uri="{FF2B5EF4-FFF2-40B4-BE49-F238E27FC236}">
                <a16:creationId xmlns:a16="http://schemas.microsoft.com/office/drawing/2014/main" id="{9F9326DE-20EE-3C9B-19F5-D3EB8861BAC6}"/>
              </a:ext>
            </a:extLst>
          </p:cNvPr>
          <p:cNvPicPr>
            <a:picLocks noChangeAspect="1"/>
          </p:cNvPicPr>
          <p:nvPr>
            <p:custDataLst>
              <p:tags r:id="rId2"/>
            </p:custDataLst>
          </p:nvPr>
        </p:nvPicPr>
        <p:blipFill>
          <a:blip r:embed="rId8" cstate="print">
            <a:extLst>
              <a:ext uri="{28A0092B-C50C-407E-A947-70E740481C1C}">
                <a14:useLocalDpi xmlns:a14="http://schemas.microsoft.com/office/drawing/2010/main" val="0"/>
              </a:ext>
            </a:extLst>
          </a:blip>
          <a:stretch>
            <a:fillRect/>
          </a:stretch>
        </p:blipFill>
        <p:spPr>
          <a:xfrm>
            <a:off x="12573000" y="6705600"/>
            <a:ext cx="7817600" cy="675200"/>
          </a:xfrm>
          <a:prstGeom prst="rect">
            <a:avLst/>
          </a:prstGeom>
        </p:spPr>
      </p:pic>
      <p:cxnSp>
        <p:nvCxnSpPr>
          <p:cNvPr id="17" name="직선 연결선 16">
            <a:extLst>
              <a:ext uri="{FF2B5EF4-FFF2-40B4-BE49-F238E27FC236}">
                <a16:creationId xmlns:a16="http://schemas.microsoft.com/office/drawing/2014/main" id="{2BBC7803-554F-C8EA-F782-C84F99AF6F9C}"/>
              </a:ext>
            </a:extLst>
          </p:cNvPr>
          <p:cNvCxnSpPr>
            <a:cxnSpLocks/>
          </p:cNvCxnSpPr>
          <p:nvPr/>
        </p:nvCxnSpPr>
        <p:spPr>
          <a:xfrm>
            <a:off x="16956900" y="4425782"/>
            <a:ext cx="2357400"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직선 연결선 18">
            <a:extLst>
              <a:ext uri="{FF2B5EF4-FFF2-40B4-BE49-F238E27FC236}">
                <a16:creationId xmlns:a16="http://schemas.microsoft.com/office/drawing/2014/main" id="{0C4F68AF-B4A1-FAAA-B0FA-E7139C0F1D23}"/>
              </a:ext>
            </a:extLst>
          </p:cNvPr>
          <p:cNvCxnSpPr>
            <a:cxnSpLocks/>
          </p:cNvCxnSpPr>
          <p:nvPr/>
        </p:nvCxnSpPr>
        <p:spPr>
          <a:xfrm>
            <a:off x="15504300" y="7574505"/>
            <a:ext cx="5029200"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pic>
        <p:nvPicPr>
          <p:cNvPr id="25" name="그림 24" descr="\documentclass{article}&#10;\usepackage{amsmath}&#10;\pagestyle{empty}&#10;\begin{document}&#10;&#10;&#10;$&#10;\begin{aligned}&#10;&amp;\underset{y}{\mathrm{minimize}} &amp;&amp; \|A y - a\|^2 \\&#10;&amp;\text{subject to} &amp;&amp;&#10;\begin{bmatrix}&#10;J(q) &amp; 0 &amp; 0 \\&#10;M(q) &amp; -J(q)^{\top} &amp; -S^{\top}&#10;\end{bmatrix}&#10;\begin{bmatrix}&#10;\ddot q \\[2pt] f \\[2pt] \tau&#10;\end{bmatrix}&#10;=&#10;\begin{bmatrix}&#10;-\dot J(q,\dot q)\,\dot q \\&#10;-h(q,\dot q)&#10;\end{bmatrix}.&#10;\end{aligned}&#10;$&#10;&#10;\end{document}" title="IguanaTex Bitmap Display">
            <a:extLst>
              <a:ext uri="{FF2B5EF4-FFF2-40B4-BE49-F238E27FC236}">
                <a16:creationId xmlns:a16="http://schemas.microsoft.com/office/drawing/2014/main" id="{DA5886A8-D4E2-865F-91F4-5A5E6C45BF5D}"/>
              </a:ext>
            </a:extLst>
          </p:cNvPr>
          <p:cNvPicPr>
            <a:picLocks noChangeAspect="1"/>
          </p:cNvPicPr>
          <p:nvPr>
            <p:custDataLst>
              <p:tags r:id="rId3"/>
            </p:custDataLst>
          </p:nvPr>
        </p:nvPicPr>
        <p:blipFill>
          <a:blip r:embed="rId9" cstate="print">
            <a:extLst>
              <a:ext uri="{28A0092B-C50C-407E-A947-70E740481C1C}">
                <a14:useLocalDpi xmlns:a14="http://schemas.microsoft.com/office/drawing/2010/main" val="0"/>
              </a:ext>
            </a:extLst>
          </a:blip>
          <a:stretch>
            <a:fillRect/>
          </a:stretch>
        </p:blipFill>
        <p:spPr>
          <a:xfrm>
            <a:off x="6672799" y="9831923"/>
            <a:ext cx="11346091" cy="2807032"/>
          </a:xfrm>
          <a:prstGeom prst="rect">
            <a:avLst/>
          </a:prstGeom>
        </p:spPr>
      </p:pic>
      <p:cxnSp>
        <p:nvCxnSpPr>
          <p:cNvPr id="26" name="직선 연결선 25">
            <a:extLst>
              <a:ext uri="{FF2B5EF4-FFF2-40B4-BE49-F238E27FC236}">
                <a16:creationId xmlns:a16="http://schemas.microsoft.com/office/drawing/2014/main" id="{35993959-0EF7-308A-A1D0-67256130C713}"/>
              </a:ext>
            </a:extLst>
          </p:cNvPr>
          <p:cNvCxnSpPr>
            <a:cxnSpLocks/>
          </p:cNvCxnSpPr>
          <p:nvPr/>
        </p:nvCxnSpPr>
        <p:spPr>
          <a:xfrm>
            <a:off x="14097000" y="12801600"/>
            <a:ext cx="762000"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pic>
        <p:nvPicPr>
          <p:cNvPr id="30" name="그림 29" descr="\documentclass{article}&#10;\usepackage{amsmath}&#10;\pagestyle{empty}&#10;\begin{document}&#10;&#10;&#10;$&#10;y&#10;$&#10;&#10;\end{document}" title="IguanaTex Bitmap Display">
            <a:extLst>
              <a:ext uri="{FF2B5EF4-FFF2-40B4-BE49-F238E27FC236}">
                <a16:creationId xmlns:a16="http://schemas.microsoft.com/office/drawing/2014/main" id="{D5F7788A-FF1F-B663-DB9E-693082BED987}"/>
              </a:ext>
            </a:extLst>
          </p:cNvPr>
          <p:cNvPicPr>
            <a:picLocks noChangeAspect="1"/>
          </p:cNvPicPr>
          <p:nvPr>
            <p:custDataLst>
              <p:tags r:id="rId4"/>
            </p:custDataLst>
          </p:nvPr>
        </p:nvPicPr>
        <p:blipFill>
          <a:blip r:embed="rId10" cstate="print">
            <a:extLst>
              <a:ext uri="{28A0092B-C50C-407E-A947-70E740481C1C}">
                <a14:useLocalDpi xmlns:a14="http://schemas.microsoft.com/office/drawing/2010/main" val="0"/>
              </a:ext>
            </a:extLst>
          </a:blip>
          <a:stretch>
            <a:fillRect/>
          </a:stretch>
        </p:blipFill>
        <p:spPr>
          <a:xfrm>
            <a:off x="14380800" y="12964246"/>
            <a:ext cx="249600" cy="342400"/>
          </a:xfrm>
          <a:prstGeom prst="rect">
            <a:avLst/>
          </a:prstGeom>
        </p:spPr>
      </p:pic>
    </p:spTree>
    <p:extLst>
      <p:ext uri="{BB962C8B-B14F-4D97-AF65-F5344CB8AC3E}">
        <p14:creationId xmlns:p14="http://schemas.microsoft.com/office/powerpoint/2010/main" val="14016283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4EEAED-5EC3-73DB-8D38-E18A188DF71F}"/>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76DB7D3-48C6-1F46-66EF-1233F1D7D4F1}"/>
              </a:ext>
            </a:extLst>
          </p:cNvPr>
          <p:cNvSpPr/>
          <p:nvPr/>
        </p:nvSpPr>
        <p:spPr>
          <a:xfrm>
            <a:off x="0" y="0"/>
            <a:ext cx="821042" cy="1371600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각 삼각형 58">
            <a:extLst>
              <a:ext uri="{FF2B5EF4-FFF2-40B4-BE49-F238E27FC236}">
                <a16:creationId xmlns:a16="http://schemas.microsoft.com/office/drawing/2014/main" id="{4F1E4395-4C21-29F8-CDBB-FC51BF051EA5}"/>
              </a:ext>
            </a:extLst>
          </p:cNvPr>
          <p:cNvSpPr/>
          <p:nvPr/>
        </p:nvSpPr>
        <p:spPr>
          <a:xfrm rot="10800000" flipH="1">
            <a:off x="1" y="0"/>
            <a:ext cx="1905000" cy="1828800"/>
          </a:xfrm>
          <a:prstGeom prst="rtTriangle">
            <a:avLst/>
          </a:prstGeom>
          <a:solidFill>
            <a:srgbClr val="1E1B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4">
            <a:extLst>
              <a:ext uri="{FF2B5EF4-FFF2-40B4-BE49-F238E27FC236}">
                <a16:creationId xmlns:a16="http://schemas.microsoft.com/office/drawing/2014/main" id="{A784284A-2BEE-A6AC-0B7A-FB3ED0EDFD53}"/>
              </a:ext>
            </a:extLst>
          </p:cNvPr>
          <p:cNvSpPr txBox="1"/>
          <p:nvPr/>
        </p:nvSpPr>
        <p:spPr>
          <a:xfrm>
            <a:off x="1600200" y="609600"/>
            <a:ext cx="13182600" cy="990600"/>
          </a:xfrm>
          <a:prstGeom prst="rect">
            <a:avLst/>
          </a:prstGeom>
        </p:spPr>
        <p:txBody>
          <a:bodyPr lIns="0" tIns="101600" rIns="0" bIns="0" rtlCol="0" anchor="t"/>
          <a:lstStyle/>
          <a:p>
            <a:pPr lvl="0">
              <a:lnSpc>
                <a:spcPct val="99600"/>
              </a:lnSpc>
            </a:pPr>
            <a:r>
              <a:rPr lang="en-US" altLang="ko-KR" sz="6000" b="1" dirty="0">
                <a:solidFill>
                  <a:srgbClr val="000000"/>
                </a:solidFill>
                <a:latin typeface="Arial" panose="020B0604020202020204" pitchFamily="34" charset="0"/>
                <a:cs typeface="Arial" panose="020B0604020202020204" pitchFamily="34" charset="0"/>
              </a:rPr>
              <a:t>Contact (</a:t>
            </a:r>
            <a:r>
              <a:rPr lang="ko-KR" altLang="en-US" sz="6000" b="1" dirty="0">
                <a:solidFill>
                  <a:srgbClr val="000000"/>
                </a:solidFill>
                <a:latin typeface="Arial" panose="020B0604020202020204" pitchFamily="34" charset="0"/>
                <a:cs typeface="Arial" panose="020B0604020202020204" pitchFamily="34" charset="0"/>
              </a:rPr>
              <a:t>접촉 제약</a:t>
            </a:r>
            <a:r>
              <a:rPr lang="en-US" altLang="ko-KR" sz="6000" b="1" dirty="0">
                <a:solidFill>
                  <a:srgbClr val="000000"/>
                </a:solidFill>
                <a:latin typeface="Arial" panose="020B0604020202020204" pitchFamily="34" charset="0"/>
                <a:cs typeface="Arial" panose="020B0604020202020204" pitchFamily="34" charset="0"/>
              </a:rPr>
              <a:t>) </a:t>
            </a:r>
            <a:r>
              <a:rPr lang="ko-KR" altLang="en-US" sz="6000" b="1" dirty="0">
                <a:solidFill>
                  <a:srgbClr val="000000"/>
                </a:solidFill>
                <a:latin typeface="Arial" panose="020B0604020202020204" pitchFamily="34" charset="0"/>
                <a:cs typeface="Arial" panose="020B0604020202020204" pitchFamily="34" charset="0"/>
              </a:rPr>
              <a:t>추가</a:t>
            </a:r>
            <a:r>
              <a:rPr lang="en-US" altLang="ko-KR" sz="6000" b="1" dirty="0">
                <a:solidFill>
                  <a:srgbClr val="000000"/>
                </a:solidFill>
                <a:latin typeface="Arial" panose="020B0604020202020204" pitchFamily="34" charset="0"/>
                <a:cs typeface="Arial" panose="020B0604020202020204" pitchFamily="34" charset="0"/>
              </a:rPr>
              <a:t> </a:t>
            </a:r>
            <a:endParaRPr lang="en" altLang="ko-KR" sz="6000" b="1" dirty="0">
              <a:solidFill>
                <a:srgbClr val="000000"/>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6E828B30-8C91-A874-3B97-CCF628D92E37}"/>
              </a:ext>
            </a:extLst>
          </p:cNvPr>
          <p:cNvSpPr txBox="1"/>
          <p:nvPr/>
        </p:nvSpPr>
        <p:spPr>
          <a:xfrm>
            <a:off x="2086897" y="2244213"/>
            <a:ext cx="21154103" cy="8799588"/>
          </a:xfrm>
          <a:prstGeom prst="rect">
            <a:avLst/>
          </a:prstGeom>
          <a:noFill/>
        </p:spPr>
        <p:txBody>
          <a:bodyPr wrap="square">
            <a:spAutoFit/>
          </a:bodyPr>
          <a:lstStyle/>
          <a:p>
            <a:pPr marL="342900" indent="-342900">
              <a:lnSpc>
                <a:spcPct val="200000"/>
              </a:lnSpc>
              <a:buFont typeface="Arial" panose="020B0604020202020204" pitchFamily="34" charset="0"/>
              <a:buChar char="•"/>
            </a:pPr>
            <a:r>
              <a:rPr lang="ko-KR" altLang="en-US" sz="3200" b="1" dirty="0">
                <a:latin typeface="+mn-ea"/>
              </a:rPr>
              <a:t>운동방정식과 결합한 최종 </a:t>
            </a:r>
            <a:r>
              <a:rPr lang="en-US" altLang="ko-KR" sz="3200" b="1" dirty="0">
                <a:latin typeface="+mn-ea"/>
              </a:rPr>
              <a:t>QP </a:t>
            </a:r>
            <a:r>
              <a:rPr lang="ko-KR" altLang="en-US" sz="3200" b="1" dirty="0">
                <a:latin typeface="+mn-ea"/>
              </a:rPr>
              <a:t>형태에서 가속도 조건만 사용하는 이유</a:t>
            </a:r>
            <a:endParaRPr lang="en-US" altLang="ko-KR" sz="3200" b="1" dirty="0">
              <a:latin typeface="+mn-ea"/>
            </a:endParaRPr>
          </a:p>
          <a:p>
            <a:pPr marL="342900" indent="-342900">
              <a:lnSpc>
                <a:spcPct val="200000"/>
              </a:lnSpc>
              <a:buFont typeface="Arial" panose="020B0604020202020204" pitchFamily="34" charset="0"/>
              <a:buChar char="•"/>
            </a:pPr>
            <a:endParaRPr lang="en-US" altLang="ko-KR" sz="3200" b="1" dirty="0">
              <a:latin typeface="+mn-ea"/>
            </a:endParaRPr>
          </a:p>
          <a:p>
            <a:pPr marL="342900" indent="-342900">
              <a:lnSpc>
                <a:spcPct val="200000"/>
              </a:lnSpc>
              <a:buFont typeface="Arial" panose="020B0604020202020204" pitchFamily="34" charset="0"/>
              <a:buChar char="•"/>
            </a:pPr>
            <a:endParaRPr lang="en-US" altLang="ko-KR" sz="3200" b="1" dirty="0">
              <a:latin typeface="+mn-ea"/>
            </a:endParaRPr>
          </a:p>
          <a:p>
            <a:pPr marL="342900" indent="-342900">
              <a:lnSpc>
                <a:spcPct val="200000"/>
              </a:lnSpc>
              <a:buFont typeface="Arial" panose="020B0604020202020204" pitchFamily="34" charset="0"/>
              <a:buChar char="•"/>
            </a:pPr>
            <a:endParaRPr lang="en-US" altLang="ko-KR" sz="3200" b="1" dirty="0">
              <a:latin typeface="+mn-ea"/>
            </a:endParaRPr>
          </a:p>
          <a:p>
            <a:pPr marL="342900" indent="-342900">
              <a:lnSpc>
                <a:spcPct val="200000"/>
              </a:lnSpc>
              <a:buFont typeface="Arial" panose="020B0604020202020204" pitchFamily="34" charset="0"/>
              <a:buChar char="•"/>
            </a:pPr>
            <a:endParaRPr lang="en-US" altLang="ko-KR" sz="3200" b="1" dirty="0">
              <a:latin typeface="+mn-ea"/>
            </a:endParaRPr>
          </a:p>
          <a:p>
            <a:pPr marL="342900" indent="-342900">
              <a:lnSpc>
                <a:spcPct val="200000"/>
              </a:lnSpc>
              <a:buFont typeface="Arial" panose="020B0604020202020204" pitchFamily="34" charset="0"/>
              <a:buChar char="•"/>
            </a:pPr>
            <a:endParaRPr lang="en-US" altLang="ko-KR" sz="3200" b="1" dirty="0">
              <a:latin typeface="+mn-ea"/>
            </a:endParaRPr>
          </a:p>
          <a:p>
            <a:pPr marL="342900" indent="-342900">
              <a:lnSpc>
                <a:spcPct val="200000"/>
              </a:lnSpc>
              <a:buFont typeface="Arial" panose="020B0604020202020204" pitchFamily="34" charset="0"/>
              <a:buChar char="•"/>
            </a:pPr>
            <a:endParaRPr lang="en-US" altLang="ko-KR" sz="3200" b="1" dirty="0">
              <a:latin typeface="+mn-ea"/>
            </a:endParaRPr>
          </a:p>
          <a:p>
            <a:pPr marL="342900" indent="-342900">
              <a:lnSpc>
                <a:spcPct val="200000"/>
              </a:lnSpc>
              <a:buFont typeface="Arial" panose="020B0604020202020204" pitchFamily="34" charset="0"/>
              <a:buChar char="•"/>
            </a:pPr>
            <a:r>
              <a:rPr lang="en-US" altLang="ko-KR" sz="3200" b="1" dirty="0">
                <a:latin typeface="+mn-ea"/>
              </a:rPr>
              <a:t>   </a:t>
            </a:r>
            <a:r>
              <a:rPr lang="ko-KR" altLang="en-US" sz="3200" dirty="0">
                <a:latin typeface="+mn-ea"/>
              </a:rPr>
              <a:t>에 대한 선형식이기 때문에 결합하기 용이</a:t>
            </a:r>
            <a:endParaRPr lang="en-US" altLang="ko-KR" sz="3200" dirty="0">
              <a:latin typeface="+mn-ea"/>
            </a:endParaRPr>
          </a:p>
          <a:p>
            <a:pPr marL="342900" indent="-342900">
              <a:lnSpc>
                <a:spcPct val="200000"/>
              </a:lnSpc>
              <a:buFont typeface="Arial" panose="020B0604020202020204" pitchFamily="34" charset="0"/>
              <a:buChar char="•"/>
            </a:pPr>
            <a:r>
              <a:rPr lang="ko-KR" altLang="en-US" sz="3200" dirty="0">
                <a:latin typeface="+mn-ea"/>
              </a:rPr>
              <a:t>초기 상태</a:t>
            </a:r>
            <a:r>
              <a:rPr lang="en-US" altLang="ko-KR" sz="3200" dirty="0">
                <a:latin typeface="+mn-ea"/>
              </a:rPr>
              <a:t>(</a:t>
            </a:r>
            <a:r>
              <a:rPr lang="ko-KR" altLang="en-US" sz="3200" dirty="0">
                <a:latin typeface="+mn-ea"/>
              </a:rPr>
              <a:t>속도</a:t>
            </a:r>
            <a:r>
              <a:rPr lang="en-US" altLang="ko-KR" sz="3200" dirty="0">
                <a:latin typeface="+mn-ea"/>
              </a:rPr>
              <a:t>)</a:t>
            </a:r>
            <a:r>
              <a:rPr lang="ko-KR" altLang="en-US" sz="3200" dirty="0">
                <a:latin typeface="+mn-ea"/>
              </a:rPr>
              <a:t>를 </a:t>
            </a:r>
            <a:r>
              <a:rPr lang="en-US" altLang="ko-KR" sz="3200" dirty="0">
                <a:latin typeface="+mn-ea"/>
              </a:rPr>
              <a:t>0</a:t>
            </a:r>
            <a:r>
              <a:rPr lang="ko-KR" altLang="en-US" sz="3200" dirty="0">
                <a:latin typeface="+mn-ea"/>
              </a:rPr>
              <a:t>으로 하여 적용</a:t>
            </a:r>
            <a:endParaRPr lang="en-US" altLang="ko-KR" sz="3200" dirty="0">
              <a:latin typeface="+mn-ea"/>
            </a:endParaRPr>
          </a:p>
        </p:txBody>
      </p:sp>
      <p:pic>
        <p:nvPicPr>
          <p:cNvPr id="16" name="그림 15" descr="\documentclass{article}&#10;\usepackage{amsmath}&#10;\pagestyle{empty}&#10;\begin{document}&#10;&#10;&#10;$&#10;\frac{d}{dt}\big(J(q)\,\dot q\big)&#10;= \dot J(q,\dot q)\,\dot q + J(q)\,\ddot q&#10;= 0&#10;$&#10;&#10;\end{document}" title="IguanaTex Bitmap Display">
            <a:extLst>
              <a:ext uri="{FF2B5EF4-FFF2-40B4-BE49-F238E27FC236}">
                <a16:creationId xmlns:a16="http://schemas.microsoft.com/office/drawing/2014/main" id="{16018F4D-E81F-EA55-AFA4-BA16976F2B39}"/>
              </a:ext>
            </a:extLst>
          </p:cNvPr>
          <p:cNvPicPr>
            <a:picLocks noChangeAspect="1"/>
          </p:cNvPicPr>
          <p:nvPr>
            <p:custDataLst>
              <p:tags r:id="rId1"/>
            </p:custDataLst>
          </p:nvPr>
        </p:nvPicPr>
        <p:blipFill>
          <a:blip r:embed="rId6" cstate="print">
            <a:extLst>
              <a:ext uri="{28A0092B-C50C-407E-A947-70E740481C1C}">
                <a14:useLocalDpi xmlns:a14="http://schemas.microsoft.com/office/drawing/2010/main" val="0"/>
              </a:ext>
            </a:extLst>
          </a:blip>
          <a:stretch>
            <a:fillRect/>
          </a:stretch>
        </p:blipFill>
        <p:spPr>
          <a:xfrm>
            <a:off x="7620000" y="7066889"/>
            <a:ext cx="7817600" cy="675200"/>
          </a:xfrm>
          <a:prstGeom prst="rect">
            <a:avLst/>
          </a:prstGeom>
        </p:spPr>
      </p:pic>
      <p:cxnSp>
        <p:nvCxnSpPr>
          <p:cNvPr id="19" name="직선 연결선 18">
            <a:extLst>
              <a:ext uri="{FF2B5EF4-FFF2-40B4-BE49-F238E27FC236}">
                <a16:creationId xmlns:a16="http://schemas.microsoft.com/office/drawing/2014/main" id="{C2CF17D9-5E6B-5A1F-B810-87A01CE83EEC}"/>
              </a:ext>
            </a:extLst>
          </p:cNvPr>
          <p:cNvCxnSpPr>
            <a:cxnSpLocks/>
          </p:cNvCxnSpPr>
          <p:nvPr/>
        </p:nvCxnSpPr>
        <p:spPr>
          <a:xfrm>
            <a:off x="10551300" y="7935794"/>
            <a:ext cx="5029200"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pic>
        <p:nvPicPr>
          <p:cNvPr id="25" name="그림 24" descr="\documentclass{article}&#10;\usepackage{amsmath}&#10;\pagestyle{empty}&#10;\begin{document}&#10;&#10;&#10;$&#10;\begin{aligned}&#10;&amp;\underset{y}{\mathrm{minimize}} &amp;&amp; \|A y - a\|^2 \\&#10;&amp;\text{subject to} &amp;&amp;&#10;\begin{bmatrix}&#10;J(q) &amp; 0 &amp; 0 \\&#10;M(q) &amp; -J(q)^{\top} &amp; -S^{\top}&#10;\end{bmatrix}&#10;\begin{bmatrix}&#10;\ddot q \\[2pt] f \\[2pt] \tau&#10;\end{bmatrix}&#10;=&#10;\begin{bmatrix}&#10;-\dot J(q,\dot q)\,\dot q \\&#10;-h(q,\dot q)&#10;\end{bmatrix}.&#10;\end{aligned}&#10;$&#10;&#10;\end{document}" title="IguanaTex Bitmap Display">
            <a:extLst>
              <a:ext uri="{FF2B5EF4-FFF2-40B4-BE49-F238E27FC236}">
                <a16:creationId xmlns:a16="http://schemas.microsoft.com/office/drawing/2014/main" id="{7E5CCA84-30D2-31D7-3B79-96B63332CC82}"/>
              </a:ext>
            </a:extLst>
          </p:cNvPr>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tretch>
            <a:fillRect/>
          </a:stretch>
        </p:blipFill>
        <p:spPr>
          <a:xfrm>
            <a:off x="5943600" y="3589635"/>
            <a:ext cx="11346091" cy="2807032"/>
          </a:xfrm>
          <a:prstGeom prst="rect">
            <a:avLst/>
          </a:prstGeom>
        </p:spPr>
      </p:pic>
      <p:pic>
        <p:nvPicPr>
          <p:cNvPr id="5" name="그림 4" descr="\documentclass{article}&#10;\usepackage{amsmath}&#10;\pagestyle{empty}&#10;\begin{document}&#10;&#10;&#10;$&#10;\ddot{q}&#10;$&#10;&#10;\end{document}" title="IguanaTex Bitmap Display">
            <a:extLst>
              <a:ext uri="{FF2B5EF4-FFF2-40B4-BE49-F238E27FC236}">
                <a16:creationId xmlns:a16="http://schemas.microsoft.com/office/drawing/2014/main" id="{DD9A7620-8A3E-4F3E-B9FE-B3787DCE1517}"/>
              </a:ext>
            </a:extLst>
          </p:cNvPr>
          <p:cNvPicPr>
            <a:picLocks noChangeAspect="1"/>
          </p:cNvPicPr>
          <p:nvPr>
            <p:custDataLst>
              <p:tags r:id="rId3"/>
            </p:custDataLst>
          </p:nvPr>
        </p:nvPicPr>
        <p:blipFill>
          <a:blip r:embed="rId8" cstate="print">
            <a:extLst>
              <a:ext uri="{28A0092B-C50C-407E-A947-70E740481C1C}">
                <a14:useLocalDpi xmlns:a14="http://schemas.microsoft.com/office/drawing/2010/main" val="0"/>
              </a:ext>
            </a:extLst>
          </a:blip>
          <a:stretch>
            <a:fillRect/>
          </a:stretch>
        </p:blipFill>
        <p:spPr>
          <a:xfrm>
            <a:off x="2667000" y="9525000"/>
            <a:ext cx="177981" cy="348648"/>
          </a:xfrm>
          <a:prstGeom prst="rect">
            <a:avLst/>
          </a:prstGeom>
        </p:spPr>
      </p:pic>
    </p:spTree>
    <p:extLst>
      <p:ext uri="{BB962C8B-B14F-4D97-AF65-F5344CB8AC3E}">
        <p14:creationId xmlns:p14="http://schemas.microsoft.com/office/powerpoint/2010/main" val="26682061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A89220-A802-A259-7068-6FB18AFCE912}"/>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51D8A805-BA01-5CD9-A6E4-97A56C5E8B14}"/>
              </a:ext>
            </a:extLst>
          </p:cNvPr>
          <p:cNvSpPr/>
          <p:nvPr/>
        </p:nvSpPr>
        <p:spPr>
          <a:xfrm>
            <a:off x="0" y="0"/>
            <a:ext cx="821042" cy="13716000"/>
          </a:xfrm>
          <a:prstGeom prst="rect">
            <a:avLst/>
          </a:prstGeom>
          <a:solidFill>
            <a:srgbClr val="F4E0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각 삼각형 58">
            <a:extLst>
              <a:ext uri="{FF2B5EF4-FFF2-40B4-BE49-F238E27FC236}">
                <a16:creationId xmlns:a16="http://schemas.microsoft.com/office/drawing/2014/main" id="{DBFB50C8-5CED-43E0-71FC-94F7E5BD351A}"/>
              </a:ext>
            </a:extLst>
          </p:cNvPr>
          <p:cNvSpPr/>
          <p:nvPr/>
        </p:nvSpPr>
        <p:spPr>
          <a:xfrm rot="10800000" flipH="1">
            <a:off x="1" y="0"/>
            <a:ext cx="1905000" cy="1828800"/>
          </a:xfrm>
          <a:prstGeom prst="rtTriangle">
            <a:avLst/>
          </a:prstGeom>
          <a:solidFill>
            <a:srgbClr val="1E1B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4">
            <a:extLst>
              <a:ext uri="{FF2B5EF4-FFF2-40B4-BE49-F238E27FC236}">
                <a16:creationId xmlns:a16="http://schemas.microsoft.com/office/drawing/2014/main" id="{E99AE2B2-7D01-FFE1-2579-99ED0C01420D}"/>
              </a:ext>
            </a:extLst>
          </p:cNvPr>
          <p:cNvSpPr txBox="1"/>
          <p:nvPr/>
        </p:nvSpPr>
        <p:spPr>
          <a:xfrm>
            <a:off x="1600200" y="609600"/>
            <a:ext cx="13182600" cy="990600"/>
          </a:xfrm>
          <a:prstGeom prst="rect">
            <a:avLst/>
          </a:prstGeom>
        </p:spPr>
        <p:txBody>
          <a:bodyPr lIns="0" tIns="101600" rIns="0" bIns="0" rtlCol="0" anchor="t"/>
          <a:lstStyle/>
          <a:p>
            <a:pPr lvl="0">
              <a:lnSpc>
                <a:spcPct val="99600"/>
              </a:lnSpc>
            </a:pPr>
            <a:r>
              <a:rPr lang="en-US" sz="6000" b="1" i="0" u="none" strike="noStrike" dirty="0">
                <a:solidFill>
                  <a:srgbClr val="000000"/>
                </a:solidFill>
                <a:latin typeface="Arial" panose="020B0604020202020204" pitchFamily="34" charset="0"/>
                <a:cs typeface="Arial" panose="020B0604020202020204" pitchFamily="34" charset="0"/>
              </a:rPr>
              <a:t>QP </a:t>
            </a:r>
            <a:r>
              <a:rPr lang="ko-KR" altLang="en-US" sz="6000" b="1" i="0" u="none" strike="noStrike" dirty="0">
                <a:solidFill>
                  <a:srgbClr val="000000"/>
                </a:solidFill>
                <a:latin typeface="Arial" panose="020B0604020202020204" pitchFamily="34" charset="0"/>
                <a:cs typeface="Arial" panose="020B0604020202020204" pitchFamily="34" charset="0"/>
              </a:rPr>
              <a:t>장점</a:t>
            </a:r>
            <a:endParaRPr lang="en" sz="6000" b="1" i="0" u="none" strike="noStrike" dirty="0">
              <a:solidFill>
                <a:srgbClr val="000000"/>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6D6C832E-79F0-9BC5-6F90-4B33513932CD}"/>
              </a:ext>
            </a:extLst>
          </p:cNvPr>
          <p:cNvSpPr txBox="1"/>
          <p:nvPr/>
        </p:nvSpPr>
        <p:spPr>
          <a:xfrm>
            <a:off x="2086897" y="2244213"/>
            <a:ext cx="21154103" cy="11080341"/>
          </a:xfrm>
          <a:prstGeom prst="rect">
            <a:avLst/>
          </a:prstGeom>
          <a:noFill/>
        </p:spPr>
        <p:txBody>
          <a:bodyPr wrap="square">
            <a:spAutoFit/>
          </a:bodyPr>
          <a:lstStyle/>
          <a:p>
            <a:pPr marL="342900" indent="-342900">
              <a:lnSpc>
                <a:spcPct val="200000"/>
              </a:lnSpc>
              <a:buFont typeface="Arial" panose="020B0604020202020204" pitchFamily="34" charset="0"/>
              <a:buChar char="•"/>
            </a:pPr>
            <a:r>
              <a:rPr lang="ko-KR" altLang="en-US" sz="3200" dirty="0">
                <a:latin typeface="+mn-ea"/>
              </a:rPr>
              <a:t>지금까지는 </a:t>
            </a:r>
            <a:r>
              <a:rPr lang="en-US" altLang="ko-KR" sz="3200" dirty="0">
                <a:latin typeface="+mn-ea"/>
              </a:rPr>
              <a:t>QP</a:t>
            </a:r>
            <a:r>
              <a:rPr lang="ko-KR" altLang="en-US" sz="3200" dirty="0">
                <a:latin typeface="+mn-ea"/>
              </a:rPr>
              <a:t>의 한 형태인 </a:t>
            </a:r>
            <a:r>
              <a:rPr lang="en-US" altLang="ko-KR" sz="3200" dirty="0">
                <a:latin typeface="+mn-ea"/>
              </a:rPr>
              <a:t>Equality-Constrained LSP (ECLSP)</a:t>
            </a:r>
            <a:r>
              <a:rPr lang="ko-KR" altLang="en-US" sz="3200" dirty="0">
                <a:latin typeface="+mn-ea"/>
              </a:rPr>
              <a:t>에 대해 </a:t>
            </a:r>
            <a:r>
              <a:rPr lang="ko-KR" altLang="en-US" sz="3200" dirty="0" err="1">
                <a:latin typeface="+mn-ea"/>
              </a:rPr>
              <a:t>배운것</a:t>
            </a:r>
            <a:endParaRPr lang="en-US" altLang="ko-KR" sz="3200" dirty="0">
              <a:latin typeface="+mn-ea"/>
            </a:endParaRPr>
          </a:p>
          <a:p>
            <a:pPr marL="342900" indent="-342900">
              <a:lnSpc>
                <a:spcPct val="200000"/>
              </a:lnSpc>
              <a:buFont typeface="Arial" panose="020B0604020202020204" pitchFamily="34" charset="0"/>
              <a:buChar char="•"/>
            </a:pPr>
            <a:endParaRPr lang="en-US" altLang="ko-KR" sz="3200" dirty="0">
              <a:latin typeface="+mn-ea"/>
            </a:endParaRPr>
          </a:p>
          <a:p>
            <a:pPr marL="342900" indent="-342900">
              <a:lnSpc>
                <a:spcPct val="200000"/>
              </a:lnSpc>
              <a:buFont typeface="Arial" panose="020B0604020202020204" pitchFamily="34" charset="0"/>
              <a:buChar char="•"/>
            </a:pPr>
            <a:endParaRPr lang="en-US" altLang="ko-KR" sz="3200" dirty="0">
              <a:latin typeface="+mn-ea"/>
            </a:endParaRPr>
          </a:p>
          <a:p>
            <a:pPr marL="342900" indent="-342900">
              <a:lnSpc>
                <a:spcPct val="200000"/>
              </a:lnSpc>
              <a:buFont typeface="Arial" panose="020B0604020202020204" pitchFamily="34" charset="0"/>
              <a:buChar char="•"/>
            </a:pPr>
            <a:r>
              <a:rPr lang="en-US" altLang="ko-KR" sz="3200" dirty="0">
                <a:latin typeface="+mn-ea"/>
              </a:rPr>
              <a:t>QP</a:t>
            </a:r>
            <a:r>
              <a:rPr lang="ko-KR" altLang="en-US" sz="3200" dirty="0">
                <a:latin typeface="+mn-ea"/>
              </a:rPr>
              <a:t>의 일반형 </a:t>
            </a:r>
            <a:r>
              <a:rPr lang="en-US" altLang="ko-KR" sz="3200" dirty="0">
                <a:latin typeface="+mn-ea"/>
              </a:rPr>
              <a:t>- </a:t>
            </a:r>
            <a:r>
              <a:rPr lang="ko-KR" altLang="en-US" sz="3200" dirty="0"/>
              <a:t>일반 이차비용 </a:t>
            </a:r>
            <a:r>
              <a:rPr lang="en-US" altLang="ko-KR" sz="3200" dirty="0"/>
              <a:t>+ </a:t>
            </a:r>
            <a:r>
              <a:rPr lang="ko-KR" altLang="en-US" sz="3200" b="1" dirty="0"/>
              <a:t>부등식</a:t>
            </a:r>
            <a:r>
              <a:rPr lang="en-US" altLang="ko-KR" sz="3200" b="1" dirty="0"/>
              <a:t>/</a:t>
            </a:r>
            <a:r>
              <a:rPr lang="ko-KR" altLang="en-US" sz="3200" b="1" dirty="0"/>
              <a:t>등식 제약</a:t>
            </a:r>
            <a:r>
              <a:rPr lang="ko-KR" altLang="en-US" sz="3200" dirty="0"/>
              <a:t> 모두 가능</a:t>
            </a:r>
            <a:endParaRPr lang="en-US" altLang="ko-KR" sz="3200" dirty="0"/>
          </a:p>
          <a:p>
            <a:pPr marL="342900" indent="-342900">
              <a:lnSpc>
                <a:spcPct val="200000"/>
              </a:lnSpc>
              <a:buFont typeface="Arial" panose="020B0604020202020204" pitchFamily="34" charset="0"/>
              <a:buChar char="•"/>
            </a:pPr>
            <a:endParaRPr lang="en-US" altLang="ko-KR" sz="3200" dirty="0">
              <a:latin typeface="+mn-ea"/>
            </a:endParaRPr>
          </a:p>
          <a:p>
            <a:pPr marL="342900" indent="-342900">
              <a:lnSpc>
                <a:spcPct val="200000"/>
              </a:lnSpc>
              <a:buFont typeface="Arial" panose="020B0604020202020204" pitchFamily="34" charset="0"/>
              <a:buChar char="•"/>
            </a:pPr>
            <a:endParaRPr lang="en-US" altLang="ko-KR" sz="3200" dirty="0">
              <a:latin typeface="+mn-ea"/>
            </a:endParaRPr>
          </a:p>
          <a:p>
            <a:pPr lvl="0" eaLnBrk="0" fontAlgn="base" hangingPunct="0">
              <a:lnSpc>
                <a:spcPct val="150000"/>
              </a:lnSpc>
              <a:spcBef>
                <a:spcPct val="0"/>
              </a:spcBef>
              <a:spcAft>
                <a:spcPct val="0"/>
              </a:spcAft>
            </a:pPr>
            <a:r>
              <a:rPr lang="ko-KR" altLang="en-US" sz="3200" b="1" dirty="0">
                <a:latin typeface="Arial" panose="020B0604020202020204" pitchFamily="34" charset="0"/>
              </a:rPr>
              <a:t>제약 </a:t>
            </a:r>
            <a:r>
              <a:rPr lang="en-US" altLang="ko-KR" sz="3200" b="1" dirty="0">
                <a:latin typeface="Arial" panose="020B0604020202020204" pitchFamily="34" charset="0"/>
              </a:rPr>
              <a:t>:</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ko-KR" sz="3200" dirty="0">
                <a:latin typeface="Arial" panose="020B0604020202020204" pitchFamily="34" charset="0"/>
              </a:rPr>
              <a:t>ECLSP: </a:t>
            </a:r>
            <a:r>
              <a:rPr lang="ko-KR" altLang="en-US" sz="3200" dirty="0">
                <a:latin typeface="Arial" panose="020B0604020202020204" pitchFamily="34" charset="0"/>
              </a:rPr>
              <a:t>평등제약만</a:t>
            </a:r>
            <a:r>
              <a:rPr lang="en-US" altLang="ko-KR" sz="3200" dirty="0">
                <a:latin typeface="Arial" panose="020B0604020202020204" pitchFamily="34" charset="0"/>
              </a:rPr>
              <a:t>(=</a:t>
            </a:r>
            <a:r>
              <a:rPr lang="ko-KR" altLang="en-US" sz="3200" dirty="0">
                <a:latin typeface="Arial" panose="020B0604020202020204" pitchFamily="34" charset="0"/>
              </a:rPr>
              <a:t>접촉 가속도 구속처럼 등식</a:t>
            </a:r>
            <a:r>
              <a:rPr lang="en-US" altLang="ko-KR" sz="3200" dirty="0">
                <a:latin typeface="Arial" panose="020B0604020202020204" pitchFamily="34" charset="0"/>
              </a:rPr>
              <a:t>)</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ko-KR" sz="3200" dirty="0">
                <a:latin typeface="Arial" panose="020B0604020202020204" pitchFamily="34" charset="0"/>
              </a:rPr>
              <a:t>QP: </a:t>
            </a:r>
            <a:r>
              <a:rPr lang="ko-KR" altLang="en-US" sz="3200" dirty="0">
                <a:latin typeface="Arial" panose="020B0604020202020204" pitchFamily="34" charset="0"/>
              </a:rPr>
              <a:t>평등 </a:t>
            </a:r>
            <a:r>
              <a:rPr lang="en-US" altLang="ko-KR" sz="3200" dirty="0">
                <a:latin typeface="Arial" panose="020B0604020202020204" pitchFamily="34" charset="0"/>
              </a:rPr>
              <a:t>+ </a:t>
            </a:r>
            <a:r>
              <a:rPr lang="ko-KR" altLang="en-US" sz="3200" dirty="0">
                <a:latin typeface="Arial" panose="020B0604020202020204" pitchFamily="34" charset="0"/>
              </a:rPr>
              <a:t>불평등</a:t>
            </a:r>
            <a:r>
              <a:rPr lang="en-US" altLang="ko-KR" sz="3200" dirty="0">
                <a:latin typeface="Arial" panose="020B0604020202020204" pitchFamily="34" charset="0"/>
              </a:rPr>
              <a:t>(</a:t>
            </a:r>
            <a:r>
              <a:rPr lang="ko-KR" altLang="en-US" sz="3200" dirty="0">
                <a:latin typeface="Arial" panose="020B0604020202020204" pitchFamily="34" charset="0"/>
              </a:rPr>
              <a:t>속도</a:t>
            </a:r>
            <a:r>
              <a:rPr lang="en-US" altLang="ko-KR" sz="3200" dirty="0">
                <a:latin typeface="Arial" panose="020B0604020202020204" pitchFamily="34" charset="0"/>
              </a:rPr>
              <a:t>/</a:t>
            </a:r>
            <a:r>
              <a:rPr lang="ko-KR" altLang="en-US" sz="3200" dirty="0">
                <a:latin typeface="Arial" panose="020B0604020202020204" pitchFamily="34" charset="0"/>
              </a:rPr>
              <a:t>가속도</a:t>
            </a:r>
            <a:r>
              <a:rPr lang="en-US" altLang="ko-KR" sz="3200" dirty="0">
                <a:latin typeface="Arial" panose="020B0604020202020204" pitchFamily="34" charset="0"/>
              </a:rPr>
              <a:t>/</a:t>
            </a:r>
            <a:r>
              <a:rPr lang="ko-KR" altLang="en-US" sz="3200" dirty="0">
                <a:latin typeface="Arial" panose="020B0604020202020204" pitchFamily="34" charset="0"/>
              </a:rPr>
              <a:t>자세</a:t>
            </a:r>
            <a:r>
              <a:rPr lang="en-US" altLang="ko-KR" sz="3200" dirty="0">
                <a:latin typeface="Arial" panose="020B0604020202020204" pitchFamily="34" charset="0"/>
              </a:rPr>
              <a:t>/</a:t>
            </a:r>
            <a:r>
              <a:rPr lang="ko-KR" altLang="en-US" sz="3200" dirty="0" err="1">
                <a:latin typeface="Arial" panose="020B0604020202020204" pitchFamily="34" charset="0"/>
              </a:rPr>
              <a:t>마찰원뿔</a:t>
            </a:r>
            <a:r>
              <a:rPr lang="ko-KR" altLang="en-US" sz="3200" dirty="0">
                <a:latin typeface="Arial" panose="020B0604020202020204" pitchFamily="34" charset="0"/>
              </a:rPr>
              <a:t> 등</a:t>
            </a:r>
            <a:r>
              <a:rPr lang="en-US" altLang="ko-KR" sz="3200" dirty="0">
                <a:latin typeface="Arial" panose="020B0604020202020204" pitchFamily="34" charset="0"/>
              </a:rPr>
              <a:t>)</a:t>
            </a:r>
            <a:r>
              <a:rPr lang="ko-KR" altLang="en-US" sz="3200" dirty="0">
                <a:latin typeface="Arial" panose="020B0604020202020204" pitchFamily="34" charset="0"/>
              </a:rPr>
              <a:t>을 모두 포함 가능</a:t>
            </a:r>
            <a:endParaRPr lang="en-US" altLang="ko-KR" sz="3200" dirty="0">
              <a:latin typeface="Arial" panose="020B0604020202020204" pitchFamily="34" charset="0"/>
            </a:endParaRPr>
          </a:p>
          <a:p>
            <a:pPr marL="457200" lvl="0" indent="-457200" eaLnBrk="0" fontAlgn="base" hangingPunct="0">
              <a:lnSpc>
                <a:spcPct val="150000"/>
              </a:lnSpc>
              <a:spcBef>
                <a:spcPct val="0"/>
              </a:spcBef>
              <a:spcAft>
                <a:spcPct val="0"/>
              </a:spcAft>
              <a:buFont typeface="Arial" panose="020B0604020202020204" pitchFamily="34" charset="0"/>
              <a:buChar char="•"/>
            </a:pPr>
            <a:endParaRPr lang="en-US" altLang="ko-KR" sz="3200" dirty="0">
              <a:latin typeface="Arial" panose="020B0604020202020204" pitchFamily="34" charset="0"/>
            </a:endParaRPr>
          </a:p>
          <a:p>
            <a:pPr lvl="0" eaLnBrk="0" fontAlgn="base" hangingPunct="0">
              <a:lnSpc>
                <a:spcPct val="150000"/>
              </a:lnSpc>
              <a:spcBef>
                <a:spcPct val="0"/>
              </a:spcBef>
              <a:spcAft>
                <a:spcPct val="0"/>
              </a:spcAft>
            </a:pPr>
            <a:r>
              <a:rPr lang="ko-KR" altLang="en-US" sz="3200" b="1" dirty="0">
                <a:latin typeface="Arial" panose="020B0604020202020204" pitchFamily="34" charset="0"/>
              </a:rPr>
              <a:t>비용 </a:t>
            </a:r>
            <a:r>
              <a:rPr lang="en-US" altLang="ko-KR" sz="3200" b="1" dirty="0">
                <a:latin typeface="Arial" panose="020B0604020202020204" pitchFamily="34" charset="0"/>
              </a:rPr>
              <a:t>:</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ko-KR" sz="3200" dirty="0">
                <a:latin typeface="Arial" panose="020B0604020202020204" pitchFamily="34" charset="0"/>
              </a:rPr>
              <a:t>ECLSP: </a:t>
            </a:r>
            <a:r>
              <a:rPr lang="ko-KR" altLang="en-US" sz="3200" dirty="0">
                <a:latin typeface="Arial" panose="020B0604020202020204" pitchFamily="34" charset="0"/>
              </a:rPr>
              <a:t>오차 제곱형 한 종류</a:t>
            </a:r>
            <a:r>
              <a:rPr lang="en-US" altLang="ko-KR" sz="3200" dirty="0">
                <a:latin typeface="Arial" panose="020B0604020202020204" pitchFamily="34" charset="0"/>
              </a:rPr>
              <a:t>(</a:t>
            </a:r>
            <a:r>
              <a:rPr lang="ko-KR" altLang="en-US" sz="3200" dirty="0">
                <a:latin typeface="Arial" panose="020B0604020202020204" pitchFamily="34" charset="0"/>
              </a:rPr>
              <a:t>가중치로 중요도 조절</a:t>
            </a:r>
            <a:r>
              <a:rPr lang="en-US" altLang="ko-KR" sz="3200" dirty="0">
                <a:latin typeface="Arial" panose="020B0604020202020204" pitchFamily="34" charset="0"/>
              </a:rPr>
              <a:t>)</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ko-KR" sz="3200" dirty="0">
                <a:latin typeface="Arial" panose="020B0604020202020204" pitchFamily="34" charset="0"/>
              </a:rPr>
              <a:t>QP: </a:t>
            </a:r>
            <a:r>
              <a:rPr lang="ko-KR" altLang="en-US" sz="3200" dirty="0">
                <a:latin typeface="Arial" panose="020B0604020202020204" pitchFamily="34" charset="0"/>
              </a:rPr>
              <a:t>오차 제곱 </a:t>
            </a:r>
            <a:r>
              <a:rPr lang="en-US" altLang="ko-KR" sz="3200" dirty="0">
                <a:latin typeface="Arial" panose="020B0604020202020204" pitchFamily="34" charset="0"/>
              </a:rPr>
              <a:t>+ </a:t>
            </a:r>
            <a:r>
              <a:rPr lang="ko-KR" altLang="en-US" sz="3200" dirty="0" err="1">
                <a:latin typeface="Arial" panose="020B0604020202020204" pitchFamily="34" charset="0"/>
              </a:rPr>
              <a:t>선형항</a:t>
            </a:r>
            <a:r>
              <a:rPr lang="ko-KR" altLang="en-US" sz="3200" dirty="0">
                <a:latin typeface="Arial" panose="020B0604020202020204" pitchFamily="34" charset="0"/>
              </a:rPr>
              <a:t> 등 여러 항을 합성하기 용이</a:t>
            </a:r>
            <a:endParaRPr lang="ko-KR" altLang="en-US" sz="3200" dirty="0">
              <a:latin typeface="+mn-ea"/>
            </a:endParaRPr>
          </a:p>
        </p:txBody>
      </p:sp>
      <p:pic>
        <p:nvPicPr>
          <p:cNvPr id="7" name="그림 6" descr="\documentclass{article}&#10;\usepackage{amsmath}&#10;\pagestyle{empty}&#10;\begin{document}&#10;&#10;&#10;$&#10;\min_{y}\ \|A y - b\|_{W}^{2}&#10;\quad \text{s.t.}\quad&#10;E y = d&#10;$&#10;&#10;\end{document}" title="IguanaTex Bitmap Display">
            <a:extLst>
              <a:ext uri="{FF2B5EF4-FFF2-40B4-BE49-F238E27FC236}">
                <a16:creationId xmlns:a16="http://schemas.microsoft.com/office/drawing/2014/main" id="{8510A79E-02BC-9CDB-C60E-2E464915A8E0}"/>
              </a:ext>
            </a:extLst>
          </p:cNvPr>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a:xfrm>
            <a:off x="9448800" y="3808734"/>
            <a:ext cx="7420800" cy="595200"/>
          </a:xfrm>
          <a:prstGeom prst="rect">
            <a:avLst/>
          </a:prstGeom>
        </p:spPr>
      </p:pic>
      <p:pic>
        <p:nvPicPr>
          <p:cNvPr id="9" name="그림 8" descr="\documentclass{article}&#10;\usepackage{amsmath}&#10;\pagestyle{empty}&#10;\begin{document}&#10;&#10;&#10;$&#10;\min_{y}\ \frac12\, y^{\mathsf T} H y + c^{\mathsf T} y&#10;\quad \text{s.t.}\quad&#10;G y \le h,\ \ E y = d,\ \ y_{\min}\le y \le y_{\max}&#10;$&#10;&#10;\end{document}" title="IguanaTex Bitmap Display">
            <a:extLst>
              <a:ext uri="{FF2B5EF4-FFF2-40B4-BE49-F238E27FC236}">
                <a16:creationId xmlns:a16="http://schemas.microsoft.com/office/drawing/2014/main" id="{AF372136-49B2-A5C4-17ED-B238846EF130}"/>
              </a:ext>
            </a:extLst>
          </p:cNvPr>
          <p:cNvPicPr>
            <a:picLocks noChangeAspect="1"/>
          </p:cNvPicPr>
          <p:nvPr>
            <p:custDataLst>
              <p:tags r:id="rId2"/>
            </p:custDataLst>
          </p:nvPr>
        </p:nvPicPr>
        <p:blipFill>
          <a:blip r:embed="rId6" cstate="print">
            <a:extLst>
              <a:ext uri="{28A0092B-C50C-407E-A947-70E740481C1C}">
                <a14:useLocalDpi xmlns:a14="http://schemas.microsoft.com/office/drawing/2010/main" val="0"/>
              </a:ext>
            </a:extLst>
          </a:blip>
          <a:stretch>
            <a:fillRect/>
          </a:stretch>
        </p:blipFill>
        <p:spPr>
          <a:xfrm>
            <a:off x="6324600" y="6796340"/>
            <a:ext cx="14688000" cy="640000"/>
          </a:xfrm>
          <a:prstGeom prst="rect">
            <a:avLst/>
          </a:prstGeom>
        </p:spPr>
      </p:pic>
    </p:spTree>
    <p:extLst>
      <p:ext uri="{BB962C8B-B14F-4D97-AF65-F5344CB8AC3E}">
        <p14:creationId xmlns:p14="http://schemas.microsoft.com/office/powerpoint/2010/main" val="8772123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1B6FEE-E653-CF0E-09A2-7A73FCD473D1}"/>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DD46C06E-CACC-40FF-E365-D058A6749E5B}"/>
              </a:ext>
            </a:extLst>
          </p:cNvPr>
          <p:cNvSpPr/>
          <p:nvPr/>
        </p:nvSpPr>
        <p:spPr>
          <a:xfrm>
            <a:off x="0" y="0"/>
            <a:ext cx="821042" cy="13716000"/>
          </a:xfrm>
          <a:prstGeom prst="rect">
            <a:avLst/>
          </a:prstGeom>
          <a:solidFill>
            <a:srgbClr val="F4E0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각 삼각형 58">
            <a:extLst>
              <a:ext uri="{FF2B5EF4-FFF2-40B4-BE49-F238E27FC236}">
                <a16:creationId xmlns:a16="http://schemas.microsoft.com/office/drawing/2014/main" id="{641BA521-1889-AE94-709B-D066C139547D}"/>
              </a:ext>
            </a:extLst>
          </p:cNvPr>
          <p:cNvSpPr/>
          <p:nvPr/>
        </p:nvSpPr>
        <p:spPr>
          <a:xfrm rot="10800000" flipH="1">
            <a:off x="1" y="0"/>
            <a:ext cx="1905000" cy="1828800"/>
          </a:xfrm>
          <a:prstGeom prst="rtTriangle">
            <a:avLst/>
          </a:prstGeom>
          <a:solidFill>
            <a:srgbClr val="1E1B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4">
            <a:extLst>
              <a:ext uri="{FF2B5EF4-FFF2-40B4-BE49-F238E27FC236}">
                <a16:creationId xmlns:a16="http://schemas.microsoft.com/office/drawing/2014/main" id="{BEE4414D-0E8C-3231-5D45-FF47F1F3BB67}"/>
              </a:ext>
            </a:extLst>
          </p:cNvPr>
          <p:cNvSpPr txBox="1"/>
          <p:nvPr/>
        </p:nvSpPr>
        <p:spPr>
          <a:xfrm>
            <a:off x="1600200" y="609600"/>
            <a:ext cx="13182600" cy="990600"/>
          </a:xfrm>
          <a:prstGeom prst="rect">
            <a:avLst/>
          </a:prstGeom>
        </p:spPr>
        <p:txBody>
          <a:bodyPr lIns="0" tIns="101600" rIns="0" bIns="0" rtlCol="0" anchor="t"/>
          <a:lstStyle/>
          <a:p>
            <a:pPr lvl="0">
              <a:lnSpc>
                <a:spcPct val="99600"/>
              </a:lnSpc>
            </a:pPr>
            <a:r>
              <a:rPr lang="en-US" altLang="ko-KR" sz="6000" b="1" dirty="0">
                <a:solidFill>
                  <a:srgbClr val="000000"/>
                </a:solidFill>
                <a:latin typeface="Arial" panose="020B0604020202020204" pitchFamily="34" charset="0"/>
                <a:cs typeface="Arial" panose="020B0604020202020204" pitchFamily="34" charset="0"/>
              </a:rPr>
              <a:t>QP </a:t>
            </a:r>
            <a:r>
              <a:rPr lang="ko-KR" altLang="en-US" sz="6000" b="1" dirty="0">
                <a:solidFill>
                  <a:srgbClr val="000000"/>
                </a:solidFill>
                <a:latin typeface="Arial" panose="020B0604020202020204" pitchFamily="34" charset="0"/>
                <a:cs typeface="Arial" panose="020B0604020202020204" pitchFamily="34" charset="0"/>
              </a:rPr>
              <a:t>장점</a:t>
            </a:r>
            <a:endParaRPr lang="en" altLang="ko-KR" sz="6000" b="1" dirty="0">
              <a:solidFill>
                <a:srgbClr val="000000"/>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02BFE32C-D2AF-2C32-C921-C7555157AF70}"/>
              </a:ext>
            </a:extLst>
          </p:cNvPr>
          <p:cNvSpPr txBox="1"/>
          <p:nvPr/>
        </p:nvSpPr>
        <p:spPr>
          <a:xfrm>
            <a:off x="2086897" y="2244213"/>
            <a:ext cx="21154103" cy="6829818"/>
          </a:xfrm>
          <a:prstGeom prst="rect">
            <a:avLst/>
          </a:prstGeom>
          <a:noFill/>
        </p:spPr>
        <p:txBody>
          <a:bodyPr wrap="square">
            <a:spAutoFit/>
          </a:bodyPr>
          <a:lstStyle/>
          <a:p>
            <a:pPr marL="342900" indent="-342900">
              <a:lnSpc>
                <a:spcPct val="200000"/>
              </a:lnSpc>
              <a:buFont typeface="Arial" panose="020B0604020202020204" pitchFamily="34" charset="0"/>
              <a:buChar char="•"/>
            </a:pPr>
            <a:r>
              <a:rPr lang="en-US" altLang="ko-KR" sz="3200" dirty="0">
                <a:latin typeface="+mn-ea"/>
              </a:rPr>
              <a:t>QP</a:t>
            </a:r>
            <a:r>
              <a:rPr lang="ko-KR" altLang="en-US" sz="3200" dirty="0">
                <a:latin typeface="+mn-ea"/>
              </a:rPr>
              <a:t>의 가장 큰 장점은 불평등 제약</a:t>
            </a:r>
            <a:r>
              <a:rPr lang="en-US" altLang="ko-KR" sz="3200" dirty="0">
                <a:latin typeface="+mn-ea"/>
              </a:rPr>
              <a:t>(inequality constraints)</a:t>
            </a:r>
            <a:r>
              <a:rPr lang="ko-KR" altLang="en-US" sz="3200" dirty="0">
                <a:latin typeface="+mn-ea"/>
              </a:rPr>
              <a:t>을 직접 넣을 수 있다는 것</a:t>
            </a:r>
            <a:endParaRPr lang="en-US" altLang="ko-KR" sz="3200" dirty="0">
              <a:latin typeface="+mn-ea"/>
            </a:endParaRPr>
          </a:p>
          <a:p>
            <a:pPr>
              <a:lnSpc>
                <a:spcPct val="200000"/>
              </a:lnSpc>
            </a:pPr>
            <a:r>
              <a:rPr lang="en-US" altLang="ko-KR" sz="3200" dirty="0">
                <a:latin typeface="+mn-ea"/>
              </a:rPr>
              <a:t>	1) </a:t>
            </a:r>
            <a:r>
              <a:rPr lang="ko-KR" altLang="en-US" sz="3200" dirty="0"/>
              <a:t>조인트 토크 한계</a:t>
            </a:r>
            <a:endParaRPr lang="en-US" altLang="ko-KR" sz="3200" dirty="0"/>
          </a:p>
          <a:p>
            <a:pPr>
              <a:lnSpc>
                <a:spcPct val="200000"/>
              </a:lnSpc>
            </a:pPr>
            <a:r>
              <a:rPr lang="en-US" altLang="ko-KR" sz="3200" dirty="0">
                <a:latin typeface="+mn-ea"/>
              </a:rPr>
              <a:t>	2) </a:t>
            </a:r>
            <a:r>
              <a:rPr lang="ko-KR" altLang="en-US" sz="3200" dirty="0"/>
              <a:t>마찰 원뿔</a:t>
            </a:r>
            <a:endParaRPr lang="en-US" altLang="ko-KR" sz="3200" dirty="0"/>
          </a:p>
          <a:p>
            <a:pPr>
              <a:lnSpc>
                <a:spcPct val="200000"/>
              </a:lnSpc>
            </a:pPr>
            <a:r>
              <a:rPr lang="en-US" altLang="ko-KR" sz="3200" dirty="0"/>
              <a:t>	3) </a:t>
            </a:r>
            <a:r>
              <a:rPr lang="ko-KR" altLang="en-US" sz="3200" dirty="0"/>
              <a:t> 조인트 </a:t>
            </a:r>
            <a:r>
              <a:rPr lang="en-US" altLang="ko-KR" sz="3200" dirty="0"/>
              <a:t>position-velocity </a:t>
            </a:r>
            <a:r>
              <a:rPr lang="ko-KR" altLang="en-US" sz="3200" dirty="0"/>
              <a:t>한계</a:t>
            </a:r>
            <a:endParaRPr lang="en-US" altLang="ko-KR" sz="3200" dirty="0">
              <a:latin typeface="+mn-ea"/>
            </a:endParaRPr>
          </a:p>
          <a:p>
            <a:pPr marL="342900" indent="-342900">
              <a:lnSpc>
                <a:spcPct val="200000"/>
              </a:lnSpc>
              <a:buFont typeface="Arial" panose="020B0604020202020204" pitchFamily="34" charset="0"/>
              <a:buChar char="•"/>
            </a:pPr>
            <a:endParaRPr lang="en-US" altLang="ko-KR" sz="3200" dirty="0">
              <a:latin typeface="+mn-ea"/>
            </a:endParaRPr>
          </a:p>
          <a:p>
            <a:pPr marL="342900" indent="-342900">
              <a:lnSpc>
                <a:spcPct val="200000"/>
              </a:lnSpc>
              <a:buFont typeface="Arial" panose="020B0604020202020204" pitchFamily="34" charset="0"/>
              <a:buChar char="•"/>
            </a:pPr>
            <a:endParaRPr lang="en-US" altLang="ko-KR" sz="3200" dirty="0">
              <a:latin typeface="+mn-ea"/>
            </a:endParaRPr>
          </a:p>
          <a:p>
            <a:pPr marL="342900" indent="-342900">
              <a:lnSpc>
                <a:spcPct val="200000"/>
              </a:lnSpc>
              <a:buFont typeface="Arial" panose="020B0604020202020204" pitchFamily="34" charset="0"/>
              <a:buChar char="•"/>
            </a:pPr>
            <a:r>
              <a:rPr lang="ko-KR" altLang="en-US" sz="3200" dirty="0">
                <a:latin typeface="+mn-ea"/>
              </a:rPr>
              <a:t>실제 로봇은 항상 토크</a:t>
            </a:r>
            <a:r>
              <a:rPr lang="en-US" altLang="ko-KR" sz="3200" dirty="0">
                <a:latin typeface="+mn-ea"/>
              </a:rPr>
              <a:t>·</a:t>
            </a:r>
            <a:r>
              <a:rPr lang="ko-KR" altLang="en-US" sz="3200" dirty="0">
                <a:latin typeface="+mn-ea"/>
              </a:rPr>
              <a:t>마찰</a:t>
            </a:r>
            <a:r>
              <a:rPr lang="en-US" altLang="ko-KR" sz="3200" dirty="0">
                <a:latin typeface="+mn-ea"/>
              </a:rPr>
              <a:t>·</a:t>
            </a:r>
            <a:r>
              <a:rPr lang="ko-KR" altLang="en-US" sz="3200" dirty="0">
                <a:latin typeface="+mn-ea"/>
              </a:rPr>
              <a:t>가속도</a:t>
            </a:r>
            <a:r>
              <a:rPr lang="en-US" altLang="ko-KR" sz="3200" dirty="0">
                <a:latin typeface="+mn-ea"/>
              </a:rPr>
              <a:t>·</a:t>
            </a:r>
            <a:r>
              <a:rPr lang="ko-KR" altLang="en-US" sz="3200" dirty="0">
                <a:latin typeface="+mn-ea"/>
              </a:rPr>
              <a:t>위치</a:t>
            </a:r>
            <a:r>
              <a:rPr lang="en-US" altLang="ko-KR" sz="3200" dirty="0">
                <a:latin typeface="+mn-ea"/>
              </a:rPr>
              <a:t>/</a:t>
            </a:r>
            <a:r>
              <a:rPr lang="ko-KR" altLang="en-US" sz="3200" dirty="0">
                <a:latin typeface="+mn-ea"/>
              </a:rPr>
              <a:t>속도 상한이 있어 → </a:t>
            </a:r>
            <a:r>
              <a:rPr lang="ko-KR" altLang="en-US" sz="3200" b="1" dirty="0">
                <a:latin typeface="+mn-ea"/>
              </a:rPr>
              <a:t>필연적으로 </a:t>
            </a:r>
            <a:r>
              <a:rPr lang="en-US" altLang="ko-KR" sz="3200" b="1" dirty="0">
                <a:latin typeface="+mn-ea"/>
              </a:rPr>
              <a:t>QP</a:t>
            </a:r>
            <a:endParaRPr lang="ko-KR" altLang="en-US" sz="3200" b="1" dirty="0">
              <a:latin typeface="+mn-ea"/>
            </a:endParaRPr>
          </a:p>
        </p:txBody>
      </p:sp>
      <p:pic>
        <p:nvPicPr>
          <p:cNvPr id="5" name="그림 4" descr="\documentclass{article}&#10;\usepackage{amsmath}&#10;\pagestyle{empty}&#10;\begin{document}&#10;&#10;&#10;$&#10;\tau^{\min} \;\le\; \tau \;\le\; \tau^{\max}&#10;$&#10;&#10;\end{document}" title="IguanaTex Bitmap Display">
            <a:extLst>
              <a:ext uri="{FF2B5EF4-FFF2-40B4-BE49-F238E27FC236}">
                <a16:creationId xmlns:a16="http://schemas.microsoft.com/office/drawing/2014/main" id="{73E7CE20-3C20-922C-0F8F-C3BB1B6C3A97}"/>
              </a:ext>
            </a:extLst>
          </p:cNvPr>
          <p:cNvPicPr>
            <a:picLocks noChangeAspect="1"/>
          </p:cNvPicPr>
          <p:nvPr>
            <p:custDataLst>
              <p:tags r:id="rId1"/>
            </p:custDataLst>
          </p:nvPr>
        </p:nvPicPr>
        <p:blipFill>
          <a:blip r:embed="rId6" cstate="print">
            <a:extLst>
              <a:ext uri="{28A0092B-C50C-407E-A947-70E740481C1C}">
                <a14:useLocalDpi xmlns:a14="http://schemas.microsoft.com/office/drawing/2010/main" val="0"/>
              </a:ext>
            </a:extLst>
          </a:blip>
          <a:stretch>
            <a:fillRect/>
          </a:stretch>
        </p:blipFill>
        <p:spPr>
          <a:xfrm>
            <a:off x="7086600" y="3599600"/>
            <a:ext cx="4377600" cy="515200"/>
          </a:xfrm>
          <a:prstGeom prst="rect">
            <a:avLst/>
          </a:prstGeom>
        </p:spPr>
      </p:pic>
      <p:pic>
        <p:nvPicPr>
          <p:cNvPr id="12" name="그림 11" descr="\documentclass{article}&#10;\usepackage{amsmath}&#10;\pagestyle{empty}&#10;\begin{document}&#10;&#10;&#10;$&#10;B\,f \le 0&#10;$&#10;&#10;\end{document}" title="IguanaTex Bitmap Display">
            <a:extLst>
              <a:ext uri="{FF2B5EF4-FFF2-40B4-BE49-F238E27FC236}">
                <a16:creationId xmlns:a16="http://schemas.microsoft.com/office/drawing/2014/main" id="{BAD2678B-42DF-6309-8F46-7825689F1811}"/>
              </a:ext>
            </a:extLst>
          </p:cNvPr>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tretch>
            <a:fillRect/>
          </a:stretch>
        </p:blipFill>
        <p:spPr>
          <a:xfrm>
            <a:off x="6019800" y="4648200"/>
            <a:ext cx="1496000" cy="407755"/>
          </a:xfrm>
          <a:prstGeom prst="rect">
            <a:avLst/>
          </a:prstGeom>
        </p:spPr>
      </p:pic>
      <p:pic>
        <p:nvPicPr>
          <p:cNvPr id="20" name="그림 19" descr="\documentclass{article}&#10;\usepackage{amsmath}&#10;\pagestyle{empty}&#10;\begin{document}&#10;&#10;&#10;$&#10;\dot q^{\min} \;\le\; \dot q \;\le\; \dot q^{\max}&#10;$&#10;&#10;\end{document}" title="IguanaTex Bitmap Display">
            <a:extLst>
              <a:ext uri="{FF2B5EF4-FFF2-40B4-BE49-F238E27FC236}">
                <a16:creationId xmlns:a16="http://schemas.microsoft.com/office/drawing/2014/main" id="{07D4DEF2-FAC7-F21A-1CF4-A66B98A9ABDA}"/>
              </a:ext>
            </a:extLst>
          </p:cNvPr>
          <p:cNvPicPr>
            <a:picLocks noChangeAspect="1"/>
          </p:cNvPicPr>
          <p:nvPr>
            <p:custDataLst>
              <p:tags r:id="rId3"/>
            </p:custDataLst>
          </p:nvPr>
        </p:nvPicPr>
        <p:blipFill>
          <a:blip r:embed="rId8" cstate="print">
            <a:extLst>
              <a:ext uri="{28A0092B-C50C-407E-A947-70E740481C1C}">
                <a14:useLocalDpi xmlns:a14="http://schemas.microsoft.com/office/drawing/2010/main" val="0"/>
              </a:ext>
            </a:extLst>
          </a:blip>
          <a:stretch>
            <a:fillRect/>
          </a:stretch>
        </p:blipFill>
        <p:spPr>
          <a:xfrm>
            <a:off x="8915400" y="5470187"/>
            <a:ext cx="4262400" cy="544000"/>
          </a:xfrm>
          <a:prstGeom prst="rect">
            <a:avLst/>
          </a:prstGeom>
        </p:spPr>
      </p:pic>
    </p:spTree>
    <p:extLst>
      <p:ext uri="{BB962C8B-B14F-4D97-AF65-F5344CB8AC3E}">
        <p14:creationId xmlns:p14="http://schemas.microsoft.com/office/powerpoint/2010/main" val="262446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91E47-BFCD-A985-13C7-7AE6D1F7150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6972EBF0-A1B4-A873-2F06-9443770E7AA7}"/>
              </a:ext>
            </a:extLst>
          </p:cNvPr>
          <p:cNvSpPr/>
          <p:nvPr/>
        </p:nvSpPr>
        <p:spPr>
          <a:xfrm>
            <a:off x="0" y="0"/>
            <a:ext cx="821042" cy="1371600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각 삼각형 58">
            <a:extLst>
              <a:ext uri="{FF2B5EF4-FFF2-40B4-BE49-F238E27FC236}">
                <a16:creationId xmlns:a16="http://schemas.microsoft.com/office/drawing/2014/main" id="{2FA810BF-E6CB-DB8B-C2F1-3FF2B37A3E5F}"/>
              </a:ext>
            </a:extLst>
          </p:cNvPr>
          <p:cNvSpPr/>
          <p:nvPr/>
        </p:nvSpPr>
        <p:spPr>
          <a:xfrm rot="10800000" flipH="1">
            <a:off x="1" y="0"/>
            <a:ext cx="1905000" cy="1828800"/>
          </a:xfrm>
          <a:prstGeom prst="rtTriangle">
            <a:avLst/>
          </a:prstGeom>
          <a:solidFill>
            <a:srgbClr val="1E1B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4">
            <a:extLst>
              <a:ext uri="{FF2B5EF4-FFF2-40B4-BE49-F238E27FC236}">
                <a16:creationId xmlns:a16="http://schemas.microsoft.com/office/drawing/2014/main" id="{5B37A910-4EB7-5690-6096-F6A26FF55DE0}"/>
              </a:ext>
            </a:extLst>
          </p:cNvPr>
          <p:cNvSpPr txBox="1"/>
          <p:nvPr/>
        </p:nvSpPr>
        <p:spPr>
          <a:xfrm>
            <a:off x="1600200" y="609600"/>
            <a:ext cx="10960100" cy="990600"/>
          </a:xfrm>
          <a:prstGeom prst="rect">
            <a:avLst/>
          </a:prstGeom>
        </p:spPr>
        <p:txBody>
          <a:bodyPr lIns="0" tIns="101600" rIns="0" bIns="0" rtlCol="0" anchor="t"/>
          <a:lstStyle/>
          <a:p>
            <a:pPr lvl="0" algn="l">
              <a:lnSpc>
                <a:spcPct val="99600"/>
              </a:lnSpc>
            </a:pPr>
            <a:r>
              <a:rPr lang="en-US" sz="6000" b="1" i="0" u="none" strike="noStrike" dirty="0">
                <a:solidFill>
                  <a:srgbClr val="000000"/>
                </a:solidFill>
                <a:latin typeface="Arial" panose="020B0604020202020204" pitchFamily="34" charset="0"/>
                <a:cs typeface="Arial" panose="020B0604020202020204" pitchFamily="34" charset="0"/>
              </a:rPr>
              <a:t>Thank</a:t>
            </a:r>
            <a:r>
              <a:rPr lang="en-US" sz="6000" b="1" dirty="0">
                <a:solidFill>
                  <a:srgbClr val="000000"/>
                </a:solidFill>
                <a:latin typeface="Arial" panose="020B0604020202020204" pitchFamily="34" charset="0"/>
                <a:cs typeface="Arial" panose="020B0604020202020204" pitchFamily="34" charset="0"/>
              </a:rPr>
              <a:t> you</a:t>
            </a:r>
            <a:endParaRPr lang="en" sz="6000" b="1" i="0" u="none" strike="noStrike" dirty="0">
              <a:solidFill>
                <a:srgbClr val="0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8290297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OUTPUTDPI" val="1200"/>
  <p:tag name="ORIGINALHEIGHT" val="129.7338"/>
  <p:tag name="ORIGINALWIDTH" val="1282.34"/>
  <p:tag name="LATEXADDIN" val="\documentclass{article}&#10;\usepackage{amsmath}&#10;\pagestyle{empty}&#10;\begin{document}&#10;&#10;&#10;$&#10;e(v_q,t) \;=\; y(v_q) - y^*(t)&#10;$&#10;&#10;\end{document}"/>
  <p:tag name="IGUANATEXSIZE" val="42"/>
  <p:tag name="IGUANATEXCURSOR" val="110"/>
  <p:tag name="TRANSPARENCY" val="True"/>
  <p:tag name="LATEXENGINEID" val="0"/>
  <p:tag name="TEMPFOLDER" val="c:\temp\"/>
  <p:tag name="LATEXFORMHEIGHT" val="312"/>
  <p:tag name="LATEXFORMWIDTH" val="384"/>
  <p:tag name="LATEXFORMWRAP" val="True"/>
  <p:tag name="BITMAPVECTOR" val="0"/>
</p:tagLst>
</file>

<file path=ppt/tags/tag2.xml><?xml version="1.0" encoding="utf-8"?>
<p:tagLst xmlns:a="http://schemas.openxmlformats.org/drawingml/2006/main" xmlns:r="http://schemas.openxmlformats.org/officeDocument/2006/relationships" xmlns:p="http://schemas.openxmlformats.org/presentationml/2006/main">
  <p:tag name="OUTPUTDPI" val="1200"/>
  <p:tag name="ORIGINALHEIGHT" val="86.23921"/>
  <p:tag name="ORIGINALWIDTH" val="574.4282"/>
  <p:tag name="LATEXADDIN" val="\documentclass{article}&#10;\usepackage{amsmath}&#10;\pagestyle{empty}&#10;\begin{document}&#10;&#10;&#10;$&#10;\dot e \;=\; -K\,e&#10;$&#10;&#10;\end{document}"/>
  <p:tag name="IGUANATEXSIZE" val="32"/>
  <p:tag name="IGUANATEXCURSOR" val="102"/>
  <p:tag name="TRANSPARENCY" val="True"/>
  <p:tag name="LATEXENGINEID" val="0"/>
  <p:tag name="TEMPFOLDER" val="c:\temp\"/>
  <p:tag name="LATEXFORMHEIGHT" val="312"/>
  <p:tag name="LATEXFORMWIDTH" val="384"/>
  <p:tag name="LATEXFORMWRAP" val="True"/>
  <p:tag name="BITMAPVECTOR" val="0"/>
</p:tagLst>
</file>

<file path=ppt/tags/tag3.xml><?xml version="1.0" encoding="utf-8"?>
<p:tagLst xmlns:a="http://schemas.openxmlformats.org/drawingml/2006/main" xmlns:r="http://schemas.openxmlformats.org/officeDocument/2006/relationships" xmlns:p="http://schemas.openxmlformats.org/presentationml/2006/main">
  <p:tag name="OUTPUTDPI" val="1200"/>
  <p:tag name="ORIGINALHEIGHT" val="467.1916"/>
  <p:tag name="ORIGINALWIDTH" val="1412.823"/>
  <p:tag name="LATEXADDIN" val="\documentclass{article}&#10;\usepackage{amsmath}&#10;\pagestyle{empty}&#10;\begin{document}&#10;&#10;&#10;$&#10;\underbrace{\frac{\partial y}{\partial v_q}}_{\text{Jacobian}}\;\dot v_q \;-\; \dot y^* \;=\; -K\,e&#10;$&#10;&#10;\end{document}"/>
  <p:tag name="IGUANATEXSIZE" val="42"/>
  <p:tag name="IGUANATEXCURSOR" val="170"/>
  <p:tag name="TRANSPARENCY" val="True"/>
  <p:tag name="LATEXENGINEID" val="0"/>
  <p:tag name="TEMPFOLDER" val="c:\temp\"/>
  <p:tag name="LATEXFORMHEIGHT" val="312"/>
  <p:tag name="LATEXFORMWIDTH" val="384"/>
  <p:tag name="LATEXFORMWRAP" val="True"/>
  <p:tag name="BITMAPVECTOR" val="0"/>
</p:tagLst>
</file>

<file path=ppt/tags/tag4.xml><?xml version="1.0" encoding="utf-8"?>
<p:tagLst xmlns:a="http://schemas.openxmlformats.org/drawingml/2006/main" xmlns:r="http://schemas.openxmlformats.org/officeDocument/2006/relationships" xmlns:p="http://schemas.openxmlformats.org/presentationml/2006/main">
  <p:tag name="OUTPUTDPI" val="1200"/>
  <p:tag name="ORIGINALHEIGHT" val="281.2149"/>
  <p:tag name="ORIGINALWIDTH" val="1091.114"/>
  <p:tag name="LATEXADDIN" val="\documentclass{article}&#10;\usepackage{amsmath}&#10;\pagestyle{empty}&#10;\begin{document}&#10;&#10;&#10;$&#10;\underbrace{J}_{A_v}\,\dot v_q&#10;\;=\;&#10;\underbrace{\dot y^* - K\,e}_{a}&#10;$&#10;&#10;\end{document}"/>
  <p:tag name="IGUANATEXSIZE" val="42"/>
  <p:tag name="IGUANATEXCURSOR" val="140"/>
  <p:tag name="TRANSPARENCY" val="True"/>
  <p:tag name="LATEXENGINEID" val="0"/>
  <p:tag name="TEMPFOLDER" val="c:\temp\"/>
  <p:tag name="LATEXFORMHEIGHT" val="312"/>
  <p:tag name="LATEXFORMWIDTH" val="384"/>
  <p:tag name="LATEXFORMWRAP" val="True"/>
  <p:tag name="BITMAPVECTOR" val="0"/>
</p:tagLst>
</file>

<file path=ppt/tags/tag5.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1172.104"/>
  <p:tag name="LATEXADDIN" val="\documentclass{article}&#10;\usepackage{amsmath}&#10;\pagestyle{empty}&#10;\begin{document}&#10;&#10;&#10;$&#10;e(q,t) \;=\; y(q) - y^*(t)&#10;$&#10;&#10;\end{document}"/>
  <p:tag name="IGUANATEXSIZE" val="42"/>
  <p:tag name="IGUANATEXCURSOR" val="106"/>
  <p:tag name="TRANSPARENCY" val="True"/>
  <p:tag name="LATEXENGINEID" val="0"/>
  <p:tag name="TEMPFOLDER" val="c:\temp\"/>
  <p:tag name="LATEXFORMHEIGHT" val="312"/>
  <p:tag name="LATEXFORMWIDTH" val="384"/>
  <p:tag name="LATEXFORMWRAP" val="True"/>
  <p:tag name="BITMAPVECTOR" val="0"/>
</p:tagLst>
</file>

<file path=ppt/tags/tag6.xml><?xml version="1.0" encoding="utf-8"?>
<p:tagLst xmlns:a="http://schemas.openxmlformats.org/drawingml/2006/main" xmlns:r="http://schemas.openxmlformats.org/officeDocument/2006/relationships" xmlns:p="http://schemas.openxmlformats.org/presentationml/2006/main">
  <p:tag name="OUTPUTDPI" val="1200"/>
  <p:tag name="ORIGINALHEIGHT" val="86.23921"/>
  <p:tag name="ORIGINALWIDTH" val="980.8774"/>
  <p:tag name="LATEXADDIN" val="\documentclass{article}&#10;\usepackage{amsmath}&#10;\pagestyle{empty}&#10;\begin{document}&#10;&#10;&#10;$&#10;\ddot e \;=\; -K\,e \;-\; D\,\dot e&#10;$&#10;&#10;\end{document}"/>
  <p:tag name="IGUANATEXSIZE" val="42"/>
  <p:tag name="IGUANATEXCURSOR" val="119"/>
  <p:tag name="TRANSPARENCY" val="True"/>
  <p:tag name="LATEXENGINEID" val="0"/>
  <p:tag name="TEMPFOLDER" val="c:\temp\"/>
  <p:tag name="LATEXFORMHEIGHT" val="312"/>
  <p:tag name="LATEXFORMWIDTH" val="384"/>
  <p:tag name="LATEXFORMWRAP" val="True"/>
  <p:tag name="BITMAPVECTOR" val="0"/>
</p:tagLst>
</file>

<file path=ppt/tags/tag7.xml><?xml version="1.0" encoding="utf-8"?>
<p:tagLst xmlns:a="http://schemas.openxmlformats.org/drawingml/2006/main" xmlns:r="http://schemas.openxmlformats.org/officeDocument/2006/relationships" xmlns:p="http://schemas.openxmlformats.org/presentationml/2006/main">
  <p:tag name="OUTPUTDPI" val="1200"/>
  <p:tag name="ORIGINALHEIGHT" val="317.9602"/>
  <p:tag name="ORIGINALWIDTH" val="2405.699"/>
  <p:tag name="LATEXADDIN" val="\documentclass{article}&#10;\usepackage{amsmath}&#10;\pagestyle{empty}&#10;\begin{document}&#10;&#10;&#10;$&#10;\underbrace{J(q)}_{\text{Jacobian}}\,\ddot q \;+\; \dot J(q,\dot q)\,\dot q \;-\; \ddot y^*&#10;\;=\; -K\,e \;-\; D\,\dot e&#10;$&#10;&#10;\end{document}"/>
  <p:tag name="IGUANATEXSIZE" val="42"/>
  <p:tag name="IGUANATEXCURSOR" val="174"/>
  <p:tag name="TRANSPARENCY" val="True"/>
  <p:tag name="LATEXENGINEID" val="0"/>
  <p:tag name="TEMPFOLDER" val="c:\temp\"/>
  <p:tag name="LATEXFORMHEIGHT" val="312"/>
  <p:tag name="LATEXFORMWIDTH" val="384"/>
  <p:tag name="LATEXFORMWRAP" val="True"/>
  <p:tag name="BITMAPVECTOR" val="0"/>
</p:tagLst>
</file>

<file path=ppt/tags/tag8.xml><?xml version="1.0" encoding="utf-8"?>
<p:tagLst xmlns:a="http://schemas.openxmlformats.org/drawingml/2006/main" xmlns:r="http://schemas.openxmlformats.org/officeDocument/2006/relationships" xmlns:p="http://schemas.openxmlformats.org/presentationml/2006/main">
  <p:tag name="OUTPUTDPI" val="1200"/>
  <p:tag name="ORIGINALHEIGHT" val="328.459"/>
  <p:tag name="ORIGINALWIDTH" val="2236.22"/>
  <p:tag name="LATEXADDIN" val="\documentclass{article}&#10;\usepackage{amsmath}&#10;\pagestyle{empty}&#10;\begin{document}&#10;&#10;&#10;$&#10;\underbrace{J(q)}_{A_v}\,\dot v_q&#10;\;=\;&#10;\underbrace{\ddot y^* \;-\; \dot J(q,\dot q)\,\dot q \;-\; K\,e \;-\; D\,\dot e}_{a}&#10;$&#10;&#10;\end{document}"/>
  <p:tag name="IGUANATEXSIZE" val="42"/>
  <p:tag name="IGUANATEXCURSOR" val="208"/>
  <p:tag name="TRANSPARENCY" val="True"/>
  <p:tag name="LATEXENGINEID" val="0"/>
  <p:tag name="TEMPFOLDER" val="c:\temp\"/>
  <p:tag name="LATEXFORMHEIGHT" val="312"/>
  <p:tag name="LATEXFORMWIDTH" val="384"/>
  <p:tag name="LATEXFORMWRAP" val="True"/>
  <p:tag name="BITMAPVECTOR" val="0"/>
</p:tagLst>
</file>

<file path=ppt/tags/tag9.xml><?xml version="1.0" encoding="utf-8"?>
<p:tagLst xmlns:a="http://schemas.openxmlformats.org/drawingml/2006/main" xmlns:r="http://schemas.openxmlformats.org/officeDocument/2006/relationships" xmlns:p="http://schemas.openxmlformats.org/presentationml/2006/main">
  <p:tag name="OUTPUTDPI" val="1200"/>
  <p:tag name="ORIGINALHEIGHT" val="328.459"/>
  <p:tag name="ORIGINALWIDTH" val="2236.22"/>
  <p:tag name="LATEXADDIN" val="\documentclass{article}&#10;\usepackage{amsmath}&#10;\pagestyle{empty}&#10;\begin{document}&#10;&#10;&#10;$&#10;\underbrace{J(q)}_{A_v}\,\dot v_q&#10;\;=\;&#10;\underbrace{\ddot y^* \;-\; \dot J(q,\dot q)\,\dot q \;-\; K\,e \;-\; D\,\dot e}_{a}&#10;$&#10;&#10;\end{document}"/>
  <p:tag name="IGUANATEXSIZE" val="42"/>
  <p:tag name="IGUANATEXCURSOR" val="208"/>
  <p:tag name="TRANSPARENCY" val="True"/>
  <p:tag name="LATEXENGINEID" val="0"/>
  <p:tag name="TEMPFOLDER" val="c:\temp\"/>
  <p:tag name="LATEXFORMHEIGHT" val="312"/>
  <p:tag name="LATEXFORMWIDTH" val="384"/>
  <p:tag name="LATEXFORMWRAP" val="True"/>
  <p:tag name="BITMAPVECTOR" val="0"/>
</p:tagLst>
</file>

<file path=ppt/tags/tag10.xml><?xml version="1.0" encoding="utf-8"?>
<p:tagLst xmlns:a="http://schemas.openxmlformats.org/drawingml/2006/main" xmlns:r="http://schemas.openxmlformats.org/officeDocument/2006/relationships" xmlns:p="http://schemas.openxmlformats.org/presentationml/2006/main">
  <p:tag name="OUTPUTDPI" val="1200"/>
  <p:tag name="ORIGINALHEIGHT" val="281.2149"/>
  <p:tag name="ORIGINALWIDTH" val="1091.114"/>
  <p:tag name="LATEXADDIN" val="\documentclass{article}&#10;\usepackage{amsmath}&#10;\pagestyle{empty}&#10;\begin{document}&#10;&#10;&#10;$&#10;\underbrace{J}_{A_v}\,\dot v_q&#10;\;=\;&#10;\underbrace{\dot y^* - K\,e}_{a}&#10;$&#10;&#10;\end{document}"/>
  <p:tag name="IGUANATEXSIZE" val="42"/>
  <p:tag name="IGUANATEXCURSOR" val="140"/>
  <p:tag name="TRANSPARENCY" val="True"/>
  <p:tag name="LATEXENGINEID" val="0"/>
  <p:tag name="TEMPFOLDER" val="c:\temp\"/>
  <p:tag name="LATEXFORMHEIGHT" val="312"/>
  <p:tag name="LATEXFORMWIDTH" val="384"/>
  <p:tag name="LATEXFORMWRAP" val="True"/>
  <p:tag name="BITMAPVECTOR" val="0"/>
</p:tagLst>
</file>

<file path=ppt/tags/tag11.xml><?xml version="1.0" encoding="utf-8"?>
<p:tagLst xmlns:a="http://schemas.openxmlformats.org/drawingml/2006/main" xmlns:r="http://schemas.openxmlformats.org/officeDocument/2006/relationships" xmlns:p="http://schemas.openxmlformats.org/presentationml/2006/main">
  <p:tag name="OUTPUTDPI" val="1200"/>
  <p:tag name="ORIGINALHEIGHT" val="129.7338"/>
  <p:tag name="ORIGINALWIDTH" val="872.8909"/>
  <p:tag name="LATEXADDIN" val="\documentclass{article}&#10;\usepackage{amsmath}&#10;\pagestyle{empty}&#10;\begin{document}&#10;&#10;&#10;$&#10;g(y)=A_v \dot{v_q} -a&#10;$&#10;&#10;\end{document}"/>
  <p:tag name="IGUANATEXSIZE" val="42"/>
  <p:tag name="IGUANATEXCURSOR" val="84"/>
  <p:tag name="TRANSPARENCY" val="True"/>
  <p:tag name="LATEXENGINEID" val="0"/>
  <p:tag name="TEMPFOLDER" val="c:\temp\"/>
  <p:tag name="LATEXFORMHEIGHT" val="312"/>
  <p:tag name="LATEXFORMWIDTH" val="384"/>
  <p:tag name="LATEXFORMWRAP" val="True"/>
  <p:tag name="BITMAPVECTOR" val="0"/>
</p:tagLst>
</file>

<file path=ppt/tags/tag12.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448.4439"/>
  <p:tag name="LATEXADDIN" val="\documentclass{article}&#10;\usepackage{amsmath}&#10;\pagestyle{empty}&#10;\begin{document}&#10;&#10;&#10;$&#10;g(y)=0&#10;$&#10;&#10;\end{document}"/>
  <p:tag name="IGUANATEXSIZE" val="42"/>
  <p:tag name="IGUANATEXCURSOR" val="90"/>
  <p:tag name="TRANSPARENCY" val="True"/>
  <p:tag name="LATEXENGINEID" val="0"/>
  <p:tag name="TEMPFOLDER" val="c:\temp\"/>
  <p:tag name="LATEXFORMHEIGHT" val="312"/>
  <p:tag name="LATEXFORMWIDTH" val="384"/>
  <p:tag name="LATEXFORMWRAP" val="True"/>
  <p:tag name="BITMAPVECTOR" val="0"/>
</p:tagLst>
</file>

<file path=ppt/tags/tag13.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212.2235"/>
  <p:tag name="LATEXADDIN" val="\documentclass{article}&#10;\usepackage{amsmath}&#10;\pagestyle{empty}&#10;\begin{document}&#10;&#10;&#10;$&#10;g(y)&#10;$&#10;&#10;\end{document}"/>
  <p:tag name="IGUANATEXSIZE" val="32"/>
  <p:tag name="IGUANATEXCURSOR" val="87"/>
  <p:tag name="TRANSPARENCY" val="True"/>
  <p:tag name="LATEXENGINEID" val="0"/>
  <p:tag name="TEMPFOLDER" val="c:\temp\"/>
  <p:tag name="LATEXFORMHEIGHT" val="312"/>
  <p:tag name="LATEXFORMWIDTH" val="384"/>
  <p:tag name="LATEXFORMWRAP" val="True"/>
  <p:tag name="BITMAPVECTOR" val="0"/>
</p:tagLst>
</file>

<file path=ppt/tags/tag14.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212.2235"/>
  <p:tag name="LATEXADDIN" val="\documentclass{article}&#10;\usepackage{amsmath}&#10;\pagestyle{empty}&#10;\begin{document}&#10;&#10;&#10;$&#10;g(y)&#10;$&#10;&#10;\end{document}"/>
  <p:tag name="IGUANATEXSIZE" val="32"/>
  <p:tag name="IGUANATEXCURSOR" val="87"/>
  <p:tag name="TRANSPARENCY" val="True"/>
  <p:tag name="LATEXENGINEID" val="0"/>
  <p:tag name="TEMPFOLDER" val="c:\temp\"/>
  <p:tag name="LATEXFORMHEIGHT" val="312"/>
  <p:tag name="LATEXFORMWIDTH" val="384"/>
  <p:tag name="LATEXFORMWRAP" val="True"/>
  <p:tag name="BITMAPVECTOR" val="0"/>
</p:tagLst>
</file>

<file path=ppt/tags/tag15.xml><?xml version="1.0" encoding="utf-8"?>
<p:tagLst xmlns:a="http://schemas.openxmlformats.org/drawingml/2006/main" xmlns:r="http://schemas.openxmlformats.org/officeDocument/2006/relationships" xmlns:p="http://schemas.openxmlformats.org/presentationml/2006/main">
  <p:tag name="OUTPUTDPI" val="1200"/>
  <p:tag name="ORIGINALHEIGHT" val="494.9381"/>
  <p:tag name="ORIGINALWIDTH" val="1502.062"/>
  <p:tag name="LATEXADDIN" val="\documentclass{article}&#10;\usepackage{amsmath}&#10;\pagestyle{empty}&#10;\begin{document}&#10;&#10;&#10;$&#10;g(y)= \;&#10;\underbrace{\begin{bmatrix} A_v &amp; A_u \end{bmatrix}}_{A}\,&#10;\underbrace{\begin{bmatrix} \dot v_q \\[2pt] u \end{bmatrix}}_{y}&#10;\;-\;&#10;a&#10;$&#10;&#10;\end{document}"/>
  <p:tag name="IGUANATEXSIZE" val="42"/>
  <p:tag name="IGUANATEXCURSOR" val="225"/>
  <p:tag name="TRANSPARENCY" val="True"/>
  <p:tag name="LATEXENGINEID" val="0"/>
  <p:tag name="TEMPFOLDER" val="c:\temp\"/>
  <p:tag name="LATEXFORMHEIGHT" val="312"/>
  <p:tag name="LATEXFORMWIDTH" val="384"/>
  <p:tag name="LATEXFORMWRAP" val="True"/>
  <p:tag name="BITMAPVECTOR" val="0"/>
</p:tagLst>
</file>

<file path=ppt/tags/tag16.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212.2235"/>
  <p:tag name="LATEXADDIN" val="\documentclass{article}&#10;\usepackage{amsmath}&#10;\pagestyle{empty}&#10;\begin{document}&#10;&#10;&#10;$&#10;g(y)&#10;$&#10;&#10;\end{document}"/>
  <p:tag name="IGUANATEXSIZE" val="32"/>
  <p:tag name="IGUANATEXCURSOR" val="87"/>
  <p:tag name="TRANSPARENCY" val="True"/>
  <p:tag name="LATEXENGINEID" val="0"/>
  <p:tag name="TEMPFOLDER" val="c:\temp\"/>
  <p:tag name="LATEXFORMHEIGHT" val="312"/>
  <p:tag name="LATEXFORMWIDTH" val="384"/>
  <p:tag name="LATEXFORMWRAP" val="True"/>
  <p:tag name="BITMAPVECTOR" val="0"/>
</p:tagLst>
</file>

<file path=ppt/tags/tag17.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212.2235"/>
  <p:tag name="LATEXADDIN" val="\documentclass{article}&#10;\usepackage{amsmath}&#10;\pagestyle{empty}&#10;\begin{document}&#10;&#10;&#10;$&#10;g(y)&#10;$&#10;&#10;\end{document}"/>
  <p:tag name="IGUANATEXSIZE" val="32"/>
  <p:tag name="IGUANATEXCURSOR" val="87"/>
  <p:tag name="TRANSPARENCY" val="True"/>
  <p:tag name="LATEXENGINEID" val="0"/>
  <p:tag name="TEMPFOLDER" val="c:\temp\"/>
  <p:tag name="LATEXFORMHEIGHT" val="312"/>
  <p:tag name="LATEXFORMWIDTH" val="384"/>
  <p:tag name="LATEXFORMWRAP" val="True"/>
  <p:tag name="BITMAPVECTOR" val="0"/>
</p:tagLst>
</file>

<file path=ppt/tags/tag18.xml><?xml version="1.0" encoding="utf-8"?>
<p:tagLst xmlns:a="http://schemas.openxmlformats.org/drawingml/2006/main" xmlns:r="http://schemas.openxmlformats.org/officeDocument/2006/relationships" xmlns:p="http://schemas.openxmlformats.org/presentationml/2006/main">
  <p:tag name="OUTPUTDPI" val="1200"/>
  <p:tag name="ORIGINALHEIGHT" val="846.6442"/>
  <p:tag name="ORIGINALWIDTH" val="2556.43"/>
  <p:tag name="LATEXADDIN" val="\documentclass{article}&#10;\usepackage{amsmath}&#10;\pagestyle{empty}&#10;\begin{document}&#10;&#10;&#10;$&#10;g(y) \;=&#10;\underbrace{\begin{bmatrix}&#10;A_{v,1} &amp; A_{u,1} \\&#10;A_{v,2} &amp; A_{u,2} \\&#10;\vdots  &amp; \vdots  \\&#10;A_{v,\ell} &amp; A_{u,\ell}&#10;\end{bmatrix}}_{=A}&#10;\underbrace{\begin{bmatrix} \dot v_q \\[2pt] u \end{bmatrix}}_{=y}&#10;\;-\;&#10;\underbrace{\begin{bmatrix}&#10;a_{1}\\ a_{2}\\ \vdots\\ a_{\ell}&#10;\end{bmatrix}}_{=a}&#10;\;=\; A y - a&#10;$&#10;&#10;\end{document}"/>
  <p:tag name="IGUANATEXSIZE" val="42"/>
  <p:tag name="IGUANATEXCURSOR" val="396"/>
  <p:tag name="TRANSPARENCY" val="True"/>
  <p:tag name="LATEXENGINEID" val="0"/>
  <p:tag name="TEMPFOLDER" val="c:\temp\"/>
  <p:tag name="LATEXFORMHEIGHT" val="312"/>
  <p:tag name="LATEXFORMWIDTH" val="384"/>
  <p:tag name="LATEXFORMWRAP" val="True"/>
  <p:tag name="BITMAPVECTOR" val="0"/>
</p:tagLst>
</file>

<file path=ppt/tags/tag19.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212.2235"/>
  <p:tag name="LATEXADDIN" val="\documentclass{article}&#10;\usepackage{amsmath}&#10;\pagestyle{empty}&#10;\begin{document}&#10;&#10;&#10;$&#10;g(y)&#10;$&#10;&#10;\end{document}"/>
  <p:tag name="IGUANATEXSIZE" val="32"/>
  <p:tag name="IGUANATEXCURSOR" val="87"/>
  <p:tag name="TRANSPARENCY" val="True"/>
  <p:tag name="LATEXENGINEID" val="0"/>
  <p:tag name="TEMPFOLDER" val="c:\temp\"/>
  <p:tag name="LATEXFORMHEIGHT" val="312"/>
  <p:tag name="LATEXFORMWIDTH" val="384"/>
  <p:tag name="LATEXFORMWRAP" val="True"/>
  <p:tag name="BITMAPVECTOR" val="0"/>
</p:tagLst>
</file>

<file path=ppt/tags/tag20.xml><?xml version="1.0" encoding="utf-8"?>
<p:tagLst xmlns:a="http://schemas.openxmlformats.org/drawingml/2006/main" xmlns:r="http://schemas.openxmlformats.org/officeDocument/2006/relationships" xmlns:p="http://schemas.openxmlformats.org/presentationml/2006/main">
  <p:tag name="OUTPUTDPI" val="1200"/>
  <p:tag name="ORIGINALHEIGHT" val="129.7338"/>
  <p:tag name="ORIGINALWIDTH" val="872.8909"/>
  <p:tag name="LATEXADDIN" val="\documentclass{article}&#10;\usepackage{amsmath}&#10;\pagestyle{empty}&#10;\begin{document}&#10;&#10;&#10;$&#10;g(y)=A_v \dot{v_q} -a&#10;$&#10;&#10;\end{document}"/>
  <p:tag name="IGUANATEXSIZE" val="42"/>
  <p:tag name="IGUANATEXCURSOR" val="84"/>
  <p:tag name="TRANSPARENCY" val="True"/>
  <p:tag name="LATEXENGINEID" val="0"/>
  <p:tag name="TEMPFOLDER" val="c:\temp\"/>
  <p:tag name="LATEXFORMHEIGHT" val="312"/>
  <p:tag name="LATEXFORMWIDTH" val="384"/>
  <p:tag name="LATEXFORMWRAP" val="True"/>
  <p:tag name="BITMAPVECTOR" val="0"/>
</p:tagLst>
</file>

<file path=ppt/tags/tag21.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212.2235"/>
  <p:tag name="LATEXADDIN" val="\documentclass{article}&#10;\usepackage{amsmath}&#10;\pagestyle{empty}&#10;\begin{document}&#10;&#10;&#10;$&#10;g(y)&#10;$&#10;&#10;\end{document}"/>
  <p:tag name="IGUANATEXSIZE" val="32"/>
  <p:tag name="IGUANATEXCURSOR" val="87"/>
  <p:tag name="TRANSPARENCY" val="True"/>
  <p:tag name="LATEXENGINEID" val="0"/>
  <p:tag name="TEMPFOLDER" val="c:\temp\"/>
  <p:tag name="LATEXFORMHEIGHT" val="312"/>
  <p:tag name="LATEXFORMWIDTH" val="384"/>
  <p:tag name="LATEXFORMWRAP" val="True"/>
  <p:tag name="BITMAPVECTOR" val="0"/>
</p:tagLst>
</file>

<file path=ppt/tags/tag22.xml><?xml version="1.0" encoding="utf-8"?>
<p:tagLst xmlns:a="http://schemas.openxmlformats.org/drawingml/2006/main" xmlns:r="http://schemas.openxmlformats.org/officeDocument/2006/relationships" xmlns:p="http://schemas.openxmlformats.org/presentationml/2006/main">
  <p:tag name="OUTPUTDPI" val="1200"/>
  <p:tag name="ORIGINALHEIGHT" val="129.7338"/>
  <p:tag name="ORIGINALWIDTH" val="611.9235"/>
  <p:tag name="LATEXADDIN" val="\documentclass{article}&#10;\usepackage{amsmath}&#10;\pagestyle{empty}&#10;\begin{document}&#10;&#10;&#10;$&#10;x = (\,q,\, v_q\,)&#10;$&#10;&#10;\end{document}"/>
  <p:tag name="IGUANATEXSIZE" val="42"/>
  <p:tag name="IGUANATEXCURSOR" val="87"/>
  <p:tag name="TRANSPARENCY" val="True"/>
  <p:tag name="LATEXENGINEID" val="0"/>
  <p:tag name="TEMPFOLDER" val="c:\temp\"/>
  <p:tag name="LATEXFORMHEIGHT" val="312"/>
  <p:tag name="LATEXFORMWIDTH" val="384"/>
  <p:tag name="LATEXFORMWRAP" val="True"/>
  <p:tag name="BITMAPVECTOR" val="0"/>
</p:tagLst>
</file>

<file path=ppt/tags/tag23.xml><?xml version="1.0" encoding="utf-8"?>
<p:tagLst xmlns:a="http://schemas.openxmlformats.org/drawingml/2006/main" xmlns:r="http://schemas.openxmlformats.org/officeDocument/2006/relationships" xmlns:p="http://schemas.openxmlformats.org/presentationml/2006/main">
  <p:tag name="OUTPUTDPI" val="1200"/>
  <p:tag name="ORIGINALHEIGHT" val="56.24299"/>
  <p:tag name="ORIGINALWIDTH" val="298.4627"/>
  <p:tag name="LATEXADDIN" val="\documentclass{article}&#10;\usepackage{amsmath}&#10;\pagestyle{empty}&#10;\begin{document}&#10;&#10;&#10;$&#10;u = \tau&#10;$&#10;&#10;\end{document}"/>
  <p:tag name="IGUANATEXSIZE" val="32"/>
  <p:tag name="IGUANATEXCURSOR" val="87"/>
  <p:tag name="TRANSPARENCY" val="True"/>
  <p:tag name="LATEXENGINEID" val="0"/>
  <p:tag name="TEMPFOLDER" val="c:\temp\"/>
  <p:tag name="LATEXFORMHEIGHT" val="312"/>
  <p:tag name="LATEXFORMWIDTH" val="384"/>
  <p:tag name="LATEXFORMWRAP" val="True"/>
  <p:tag name="BITMAPVECTOR" val="0"/>
</p:tagLst>
</file>

<file path=ppt/tags/tag24.xml><?xml version="1.0" encoding="utf-8"?>
<p:tagLst xmlns:a="http://schemas.openxmlformats.org/drawingml/2006/main" xmlns:r="http://schemas.openxmlformats.org/officeDocument/2006/relationships" xmlns:p="http://schemas.openxmlformats.org/presentationml/2006/main">
  <p:tag name="OUTPUTDPI" val="1200"/>
  <p:tag name="ORIGINALHEIGHT" val="141.7323"/>
  <p:tag name="ORIGINALWIDTH" val="1530.559"/>
  <p:tag name="LATEXADDIN" val="\documentclass{article}&#10;\usepackage{amsmath}&#10;\pagestyle{empty}&#10;\begin{document}&#10;&#10;&#10;$&#10;M(q)\,\dot v_q \;+\; h(q,v_q) \;=\; S^{\top}\,\tau&#10;$&#10;&#10;\end{document}"/>
  <p:tag name="IGUANATEXSIZE" val="42"/>
  <p:tag name="IGUANATEXCURSOR" val="134"/>
  <p:tag name="TRANSPARENCY" val="True"/>
  <p:tag name="LATEXENGINEID" val="0"/>
  <p:tag name="TEMPFOLDER" val="c:\temp\"/>
  <p:tag name="LATEXFORMHEIGHT" val="312"/>
  <p:tag name="LATEXFORMWIDTH" val="384"/>
  <p:tag name="LATEXFORMWRAP" val="True"/>
  <p:tag name="BITMAPVECTOR" val="0"/>
</p:tagLst>
</file>

<file path=ppt/tags/tag25.xml><?xml version="1.0" encoding="utf-8"?>
<p:tagLst xmlns:a="http://schemas.openxmlformats.org/drawingml/2006/main" xmlns:r="http://schemas.openxmlformats.org/officeDocument/2006/relationships" xmlns:p="http://schemas.openxmlformats.org/presentationml/2006/main">
  <p:tag name="OUTPUTDPI" val="1200"/>
  <p:tag name="ORIGINALHEIGHT" val="134.2332"/>
  <p:tag name="ORIGINALWIDTH" val="1136.858"/>
  <p:tag name="LATEXADDIN" val="\documentclass{article}&#10;\usepackage{amsmath}&#10;\pagestyle{empty}&#10;\begin{document}&#10;&#10;&#10;$&#10;\|g(y)\|^{2} \;= \|A y - a\|^{2}&#10;$&#10;&#10;\end{document}"/>
  <p:tag name="IGUANATEXSIZE" val="42"/>
  <p:tag name="IGUANATEXCURSOR" val="100"/>
  <p:tag name="TRANSPARENCY" val="True"/>
  <p:tag name="LATEXENGINEID" val="0"/>
  <p:tag name="TEMPFOLDER" val="c:\temp\"/>
  <p:tag name="LATEXFORMHEIGHT" val="312"/>
  <p:tag name="LATEXFORMWIDTH" val="384"/>
  <p:tag name="LATEXFORMWRAP" val="True"/>
  <p:tag name="BITMAPVECTOR" val="0"/>
</p:tagLst>
</file>

<file path=ppt/tags/tag26.xml><?xml version="1.0" encoding="utf-8"?>
<p:tagLst xmlns:a="http://schemas.openxmlformats.org/drawingml/2006/main" xmlns:r="http://schemas.openxmlformats.org/officeDocument/2006/relationships" xmlns:p="http://schemas.openxmlformats.org/presentationml/2006/main">
  <p:tag name="OUTPUTDPI" val="1200"/>
  <p:tag name="ORIGINALHEIGHT" val="134.2332"/>
  <p:tag name="ORIGINALWIDTH" val="1136.858"/>
  <p:tag name="LATEXADDIN" val="\documentclass{article}&#10;\usepackage{amsmath}&#10;\pagestyle{empty}&#10;\begin{document}&#10;&#10;&#10;$&#10;\|g(y)\|^{2} \;= \|A y - a\|^{2}&#10;$&#10;&#10;\end{document}"/>
  <p:tag name="IGUANATEXSIZE" val="42"/>
  <p:tag name="IGUANATEXCURSOR" val="100"/>
  <p:tag name="TRANSPARENCY" val="True"/>
  <p:tag name="LATEXENGINEID" val="0"/>
  <p:tag name="TEMPFOLDER" val="c:\temp\"/>
  <p:tag name="LATEXFORMHEIGHT" val="312"/>
  <p:tag name="LATEXFORMWIDTH" val="384"/>
  <p:tag name="LATEXFORMWRAP" val="True"/>
  <p:tag name="BITMAPVECTOR" val="0"/>
</p:tagLst>
</file>

<file path=ppt/tags/tag27.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212.2235"/>
  <p:tag name="LATEXADDIN" val="\documentclass{article}&#10;\usepackage{amsmath}&#10;\pagestyle{empty}&#10;\begin{document}&#10;&#10;&#10;$&#10;g(y)&#10;$&#10;&#10;\end{document}"/>
  <p:tag name="IGUANATEXSIZE" val="32"/>
  <p:tag name="IGUANATEXCURSOR" val="87"/>
  <p:tag name="TRANSPARENCY" val="True"/>
  <p:tag name="LATEXENGINEID" val="0"/>
  <p:tag name="TEMPFOLDER" val="c:\temp\"/>
  <p:tag name="LATEXFORMHEIGHT" val="312"/>
  <p:tag name="LATEXFORMWIDTH" val="384"/>
  <p:tag name="LATEXFORMWRAP" val="True"/>
  <p:tag name="BITMAPVECTOR" val="0"/>
</p:tagLst>
</file>

<file path=ppt/tags/tag28.xml><?xml version="1.0" encoding="utf-8"?>
<p:tagLst xmlns:a="http://schemas.openxmlformats.org/drawingml/2006/main" xmlns:r="http://schemas.openxmlformats.org/officeDocument/2006/relationships" xmlns:p="http://schemas.openxmlformats.org/presentationml/2006/main">
  <p:tag name="OUTPUTDPI" val="1200"/>
  <p:tag name="ORIGINALHEIGHT" val="137.2328"/>
  <p:tag name="ORIGINALWIDTH" val="1478.815"/>
  <p:tag name="LATEXADDIN" val="\documentclass{article}&#10;\usepackage{amsmath}&#10;\pagestyle{empty}&#10;\begin{document}&#10;&#10;&#10;$&#10;\mathbf{M}(\mathbf{q})\,\ddot{\mathbf{q}}&#10;\;+\; \mathbf{h}(\mathbf{q},\dot{\mathbf{q}})&#10;\;=\; \mathbf{S}^\top \boldsymbol{\tau}&#10;$&#10;&#10;\end{document}"/>
  <p:tag name="IGUANATEXSIZE" val="42"/>
  <p:tag name="IGUANATEXCURSOR" val="211"/>
  <p:tag name="TRANSPARENCY" val="True"/>
  <p:tag name="LATEXENGINEID" val="0"/>
  <p:tag name="TEMPFOLDER" val="c:\temp\"/>
  <p:tag name="LATEXFORMHEIGHT" val="312"/>
  <p:tag name="LATEXFORMWIDTH" val="384"/>
  <p:tag name="LATEXFORMWRAP" val="True"/>
  <p:tag name="BITMAPVECTOR" val="0"/>
</p:tagLst>
</file>

<file path=ppt/tags/tag29.xml><?xml version="1.0" encoding="utf-8"?>
<p:tagLst xmlns:a="http://schemas.openxmlformats.org/drawingml/2006/main" xmlns:r="http://schemas.openxmlformats.org/officeDocument/2006/relationships" xmlns:p="http://schemas.openxmlformats.org/presentationml/2006/main">
  <p:tag name="OUTPUTDPI" val="1200"/>
  <p:tag name="ORIGINALHEIGHT" val="178.4777"/>
  <p:tag name="ORIGINALWIDTH" val="2869.891"/>
  <p:tag name="LATEXADDIN" val="\documentclass{article}&#10;\usepackage{amsmath}&#10;\pagestyle{empty}&#10;\begin{document}&#10;&#10;&#10;$&#10;\min_{\mathbf{y}=(\ddot{\mathbf{q}},\,\boldsymbol{\tau})}&#10;\;\;\,\big\| \mathbf{A}\,\mathbf{y} - \mathbf{a} \big\|^2&#10;\quad&#10;\text{s.t.}\quad&#10;\big[\,\mathbf{M}\;\;-\mathbf{S}^\top\,\big]\,\mathbf{y} = -\,\mathbf{h}&#10;$&#10;&#10;\end{document}"/>
  <p:tag name="IGUANATEXSIZE" val="42"/>
  <p:tag name="IGUANATEXCURSOR" val="146"/>
  <p:tag name="TRANSPARENCY" val="True"/>
  <p:tag name="LATEXENGINEID" val="0"/>
  <p:tag name="TEMPFOLDER" val="c:\temp\"/>
  <p:tag name="LATEXFORMHEIGHT" val="312"/>
  <p:tag name="LATEXFORMWIDTH" val="384"/>
  <p:tag name="LATEXFORMWRAP" val="True"/>
  <p:tag name="BITMAPVECTOR" val="0"/>
</p:tagLst>
</file>

<file path=ppt/tags/tag30.xml><?xml version="1.0" encoding="utf-8"?>
<p:tagLst xmlns:a="http://schemas.openxmlformats.org/drawingml/2006/main" xmlns:r="http://schemas.openxmlformats.org/officeDocument/2006/relationships" xmlns:p="http://schemas.openxmlformats.org/presentationml/2006/main">
  <p:tag name="OUTPUTDPI" val="1200"/>
  <p:tag name="ORIGINALHEIGHT" val="149.2313"/>
  <p:tag name="ORIGINALWIDTH" val="1183.352"/>
  <p:tag name="LATEXADDIN" val="\documentclass{article}&#10;\usepackage{amsmath}&#10;\pagestyle{empty}&#10;\begin{document}&#10;&#10;&#10;$&#10;\big[\,\mathbf{M}\;\;-\mathbf{S}^\top\,\big]\;&#10;\mathbf{y}&#10;\;=\;&#10;-\,\mathbf{h}&#10;$&#10;&#10;\end{document}"/>
  <p:tag name="IGUANATEXSIZE" val="42"/>
  <p:tag name="IGUANATEXCURSOR" val="128"/>
  <p:tag name="TRANSPARENCY" val="True"/>
  <p:tag name="LATEXENGINEID" val="0"/>
  <p:tag name="TEMPFOLDER" val="c:\temp\"/>
  <p:tag name="LATEXFORMHEIGHT" val="312"/>
  <p:tag name="LATEXFORMWIDTH" val="384"/>
  <p:tag name="LATEXFORMWRAP" val="True"/>
  <p:tag name="BITMAPVECTOR" val="0"/>
</p:tagLst>
</file>

<file path=ppt/tags/tag31.xml><?xml version="1.0" encoding="utf-8"?>
<p:tagLst xmlns:a="http://schemas.openxmlformats.org/drawingml/2006/main" xmlns:r="http://schemas.openxmlformats.org/officeDocument/2006/relationships" xmlns:p="http://schemas.openxmlformats.org/presentationml/2006/main">
  <p:tag name="OUTPUTDPI" val="1200"/>
  <p:tag name="ORIGINALHEIGHT" val="299.2126"/>
  <p:tag name="ORIGINALWIDTH" val="492.6884"/>
  <p:tag name="LATEXADDIN" val="\documentclass{article}&#10;\usepackage{amsmath}&#10;\pagestyle{empty}&#10;\begin{document}&#10;&#10;&#10;$&#10;\mathbf{y} \;=\;&#10;\begin{bmatrix}&#10;\ddot{\mathbf{q}}\\[2pt]&#10;\boldsymbol{\tau}&#10;\end{bmatrix}&#10;$&#10;&#10;\end{document}"/>
  <p:tag name="IGUANATEXSIZE" val="42"/>
  <p:tag name="IGUANATEXCURSOR" val="173"/>
  <p:tag name="TRANSPARENCY" val="True"/>
  <p:tag name="LATEXENGINEID" val="0"/>
  <p:tag name="TEMPFOLDER" val="c:\temp\"/>
  <p:tag name="LATEXFORMHEIGHT" val="312"/>
  <p:tag name="LATEXFORMWIDTH" val="384"/>
  <p:tag name="LATEXFORMWRAP" val="True"/>
  <p:tag name="BITMAPVECTOR" val="0"/>
</p:tagLst>
</file>

<file path=ppt/tags/tag32.xml><?xml version="1.0" encoding="utf-8"?>
<p:tagLst xmlns:a="http://schemas.openxmlformats.org/drawingml/2006/main" xmlns:r="http://schemas.openxmlformats.org/officeDocument/2006/relationships" xmlns:p="http://schemas.openxmlformats.org/presentationml/2006/main">
  <p:tag name="OUTPUTDPI" val="1200"/>
  <p:tag name="ORIGINALHEIGHT" val="137.2328"/>
  <p:tag name="ORIGINALWIDTH" val="1589.801"/>
  <p:tag name="LATEXADDIN" val="\documentclass{article}&#10;\usepackage{amsmath}&#10;\pagestyle{empty}&#10;\begin{document}&#10;&#10;&#10;$&#10;\mathbf{M}(\mathbf{q})\,\ddot{\mathbf{q}}&#10;\;-\; \mathbf{S}^\top \boldsymbol{\tau}&#10;\;=\; -\,\mathbf{h}(\mathbf{q},\dot{\mathbf{q}})&#10;$&#10;&#10;\end{document}"/>
  <p:tag name="IGUANATEXSIZE" val="42"/>
  <p:tag name="IGUANATEXCURSOR" val="214"/>
  <p:tag name="TRANSPARENCY" val="True"/>
  <p:tag name="LATEXENGINEID" val="0"/>
  <p:tag name="TEMPFOLDER" val="c:\temp\"/>
  <p:tag name="LATEXFORMHEIGHT" val="312"/>
  <p:tag name="LATEXFORMWIDTH" val="384"/>
  <p:tag name="LATEXFORMWRAP" val="True"/>
  <p:tag name="BITMAPVECTOR" val="0"/>
</p:tagLst>
</file>

<file path=ppt/tags/tag33.xml><?xml version="1.0" encoding="utf-8"?>
<p:tagLst xmlns:a="http://schemas.openxmlformats.org/drawingml/2006/main" xmlns:r="http://schemas.openxmlformats.org/officeDocument/2006/relationships" xmlns:p="http://schemas.openxmlformats.org/presentationml/2006/main">
  <p:tag name="OUTPUTDPI" val="1200"/>
  <p:tag name="ORIGINALHEIGHT" val="163.4795"/>
  <p:tag name="ORIGINALWIDTH" val="3076.115"/>
  <p:tag name="LATEXADDIN" val="\documentclass{article}&#10;\usepackage{amsmath}&#10;\pagestyle{empty}&#10;\begin{document}&#10;&#10;&#10;$&#10;\min_{y=(\ddot q,\;\tau)} \,\|A y - a\|^{2}&#10;\quad\text{s.t.}\quad&#10;\begin{bmatrix} M &amp; -S^{\top} \end{bmatrix}&#10;y&#10;= -\,h + J^{\top}\hat{f}&#10;$&#10;&#10;\end{document}"/>
  <p:tag name="IGUANATEXSIZE" val="42"/>
  <p:tag name="IGUANATEXCURSOR" val="84"/>
  <p:tag name="TRANSPARENCY" val="True"/>
  <p:tag name="LATEXENGINEID" val="0"/>
  <p:tag name="TEMPFOLDER" val="c:\temp\"/>
  <p:tag name="LATEXFORMHEIGHT" val="309"/>
  <p:tag name="LATEXFORMWIDTH" val="384"/>
  <p:tag name="LATEXFORMWRAP" val="True"/>
  <p:tag name="BITMAPVECTOR" val="0"/>
</p:tagLst>
</file>

<file path=ppt/tags/tag34.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430.4462"/>
  <p:tag name="LATEXADDIN" val="\documentclass{article}&#10;\usepackage{amsmath}&#10;\pagestyle{empty}&#10;\begin{document}&#10;&#10;&#10;$&#10;c(q) = 0&#10;$&#10;&#10;\end{document}"/>
  <p:tag name="IGUANATEXSIZE" val="42"/>
  <p:tag name="IGUANATEXCURSOR" val="92"/>
  <p:tag name="TRANSPARENCY" val="True"/>
  <p:tag name="LATEXENGINEID" val="0"/>
  <p:tag name="TEMPFOLDER" val="c:\temp\"/>
  <p:tag name="LATEXFORMHEIGHT" val="312"/>
  <p:tag name="LATEXFORMWIDTH" val="384"/>
  <p:tag name="LATEXFORMWRAP" val="True"/>
  <p:tag name="BITMAPVECTOR" val="0"/>
</p:tagLst>
</file>

<file path=ppt/tags/tag35.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965.1294"/>
  <p:tag name="LATEXADDIN" val="\documentclass{article}&#10;\usepackage{amsmath}&#10;\pagestyle{empty}&#10;\begin{document}&#10;&#10;&#10;$&#10;c(q) \;=\; r_c(q) - r_c^\star&#10;$&#10;&#10;\end{document}"/>
  <p:tag name="IGUANATEXSIZE" val="42"/>
  <p:tag name="IGUANATEXCURSOR" val="113"/>
  <p:tag name="TRANSPARENCY" val="True"/>
  <p:tag name="LATEXENGINEID" val="0"/>
  <p:tag name="TEMPFOLDER" val="c:\temp\"/>
  <p:tag name="LATEXFORMHEIGHT" val="312"/>
  <p:tag name="LATEXFORMWIDTH" val="384"/>
  <p:tag name="LATEXFORMWRAP" val="True"/>
  <p:tag name="BITMAPVECTOR" val="0"/>
</p:tagLst>
</file>

<file path=ppt/tags/tag36.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248.219"/>
  <p:tag name="LATEXADDIN" val="\documentclass{article}&#10;\usepackage{amsmath}&#10;\pagestyle{empty}&#10;\begin{document}&#10;&#10;&#10;$&#10;r_c(q)&#10;$&#10;&#10;\end{document}"/>
  <p:tag name="IGUANATEXSIZE" val="42"/>
  <p:tag name="IGUANATEXCURSOR" val="90"/>
  <p:tag name="TRANSPARENCY" val="True"/>
  <p:tag name="LATEXENGINEID" val="0"/>
  <p:tag name="TEMPFOLDER" val="c:\temp\"/>
  <p:tag name="LATEXFORMHEIGHT" val="312"/>
  <p:tag name="LATEXFORMWIDTH" val="384"/>
  <p:tag name="LATEXFORMWRAP" val="True"/>
  <p:tag name="BITMAPVECTOR" val="0"/>
</p:tagLst>
</file>

<file path=ppt/tags/tag37.xml><?xml version="1.0" encoding="utf-8"?>
<p:tagLst xmlns:a="http://schemas.openxmlformats.org/drawingml/2006/main" xmlns:r="http://schemas.openxmlformats.org/officeDocument/2006/relationships" xmlns:p="http://schemas.openxmlformats.org/presentationml/2006/main">
  <p:tag name="OUTPUTDPI" val="1200"/>
  <p:tag name="ORIGINALHEIGHT" val="119.2351"/>
  <p:tag name="ORIGINALWIDTH" val="104.9868"/>
  <p:tag name="LATEXADDIN" val="\documentclass{article}&#10;\usepackage{amsmath}&#10;\pagestyle{empty}&#10;\begin{document}&#10;&#10;&#10;$&#10;r_c^\star&#10;$&#10;&#10;\end{document}"/>
  <p:tag name="IGUANATEXSIZE" val="32"/>
  <p:tag name="IGUANATEXCURSOR" val="93"/>
  <p:tag name="TRANSPARENCY" val="True"/>
  <p:tag name="LATEXENGINEID" val="0"/>
  <p:tag name="TEMPFOLDER" val="c:\temp\"/>
  <p:tag name="LATEXFORMHEIGHT" val="312"/>
  <p:tag name="LATEXFORMWIDTH" val="384"/>
  <p:tag name="LATEXFORMWRAP" val="True"/>
  <p:tag name="BITMAPVECTOR" val="0"/>
</p:tagLst>
</file>

<file path=ppt/tags/tag38.xml><?xml version="1.0" encoding="utf-8"?>
<p:tagLst xmlns:a="http://schemas.openxmlformats.org/drawingml/2006/main" xmlns:r="http://schemas.openxmlformats.org/officeDocument/2006/relationships" xmlns:p="http://schemas.openxmlformats.org/presentationml/2006/main">
  <p:tag name="OUTPUTDPI" val="1200"/>
  <p:tag name="ORIGINALHEIGHT" val="171.7285"/>
  <p:tag name="ORIGINALWIDTH" val="1570.304"/>
  <p:tag name="LATEXADDIN" val="\documentclass{article}&#10;\usepackage{amsmath}&#10;\pagestyle{empty}&#10;\begin{document}&#10;&#10;&#10;$&#10;\frac{d}{dt}\,c(q(t))&#10;=\frac{\partial c}{\partial q}\,\dot q&#10;= J(q)\,\dot q&#10;= 0&#10;$&#10;&#10;\end{document}"/>
  <p:tag name="IGUANATEXSIZE" val="42"/>
  <p:tag name="IGUANATEXCURSOR" val="163"/>
  <p:tag name="TRANSPARENCY" val="True"/>
  <p:tag name="LATEXENGINEID" val="0"/>
  <p:tag name="TEMPFOLDER" val="c:\temp\"/>
  <p:tag name="LATEXFORMHEIGHT" val="312"/>
  <p:tag name="LATEXFORMWIDTH" val="384"/>
  <p:tag name="LATEXFORMWRAP" val="True"/>
  <p:tag name="BITMAPVECTOR" val="0"/>
</p:tagLst>
</file>

<file path=ppt/tags/tag39.xml><?xml version="1.0" encoding="utf-8"?>
<p:tagLst xmlns:a="http://schemas.openxmlformats.org/drawingml/2006/main" xmlns:r="http://schemas.openxmlformats.org/officeDocument/2006/relationships" xmlns:p="http://schemas.openxmlformats.org/presentationml/2006/main">
  <p:tag name="OUTPUTDPI" val="1200"/>
  <p:tag name="ORIGINALHEIGHT" val="158.2302"/>
  <p:tag name="ORIGINALWIDTH" val="1832.021"/>
  <p:tag name="LATEXADDIN" val="\documentclass{article}&#10;\usepackage{amsmath}&#10;\pagestyle{empty}&#10;\begin{document}&#10;&#10;&#10;$&#10;\frac{d}{dt}\big(J(q)\,\dot q\big)&#10;= \dot J(q,\dot q)\,\dot q + J(q)\,\ddot q&#10;= 0&#10;$&#10;&#10;\end{document}"/>
  <p:tag name="IGUANATEXSIZE" val="42"/>
  <p:tag name="IGUANATEXCURSOR" val="165"/>
  <p:tag name="TRANSPARENCY" val="True"/>
  <p:tag name="LATEXENGINEID" val="0"/>
  <p:tag name="TEMPFOLDER" val="c:\temp\"/>
  <p:tag name="LATEXFORMHEIGHT" val="312"/>
  <p:tag name="LATEXFORMWIDTH" val="384"/>
  <p:tag name="LATEXFORMWRAP" val="True"/>
  <p:tag name="BITMAPVECTOR" val="0"/>
</p:tagLst>
</file>

<file path=ppt/tags/tag40.xml><?xml version="1.0" encoding="utf-8"?>
<p:tagLst xmlns:a="http://schemas.openxmlformats.org/drawingml/2006/main" xmlns:r="http://schemas.openxmlformats.org/officeDocument/2006/relationships" xmlns:p="http://schemas.openxmlformats.org/presentationml/2006/main">
  <p:tag name="OUTPUTDPI" val="1200"/>
  <p:tag name="ORIGINALHEIGHT" val="785.1518"/>
  <p:tag name="ORIGINALWIDTH" val="3173.603"/>
  <p:tag name="LATEXADDIN" val="\documentclass{article}&#10;\usepackage{amsmath}&#10;\pagestyle{empty}&#10;\begin{document}&#10;&#10;&#10;$&#10;\begin{aligned}&#10;&amp;\underset{y}{\mathrm{minimize}} &amp;&amp; \|A y - a\|^2 \\&#10;&amp;\text{subject to} &amp;&amp;&#10;\begin{bmatrix}&#10;J(q) &amp; 0 &amp; 0 \\&#10;M(q) &amp; -J(q)^{\top} &amp; -S^{\top}&#10;\end{bmatrix}&#10;\begin{bmatrix}&#10;\ddot q \\[2pt] f \\[2pt] \tau&#10;\end{bmatrix}&#10;=&#10;\begin{bmatrix}&#10;-\dot J(q,\dot q)\,\dot q \\&#10;-h(q,\dot q)&#10;\end{bmatrix}.&#10;\end{aligned}&#10;$&#10;&#10;\end{document}"/>
  <p:tag name="IGUANATEXSIZE" val="42"/>
  <p:tag name="IGUANATEXCURSOR" val="402"/>
  <p:tag name="TRANSPARENCY" val="True"/>
  <p:tag name="LATEXENGINEID" val="0"/>
  <p:tag name="TEMPFOLDER" val="c:\temp\"/>
  <p:tag name="LATEXFORMHEIGHT" val="312"/>
  <p:tag name="LATEXFORMWIDTH" val="384"/>
  <p:tag name="LATEXFORMWRAP" val="True"/>
  <p:tag name="BITMAPVECTOR" val="0"/>
</p:tagLst>
</file>

<file path=ppt/tags/tag41.xml><?xml version="1.0" encoding="utf-8"?>
<p:tagLst xmlns:a="http://schemas.openxmlformats.org/drawingml/2006/main" xmlns:r="http://schemas.openxmlformats.org/officeDocument/2006/relationships" xmlns:p="http://schemas.openxmlformats.org/presentationml/2006/main">
  <p:tag name="OUTPUTDPI" val="1200"/>
  <p:tag name="ORIGINALHEIGHT" val="80.24"/>
  <p:tag name="ORIGINALWIDTH" val="58.49268"/>
  <p:tag name="LATEXADDIN" val="\documentclass{article}&#10;\usepackage{amsmath}&#10;\pagestyle{empty}&#10;\begin{document}&#10;&#10;&#10;$&#10;y&#10;$&#10;&#10;\end{document}"/>
  <p:tag name="IGUANATEXSIZE" val="42"/>
  <p:tag name="IGUANATEXCURSOR" val="85"/>
  <p:tag name="TRANSPARENCY" val="True"/>
  <p:tag name="LATEXENGINEID" val="0"/>
  <p:tag name="TEMPFOLDER" val="c:\temp\"/>
  <p:tag name="LATEXFORMHEIGHT" val="312"/>
  <p:tag name="LATEXFORMWIDTH" val="384"/>
  <p:tag name="LATEXFORMWRAP" val="True"/>
  <p:tag name="BITMAPVECTOR" val="0"/>
</p:tagLst>
</file>

<file path=ppt/tags/tag42.xml><?xml version="1.0" encoding="utf-8"?>
<p:tagLst xmlns:a="http://schemas.openxmlformats.org/drawingml/2006/main" xmlns:r="http://schemas.openxmlformats.org/officeDocument/2006/relationships" xmlns:p="http://schemas.openxmlformats.org/presentationml/2006/main">
  <p:tag name="OUTPUTDPI" val="1200"/>
  <p:tag name="ORIGINALHEIGHT" val="158.2302"/>
  <p:tag name="ORIGINALWIDTH" val="1832.021"/>
  <p:tag name="LATEXADDIN" val="\documentclass{article}&#10;\usepackage{amsmath}&#10;\pagestyle{empty}&#10;\begin{document}&#10;&#10;&#10;$&#10;\frac{d}{dt}\big(J(q)\,\dot q\big)&#10;= \dot J(q,\dot q)\,\dot q + J(q)\,\ddot q&#10;= 0&#10;$&#10;&#10;\end{document}"/>
  <p:tag name="IGUANATEXSIZE" val="42"/>
  <p:tag name="IGUANATEXCURSOR" val="165"/>
  <p:tag name="TRANSPARENCY" val="True"/>
  <p:tag name="LATEXENGINEID" val="0"/>
  <p:tag name="TEMPFOLDER" val="c:\temp\"/>
  <p:tag name="LATEXFORMHEIGHT" val="312"/>
  <p:tag name="LATEXFORMWIDTH" val="384"/>
  <p:tag name="LATEXFORMWRAP" val="True"/>
  <p:tag name="BITMAPVECTOR" val="0"/>
</p:tagLst>
</file>

<file path=ppt/tags/tag43.xml><?xml version="1.0" encoding="utf-8"?>
<p:tagLst xmlns:a="http://schemas.openxmlformats.org/drawingml/2006/main" xmlns:r="http://schemas.openxmlformats.org/officeDocument/2006/relationships" xmlns:p="http://schemas.openxmlformats.org/presentationml/2006/main">
  <p:tag name="OUTPUTDPI" val="1200"/>
  <p:tag name="ORIGINALHEIGHT" val="785.1518"/>
  <p:tag name="ORIGINALWIDTH" val="3173.603"/>
  <p:tag name="LATEXADDIN" val="\documentclass{article}&#10;\usepackage{amsmath}&#10;\pagestyle{empty}&#10;\begin{document}&#10;&#10;&#10;$&#10;\begin{aligned}&#10;&amp;\underset{y}{\mathrm{minimize}} &amp;&amp; \|A y - a\|^2 \\&#10;&amp;\text{subject to} &amp;&amp;&#10;\begin{bmatrix}&#10;J(q) &amp; 0 &amp; 0 \\&#10;M(q) &amp; -J(q)^{\top} &amp; -S^{\top}&#10;\end{bmatrix}&#10;\begin{bmatrix}&#10;\ddot q \\[2pt] f \\[2pt] \tau&#10;\end{bmatrix}&#10;=&#10;\begin{bmatrix}&#10;-\dot J(q,\dot q)\,\dot q \\&#10;-h(q,\dot q)&#10;\end{bmatrix}.&#10;\end{aligned}&#10;$&#10;&#10;\end{document}"/>
  <p:tag name="IGUANATEXSIZE" val="42"/>
  <p:tag name="IGUANATEXCURSOR" val="402"/>
  <p:tag name="TRANSPARENCY" val="True"/>
  <p:tag name="LATEXENGINEID" val="0"/>
  <p:tag name="TEMPFOLDER" val="c:\temp\"/>
  <p:tag name="LATEXFORMHEIGHT" val="312"/>
  <p:tag name="LATEXFORMWIDTH" val="384"/>
  <p:tag name="LATEXFORMWRAP" val="True"/>
  <p:tag name="BITMAPVECTOR" val="0"/>
</p:tagLst>
</file>

<file path=ppt/tags/tag44.xml><?xml version="1.0" encoding="utf-8"?>
<p:tagLst xmlns:a="http://schemas.openxmlformats.org/drawingml/2006/main" xmlns:r="http://schemas.openxmlformats.org/officeDocument/2006/relationships" xmlns:p="http://schemas.openxmlformats.org/presentationml/2006/main">
  <p:tag name="OUTPUTDPI" val="1200"/>
  <p:tag name="ORIGINALHEIGHT" val="107.2366"/>
  <p:tag name="ORIGINALWIDTH" val="54.74315"/>
  <p:tag name="LATEXADDIN" val="\documentclass{article}&#10;\usepackage{amsmath}&#10;\pagestyle{empty}&#10;\begin{document}&#10;&#10;&#10;$&#10;\ddot{q}&#10;$&#10;&#10;\end{document}"/>
  <p:tag name="IGUANATEXSIZE" val="32"/>
  <p:tag name="IGUANATEXCURSOR" val="92"/>
  <p:tag name="TRANSPARENCY" val="True"/>
  <p:tag name="LATEXENGINEID" val="0"/>
  <p:tag name="TEMPFOLDER" val="c:\temp\"/>
  <p:tag name="LATEXFORMHEIGHT" val="312"/>
  <p:tag name="LATEXFORMWIDTH" val="384"/>
  <p:tag name="LATEXFORMWRAP" val="True"/>
  <p:tag name="BITMAPVECTOR" val="0"/>
</p:tagLst>
</file>

<file path=ppt/tags/tag45.xml><?xml version="1.0" encoding="utf-8"?>
<p:tagLst xmlns:a="http://schemas.openxmlformats.org/drawingml/2006/main" xmlns:r="http://schemas.openxmlformats.org/officeDocument/2006/relationships" xmlns:p="http://schemas.openxmlformats.org/presentationml/2006/main">
  <p:tag name="OUTPUTDPI" val="1200"/>
  <p:tag name="ORIGINALHEIGHT" val="139.4826"/>
  <p:tag name="ORIGINALWIDTH" val="1739.033"/>
  <p:tag name="LATEXADDIN" val="\documentclass{article}&#10;\usepackage{amsmath}&#10;\pagestyle{empty}&#10;\begin{document}&#10;&#10;&#10;$&#10;\min_{y}\ \|A y - b\|_{W}^{2}&#10;\quad \text{s.t.}\quad&#10;E y = d&#10;$&#10;&#10;\end{document}"/>
  <p:tag name="IGUANATEXSIZE" val="42"/>
  <p:tag name="IGUANATEXCURSOR" val="144"/>
  <p:tag name="TRANSPARENCY" val="True"/>
  <p:tag name="LATEXENGINEID" val="0"/>
  <p:tag name="TEMPFOLDER" val="c:\temp\"/>
  <p:tag name="LATEXFORMHEIGHT" val="312"/>
  <p:tag name="LATEXFORMWIDTH" val="384"/>
  <p:tag name="LATEXFORMWRAP" val="True"/>
  <p:tag name="BITMAPVECTOR" val="0"/>
</p:tagLst>
</file>

<file path=ppt/tags/tag46.xml><?xml version="1.0" encoding="utf-8"?>
<p:tagLst xmlns:a="http://schemas.openxmlformats.org/drawingml/2006/main" xmlns:r="http://schemas.openxmlformats.org/officeDocument/2006/relationships" xmlns:p="http://schemas.openxmlformats.org/presentationml/2006/main">
  <p:tag name="OUTPUTDPI" val="1200"/>
  <p:tag name="ORIGINALHEIGHT" val="149.9813"/>
  <p:tag name="ORIGINALWIDTH" val="3442.07"/>
  <p:tag name="LATEXADDIN" val="\documentclass{article}&#10;\usepackage{amsmath}&#10;\pagestyle{empty}&#10;\begin{document}&#10;&#10;&#10;$&#10;\min_{y}\ \frac12\, y^{\mathsf T} H y + c^{\mathsf T} y&#10;\quad \text{s.t.}\quad&#10;G y \le h,\ \ E y = d,\ \ y_{\min}\le y \le y_{\max}&#10;$&#10;&#10;\end{document}"/>
  <p:tag name="IGUANATEXSIZE" val="42"/>
  <p:tag name="IGUANATEXCURSOR" val="215"/>
  <p:tag name="TRANSPARENCY" val="True"/>
  <p:tag name="LATEXENGINEID" val="0"/>
  <p:tag name="TEMPFOLDER" val="c:\temp\"/>
  <p:tag name="LATEXFORMHEIGHT" val="312"/>
  <p:tag name="LATEXFORMWIDTH" val="384"/>
  <p:tag name="LATEXFORMWRAP" val="True"/>
  <p:tag name="BITMAPVECTOR" val="0"/>
</p:tagLst>
</file>

<file path=ppt/tags/tag47.xml><?xml version="1.0" encoding="utf-8"?>
<p:tagLst xmlns:a="http://schemas.openxmlformats.org/drawingml/2006/main" xmlns:r="http://schemas.openxmlformats.org/officeDocument/2006/relationships" xmlns:p="http://schemas.openxmlformats.org/presentationml/2006/main">
  <p:tag name="OUTPUTDPI" val="1200"/>
  <p:tag name="ORIGINALHEIGHT" val="120.7349"/>
  <p:tag name="ORIGINALWIDTH" val="1025.872"/>
  <p:tag name="LATEXADDIN" val="\documentclass{article}&#10;\usepackage{amsmath}&#10;\pagestyle{empty}&#10;\begin{document}&#10;&#10;&#10;$&#10;\tau^{\min} \;\le\; \tau \;\le\; \tau^{\max}&#10;$&#10;&#10;\end{document}"/>
  <p:tag name="IGUANATEXSIZE" val="42"/>
  <p:tag name="IGUANATEXCURSOR" val="128"/>
  <p:tag name="TRANSPARENCY" val="True"/>
  <p:tag name="LATEXENGINEID" val="0"/>
  <p:tag name="TEMPFOLDER" val="c:\temp\"/>
  <p:tag name="LATEXFORMHEIGHT" val="312"/>
  <p:tag name="LATEXFORMWIDTH" val="384"/>
  <p:tag name="LATEXFORMWRAP" val="True"/>
  <p:tag name="BITMAPVECTOR" val="0"/>
</p:tagLst>
</file>

<file path=ppt/tags/tag48.xml><?xml version="1.0" encoding="utf-8"?>
<p:tagLst xmlns:a="http://schemas.openxmlformats.org/drawingml/2006/main" xmlns:r="http://schemas.openxmlformats.org/officeDocument/2006/relationships" xmlns:p="http://schemas.openxmlformats.org/presentationml/2006/main">
  <p:tag name="OUTPUTDPI" val="1200"/>
  <p:tag name="ORIGINALHEIGHT" val="113.2358"/>
  <p:tag name="ORIGINALWIDTH" val="415.448"/>
  <p:tag name="LATEXADDIN" val="\documentclass{article}&#10;\usepackage{amsmath}&#10;\pagestyle{empty}&#10;\begin{document}&#10;&#10;&#10;$&#10;B\,f \le 0&#10;$&#10;&#10;\end{document}"/>
  <p:tag name="IGUANATEXSIZE" val="42"/>
  <p:tag name="IGUANATEXCURSOR" val="94"/>
  <p:tag name="TRANSPARENCY" val="True"/>
  <p:tag name="LATEXENGINEID" val="0"/>
  <p:tag name="TEMPFOLDER" val="c:\temp\"/>
  <p:tag name="LATEXFORMHEIGHT" val="312"/>
  <p:tag name="LATEXFORMWIDTH" val="384"/>
  <p:tag name="LATEXFORMWRAP" val="True"/>
  <p:tag name="BITMAPVECTOR" val="0"/>
</p:tagLst>
</file>

<file path=ppt/tags/tag49.xml><?xml version="1.0" encoding="utf-8"?>
<p:tagLst xmlns:a="http://schemas.openxmlformats.org/drawingml/2006/main" xmlns:r="http://schemas.openxmlformats.org/officeDocument/2006/relationships" xmlns:p="http://schemas.openxmlformats.org/presentationml/2006/main">
  <p:tag name="OUTPUTDPI" val="1200"/>
  <p:tag name="ORIGINALHEIGHT" val="127.4841"/>
  <p:tag name="ORIGINALWIDTH" val="998.8751"/>
  <p:tag name="LATEXADDIN" val="\documentclass{article}&#10;\usepackage{amsmath}&#10;\pagestyle{empty}&#10;\begin{document}&#10;&#10;&#10;$&#10;\dot q^{\min} \;\le\; \dot q \;\le\; \dot q^{\max}&#10;$&#10;&#10;\end{document}"/>
  <p:tag name="IGUANATEXSIZE" val="42"/>
  <p:tag name="IGUANATEXCURSOR" val="134"/>
  <p:tag name="TRANSPARENCY" val="True"/>
  <p:tag name="LATEXENGINEID" val="0"/>
  <p:tag name="TEMPFOLDER" val="c:\temp\"/>
  <p:tag name="LATEXFORMHEIGHT" val="312"/>
  <p:tag name="LATEXFORMWIDTH" val="384"/>
  <p:tag name="LATEXFORMWRAP" val="True"/>
  <p:tag name="BITMAPVECTOR" val="0"/>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2150</TotalTime>
  <Words>695</Words>
  <Application>Microsoft Office PowerPoint</Application>
  <PresentationFormat>사용자 지정</PresentationFormat>
  <Paragraphs>146</Paragraphs>
  <Slides>15</Slides>
  <Notes>14</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15</vt:i4>
      </vt:variant>
    </vt:vector>
  </HeadingPairs>
  <TitlesOfParts>
    <vt:vector size="19" baseType="lpstr">
      <vt:lpstr>Arial</vt:lpstr>
      <vt:lpstr>Calibri</vt:lpstr>
      <vt:lpstr>맑은 고딕</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강민 이</cp:lastModifiedBy>
  <cp:revision>182</cp:revision>
  <dcterms:created xsi:type="dcterms:W3CDTF">2006-08-16T00:00:00Z</dcterms:created>
  <dcterms:modified xsi:type="dcterms:W3CDTF">2025-11-18T11:04:19Z</dcterms:modified>
</cp:coreProperties>
</file>