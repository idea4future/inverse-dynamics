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9.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10.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352" r:id="rId2"/>
    <p:sldId id="355" r:id="rId3"/>
    <p:sldId id="356" r:id="rId4"/>
    <p:sldId id="357" r:id="rId5"/>
    <p:sldId id="359" r:id="rId6"/>
    <p:sldId id="358" r:id="rId7"/>
    <p:sldId id="360" r:id="rId8"/>
    <p:sldId id="361" r:id="rId9"/>
    <p:sldId id="362" r:id="rId10"/>
    <p:sldId id="363" r:id="rId11"/>
    <p:sldId id="364" r:id="rId12"/>
    <p:sldId id="321" r:id="rId13"/>
  </p:sldIdLst>
  <p:sldSz cx="24384000" cy="13716000"/>
  <p:notesSz cx="6858000" cy="9144000"/>
  <p:embeddedFontLst>
    <p:embeddedFont>
      <p:font typeface="Cambria Math" panose="02040503050406030204" pitchFamily="18" charset="0"/>
      <p:regular r:id="rId15"/>
    </p:embeddedFont>
    <p:embeddedFont>
      <p:font typeface="맑은 고딕" panose="020B0503020000020004" pitchFamily="50" charset="-127"/>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4E05D"/>
    <a:srgbClr val="FFFFFF"/>
    <a:srgbClr val="1E1B35"/>
    <a:srgbClr val="001D58"/>
    <a:srgbClr val="000E2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71" autoAdjust="0"/>
    <p:restoredTop sz="88685" autoAdjust="0"/>
  </p:normalViewPr>
  <p:slideViewPr>
    <p:cSldViewPr>
      <p:cViewPr varScale="1">
        <p:scale>
          <a:sx n="40" d="100"/>
          <a:sy n="40" d="100"/>
        </p:scale>
        <p:origin x="49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130ED-C0B9-4FC1-BB2D-D58A566FAF25}" type="datetimeFigureOut">
              <a:rPr lang="ko-KR" altLang="en-US" smtClean="0"/>
              <a:t>2025-11-18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FB9C9-7C23-4F4E-9852-726E7DBF3378}" type="slidenum">
              <a:rPr lang="ko-KR" altLang="en-US" smtClean="0"/>
              <a:t>‹#›</a:t>
            </a:fld>
            <a:endParaRPr lang="ko-KR" altLang="en-US"/>
          </a:p>
        </p:txBody>
      </p:sp>
    </p:spTree>
    <p:extLst>
      <p:ext uri="{BB962C8B-B14F-4D97-AF65-F5344CB8AC3E}">
        <p14:creationId xmlns:p14="http://schemas.microsoft.com/office/powerpoint/2010/main" val="8126393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7A9FC-84AE-F465-21B2-BDE8761AE0E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67C86CB-1173-F763-8D0C-394D5DC73F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3409DD-949A-B9B8-5AB4-3041285CE6A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8E89A25-4A94-AC78-79E5-92BA454A9854}"/>
              </a:ext>
            </a:extLst>
          </p:cNvPr>
          <p:cNvSpPr>
            <a:spLocks noGrp="1"/>
          </p:cNvSpPr>
          <p:nvPr>
            <p:ph type="sldNum" sz="quarter" idx="5"/>
          </p:nvPr>
        </p:nvSpPr>
        <p:spPr/>
        <p:txBody>
          <a:bodyPr/>
          <a:lstStyle/>
          <a:p>
            <a:fld id="{818FB9C9-7C23-4F4E-9852-726E7DBF3378}" type="slidenum">
              <a:rPr lang="ko-KR" altLang="en-US" smtClean="0"/>
              <a:t>1</a:t>
            </a:fld>
            <a:endParaRPr lang="ko-KR" altLang="en-US"/>
          </a:p>
        </p:txBody>
      </p:sp>
    </p:spTree>
    <p:extLst>
      <p:ext uri="{BB962C8B-B14F-4D97-AF65-F5344CB8AC3E}">
        <p14:creationId xmlns:p14="http://schemas.microsoft.com/office/powerpoint/2010/main" val="2058510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37907-98D1-F588-E64A-ED3BFE20924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A6D7997-D553-2470-4DC7-2B34AE54128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6357730-A6EF-0C19-F85A-C524C67182B0}"/>
              </a:ext>
            </a:extLst>
          </p:cNvPr>
          <p:cNvSpPr>
            <a:spLocks noGrp="1"/>
          </p:cNvSpPr>
          <p:nvPr>
            <p:ph type="body" idx="1"/>
          </p:nvPr>
        </p:nvSpPr>
        <p:spPr/>
        <p:txBody>
          <a:bodyPr/>
          <a:lstStyle/>
          <a:p>
            <a:r>
              <a:rPr lang="en-US" altLang="ko-KR" dirty="0"/>
              <a:t>½ ​</a:t>
            </a:r>
            <a:r>
              <a:rPr lang="ko-KR" altLang="en-US" dirty="0"/>
              <a:t>는 </a:t>
            </a:r>
            <a:r>
              <a:rPr lang="ko-KR" altLang="en-US" b="1" dirty="0"/>
              <a:t>수학적 편의</a:t>
            </a:r>
            <a:r>
              <a:rPr lang="en-US" altLang="ko-KR" b="1" dirty="0"/>
              <a:t>/</a:t>
            </a:r>
            <a:r>
              <a:rPr lang="ko-KR" altLang="en-US" b="1" dirty="0"/>
              <a:t>관례</a:t>
            </a:r>
            <a:r>
              <a:rPr lang="ko-KR" altLang="en-US" dirty="0"/>
              <a:t> 때문이고</a:t>
            </a:r>
            <a:r>
              <a:rPr lang="en-US" altLang="ko-KR" dirty="0"/>
              <a:t>, </a:t>
            </a:r>
            <a:r>
              <a:rPr lang="ko-KR" altLang="en-US" b="1" dirty="0"/>
              <a:t>최적 해 자체는 변하지 않는다</a:t>
            </a:r>
            <a:r>
              <a:rPr lang="en-US" altLang="ko-KR" b="1" dirty="0"/>
              <a:t>. </a:t>
            </a:r>
            <a:r>
              <a:rPr lang="ko-KR" altLang="en-US" b="1" dirty="0"/>
              <a:t>미분했을 때 계수가 계속 따라다니기 때문에</a:t>
            </a:r>
            <a:r>
              <a:rPr lang="en-US" altLang="ko-KR" b="1" dirty="0"/>
              <a:t>, </a:t>
            </a:r>
            <a:r>
              <a:rPr lang="ko-KR" altLang="en-US" b="1" dirty="0"/>
              <a:t>그냥 계산 편의상 </a:t>
            </a:r>
            <a:r>
              <a:rPr lang="en-US" altLang="ko-KR" b="1" dirty="0"/>
              <a:t>½</a:t>
            </a:r>
            <a:r>
              <a:rPr lang="ko-KR" altLang="en-US" b="1" dirty="0"/>
              <a:t>를 넣은 거임</a:t>
            </a:r>
            <a:endParaRPr lang="ko-KR" altLang="en-US" dirty="0"/>
          </a:p>
        </p:txBody>
      </p:sp>
      <p:sp>
        <p:nvSpPr>
          <p:cNvPr id="4" name="슬라이드 번호 개체 틀 3">
            <a:extLst>
              <a:ext uri="{FF2B5EF4-FFF2-40B4-BE49-F238E27FC236}">
                <a16:creationId xmlns:a16="http://schemas.microsoft.com/office/drawing/2014/main" id="{5C895282-38D8-3893-2AF3-EE97313E8EF1}"/>
              </a:ext>
            </a:extLst>
          </p:cNvPr>
          <p:cNvSpPr>
            <a:spLocks noGrp="1"/>
          </p:cNvSpPr>
          <p:nvPr>
            <p:ph type="sldNum" sz="quarter" idx="5"/>
          </p:nvPr>
        </p:nvSpPr>
        <p:spPr/>
        <p:txBody>
          <a:bodyPr/>
          <a:lstStyle/>
          <a:p>
            <a:fld id="{818FB9C9-7C23-4F4E-9852-726E7DBF3378}" type="slidenum">
              <a:rPr lang="ko-KR" altLang="en-US" smtClean="0"/>
              <a:t>2</a:t>
            </a:fld>
            <a:endParaRPr lang="ko-KR" altLang="en-US"/>
          </a:p>
        </p:txBody>
      </p:sp>
    </p:spTree>
    <p:extLst>
      <p:ext uri="{BB962C8B-B14F-4D97-AF65-F5344CB8AC3E}">
        <p14:creationId xmlns:p14="http://schemas.microsoft.com/office/powerpoint/2010/main" val="947194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1A0A1-F87C-8F8D-012F-A933417001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FA805D5-FAEF-9FCE-DEA2-39C8311D41D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1B48424-5AFE-85D8-81CE-E39DC7D3926D}"/>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1C4CA9A-1116-0069-FAD7-C1CC27FB6B6C}"/>
              </a:ext>
            </a:extLst>
          </p:cNvPr>
          <p:cNvSpPr>
            <a:spLocks noGrp="1"/>
          </p:cNvSpPr>
          <p:nvPr>
            <p:ph type="sldNum" sz="quarter" idx="5"/>
          </p:nvPr>
        </p:nvSpPr>
        <p:spPr/>
        <p:txBody>
          <a:bodyPr/>
          <a:lstStyle/>
          <a:p>
            <a:fld id="{818FB9C9-7C23-4F4E-9852-726E7DBF3378}" type="slidenum">
              <a:rPr lang="ko-KR" altLang="en-US" smtClean="0"/>
              <a:t>3</a:t>
            </a:fld>
            <a:endParaRPr lang="ko-KR" altLang="en-US"/>
          </a:p>
        </p:txBody>
      </p:sp>
    </p:spTree>
    <p:extLst>
      <p:ext uri="{BB962C8B-B14F-4D97-AF65-F5344CB8AC3E}">
        <p14:creationId xmlns:p14="http://schemas.microsoft.com/office/powerpoint/2010/main" val="3141075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B3E84-D75B-D15D-9936-D80793BCCE3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47AEBB-7B5F-ACFC-8712-561DDC948E4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F2C0DBD-884D-FAA5-00A2-27311FF8DEE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D2DE9E8-6418-6B45-BBFE-AC334AB66835}"/>
              </a:ext>
            </a:extLst>
          </p:cNvPr>
          <p:cNvSpPr>
            <a:spLocks noGrp="1"/>
          </p:cNvSpPr>
          <p:nvPr>
            <p:ph type="sldNum" sz="quarter" idx="5"/>
          </p:nvPr>
        </p:nvSpPr>
        <p:spPr/>
        <p:txBody>
          <a:bodyPr/>
          <a:lstStyle/>
          <a:p>
            <a:fld id="{818FB9C9-7C23-4F4E-9852-726E7DBF3378}" type="slidenum">
              <a:rPr lang="ko-KR" altLang="en-US" smtClean="0"/>
              <a:t>4</a:t>
            </a:fld>
            <a:endParaRPr lang="ko-KR" altLang="en-US"/>
          </a:p>
        </p:txBody>
      </p:sp>
    </p:spTree>
    <p:extLst>
      <p:ext uri="{BB962C8B-B14F-4D97-AF65-F5344CB8AC3E}">
        <p14:creationId xmlns:p14="http://schemas.microsoft.com/office/powerpoint/2010/main" val="1319922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B1B6F-A29A-C7FE-AFCA-5DFFA02F05A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82A60C6-47C0-62CB-C4E3-F9CA5295B2A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C3586E8-5D44-23F7-EBB2-50A90D6A325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25DF94B-E311-68FB-E431-8075B6246BB4}"/>
              </a:ext>
            </a:extLst>
          </p:cNvPr>
          <p:cNvSpPr>
            <a:spLocks noGrp="1"/>
          </p:cNvSpPr>
          <p:nvPr>
            <p:ph type="sldNum" sz="quarter" idx="5"/>
          </p:nvPr>
        </p:nvSpPr>
        <p:spPr/>
        <p:txBody>
          <a:bodyPr/>
          <a:lstStyle/>
          <a:p>
            <a:fld id="{818FB9C9-7C23-4F4E-9852-726E7DBF3378}" type="slidenum">
              <a:rPr lang="ko-KR" altLang="en-US" smtClean="0"/>
              <a:t>5</a:t>
            </a:fld>
            <a:endParaRPr lang="ko-KR" altLang="en-US"/>
          </a:p>
        </p:txBody>
      </p:sp>
    </p:spTree>
    <p:extLst>
      <p:ext uri="{BB962C8B-B14F-4D97-AF65-F5344CB8AC3E}">
        <p14:creationId xmlns:p14="http://schemas.microsoft.com/office/powerpoint/2010/main" val="2489480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7E4D-9C3A-C87C-7C2F-30C79D5BA2A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6C4D67A-D0DB-DBC7-28E1-72491988049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365C81E-0DA6-9B6E-5541-C71454DBD5B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016E7BF-ACC3-7D86-E0BC-BED88F4AD4EA}"/>
              </a:ext>
            </a:extLst>
          </p:cNvPr>
          <p:cNvSpPr>
            <a:spLocks noGrp="1"/>
          </p:cNvSpPr>
          <p:nvPr>
            <p:ph type="sldNum" sz="quarter" idx="5"/>
          </p:nvPr>
        </p:nvSpPr>
        <p:spPr/>
        <p:txBody>
          <a:bodyPr/>
          <a:lstStyle/>
          <a:p>
            <a:fld id="{818FB9C9-7C23-4F4E-9852-726E7DBF3378}" type="slidenum">
              <a:rPr lang="ko-KR" altLang="en-US" smtClean="0"/>
              <a:t>6</a:t>
            </a:fld>
            <a:endParaRPr lang="ko-KR" altLang="en-US"/>
          </a:p>
        </p:txBody>
      </p:sp>
    </p:spTree>
    <p:extLst>
      <p:ext uri="{BB962C8B-B14F-4D97-AF65-F5344CB8AC3E}">
        <p14:creationId xmlns:p14="http://schemas.microsoft.com/office/powerpoint/2010/main" val="348411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5D048-AF9B-B8A5-DC23-D3D560A76BB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3A4F9DE-7C6F-1DEA-3E1E-B4D137E0F64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2AA779D-873B-FEB6-A468-A40064507C9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5AFC928-AB00-1186-0DD0-4D9A8907A689}"/>
              </a:ext>
            </a:extLst>
          </p:cNvPr>
          <p:cNvSpPr>
            <a:spLocks noGrp="1"/>
          </p:cNvSpPr>
          <p:nvPr>
            <p:ph type="sldNum" sz="quarter" idx="5"/>
          </p:nvPr>
        </p:nvSpPr>
        <p:spPr/>
        <p:txBody>
          <a:bodyPr/>
          <a:lstStyle/>
          <a:p>
            <a:fld id="{818FB9C9-7C23-4F4E-9852-726E7DBF3378}" type="slidenum">
              <a:rPr lang="ko-KR" altLang="en-US" smtClean="0"/>
              <a:t>7</a:t>
            </a:fld>
            <a:endParaRPr lang="ko-KR" altLang="en-US"/>
          </a:p>
        </p:txBody>
      </p:sp>
    </p:spTree>
    <p:extLst>
      <p:ext uri="{BB962C8B-B14F-4D97-AF65-F5344CB8AC3E}">
        <p14:creationId xmlns:p14="http://schemas.microsoft.com/office/powerpoint/2010/main" val="4159970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0AA76-95A9-735C-0808-F2AB6577DA1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DB29FB7-739C-9522-6D66-C3586359AC8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7AF96BB-108F-B414-9B23-E38B220305A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7DD925F-EEAA-0425-2468-4E8D5A86D474}"/>
              </a:ext>
            </a:extLst>
          </p:cNvPr>
          <p:cNvSpPr>
            <a:spLocks noGrp="1"/>
          </p:cNvSpPr>
          <p:nvPr>
            <p:ph type="sldNum" sz="quarter" idx="5"/>
          </p:nvPr>
        </p:nvSpPr>
        <p:spPr/>
        <p:txBody>
          <a:bodyPr/>
          <a:lstStyle/>
          <a:p>
            <a:fld id="{818FB9C9-7C23-4F4E-9852-726E7DBF3378}" type="slidenum">
              <a:rPr lang="ko-KR" altLang="en-US" smtClean="0"/>
              <a:t>8</a:t>
            </a:fld>
            <a:endParaRPr lang="ko-KR" altLang="en-US"/>
          </a:p>
        </p:txBody>
      </p:sp>
    </p:spTree>
    <p:extLst>
      <p:ext uri="{BB962C8B-B14F-4D97-AF65-F5344CB8AC3E}">
        <p14:creationId xmlns:p14="http://schemas.microsoft.com/office/powerpoint/2010/main" val="387442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D05F-81DC-DA4D-E62A-B1F6AF9E1FC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B4A1BE4-F182-40FA-060D-2D3FEC9273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4695574-443A-4DA0-2F1D-8B3D16D4D6D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AB5615A-4804-2C0F-B1A8-7C9A954531FB}"/>
              </a:ext>
            </a:extLst>
          </p:cNvPr>
          <p:cNvSpPr>
            <a:spLocks noGrp="1"/>
          </p:cNvSpPr>
          <p:nvPr>
            <p:ph type="sldNum" sz="quarter" idx="5"/>
          </p:nvPr>
        </p:nvSpPr>
        <p:spPr/>
        <p:txBody>
          <a:bodyPr/>
          <a:lstStyle/>
          <a:p>
            <a:fld id="{818FB9C9-7C23-4F4E-9852-726E7DBF3378}" type="slidenum">
              <a:rPr lang="ko-KR" altLang="en-US" smtClean="0"/>
              <a:t>9</a:t>
            </a:fld>
            <a:endParaRPr lang="ko-KR" altLang="en-US"/>
          </a:p>
        </p:txBody>
      </p:sp>
    </p:spTree>
    <p:extLst>
      <p:ext uri="{BB962C8B-B14F-4D97-AF65-F5344CB8AC3E}">
        <p14:creationId xmlns:p14="http://schemas.microsoft.com/office/powerpoint/2010/main" val="3868911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AF910-49D0-375D-2E79-688E5161245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9ADF6FE-8CEA-F289-91EE-84312E365DA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E1871D6-4E16-4C1B-562A-D921FD12206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8C0709E-6A2F-33E5-3545-276654F63B4A}"/>
              </a:ext>
            </a:extLst>
          </p:cNvPr>
          <p:cNvSpPr>
            <a:spLocks noGrp="1"/>
          </p:cNvSpPr>
          <p:nvPr>
            <p:ph type="sldNum" sz="quarter" idx="5"/>
          </p:nvPr>
        </p:nvSpPr>
        <p:spPr/>
        <p:txBody>
          <a:bodyPr/>
          <a:lstStyle/>
          <a:p>
            <a:fld id="{818FB9C9-7C23-4F4E-9852-726E7DBF3378}" type="slidenum">
              <a:rPr lang="ko-KR" altLang="en-US" smtClean="0"/>
              <a:t>10</a:t>
            </a:fld>
            <a:endParaRPr lang="ko-KR" altLang="en-US"/>
          </a:p>
        </p:txBody>
      </p:sp>
    </p:spTree>
    <p:extLst>
      <p:ext uri="{BB962C8B-B14F-4D97-AF65-F5344CB8AC3E}">
        <p14:creationId xmlns:p14="http://schemas.microsoft.com/office/powerpoint/2010/main" val="633971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95ED0-D5ED-7F9F-1620-7350833F54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CC79C15-4E52-D4CC-4093-CD2D37E7B99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FF031D2-AAB2-DB73-0119-ACE4C80A683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61C7B8B-B71C-E48C-AA81-CA6430B84BAA}"/>
              </a:ext>
            </a:extLst>
          </p:cNvPr>
          <p:cNvSpPr>
            <a:spLocks noGrp="1"/>
          </p:cNvSpPr>
          <p:nvPr>
            <p:ph type="sldNum" sz="quarter" idx="5"/>
          </p:nvPr>
        </p:nvSpPr>
        <p:spPr/>
        <p:txBody>
          <a:bodyPr/>
          <a:lstStyle/>
          <a:p>
            <a:fld id="{818FB9C9-7C23-4F4E-9852-726E7DBF3378}" type="slidenum">
              <a:rPr lang="ko-KR" altLang="en-US" smtClean="0"/>
              <a:t>11</a:t>
            </a:fld>
            <a:endParaRPr lang="ko-KR" altLang="en-US"/>
          </a:p>
        </p:txBody>
      </p:sp>
    </p:spTree>
    <p:extLst>
      <p:ext uri="{BB962C8B-B14F-4D97-AF65-F5344CB8AC3E}">
        <p14:creationId xmlns:p14="http://schemas.microsoft.com/office/powerpoint/2010/main" val="2791455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5.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png"/><Relationship Id="rId5" Type="http://schemas.openxmlformats.org/officeDocument/2006/relationships/tags" Target="../tags/tag5.xml"/><Relationship Id="rId15" Type="http://schemas.openxmlformats.org/officeDocument/2006/relationships/image" Target="../media/image7.png"/><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notesSlide" Target="../notesSlides/notesSlide2.xml"/><Relationship Id="rId1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slideLayout" Target="../slideLayouts/slideLayout7.xml"/><Relationship Id="rId18" Type="http://schemas.openxmlformats.org/officeDocument/2006/relationships/image" Target="../media/image13.png"/><Relationship Id="rId26" Type="http://schemas.openxmlformats.org/officeDocument/2006/relationships/image" Target="../media/image21.png"/><Relationship Id="rId3" Type="http://schemas.openxmlformats.org/officeDocument/2006/relationships/tags" Target="../tags/tag12.xml"/><Relationship Id="rId21" Type="http://schemas.openxmlformats.org/officeDocument/2006/relationships/image" Target="../media/image16.png"/><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image" Target="../media/image12.png"/><Relationship Id="rId25" Type="http://schemas.openxmlformats.org/officeDocument/2006/relationships/image" Target="../media/image20.png"/><Relationship Id="rId2" Type="http://schemas.openxmlformats.org/officeDocument/2006/relationships/tags" Target="../tags/tag11.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image" Target="../media/image19.png"/><Relationship Id="rId5" Type="http://schemas.openxmlformats.org/officeDocument/2006/relationships/tags" Target="../tags/tag14.xml"/><Relationship Id="rId15" Type="http://schemas.openxmlformats.org/officeDocument/2006/relationships/image" Target="../media/image10.png"/><Relationship Id="rId23" Type="http://schemas.openxmlformats.org/officeDocument/2006/relationships/image" Target="../media/image18.png"/><Relationship Id="rId10" Type="http://schemas.openxmlformats.org/officeDocument/2006/relationships/tags" Target="../tags/tag19.xml"/><Relationship Id="rId19" Type="http://schemas.openxmlformats.org/officeDocument/2006/relationships/image" Target="../media/image14.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notesSlide" Target="../notesSlides/notesSlide4.xml"/><Relationship Id="rId22"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slideLayout" Target="../slideLayouts/slideLayout7.xml"/><Relationship Id="rId18" Type="http://schemas.openxmlformats.org/officeDocument/2006/relationships/image" Target="../media/image13.png"/><Relationship Id="rId26" Type="http://schemas.openxmlformats.org/officeDocument/2006/relationships/image" Target="../media/image25.png"/><Relationship Id="rId3" Type="http://schemas.openxmlformats.org/officeDocument/2006/relationships/tags" Target="../tags/tag24.xml"/><Relationship Id="rId21" Type="http://schemas.openxmlformats.org/officeDocument/2006/relationships/image" Target="../media/image16.png"/><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image" Target="../media/image12.png"/><Relationship Id="rId25" Type="http://schemas.openxmlformats.org/officeDocument/2006/relationships/image" Target="../media/image24.png"/><Relationship Id="rId2" Type="http://schemas.openxmlformats.org/officeDocument/2006/relationships/tags" Target="../tags/tag23.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image" Target="../media/image23.png"/><Relationship Id="rId5" Type="http://schemas.openxmlformats.org/officeDocument/2006/relationships/tags" Target="../tags/tag26.xml"/><Relationship Id="rId15" Type="http://schemas.openxmlformats.org/officeDocument/2006/relationships/image" Target="../media/image10.png"/><Relationship Id="rId23" Type="http://schemas.openxmlformats.org/officeDocument/2006/relationships/image" Target="../media/image22.png"/><Relationship Id="rId10" Type="http://schemas.openxmlformats.org/officeDocument/2006/relationships/tags" Target="../tags/tag31.xml"/><Relationship Id="rId19" Type="http://schemas.openxmlformats.org/officeDocument/2006/relationships/image" Target="../media/image14.png"/><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notesSlide" Target="../notesSlides/notesSlide5.xml"/><Relationship Id="rId22"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slideLayout" Target="../slideLayouts/slideLayout7.xml"/><Relationship Id="rId18" Type="http://schemas.openxmlformats.org/officeDocument/2006/relationships/image" Target="../media/image13.png"/><Relationship Id="rId26" Type="http://schemas.openxmlformats.org/officeDocument/2006/relationships/image" Target="../media/image22.png"/><Relationship Id="rId3" Type="http://schemas.openxmlformats.org/officeDocument/2006/relationships/tags" Target="../tags/tag36.xml"/><Relationship Id="rId21" Type="http://schemas.openxmlformats.org/officeDocument/2006/relationships/image" Target="../media/image16.pn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image" Target="../media/image12.png"/><Relationship Id="rId25" Type="http://schemas.openxmlformats.org/officeDocument/2006/relationships/image" Target="../media/image27.png"/><Relationship Id="rId2" Type="http://schemas.openxmlformats.org/officeDocument/2006/relationships/tags" Target="../tags/tag35.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image" Target="../media/image25.png"/><Relationship Id="rId5" Type="http://schemas.openxmlformats.org/officeDocument/2006/relationships/tags" Target="../tags/tag38.xml"/><Relationship Id="rId15" Type="http://schemas.openxmlformats.org/officeDocument/2006/relationships/image" Target="../media/image10.png"/><Relationship Id="rId23" Type="http://schemas.openxmlformats.org/officeDocument/2006/relationships/image" Target="../media/image26.png"/><Relationship Id="rId10" Type="http://schemas.openxmlformats.org/officeDocument/2006/relationships/tags" Target="../tags/tag43.xml"/><Relationship Id="rId19" Type="http://schemas.openxmlformats.org/officeDocument/2006/relationships/image" Target="../media/image14.png"/><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notesSlide" Target="../notesSlides/notesSlide6.xml"/><Relationship Id="rId22"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48.xml"/><Relationship Id="rId7" Type="http://schemas.openxmlformats.org/officeDocument/2006/relationships/image" Target="../media/image28.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notesSlide" Target="../notesSlides/notesSlide9.xml"/><Relationship Id="rId5" Type="http://schemas.openxmlformats.org/officeDocument/2006/relationships/slideLayout" Target="../slideLayouts/slideLayout7.xml"/><Relationship Id="rId10" Type="http://schemas.openxmlformats.org/officeDocument/2006/relationships/image" Target="../media/image31.png"/><Relationship Id="rId4" Type="http://schemas.openxmlformats.org/officeDocument/2006/relationships/tags" Target="../tags/tag49.xml"/><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2.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28.png"/><Relationship Id="rId5" Type="http://schemas.openxmlformats.org/officeDocument/2006/relationships/image" Target="../media/image174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54.xml"/><Relationship Id="rId7" Type="http://schemas.openxmlformats.org/officeDocument/2006/relationships/image" Target="../media/image28.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1760.png"/><Relationship Id="rId5" Type="http://schemas.openxmlformats.org/officeDocument/2006/relationships/notesSlide" Target="../notesSlides/notesSlide11.xml"/><Relationship Id="rId4" Type="http://schemas.openxmlformats.org/officeDocument/2006/relationships/slideLayout" Target="../slideLayouts/slideLayout7.xml"/><Relationship Id="rId9"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0F6E-3659-70F4-AC21-5A8CB9DE950F}"/>
            </a:ext>
          </a:extLst>
        </p:cNvPr>
        <p:cNvGrpSpPr/>
        <p:nvPr/>
      </p:nvGrpSpPr>
      <p:grpSpPr>
        <a:xfrm>
          <a:off x="0" y="0"/>
          <a:ext cx="0" cy="0"/>
          <a:chOff x="0" y="0"/>
          <a:chExt cx="0" cy="0"/>
        </a:xfrm>
      </p:grpSpPr>
      <p:pic>
        <p:nvPicPr>
          <p:cNvPr id="13" name="그림 12">
            <a:extLst>
              <a:ext uri="{FF2B5EF4-FFF2-40B4-BE49-F238E27FC236}">
                <a16:creationId xmlns:a16="http://schemas.microsoft.com/office/drawing/2014/main" id="{C6C7E699-A6CB-2768-B208-6404305F8523}"/>
              </a:ext>
            </a:extLst>
          </p:cNvPr>
          <p:cNvPicPr>
            <a:picLocks noChangeAspect="1"/>
          </p:cNvPicPr>
          <p:nvPr/>
        </p:nvPicPr>
        <p:blipFill>
          <a:blip r:embed="rId3"/>
          <a:stretch>
            <a:fillRect/>
          </a:stretch>
        </p:blipFill>
        <p:spPr>
          <a:xfrm flipH="1">
            <a:off x="-36232" y="20319"/>
            <a:ext cx="24420232" cy="13695681"/>
          </a:xfrm>
          <a:prstGeom prst="rect">
            <a:avLst/>
          </a:prstGeom>
        </p:spPr>
      </p:pic>
      <p:sp>
        <p:nvSpPr>
          <p:cNvPr id="14" name="직사각형 13">
            <a:extLst>
              <a:ext uri="{FF2B5EF4-FFF2-40B4-BE49-F238E27FC236}">
                <a16:creationId xmlns:a16="http://schemas.microsoft.com/office/drawing/2014/main" id="{4F267450-688A-DCC2-8E14-B7794EAA6278}"/>
              </a:ext>
            </a:extLst>
          </p:cNvPr>
          <p:cNvSpPr/>
          <p:nvPr/>
        </p:nvSpPr>
        <p:spPr>
          <a:xfrm>
            <a:off x="-25400" y="2286001"/>
            <a:ext cx="16027400" cy="9570720"/>
          </a:xfrm>
          <a:prstGeom prst="rect">
            <a:avLst/>
          </a:prstGeom>
          <a:solidFill>
            <a:srgbClr val="F2F2F2">
              <a:alpha val="8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4">
            <a:extLst>
              <a:ext uri="{FF2B5EF4-FFF2-40B4-BE49-F238E27FC236}">
                <a16:creationId xmlns:a16="http://schemas.microsoft.com/office/drawing/2014/main" id="{3749403D-BD1D-9F7D-D87E-4D25A7D229B5}"/>
              </a:ext>
            </a:extLst>
          </p:cNvPr>
          <p:cNvSpPr txBox="1"/>
          <p:nvPr/>
        </p:nvSpPr>
        <p:spPr>
          <a:xfrm>
            <a:off x="1371600" y="4279900"/>
            <a:ext cx="15405100" cy="4406900"/>
          </a:xfrm>
          <a:prstGeom prst="rect">
            <a:avLst/>
          </a:prstGeom>
        </p:spPr>
        <p:txBody>
          <a:bodyPr lIns="0" tIns="169333" rIns="0" bIns="0" rtlCol="0" anchor="t"/>
          <a:lstStyle/>
          <a:p>
            <a:pPr lvl="0" algn="l">
              <a:lnSpc>
                <a:spcPct val="99600"/>
              </a:lnSpc>
            </a:pPr>
            <a:r>
              <a:rPr lang="en" sz="11100" b="1" i="0" u="none" strike="noStrike" dirty="0">
                <a:solidFill>
                  <a:srgbClr val="002060"/>
                </a:solidFill>
                <a:latin typeface="Arial" panose="020B0604020202020204" pitchFamily="34" charset="0"/>
                <a:cs typeface="Arial" panose="020B0604020202020204" pitchFamily="34" charset="0"/>
              </a:rPr>
              <a:t>Inverse-Dynamics</a:t>
            </a:r>
          </a:p>
          <a:p>
            <a:pPr lvl="0" algn="l">
              <a:lnSpc>
                <a:spcPct val="99600"/>
              </a:lnSpc>
            </a:pPr>
            <a:r>
              <a:rPr lang="en" sz="11100" b="0" i="0" u="none" strike="noStrike" dirty="0">
                <a:solidFill>
                  <a:srgbClr val="002060"/>
                </a:solidFill>
                <a:latin typeface="Arial" panose="020B0604020202020204" pitchFamily="34" charset="0"/>
                <a:cs typeface="Arial" panose="020B0604020202020204" pitchFamily="34" charset="0"/>
              </a:rPr>
              <a:t>Tutorial</a:t>
            </a:r>
            <a:endParaRPr lang="en" sz="4000" i="0" u="none" strike="noStrike" dirty="0">
              <a:solidFill>
                <a:srgbClr val="002060"/>
              </a:solidFill>
              <a:latin typeface="Arial" panose="020B0604020202020204" pitchFamily="34" charset="0"/>
              <a:cs typeface="Arial" panose="020B0604020202020204" pitchFamily="34" charset="0"/>
            </a:endParaRPr>
          </a:p>
        </p:txBody>
      </p:sp>
      <p:sp>
        <p:nvSpPr>
          <p:cNvPr id="5" name="TextBox 5">
            <a:extLst>
              <a:ext uri="{FF2B5EF4-FFF2-40B4-BE49-F238E27FC236}">
                <a16:creationId xmlns:a16="http://schemas.microsoft.com/office/drawing/2014/main" id="{2643FD1C-B54D-40CD-A8BA-B77E732F6485}"/>
              </a:ext>
            </a:extLst>
          </p:cNvPr>
          <p:cNvSpPr txBox="1"/>
          <p:nvPr/>
        </p:nvSpPr>
        <p:spPr>
          <a:xfrm>
            <a:off x="1447800" y="3111500"/>
            <a:ext cx="13754100" cy="952500"/>
          </a:xfrm>
          <a:prstGeom prst="rect">
            <a:avLst/>
          </a:prstGeom>
        </p:spPr>
        <p:txBody>
          <a:bodyPr lIns="0" tIns="67733" rIns="0" bIns="0" rtlCol="0" anchor="t"/>
          <a:lstStyle/>
          <a:p>
            <a:pPr lvl="0" algn="l">
              <a:lnSpc>
                <a:spcPct val="99600"/>
              </a:lnSpc>
            </a:pPr>
            <a:r>
              <a:rPr lang="en-US" sz="5333" spc="426" dirty="0">
                <a:solidFill>
                  <a:schemeClr val="tx1">
                    <a:lumMod val="75000"/>
                    <a:lumOff val="25000"/>
                  </a:schemeClr>
                </a:solidFill>
                <a:latin typeface="Arial" panose="020B0604020202020204" pitchFamily="34" charset="0"/>
                <a:cs typeface="Arial" panose="020B0604020202020204" pitchFamily="34" charset="0"/>
              </a:rPr>
              <a:t>Week 4</a:t>
            </a:r>
            <a:endParaRPr lang="en" sz="5333" b="0" i="0" u="none" strike="noStrike" spc="426"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TextBox 6">
            <a:extLst>
              <a:ext uri="{FF2B5EF4-FFF2-40B4-BE49-F238E27FC236}">
                <a16:creationId xmlns:a16="http://schemas.microsoft.com/office/drawing/2014/main" id="{C8459913-7449-7271-9FD3-83CD9A3F6EC5}"/>
              </a:ext>
            </a:extLst>
          </p:cNvPr>
          <p:cNvSpPr txBox="1"/>
          <p:nvPr/>
        </p:nvSpPr>
        <p:spPr>
          <a:xfrm>
            <a:off x="1447800" y="8686800"/>
            <a:ext cx="13677900" cy="596900"/>
          </a:xfrm>
          <a:prstGeom prst="rect">
            <a:avLst/>
          </a:prstGeom>
        </p:spPr>
        <p:txBody>
          <a:bodyPr lIns="0" tIns="42333" rIns="0" bIns="0" rtlCol="0" anchor="t"/>
          <a:lstStyle/>
          <a:p>
            <a:pPr lvl="0" algn="l">
              <a:lnSpc>
                <a:spcPct val="99600"/>
              </a:lnSpc>
            </a:pPr>
            <a:r>
              <a:rPr lang="en-US" altLang="ko-KR" sz="3333" b="1" dirty="0" err="1">
                <a:solidFill>
                  <a:schemeClr val="tx1">
                    <a:lumMod val="75000"/>
                    <a:lumOff val="25000"/>
                  </a:schemeClr>
                </a:solidFill>
                <a:latin typeface="Arial" panose="020B0604020202020204" pitchFamily="34" charset="0"/>
                <a:cs typeface="Arial" panose="020B0604020202020204" pitchFamily="34" charset="0"/>
              </a:rPr>
              <a:t>Kangmin</a:t>
            </a:r>
            <a:r>
              <a:rPr lang="en-US" altLang="ko-KR" sz="3333" b="1" dirty="0">
                <a:solidFill>
                  <a:schemeClr val="tx1">
                    <a:lumMod val="75000"/>
                    <a:lumOff val="25000"/>
                  </a:schemeClr>
                </a:solidFill>
                <a:latin typeface="Arial" panose="020B0604020202020204" pitchFamily="34" charset="0"/>
                <a:cs typeface="Arial" panose="020B0604020202020204" pitchFamily="34" charset="0"/>
              </a:rPr>
              <a:t> Lee </a:t>
            </a:r>
          </a:p>
        </p:txBody>
      </p:sp>
      <p:sp>
        <p:nvSpPr>
          <p:cNvPr id="9" name="TextBox 9">
            <a:extLst>
              <a:ext uri="{FF2B5EF4-FFF2-40B4-BE49-F238E27FC236}">
                <a16:creationId xmlns:a16="http://schemas.microsoft.com/office/drawing/2014/main" id="{F6FFDEA5-0409-7AC1-369B-73A820B7FBB7}"/>
              </a:ext>
            </a:extLst>
          </p:cNvPr>
          <p:cNvSpPr txBox="1"/>
          <p:nvPr/>
        </p:nvSpPr>
        <p:spPr>
          <a:xfrm>
            <a:off x="1371600" y="9753600"/>
            <a:ext cx="13106400" cy="1607821"/>
          </a:xfrm>
          <a:prstGeom prst="rect">
            <a:avLst/>
          </a:prstGeom>
        </p:spPr>
        <p:txBody>
          <a:bodyPr rtlCol="0" anchor="t"/>
          <a:lstStyle/>
          <a:p>
            <a:pPr lvl="0">
              <a:lnSpc>
                <a:spcPct val="124499"/>
              </a:lnSpc>
            </a:pPr>
            <a:r>
              <a:rPr lang="en-US" altLang="ko-KR" sz="2400" dirty="0">
                <a:solidFill>
                  <a:schemeClr val="tx1">
                    <a:lumMod val="65000"/>
                    <a:lumOff val="35000"/>
                  </a:schemeClr>
                </a:solidFill>
              </a:rPr>
              <a:t>This tutorial covers inverse-dynamics from Operational Space Control to QP, HQP, and TSID focusing on the math, intuition, and practical design patterns behind them. Through code and simulation, you’ll learn to formulate tasks and constraints and compute constraint-satisfying torques suitable for robots.</a:t>
            </a:r>
            <a:endParaRPr lang="en" sz="2266" b="0" i="0" u="none" strike="noStrike" dirty="0">
              <a:solidFill>
                <a:schemeClr val="tx1">
                  <a:lumMod val="65000"/>
                  <a:lumOff val="35000"/>
                </a:schemeClr>
              </a:solidFill>
              <a:latin typeface="Arial" panose="020B0604020202020204" pitchFamily="34" charset="0"/>
            </a:endParaRPr>
          </a:p>
        </p:txBody>
      </p:sp>
    </p:spTree>
    <p:extLst>
      <p:ext uri="{BB962C8B-B14F-4D97-AF65-F5344CB8AC3E}">
        <p14:creationId xmlns:p14="http://schemas.microsoft.com/office/powerpoint/2010/main" val="2077828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20735-8B49-2BEC-11AC-DDBA51BD97C1}"/>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7AB10436-DFEE-8AEC-3A82-62FE18376BAE}"/>
              </a:ext>
            </a:extLst>
          </p:cNvPr>
          <p:cNvSpPr/>
          <p:nvPr/>
        </p:nvSpPr>
        <p:spPr>
          <a:xfrm>
            <a:off x="0" y="0"/>
            <a:ext cx="821042" cy="13716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7C12DF18-10A6-9CE3-1A63-A0F7EFAB382D}"/>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E11B98D5-C5BF-19DA-4EA9-12AD73814B16}"/>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ko-KR" altLang="en-US" sz="6000" b="1" dirty="0">
                <a:solidFill>
                  <a:srgbClr val="000000"/>
                </a:solidFill>
                <a:latin typeface="Arial" panose="020B0604020202020204" pitchFamily="34" charset="0"/>
                <a:cs typeface="Arial" panose="020B0604020202020204" pitchFamily="34" charset="0"/>
              </a:rPr>
              <a:t>예제 </a:t>
            </a:r>
            <a:r>
              <a:rPr lang="en-US" altLang="ko-KR" sz="6000" b="1" dirty="0">
                <a:solidFill>
                  <a:srgbClr val="000000"/>
                </a:solidFill>
                <a:latin typeface="Arial" panose="020B0604020202020204" pitchFamily="34" charset="0"/>
                <a:cs typeface="Arial" panose="020B0604020202020204" pitchFamily="34" charset="0"/>
              </a:rPr>
              <a:t>1 (1</a:t>
            </a:r>
            <a:r>
              <a:rPr lang="ko-KR" altLang="en-US" sz="6000" b="1" dirty="0">
                <a:solidFill>
                  <a:srgbClr val="000000"/>
                </a:solidFill>
                <a:latin typeface="Arial" panose="020B0604020202020204" pitchFamily="34" charset="0"/>
                <a:cs typeface="Arial" panose="020B0604020202020204" pitchFamily="34" charset="0"/>
              </a:rPr>
              <a:t>차원 문제</a:t>
            </a:r>
            <a:r>
              <a:rPr lang="en-US" altLang="ko-KR" sz="6000" b="1" dirty="0">
                <a:solidFill>
                  <a:srgbClr val="000000"/>
                </a:solidFill>
                <a:latin typeface="Arial" panose="020B0604020202020204" pitchFamily="34" charset="0"/>
                <a:cs typeface="Arial" panose="020B0604020202020204" pitchFamily="34" charset="0"/>
              </a:rPr>
              <a:t>)</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0798860-5798-82C1-5D28-B4E0ABCD651E}"/>
              </a:ext>
            </a:extLst>
          </p:cNvPr>
          <p:cNvSpPr txBox="1"/>
          <p:nvPr/>
        </p:nvSpPr>
        <p:spPr>
          <a:xfrm>
            <a:off x="2086897" y="2244213"/>
            <a:ext cx="21154103" cy="110771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ko-KR" altLang="en-US" sz="3200" dirty="0">
                <a:latin typeface="+mn-ea"/>
              </a:rPr>
              <a:t>문제 </a:t>
            </a:r>
            <a:r>
              <a:rPr lang="en-US" altLang="ko-KR" sz="3200" dirty="0">
                <a:latin typeface="+mn-ea"/>
              </a:rPr>
              <a:t>: </a:t>
            </a:r>
            <a:r>
              <a:rPr lang="ko-KR" altLang="en-US" sz="3200" dirty="0"/>
              <a:t>원하는 토크               에 가깝게 가되</a:t>
            </a:r>
            <a:r>
              <a:rPr lang="en-US" altLang="ko-KR" sz="3200" dirty="0"/>
              <a:t>,  </a:t>
            </a:r>
            <a:r>
              <a:rPr lang="ko-KR" altLang="en-US" sz="3200" dirty="0"/>
              <a:t>모터 한계                                              를 지켜야 함</a:t>
            </a:r>
            <a:endParaRPr lang="en-US" altLang="ko-KR" sz="3200" dirty="0"/>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정식화 </a:t>
            </a:r>
            <a:r>
              <a:rPr lang="en-US" altLang="ko-KR" sz="3200" dirty="0">
                <a:latin typeface="+mn-ea"/>
              </a:rPr>
              <a:t>:</a:t>
            </a: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en-US" altLang="ko-KR" sz="3200" dirty="0">
                <a:latin typeface="+mn-ea"/>
              </a:rPr>
              <a:t>Case</a:t>
            </a:r>
            <a:r>
              <a:rPr lang="ko-KR" altLang="en-US" sz="3200" dirty="0">
                <a:latin typeface="+mn-ea"/>
              </a:rPr>
              <a:t> </a:t>
            </a:r>
            <a:r>
              <a:rPr lang="en-US" altLang="ko-KR" sz="3200" dirty="0">
                <a:latin typeface="+mn-ea"/>
              </a:rPr>
              <a:t>:</a:t>
            </a:r>
            <a:r>
              <a:rPr lang="ko-KR" altLang="en-US" sz="3200" dirty="0">
                <a:latin typeface="+mn-ea"/>
              </a:rPr>
              <a:t> </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해법 </a:t>
            </a:r>
            <a:r>
              <a:rPr lang="en-US" altLang="ko-KR" sz="3200" dirty="0">
                <a:latin typeface="+mn-ea"/>
              </a:rPr>
              <a:t>:</a:t>
            </a: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제약 검토 </a:t>
            </a:r>
            <a:r>
              <a:rPr lang="en-US" altLang="ko-KR" sz="3200" dirty="0">
                <a:latin typeface="+mn-ea"/>
              </a:rPr>
              <a:t>: </a:t>
            </a:r>
          </a:p>
          <a:p>
            <a:pPr marL="342900" indent="-342900">
              <a:lnSpc>
                <a:spcPct val="150000"/>
              </a:lnSpc>
              <a:buFont typeface="Arial" panose="020B0604020202020204" pitchFamily="34" charset="0"/>
              <a:buChar char="•"/>
            </a:pPr>
            <a:endParaRPr lang="en-US" altLang="ko-KR" sz="3200" dirty="0">
              <a:latin typeface="+mn-ea"/>
            </a:endParaRPr>
          </a:p>
          <a:p>
            <a:pPr>
              <a:lnSpc>
                <a:spcPct val="150000"/>
              </a:lnSpc>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결과</a:t>
            </a:r>
            <a:r>
              <a:rPr lang="en-US" altLang="ko-KR" sz="3200" dirty="0">
                <a:latin typeface="+mn-ea"/>
              </a:rPr>
              <a:t>(</a:t>
            </a:r>
            <a:r>
              <a:rPr lang="ko-KR" altLang="en-US" sz="3200" dirty="0">
                <a:latin typeface="+mn-ea"/>
              </a:rPr>
              <a:t>최적해</a:t>
            </a:r>
            <a:r>
              <a:rPr lang="en-US" altLang="ko-KR" sz="3200" dirty="0">
                <a:latin typeface="+mn-ea"/>
              </a:rPr>
              <a:t>)</a:t>
            </a:r>
            <a:r>
              <a:rPr lang="ko-KR" altLang="en-US" sz="3200" dirty="0">
                <a:latin typeface="+mn-ea"/>
              </a:rPr>
              <a:t> </a:t>
            </a:r>
            <a:r>
              <a:rPr lang="en-US" altLang="ko-KR" sz="3200" dirty="0">
                <a:latin typeface="+mn-ea"/>
              </a:rPr>
              <a:t>:</a:t>
            </a: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p:txBody>
      </p:sp>
      <p:pic>
        <p:nvPicPr>
          <p:cNvPr id="7" name="그림 6" descr="\documentclass{article}&#10;\usepackage{amsmath}&#10;\pagestyle{empty}&#10;\begin{document}&#10;&#10;&#10;$&#10;\min_{\tau}\ \frac{1}{2}\,(\tau-\tau_{PD})^{2}&#10;\quad \text{s.t.}\quad&#10;\tau_{\min} \le \tau \le \tau_{\max}&#10;$&#10;&#10;\end{document}" title="IguanaTex Bitmap Display">
            <a:extLst>
              <a:ext uri="{FF2B5EF4-FFF2-40B4-BE49-F238E27FC236}">
                <a16:creationId xmlns:a16="http://schemas.microsoft.com/office/drawing/2014/main" id="{5DC1F2A7-C63F-BDC8-0C78-382FD03AF17E}"/>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7281600" y="3817383"/>
            <a:ext cx="9820800" cy="640000"/>
          </a:xfrm>
          <a:prstGeom prst="rect">
            <a:avLst/>
          </a:prstGeom>
        </p:spPr>
      </p:pic>
      <p:pic>
        <p:nvPicPr>
          <p:cNvPr id="9" name="그림 8" descr="\documentclass{article}&#10;\usepackage{amsmath}&#10;\pagestyle{empty}&#10;\begin{document}&#10;&#10;&#10;$&#10;\tau_{PD}&#10;$&#10;&#10;\end{document}" title="IguanaTex Bitmap Display">
            <a:extLst>
              <a:ext uri="{FF2B5EF4-FFF2-40B4-BE49-F238E27FC236}">
                <a16:creationId xmlns:a16="http://schemas.microsoft.com/office/drawing/2014/main" id="{EDD782D2-DFC9-5BCF-9EA8-872E594DD5CB}"/>
              </a:ext>
            </a:extLst>
          </p:cNvPr>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6172200" y="2560399"/>
            <a:ext cx="864127" cy="304801"/>
          </a:xfrm>
          <a:prstGeom prst="rect">
            <a:avLst/>
          </a:prstGeom>
        </p:spPr>
      </p:pic>
      <p:pic>
        <p:nvPicPr>
          <p:cNvPr id="10" name="그림 9" descr="\documentclass{article}&#10;\usepackage{amsmath}&#10;\pagestyle{empty}&#10;\begin{document}&#10;&#10;&#10;$&#10;\min_{\tau}\ \frac{1}{2}\,(\tau-\tau_{PD})^{2}&#10;\quad \text{s.t.}\quad&#10;\tau_{\min} \le \tau \le \tau_{\max}&#10;$&#10;&#10;\end{document}" title="IguanaTex Bitmap Display">
            <a:extLst>
              <a:ext uri="{FF2B5EF4-FFF2-40B4-BE49-F238E27FC236}">
                <a16:creationId xmlns:a16="http://schemas.microsoft.com/office/drawing/2014/main" id="{025B0A88-A36F-ABBA-CA2C-021A38A88C13}"/>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l="60713"/>
          <a:stretch>
            <a:fillRect/>
          </a:stretch>
        </p:blipFill>
        <p:spPr>
          <a:xfrm>
            <a:off x="11991252" y="2408000"/>
            <a:ext cx="3858348" cy="640000"/>
          </a:xfrm>
          <a:prstGeom prst="rect">
            <a:avLst/>
          </a:prstGeom>
        </p:spPr>
      </p:pic>
      <p:pic>
        <p:nvPicPr>
          <p:cNvPr id="15" name="그림 14" descr="\documentclass{article}&#10;\usepackage{amsmath}&#10;\pagestyle{empty}&#10;\begin{document}&#10;&#10;&#10;$&#10;\tau_{PD}=1.8,\qquad \tau_{\min}=-2,\qquad \tau_{\max}=1&#10;$&#10;&#10;\end{document}" title="IguanaTex Bitmap Display">
            <a:extLst>
              <a:ext uri="{FF2B5EF4-FFF2-40B4-BE49-F238E27FC236}">
                <a16:creationId xmlns:a16="http://schemas.microsoft.com/office/drawing/2014/main" id="{262D83B7-9FD4-6B19-B8B7-7567DA48B0DE}"/>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8043148" y="5410200"/>
            <a:ext cx="9241600" cy="454400"/>
          </a:xfrm>
          <a:prstGeom prst="rect">
            <a:avLst/>
          </a:prstGeom>
        </p:spPr>
      </p:pic>
      <p:pic>
        <p:nvPicPr>
          <p:cNvPr id="16" name="그림 15" descr="\documentclass{article}&#10;\usepackage{amsmath}&#10;\pagestyle{empty}&#10;\begin{document}&#10;&#10;&#10;$&#10;\frac{d}{d\tau}\Big(\tfrac12(\tau-\tau_{PD})^2\Big)=0&#10;\;\Rightarrow\;&#10;\tau^\star=\tau_{PD}=1.8&#10;$&#10;&#10;\end{document}" title="IguanaTex Bitmap Display">
            <a:extLst>
              <a:ext uri="{FF2B5EF4-FFF2-40B4-BE49-F238E27FC236}">
                <a16:creationId xmlns:a16="http://schemas.microsoft.com/office/drawing/2014/main" id="{A08AC099-0ADA-2B84-1875-A38595CC7F4C}"/>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7820748" y="6697462"/>
            <a:ext cx="9686400" cy="956800"/>
          </a:xfrm>
          <a:prstGeom prst="rect">
            <a:avLst/>
          </a:prstGeom>
        </p:spPr>
      </p:pic>
      <p:pic>
        <p:nvPicPr>
          <p:cNvPr id="18" name="그림 17" descr="\documentclass{article}&#10;\usepackage{amsmath}&#10;\pagestyle{empty}&#10;\begin{document}&#10;&#10;&#10;$&#10; \tau^\star=1.8&gt;\tau_{\max}=1,\ \text{activate the upper bound}&#10;\ \Rightarrow\ &#10;\tau=\tau_{\max}=1&#10;$&#10;&#10;\end{document}" title="IguanaTex Bitmap Display">
            <a:extLst>
              <a:ext uri="{FF2B5EF4-FFF2-40B4-BE49-F238E27FC236}">
                <a16:creationId xmlns:a16="http://schemas.microsoft.com/office/drawing/2014/main" id="{FF2F2BE8-2A05-C256-83DC-3017EE882F81}"/>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5943600" y="8298275"/>
            <a:ext cx="15094400" cy="476800"/>
          </a:xfrm>
          <a:prstGeom prst="rect">
            <a:avLst/>
          </a:prstGeom>
        </p:spPr>
      </p:pic>
      <p:pic>
        <p:nvPicPr>
          <p:cNvPr id="21" name="그림 20" descr="\documentclass{article}&#10;\usepackage{amsmath}&#10;\pagestyle{empty}&#10;\begin{document}&#10;&#10;&#10;$&#10;\boxed{\tau^\star=1}&#10;$&#10;&#10;\end{document}" title="IguanaTex Bitmap Display">
            <a:extLst>
              <a:ext uri="{FF2B5EF4-FFF2-40B4-BE49-F238E27FC236}">
                <a16:creationId xmlns:a16="http://schemas.microsoft.com/office/drawing/2014/main" id="{78C000D2-2EB7-F65B-6E85-5898B5602AB5}"/>
              </a:ext>
            </a:extLst>
          </p:cNvPr>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11256000" y="10511445"/>
            <a:ext cx="1872000" cy="755200"/>
          </a:xfrm>
          <a:prstGeom prst="rect">
            <a:avLst/>
          </a:prstGeom>
        </p:spPr>
      </p:pic>
    </p:spTree>
    <p:extLst>
      <p:ext uri="{BB962C8B-B14F-4D97-AF65-F5344CB8AC3E}">
        <p14:creationId xmlns:p14="http://schemas.microsoft.com/office/powerpoint/2010/main" val="1055991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E4EF-090A-B41C-2C07-B9E3C0BC97C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2E3CEA5-7104-8724-3D96-902EF084995F}"/>
              </a:ext>
            </a:extLst>
          </p:cNvPr>
          <p:cNvSpPr/>
          <p:nvPr/>
        </p:nvSpPr>
        <p:spPr>
          <a:xfrm>
            <a:off x="0" y="0"/>
            <a:ext cx="821042" cy="13716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FFA5FCC3-E99F-3888-7906-74D8B0FC9DF1}"/>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F3145504-F5B1-7993-10A9-201BA97AEBD6}"/>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ko-KR" altLang="en-US" sz="6000" b="1" dirty="0">
                <a:solidFill>
                  <a:srgbClr val="000000"/>
                </a:solidFill>
                <a:latin typeface="Arial" panose="020B0604020202020204" pitchFamily="34" charset="0"/>
                <a:cs typeface="Arial" panose="020B0604020202020204" pitchFamily="34" charset="0"/>
              </a:rPr>
              <a:t>예제 </a:t>
            </a:r>
            <a:r>
              <a:rPr lang="en-US" altLang="ko-KR" sz="6000" b="1" dirty="0">
                <a:solidFill>
                  <a:srgbClr val="000000"/>
                </a:solidFill>
                <a:latin typeface="Arial" panose="020B0604020202020204" pitchFamily="34" charset="0"/>
                <a:cs typeface="Arial" panose="020B0604020202020204" pitchFamily="34" charset="0"/>
              </a:rPr>
              <a:t>2 (2</a:t>
            </a:r>
            <a:r>
              <a:rPr lang="ko-KR" altLang="en-US" sz="6000" b="1" dirty="0">
                <a:solidFill>
                  <a:srgbClr val="000000"/>
                </a:solidFill>
                <a:latin typeface="Arial" panose="020B0604020202020204" pitchFamily="34" charset="0"/>
                <a:cs typeface="Arial" panose="020B0604020202020204" pitchFamily="34" charset="0"/>
              </a:rPr>
              <a:t>차원 문제</a:t>
            </a:r>
            <a:r>
              <a:rPr lang="en-US" altLang="ko-KR" sz="6000" b="1" dirty="0">
                <a:solidFill>
                  <a:srgbClr val="000000"/>
                </a:solidFill>
                <a:latin typeface="Arial" panose="020B0604020202020204" pitchFamily="34" charset="0"/>
                <a:cs typeface="Arial" panose="020B0604020202020204" pitchFamily="34" charset="0"/>
              </a:rPr>
              <a:t>)</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73CA05E-AE4B-5595-C1AF-EF975946951E}"/>
              </a:ext>
            </a:extLst>
          </p:cNvPr>
          <p:cNvSpPr txBox="1"/>
          <p:nvPr/>
        </p:nvSpPr>
        <p:spPr>
          <a:xfrm>
            <a:off x="2086897" y="2244213"/>
            <a:ext cx="21154103" cy="609115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sz="3200" dirty="0">
                <a:latin typeface="+mn-ea"/>
              </a:rPr>
              <a:t>2</a:t>
            </a:r>
            <a:r>
              <a:rPr lang="ko-KR" altLang="en-US" sz="3200" dirty="0">
                <a:latin typeface="+mn-ea"/>
              </a:rPr>
              <a:t>차원 </a:t>
            </a:r>
            <a:r>
              <a:rPr lang="en-US" altLang="ko-KR" sz="3200" dirty="0">
                <a:latin typeface="+mn-ea"/>
              </a:rPr>
              <a:t>QP</a:t>
            </a:r>
            <a:r>
              <a:rPr lang="ko-KR" altLang="en-US" sz="3200" dirty="0">
                <a:latin typeface="+mn-ea"/>
              </a:rPr>
              <a:t>를 풀기 위해서는 </a:t>
            </a:r>
            <a:r>
              <a:rPr lang="en-US" altLang="ko-KR" sz="3200" dirty="0">
                <a:latin typeface="+mn-ea"/>
              </a:rPr>
              <a:t>2</a:t>
            </a:r>
            <a:r>
              <a:rPr lang="ko-KR" altLang="en-US" sz="3200" dirty="0">
                <a:latin typeface="+mn-ea"/>
              </a:rPr>
              <a:t>가지 개념을 더 알아야 한다</a:t>
            </a: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해당 강의에서는 두 개념에 대한 설명을 진행하며 자세한 증명은 생략</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a:lnSpc>
                <a:spcPct val="150000"/>
              </a:lnSpc>
            </a:pPr>
            <a:r>
              <a:rPr lang="ko-KR" altLang="en-US" sz="4000" b="1" dirty="0" err="1">
                <a:latin typeface="+mn-ea"/>
              </a:rPr>
              <a:t>라그랑주</a:t>
            </a:r>
            <a:r>
              <a:rPr lang="ko-KR" altLang="en-US" sz="4000" b="1" dirty="0">
                <a:latin typeface="+mn-ea"/>
              </a:rPr>
              <a:t> 승수법과 </a:t>
            </a:r>
            <a:r>
              <a:rPr lang="en-US" altLang="ko-KR" sz="4000" b="1" dirty="0">
                <a:latin typeface="+mn-ea"/>
              </a:rPr>
              <a:t>KKT </a:t>
            </a:r>
            <a:r>
              <a:rPr lang="ko-KR" altLang="en-US" sz="4000" b="1" dirty="0">
                <a:latin typeface="+mn-ea"/>
              </a:rPr>
              <a:t>조건</a:t>
            </a:r>
            <a:endParaRPr lang="en-US" altLang="ko-KR" sz="4000" b="1" dirty="0">
              <a:latin typeface="+mn-ea"/>
            </a:endParaRPr>
          </a:p>
          <a:p>
            <a:pPr marL="342900" indent="-342900">
              <a:lnSpc>
                <a:spcPct val="150000"/>
              </a:lnSpc>
              <a:buFont typeface="Arial" panose="020B0604020202020204" pitchFamily="34" charset="0"/>
              <a:buChar char="•"/>
            </a:pPr>
            <a:r>
              <a:rPr lang="ko-KR" altLang="en-US" sz="3200" b="1" dirty="0" err="1">
                <a:solidFill>
                  <a:srgbClr val="000000"/>
                </a:solidFill>
                <a:latin typeface="+mn-ea"/>
              </a:rPr>
              <a:t>라그랑주</a:t>
            </a:r>
            <a:r>
              <a:rPr lang="ko-KR" altLang="en-US" sz="3200" b="1" dirty="0">
                <a:solidFill>
                  <a:srgbClr val="000000"/>
                </a:solidFill>
                <a:latin typeface="+mn-ea"/>
              </a:rPr>
              <a:t> </a:t>
            </a:r>
            <a:r>
              <a:rPr lang="ko-KR" altLang="en-US" sz="3200" b="1" dirty="0" err="1">
                <a:solidFill>
                  <a:srgbClr val="000000"/>
                </a:solidFill>
                <a:latin typeface="+mn-ea"/>
              </a:rPr>
              <a:t>승수법</a:t>
            </a:r>
            <a:r>
              <a:rPr lang="ko-KR" altLang="en-US" sz="3200" b="1" dirty="0">
                <a:solidFill>
                  <a:srgbClr val="000000"/>
                </a:solidFill>
                <a:latin typeface="+mn-ea"/>
              </a:rPr>
              <a:t> </a:t>
            </a:r>
            <a:r>
              <a:rPr lang="en-US" altLang="ko-KR" sz="3200" b="1" dirty="0">
                <a:solidFill>
                  <a:srgbClr val="000000"/>
                </a:solidFill>
                <a:latin typeface="+mn-ea"/>
              </a:rPr>
              <a:t>: </a:t>
            </a:r>
            <a:r>
              <a:rPr lang="ko-KR" altLang="en-US" sz="3200" dirty="0">
                <a:solidFill>
                  <a:srgbClr val="000000"/>
                </a:solidFill>
                <a:latin typeface="+mn-ea"/>
              </a:rPr>
              <a:t>제약이 있는 최소화 문제를 제약이 없는 최소화 문제로 바꿀 수 있다</a:t>
            </a:r>
            <a:endParaRPr lang="en-US" altLang="ko-KR" sz="3200" dirty="0">
              <a:solidFill>
                <a:srgbClr val="000000"/>
              </a:solidFill>
              <a:latin typeface="+mn-ea"/>
            </a:endParaRPr>
          </a:p>
          <a:p>
            <a:pPr marL="342900" indent="-342900">
              <a:lnSpc>
                <a:spcPct val="150000"/>
              </a:lnSpc>
              <a:buFont typeface="Arial" panose="020B0604020202020204" pitchFamily="34" charset="0"/>
              <a:buChar char="•"/>
            </a:pPr>
            <a:r>
              <a:rPr lang="en-US" altLang="ko-KR" sz="3200" b="1" dirty="0">
                <a:latin typeface="+mn-ea"/>
              </a:rPr>
              <a:t>KKT(Karush–Kuhn–Tucker) </a:t>
            </a:r>
            <a:r>
              <a:rPr lang="ko-KR" altLang="en-US" sz="3200" dirty="0">
                <a:latin typeface="+mn-ea"/>
              </a:rPr>
              <a:t>조건은 “제약이 있는 </a:t>
            </a:r>
            <a:r>
              <a:rPr lang="ko-KR" altLang="en-US" sz="3200" dirty="0" err="1">
                <a:latin typeface="+mn-ea"/>
              </a:rPr>
              <a:t>최적화”에서</a:t>
            </a:r>
            <a:r>
              <a:rPr lang="ko-KR" altLang="en-US" sz="3200" dirty="0">
                <a:latin typeface="+mn-ea"/>
              </a:rPr>
              <a:t> 최적해가 만족해야 하는 필요조건</a:t>
            </a:r>
          </a:p>
          <a:p>
            <a:pPr marL="342900" indent="-342900">
              <a:lnSpc>
                <a:spcPct val="150000"/>
              </a:lnSpc>
              <a:buFont typeface="Arial" panose="020B0604020202020204" pitchFamily="34" charset="0"/>
              <a:buChar char="•"/>
            </a:pPr>
            <a:endParaRPr lang="en-US" altLang="ko-KR" sz="3200" dirty="0">
              <a:latin typeface="+mn-ea"/>
            </a:endParaRPr>
          </a:p>
        </p:txBody>
      </p:sp>
      <p:pic>
        <p:nvPicPr>
          <p:cNvPr id="5" name="그림 4" descr="\documentclass{article}&#10;\usepackage{amsmath}&#10;\pagestyle{empty}&#10;\begin{document}&#10;&#10;&#10;$&#10;\mathcal{L}(x,\lambda)\;=\; f(x)\;+\;\sum_{i=1}^{m}\lambda_i\,g_i(x)&#10;\;=\; f(x)+\lambda^{\top}g(x)&#10;$&#10;&#10;\end{document}" title="IguanaTex Bitmap Display">
            <a:extLst>
              <a:ext uri="{FF2B5EF4-FFF2-40B4-BE49-F238E27FC236}">
                <a16:creationId xmlns:a16="http://schemas.microsoft.com/office/drawing/2014/main" id="{A0996EB3-1F8D-20A0-C5C3-331F781026EA}"/>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204800" y="11501400"/>
            <a:ext cx="11974400" cy="614400"/>
          </a:xfrm>
          <a:prstGeom prst="rect">
            <a:avLst/>
          </a:prstGeom>
        </p:spPr>
      </p:pic>
      <p:pic>
        <p:nvPicPr>
          <p:cNvPr id="8" name="그림 7" descr="\documentclass{article}&#10;\usepackage{amsmath}&#10;\pagestyle{empty}&#10;\begin{document}&#10;&#10;&#10;$&#10;\begin{array}{ll}&#10;\text{minimize} &amp; f(x)\\[4pt]&#10;\text{subject to} &amp; g_i(x)=0,\quad i=1,2,\dots,m&#10;\end{array}&#10;$&#10;&#10;\end{document}" title="IguanaTex Bitmap Display">
            <a:extLst>
              <a:ext uri="{FF2B5EF4-FFF2-40B4-BE49-F238E27FC236}">
                <a16:creationId xmlns:a16="http://schemas.microsoft.com/office/drawing/2014/main" id="{6D300A70-4737-3799-7E94-4F1DFFEAF823}"/>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684800" y="8537642"/>
            <a:ext cx="9014400" cy="1385600"/>
          </a:xfrm>
          <a:prstGeom prst="rect">
            <a:avLst/>
          </a:prstGeom>
        </p:spPr>
      </p:pic>
      <p:sp>
        <p:nvSpPr>
          <p:cNvPr id="12" name="TextBox 11">
            <a:extLst>
              <a:ext uri="{FF2B5EF4-FFF2-40B4-BE49-F238E27FC236}">
                <a16:creationId xmlns:a16="http://schemas.microsoft.com/office/drawing/2014/main" id="{213998CE-9846-6754-3DB5-A53EB9A7AED1}"/>
              </a:ext>
            </a:extLst>
          </p:cNvPr>
          <p:cNvSpPr txBox="1"/>
          <p:nvPr/>
        </p:nvSpPr>
        <p:spPr>
          <a:xfrm>
            <a:off x="8654845" y="12521625"/>
            <a:ext cx="7074310" cy="584775"/>
          </a:xfrm>
          <a:prstGeom prst="rect">
            <a:avLst/>
          </a:prstGeom>
          <a:noFill/>
        </p:spPr>
        <p:txBody>
          <a:bodyPr wrap="square">
            <a:spAutoFit/>
          </a:bodyPr>
          <a:lstStyle/>
          <a:p>
            <a:r>
              <a:rPr lang="ko-KR" altLang="en-US" sz="3200" b="1" dirty="0">
                <a:latin typeface="+mn-ea"/>
              </a:rPr>
              <a:t>제약이 없는 하나의 식으로 변형 가능</a:t>
            </a:r>
            <a:endParaRPr lang="ko-KR" altLang="en-US" sz="3200" b="1" dirty="0"/>
          </a:p>
        </p:txBody>
      </p:sp>
    </p:spTree>
    <p:extLst>
      <p:ext uri="{BB962C8B-B14F-4D97-AF65-F5344CB8AC3E}">
        <p14:creationId xmlns:p14="http://schemas.microsoft.com/office/powerpoint/2010/main" val="3895008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04A46-4765-2A09-A883-57E01AFF8B7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AE6EEEAF-13C0-C026-1A33-2B4F1CF8DC2A}"/>
              </a:ext>
            </a:extLst>
          </p:cNvPr>
          <p:cNvSpPr/>
          <p:nvPr/>
        </p:nvSpPr>
        <p:spPr>
          <a:xfrm>
            <a:off x="0" y="0"/>
            <a:ext cx="821042" cy="1371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062727B1-72CF-08E8-ECBC-9EAB9B8C60B9}"/>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C9BB049B-71C7-295B-0D6D-4934EFE45066}"/>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ko-KR" altLang="en-US" sz="6000" b="1" dirty="0">
                <a:solidFill>
                  <a:srgbClr val="000000"/>
                </a:solidFill>
                <a:latin typeface="Arial" panose="020B0604020202020204" pitchFamily="34" charset="0"/>
                <a:cs typeface="Arial" panose="020B0604020202020204" pitchFamily="34" charset="0"/>
              </a:rPr>
              <a:t>예제 </a:t>
            </a:r>
            <a:r>
              <a:rPr lang="en-US" altLang="ko-KR" sz="6000" b="1" dirty="0">
                <a:solidFill>
                  <a:srgbClr val="000000"/>
                </a:solidFill>
                <a:latin typeface="Arial" panose="020B0604020202020204" pitchFamily="34" charset="0"/>
                <a:cs typeface="Arial" panose="020B0604020202020204" pitchFamily="34" charset="0"/>
              </a:rPr>
              <a:t>2 (2</a:t>
            </a:r>
            <a:r>
              <a:rPr lang="ko-KR" altLang="en-US" sz="6000" b="1" dirty="0">
                <a:solidFill>
                  <a:srgbClr val="000000"/>
                </a:solidFill>
                <a:latin typeface="Arial" panose="020B0604020202020204" pitchFamily="34" charset="0"/>
                <a:cs typeface="Arial" panose="020B0604020202020204" pitchFamily="34" charset="0"/>
              </a:rPr>
              <a:t>차원 문제</a:t>
            </a:r>
            <a:r>
              <a:rPr lang="en-US" altLang="ko-KR" sz="6000" b="1" dirty="0">
                <a:solidFill>
                  <a:srgbClr val="000000"/>
                </a:solidFill>
                <a:latin typeface="Arial" panose="020B0604020202020204" pitchFamily="34" charset="0"/>
                <a:cs typeface="Arial" panose="020B0604020202020204" pitchFamily="34" charset="0"/>
              </a:rPr>
              <a:t>)</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214FF5C-F20E-71C2-0AEB-ECC2DD18DFDB}"/>
              </a:ext>
            </a:extLst>
          </p:cNvPr>
          <p:cNvSpPr txBox="1"/>
          <p:nvPr/>
        </p:nvSpPr>
        <p:spPr>
          <a:xfrm>
            <a:off x="2086897" y="2244213"/>
            <a:ext cx="21154103" cy="1033847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ko-KR" altLang="en-US" sz="3200" dirty="0">
                <a:latin typeface="+mn-ea"/>
              </a:rPr>
              <a:t>함수       가       에서 로컬 최소값이 되기 위한 필요조건은              와              에서     의 </a:t>
            </a:r>
            <a:r>
              <a:rPr lang="en-US" altLang="ko-KR" sz="3200" dirty="0">
                <a:latin typeface="+mn-ea"/>
              </a:rPr>
              <a:t>gradient</a:t>
            </a:r>
            <a:r>
              <a:rPr lang="ko-KR" altLang="en-US" sz="3200" dirty="0">
                <a:latin typeface="+mn-ea"/>
              </a:rPr>
              <a:t>가 </a:t>
            </a:r>
            <a:r>
              <a:rPr lang="en-US" altLang="ko-KR" sz="3200" dirty="0">
                <a:latin typeface="+mn-ea"/>
              </a:rPr>
              <a:t>0</a:t>
            </a:r>
            <a:r>
              <a:rPr lang="ko-KR" altLang="en-US" sz="3200" dirty="0">
                <a:latin typeface="+mn-ea"/>
              </a:rPr>
              <a:t>이 되는 것</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문제 정식화 </a:t>
            </a:r>
            <a:r>
              <a:rPr lang="en-US" altLang="ko-KR" sz="3200" dirty="0">
                <a:latin typeface="+mn-ea"/>
              </a:rPr>
              <a:t>:</a:t>
            </a:r>
          </a:p>
          <a:p>
            <a:pPr>
              <a:lnSpc>
                <a:spcPct val="150000"/>
              </a:lnSpc>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단계 </a:t>
            </a:r>
            <a:r>
              <a:rPr lang="en-US" altLang="ko-KR" sz="3200" dirty="0">
                <a:latin typeface="+mn-ea"/>
              </a:rPr>
              <a:t>A : </a:t>
            </a:r>
            <a:r>
              <a:rPr lang="ko-KR" altLang="en-US" sz="3200" dirty="0" err="1">
                <a:latin typeface="+mn-ea"/>
              </a:rPr>
              <a:t>무제약</a:t>
            </a:r>
            <a:r>
              <a:rPr lang="ko-KR" altLang="en-US" sz="3200" dirty="0">
                <a:latin typeface="+mn-ea"/>
              </a:rPr>
              <a:t> 해</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단계 </a:t>
            </a:r>
            <a:r>
              <a:rPr lang="en-US" altLang="ko-KR" sz="3200" dirty="0">
                <a:latin typeface="+mn-ea"/>
              </a:rPr>
              <a:t>B : </a:t>
            </a:r>
            <a:r>
              <a:rPr lang="ko-KR" altLang="en-US" sz="3200" dirty="0">
                <a:latin typeface="+mn-ea"/>
              </a:rPr>
              <a:t>제약 검토</a:t>
            </a:r>
            <a:r>
              <a:rPr lang="en-US" altLang="ko-KR" sz="3200" dirty="0">
                <a:latin typeface="+mn-ea"/>
              </a:rPr>
              <a:t> </a:t>
            </a:r>
          </a:p>
          <a:p>
            <a:pPr>
              <a:lnSpc>
                <a:spcPct val="150000"/>
              </a:lnSpc>
            </a:pPr>
            <a:r>
              <a:rPr lang="ko-KR" altLang="en-US" sz="3200" dirty="0">
                <a:latin typeface="+mn-ea"/>
              </a:rPr>
              <a:t> </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p:txBody>
      </p:sp>
      <p:pic>
        <p:nvPicPr>
          <p:cNvPr id="7" name="그림 6" descr="\documentclass{article}&#10;\usepackage{amsmath}&#10;\pagestyle{empty}&#10;\begin{document}&#10;&#10;&#10;$&#10;f(x)&#10;$&#10;&#10;\end{document}" title="IguanaTex Bitmap Display">
            <a:extLst>
              <a:ext uri="{FF2B5EF4-FFF2-40B4-BE49-F238E27FC236}">
                <a16:creationId xmlns:a16="http://schemas.microsoft.com/office/drawing/2014/main" id="{0C931E95-AA9C-FEC6-457D-3DA097EEEEF3}"/>
              </a:ext>
            </a:extLst>
          </p:cNvPr>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3523931" y="2514600"/>
            <a:ext cx="728990" cy="407162"/>
          </a:xfrm>
          <a:prstGeom prst="rect">
            <a:avLst/>
          </a:prstGeom>
        </p:spPr>
      </p:pic>
      <p:pic>
        <p:nvPicPr>
          <p:cNvPr id="15" name="그림 14" descr="\documentclass{article}&#10;\usepackage{amsmath}&#10;\pagestyle{empty}&#10;\begin{document}&#10;&#10;&#10;$&#10;x^{\ast}&#10;$&#10;&#10;\end{document}" title="IguanaTex Bitmap Display">
            <a:extLst>
              <a:ext uri="{FF2B5EF4-FFF2-40B4-BE49-F238E27FC236}">
                <a16:creationId xmlns:a16="http://schemas.microsoft.com/office/drawing/2014/main" id="{5ED33CF3-3291-D61C-8BB9-CAE416D01118}"/>
              </a:ext>
            </a:extLst>
          </p:cNvPr>
          <p:cNvPicPr>
            <a:picLocks noChangeAspect="1"/>
          </p:cNvPicPr>
          <p:nvPr>
            <p:custDataLst>
              <p:tags r:id="rId2"/>
            </p:custDataLst>
          </p:nvPr>
        </p:nvPicPr>
        <p:blipFill>
          <a:blip r:embed="rId16" cstate="print">
            <a:extLst>
              <a:ext uri="{28A0092B-C50C-407E-A947-70E740481C1C}">
                <a14:useLocalDpi xmlns:a14="http://schemas.microsoft.com/office/drawing/2010/main" val="0"/>
              </a:ext>
            </a:extLst>
          </a:blip>
          <a:stretch>
            <a:fillRect/>
          </a:stretch>
        </p:blipFill>
        <p:spPr>
          <a:xfrm>
            <a:off x="5105400" y="2524400"/>
            <a:ext cx="476800" cy="371200"/>
          </a:xfrm>
          <a:prstGeom prst="rect">
            <a:avLst/>
          </a:prstGeom>
        </p:spPr>
      </p:pic>
      <p:pic>
        <p:nvPicPr>
          <p:cNvPr id="16" name="그림 15" descr="\documentclass{article}&#10;\usepackage{amsmath}&#10;\pagestyle{empty}&#10;\begin{document}&#10;&#10;&#10;$&#10;x = x^{\ast}&#10;$&#10;&#10;\end{document}" title="IguanaTex Bitmap Display">
            <a:extLst>
              <a:ext uri="{FF2B5EF4-FFF2-40B4-BE49-F238E27FC236}">
                <a16:creationId xmlns:a16="http://schemas.microsoft.com/office/drawing/2014/main" id="{1C954F15-AA15-ED0D-F748-E9293767F64D}"/>
              </a:ext>
            </a:extLst>
          </p:cNvPr>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13675800" y="2524400"/>
            <a:ext cx="1488000" cy="371200"/>
          </a:xfrm>
          <a:prstGeom prst="rect">
            <a:avLst/>
          </a:prstGeom>
        </p:spPr>
      </p:pic>
      <p:pic>
        <p:nvPicPr>
          <p:cNvPr id="20" name="그림 19" descr="\documentclass{article}&#10;\usepackage{amsmath}&#10;\pagestyle{empty}&#10;\begin{document}&#10;&#10;&#10;$&#10;\lambda = \lambda^{\ast}&#10;$&#10;&#10;\end{document}" title="IguanaTex Bitmap Display">
            <a:extLst>
              <a:ext uri="{FF2B5EF4-FFF2-40B4-BE49-F238E27FC236}">
                <a16:creationId xmlns:a16="http://schemas.microsoft.com/office/drawing/2014/main" id="{B7ED8223-5D76-216D-AF99-166E239C7209}"/>
              </a:ext>
            </a:extLst>
          </p:cNvPr>
          <p:cNvPicPr>
            <a:picLocks noChangeAspect="1"/>
          </p:cNvPicPr>
          <p:nvPr>
            <p:custDataLst>
              <p:tags r:id="rId4"/>
            </p:custDataLst>
          </p:nvPr>
        </p:nvPicPr>
        <p:blipFill>
          <a:blip r:embed="rId18" cstate="print">
            <a:extLst>
              <a:ext uri="{28A0092B-C50C-407E-A947-70E740481C1C}">
                <a14:useLocalDpi xmlns:a14="http://schemas.microsoft.com/office/drawing/2010/main" val="0"/>
              </a:ext>
            </a:extLst>
          </a:blip>
          <a:stretch>
            <a:fillRect/>
          </a:stretch>
        </p:blipFill>
        <p:spPr>
          <a:xfrm>
            <a:off x="16154400" y="2514600"/>
            <a:ext cx="1488000" cy="374400"/>
          </a:xfrm>
          <a:prstGeom prst="rect">
            <a:avLst/>
          </a:prstGeom>
        </p:spPr>
      </p:pic>
      <p:pic>
        <p:nvPicPr>
          <p:cNvPr id="22" name="그림 21" descr="\documentclass{article}&#10;\usepackage{amsmath}&#10;\pagestyle{empty}&#10;\begin{document}&#10;&#10;&#10;$&#10;L&#10;$&#10;&#10;\end{document}" title="IguanaTex Bitmap Display">
            <a:extLst>
              <a:ext uri="{FF2B5EF4-FFF2-40B4-BE49-F238E27FC236}">
                <a16:creationId xmlns:a16="http://schemas.microsoft.com/office/drawing/2014/main" id="{9B96B228-F6B5-D201-BD9C-FF02FD6875A5}"/>
              </a:ext>
            </a:extLst>
          </p:cNvPr>
          <p:cNvPicPr>
            <a:picLocks noChangeAspect="1"/>
          </p:cNvPicPr>
          <p:nvPr>
            <p:custDataLst>
              <p:tags r:id="rId5"/>
            </p:custDataLst>
          </p:nvPr>
        </p:nvPicPr>
        <p:blipFill>
          <a:blip r:embed="rId19" cstate="print">
            <a:extLst>
              <a:ext uri="{28A0092B-C50C-407E-A947-70E740481C1C}">
                <a14:useLocalDpi xmlns:a14="http://schemas.microsoft.com/office/drawing/2010/main" val="0"/>
              </a:ext>
            </a:extLst>
          </a:blip>
          <a:stretch>
            <a:fillRect/>
          </a:stretch>
        </p:blipFill>
        <p:spPr>
          <a:xfrm>
            <a:off x="18746655" y="2538816"/>
            <a:ext cx="323200" cy="361600"/>
          </a:xfrm>
          <a:prstGeom prst="rect">
            <a:avLst/>
          </a:prstGeom>
        </p:spPr>
      </p:pic>
      <p:pic>
        <p:nvPicPr>
          <p:cNvPr id="23" name="그림 22" descr="\documentclass{article}&#10;\usepackage{amsmath}&#10;\pagestyle{empty}&#10;\begin{document}&#10;&#10;&#10;$&#10;\nabla_{x}\,L\!\left(x^{\ast},\,\lambda^{\ast}\right)=0&#10;$&#10;&#10;\end{document}" title="IguanaTex Bitmap Display">
            <a:extLst>
              <a:ext uri="{FF2B5EF4-FFF2-40B4-BE49-F238E27FC236}">
                <a16:creationId xmlns:a16="http://schemas.microsoft.com/office/drawing/2014/main" id="{8E525963-10A7-6420-C398-0747A269B423}"/>
              </a:ext>
            </a:extLst>
          </p:cNvPr>
          <p:cNvPicPr>
            <a:picLocks noChangeAspect="1"/>
          </p:cNvPicPr>
          <p:nvPr>
            <p:custDataLst>
              <p:tags r:id="rId6"/>
            </p:custDataLst>
          </p:nvPr>
        </p:nvPicPr>
        <p:blipFill>
          <a:blip r:embed="rId20" cstate="print">
            <a:extLst>
              <a:ext uri="{28A0092B-C50C-407E-A947-70E740481C1C}">
                <a14:useLocalDpi xmlns:a14="http://schemas.microsoft.com/office/drawing/2010/main" val="0"/>
              </a:ext>
            </a:extLst>
          </a:blip>
          <a:stretch>
            <a:fillRect/>
          </a:stretch>
        </p:blipFill>
        <p:spPr>
          <a:xfrm>
            <a:off x="10225600" y="4072889"/>
            <a:ext cx="3932800" cy="534400"/>
          </a:xfrm>
          <a:prstGeom prst="rect">
            <a:avLst/>
          </a:prstGeom>
        </p:spPr>
      </p:pic>
      <p:pic>
        <p:nvPicPr>
          <p:cNvPr id="25" name="그림 24" descr="\documentclass{article}&#10;\usepackage{amsmath}&#10;\pagestyle{empty}&#10;\begin{document}&#10;&#10;&#10;$&#10;\min_y\ \frac12\,\|y-c\|^2&#10;\quad\text{s.t.}\quad a^\top y \le b&#10;$&#10;&#10;\end{document}" title="IguanaTex Bitmap Display">
            <a:extLst>
              <a:ext uri="{FF2B5EF4-FFF2-40B4-BE49-F238E27FC236}">
                <a16:creationId xmlns:a16="http://schemas.microsoft.com/office/drawing/2014/main" id="{5521444A-889F-FD88-4AFD-FA251A12D802}"/>
              </a:ext>
            </a:extLst>
          </p:cNvPr>
          <p:cNvPicPr>
            <a:picLocks noChangeAspect="1"/>
          </p:cNvPicPr>
          <p:nvPr>
            <p:custDataLst>
              <p:tags r:id="rId7"/>
            </p:custDataLst>
          </p:nvPr>
        </p:nvPicPr>
        <p:blipFill>
          <a:blip r:embed="rId21" cstate="print">
            <a:extLst>
              <a:ext uri="{28A0092B-C50C-407E-A947-70E740481C1C}">
                <a14:useLocalDpi xmlns:a14="http://schemas.microsoft.com/office/drawing/2010/main" val="0"/>
              </a:ext>
            </a:extLst>
          </a:blip>
          <a:stretch>
            <a:fillRect/>
          </a:stretch>
        </p:blipFill>
        <p:spPr>
          <a:xfrm>
            <a:off x="5582200" y="6141781"/>
            <a:ext cx="6445100" cy="559713"/>
          </a:xfrm>
          <a:prstGeom prst="rect">
            <a:avLst/>
          </a:prstGeom>
        </p:spPr>
      </p:pic>
      <p:pic>
        <p:nvPicPr>
          <p:cNvPr id="27" name="그림 26" descr="\documentclass{article}&#10;\usepackage{amsmath}&#10;\pagestyle{empty}&#10;\begin{document}&#10;&#10;&#10;$&#10;c=\begin{bmatrix}2\\[2pt]1\end{bmatrix},\ &#10;a=\begin{bmatrix}1\\[2pt]1\end{bmatrix},\ &#10;b=2&#10;$&#10;&#10;\end{document}" title="IguanaTex Bitmap Display">
            <a:extLst>
              <a:ext uri="{FF2B5EF4-FFF2-40B4-BE49-F238E27FC236}">
                <a16:creationId xmlns:a16="http://schemas.microsoft.com/office/drawing/2014/main" id="{058D9CAF-C983-0738-AB09-BC18007F7930}"/>
              </a:ext>
            </a:extLst>
          </p:cNvPr>
          <p:cNvPicPr>
            <a:picLocks noChangeAspect="1"/>
          </p:cNvPicPr>
          <p:nvPr>
            <p:custDataLst>
              <p:tags r:id="rId8"/>
            </p:custDataLst>
          </p:nvPr>
        </p:nvPicPr>
        <p:blipFill>
          <a:blip r:embed="rId22" cstate="print">
            <a:extLst>
              <a:ext uri="{28A0092B-C50C-407E-A947-70E740481C1C}">
                <a14:useLocalDpi xmlns:a14="http://schemas.microsoft.com/office/drawing/2010/main" val="0"/>
              </a:ext>
            </a:extLst>
          </a:blip>
          <a:stretch>
            <a:fillRect/>
          </a:stretch>
        </p:blipFill>
        <p:spPr>
          <a:xfrm>
            <a:off x="13471781" y="5887261"/>
            <a:ext cx="4543374" cy="1010483"/>
          </a:xfrm>
          <a:prstGeom prst="rect">
            <a:avLst/>
          </a:prstGeom>
        </p:spPr>
      </p:pic>
      <p:pic>
        <p:nvPicPr>
          <p:cNvPr id="31" name="그림 30" descr="\documentclass{article}&#10;\usepackage{amsmath}&#10;\pagestyle{empty}&#10;\begin{document}&#10;&#10;&#10;$&#10;f(y)=\tfrac12\|y-c\|^2&#10;=\tfrac12\,(y-c)^{\top}(y-c)&#10;$&#10;&#10;\end{document}" title="IguanaTex Bitmap Display">
            <a:extLst>
              <a:ext uri="{FF2B5EF4-FFF2-40B4-BE49-F238E27FC236}">
                <a16:creationId xmlns:a16="http://schemas.microsoft.com/office/drawing/2014/main" id="{BEA8D937-0B62-1041-5007-33587C293E14}"/>
              </a:ext>
            </a:extLst>
          </p:cNvPr>
          <p:cNvPicPr>
            <a:picLocks noChangeAspect="1"/>
          </p:cNvPicPr>
          <p:nvPr>
            <p:custDataLst>
              <p:tags r:id="rId9"/>
            </p:custDataLst>
          </p:nvPr>
        </p:nvPicPr>
        <p:blipFill>
          <a:blip r:embed="rId23" cstate="print">
            <a:extLst>
              <a:ext uri="{28A0092B-C50C-407E-A947-70E740481C1C}">
                <a14:useLocalDpi xmlns:a14="http://schemas.microsoft.com/office/drawing/2010/main" val="0"/>
              </a:ext>
            </a:extLst>
          </a:blip>
          <a:stretch>
            <a:fillRect/>
          </a:stretch>
        </p:blipFill>
        <p:spPr>
          <a:xfrm>
            <a:off x="6629400" y="7508642"/>
            <a:ext cx="6512153" cy="487619"/>
          </a:xfrm>
          <a:prstGeom prst="rect">
            <a:avLst/>
          </a:prstGeom>
        </p:spPr>
      </p:pic>
      <p:pic>
        <p:nvPicPr>
          <p:cNvPr id="33" name="그림 32" descr="\documentclass{article}&#10;\usepackage{amsmath}&#10;\pagestyle{empty}&#10;\begin{document}&#10;&#10;&#10;$&#10;\nabla f(y) = y-c&#10;$&#10;&#10;\end{document}" title="IguanaTex Bitmap Display">
            <a:extLst>
              <a:ext uri="{FF2B5EF4-FFF2-40B4-BE49-F238E27FC236}">
                <a16:creationId xmlns:a16="http://schemas.microsoft.com/office/drawing/2014/main" id="{BF5C4F39-8483-DCF0-F01F-C33FBFE749E4}"/>
              </a:ext>
            </a:extLst>
          </p:cNvPr>
          <p:cNvPicPr>
            <a:picLocks noChangeAspect="1"/>
          </p:cNvPicPr>
          <p:nvPr>
            <p:custDataLst>
              <p:tags r:id="rId10"/>
            </p:custDataLst>
          </p:nvPr>
        </p:nvPicPr>
        <p:blipFill>
          <a:blip r:embed="rId24" cstate="print">
            <a:extLst>
              <a:ext uri="{28A0092B-C50C-407E-A947-70E740481C1C}">
                <a14:useLocalDpi xmlns:a14="http://schemas.microsoft.com/office/drawing/2010/main" val="0"/>
              </a:ext>
            </a:extLst>
          </a:blip>
          <a:stretch>
            <a:fillRect/>
          </a:stretch>
        </p:blipFill>
        <p:spPr>
          <a:xfrm>
            <a:off x="6629400" y="8613925"/>
            <a:ext cx="2819400" cy="456683"/>
          </a:xfrm>
          <a:prstGeom prst="rect">
            <a:avLst/>
          </a:prstGeom>
        </p:spPr>
      </p:pic>
      <p:pic>
        <p:nvPicPr>
          <p:cNvPr id="39" name="그림 38" descr="\documentclass{article}&#10;\usepackage{amsmath}&#10;\pagestyle{empty}&#10;\begin{document}&#10;&#10;&#10;$&#10;\nabla f(y)=0 \ \Longrightarrow\ y_0=c&#10;=&#10;\begin{bmatrix}2\\[2pt]1\end{bmatrix}&#10;$&#10;&#10;\end{document}" title="IguanaTex Bitmap Display">
            <a:extLst>
              <a:ext uri="{FF2B5EF4-FFF2-40B4-BE49-F238E27FC236}">
                <a16:creationId xmlns:a16="http://schemas.microsoft.com/office/drawing/2014/main" id="{34C39EBC-FF4D-F657-51BE-964659CBBDB7}"/>
              </a:ext>
            </a:extLst>
          </p:cNvPr>
          <p:cNvPicPr>
            <a:picLocks noChangeAspect="1"/>
          </p:cNvPicPr>
          <p:nvPr>
            <p:custDataLst>
              <p:tags r:id="rId11"/>
            </p:custDataLst>
          </p:nvPr>
        </p:nvPicPr>
        <p:blipFill>
          <a:blip r:embed="rId25" cstate="print">
            <a:extLst>
              <a:ext uri="{28A0092B-C50C-407E-A947-70E740481C1C}">
                <a14:useLocalDpi xmlns:a14="http://schemas.microsoft.com/office/drawing/2010/main" val="0"/>
              </a:ext>
            </a:extLst>
          </a:blip>
          <a:stretch>
            <a:fillRect/>
          </a:stretch>
        </p:blipFill>
        <p:spPr>
          <a:xfrm>
            <a:off x="10784000" y="8212237"/>
            <a:ext cx="6748800" cy="1276800"/>
          </a:xfrm>
          <a:prstGeom prst="rect">
            <a:avLst/>
          </a:prstGeom>
        </p:spPr>
      </p:pic>
      <p:pic>
        <p:nvPicPr>
          <p:cNvPr id="41" name="그림 40" descr="\documentclass{article}&#10;\usepackage{amsmath}&#10;\pagestyle{empty}&#10;\begin{document}&#10;&#10;&#10;$&#10;a^{\top}c = \begin{bmatrix}1&amp;1\end{bmatrix}\!\begin{bmatrix}2\\[2pt]1\end{bmatrix}&#10;=3 \;&gt;\; b(=2)&#10;$&#10;&#10;\end{document}" title="IguanaTex Bitmap Display">
            <a:extLst>
              <a:ext uri="{FF2B5EF4-FFF2-40B4-BE49-F238E27FC236}">
                <a16:creationId xmlns:a16="http://schemas.microsoft.com/office/drawing/2014/main" id="{D5E1F18E-C533-70CF-307D-2B728C9CAA41}"/>
              </a:ext>
            </a:extLst>
          </p:cNvPr>
          <p:cNvPicPr>
            <a:picLocks noChangeAspect="1"/>
          </p:cNvPicPr>
          <p:nvPr>
            <p:custDataLst>
              <p:tags r:id="rId12"/>
            </p:custDataLst>
          </p:nvPr>
        </p:nvPicPr>
        <p:blipFill>
          <a:blip r:embed="rId26" cstate="print">
            <a:extLst>
              <a:ext uri="{28A0092B-C50C-407E-A947-70E740481C1C}">
                <a14:useLocalDpi xmlns:a14="http://schemas.microsoft.com/office/drawing/2010/main" val="0"/>
              </a:ext>
            </a:extLst>
          </a:blip>
          <a:stretch>
            <a:fillRect/>
          </a:stretch>
        </p:blipFill>
        <p:spPr>
          <a:xfrm>
            <a:off x="7136600" y="10106701"/>
            <a:ext cx="7283200" cy="1276800"/>
          </a:xfrm>
          <a:prstGeom prst="rect">
            <a:avLst/>
          </a:prstGeom>
        </p:spPr>
      </p:pic>
      <p:sp>
        <p:nvSpPr>
          <p:cNvPr id="42" name="TextBox 41">
            <a:extLst>
              <a:ext uri="{FF2B5EF4-FFF2-40B4-BE49-F238E27FC236}">
                <a16:creationId xmlns:a16="http://schemas.microsoft.com/office/drawing/2014/main" id="{BC343C18-6BF0-D96C-D912-458876444B63}"/>
              </a:ext>
            </a:extLst>
          </p:cNvPr>
          <p:cNvSpPr txBox="1"/>
          <p:nvPr/>
        </p:nvSpPr>
        <p:spPr>
          <a:xfrm>
            <a:off x="8868645" y="11854484"/>
            <a:ext cx="5289755" cy="584775"/>
          </a:xfrm>
          <a:prstGeom prst="rect">
            <a:avLst/>
          </a:prstGeom>
          <a:noFill/>
        </p:spPr>
        <p:txBody>
          <a:bodyPr wrap="square">
            <a:spAutoFit/>
          </a:bodyPr>
          <a:lstStyle/>
          <a:p>
            <a:r>
              <a:rPr lang="ko-KR" altLang="en-US" sz="3200" b="1" dirty="0" err="1">
                <a:latin typeface="+mn-ea"/>
              </a:rPr>
              <a:t>무제약</a:t>
            </a:r>
            <a:r>
              <a:rPr lang="ko-KR" altLang="en-US" sz="3200" b="1" dirty="0">
                <a:latin typeface="+mn-ea"/>
              </a:rPr>
              <a:t> 해는 제약을 위반함</a:t>
            </a:r>
            <a:endParaRPr lang="ko-KR" altLang="en-US" sz="3200" b="1" dirty="0"/>
          </a:p>
        </p:txBody>
      </p:sp>
      <p:sp>
        <p:nvSpPr>
          <p:cNvPr id="2" name="TextBox 1">
            <a:extLst>
              <a:ext uri="{FF2B5EF4-FFF2-40B4-BE49-F238E27FC236}">
                <a16:creationId xmlns:a16="http://schemas.microsoft.com/office/drawing/2014/main" id="{01BF0F45-3532-B407-5ECB-BBE73542B4BF}"/>
              </a:ext>
            </a:extLst>
          </p:cNvPr>
          <p:cNvSpPr txBox="1"/>
          <p:nvPr/>
        </p:nvSpPr>
        <p:spPr>
          <a:xfrm>
            <a:off x="5343800" y="4022514"/>
            <a:ext cx="5289755" cy="584775"/>
          </a:xfrm>
          <a:prstGeom prst="rect">
            <a:avLst/>
          </a:prstGeom>
          <a:noFill/>
        </p:spPr>
        <p:txBody>
          <a:bodyPr wrap="square">
            <a:spAutoFit/>
          </a:bodyPr>
          <a:lstStyle/>
          <a:p>
            <a:r>
              <a:rPr lang="en-US" altLang="ko-KR" sz="3200" b="1" dirty="0">
                <a:latin typeface="+mn-ea"/>
              </a:rPr>
              <a:t>KKT </a:t>
            </a:r>
            <a:r>
              <a:rPr lang="ko-KR" altLang="en-US" sz="3200" b="1" dirty="0">
                <a:latin typeface="+mn-ea"/>
              </a:rPr>
              <a:t>정지조건</a:t>
            </a:r>
            <a:endParaRPr lang="ko-KR" altLang="en-US" sz="3200" b="1" dirty="0"/>
          </a:p>
        </p:txBody>
      </p:sp>
    </p:spTree>
    <p:extLst>
      <p:ext uri="{BB962C8B-B14F-4D97-AF65-F5344CB8AC3E}">
        <p14:creationId xmlns:p14="http://schemas.microsoft.com/office/powerpoint/2010/main" val="109949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B7A7-FBB5-F993-9B82-0FBCD71F4E7F}"/>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65DB06FC-0F8C-8E23-E556-1714B680EA3F}"/>
              </a:ext>
            </a:extLst>
          </p:cNvPr>
          <p:cNvSpPr/>
          <p:nvPr/>
        </p:nvSpPr>
        <p:spPr>
          <a:xfrm>
            <a:off x="0" y="0"/>
            <a:ext cx="821042" cy="1371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D140551-0064-F72D-5674-589A9758E182}"/>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6333CC8D-D5D1-D3B9-FA2E-173E249E2D8E}"/>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ko-KR" altLang="en-US" sz="6000" b="1" dirty="0">
                <a:solidFill>
                  <a:srgbClr val="000000"/>
                </a:solidFill>
                <a:latin typeface="Arial" panose="020B0604020202020204" pitchFamily="34" charset="0"/>
                <a:cs typeface="Arial" panose="020B0604020202020204" pitchFamily="34" charset="0"/>
              </a:rPr>
              <a:t>예제 </a:t>
            </a:r>
            <a:r>
              <a:rPr lang="en-US" altLang="ko-KR" sz="6000" b="1" dirty="0">
                <a:solidFill>
                  <a:srgbClr val="000000"/>
                </a:solidFill>
                <a:latin typeface="Arial" panose="020B0604020202020204" pitchFamily="34" charset="0"/>
                <a:cs typeface="Arial" panose="020B0604020202020204" pitchFamily="34" charset="0"/>
              </a:rPr>
              <a:t>2 (2</a:t>
            </a:r>
            <a:r>
              <a:rPr lang="ko-KR" altLang="en-US" sz="6000" b="1" dirty="0">
                <a:solidFill>
                  <a:srgbClr val="000000"/>
                </a:solidFill>
                <a:latin typeface="Arial" panose="020B0604020202020204" pitchFamily="34" charset="0"/>
                <a:cs typeface="Arial" panose="020B0604020202020204" pitchFamily="34" charset="0"/>
              </a:rPr>
              <a:t>차원 문제</a:t>
            </a:r>
            <a:r>
              <a:rPr lang="en-US" altLang="ko-KR" sz="6000" b="1" dirty="0">
                <a:solidFill>
                  <a:srgbClr val="000000"/>
                </a:solidFill>
                <a:latin typeface="Arial" panose="020B0604020202020204" pitchFamily="34" charset="0"/>
                <a:cs typeface="Arial" panose="020B0604020202020204" pitchFamily="34" charset="0"/>
              </a:rPr>
              <a:t>)</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E0BE5F0-D59A-1FA5-341D-993EF20881F8}"/>
              </a:ext>
            </a:extLst>
          </p:cNvPr>
          <p:cNvSpPr txBox="1"/>
          <p:nvPr/>
        </p:nvSpPr>
        <p:spPr>
          <a:xfrm>
            <a:off x="2086897" y="2244213"/>
            <a:ext cx="21154103" cy="738381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ko-KR" altLang="en-US" sz="3200" dirty="0">
                <a:latin typeface="+mn-ea"/>
              </a:rPr>
              <a:t>함수       가       에서 로컬 최소값이 되기 위한 필요조건은              와              에서     의 </a:t>
            </a:r>
            <a:r>
              <a:rPr lang="en-US" altLang="ko-KR" sz="3200" dirty="0">
                <a:latin typeface="+mn-ea"/>
              </a:rPr>
              <a:t>gradient</a:t>
            </a:r>
            <a:r>
              <a:rPr lang="ko-KR" altLang="en-US" sz="3200" dirty="0">
                <a:latin typeface="+mn-ea"/>
              </a:rPr>
              <a:t>가 </a:t>
            </a:r>
            <a:r>
              <a:rPr lang="en-US" altLang="ko-KR" sz="3200" dirty="0">
                <a:latin typeface="+mn-ea"/>
              </a:rPr>
              <a:t>0</a:t>
            </a:r>
            <a:r>
              <a:rPr lang="ko-KR" altLang="en-US" sz="3200" dirty="0">
                <a:latin typeface="+mn-ea"/>
              </a:rPr>
              <a:t>이 되는 것</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문제 정식화 </a:t>
            </a:r>
            <a:r>
              <a:rPr lang="en-US" altLang="ko-KR" sz="3200" dirty="0">
                <a:latin typeface="+mn-ea"/>
              </a:rPr>
              <a:t>:</a:t>
            </a:r>
          </a:p>
          <a:p>
            <a:pPr>
              <a:lnSpc>
                <a:spcPct val="150000"/>
              </a:lnSpc>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단계 </a:t>
            </a:r>
            <a:r>
              <a:rPr lang="en-US" altLang="ko-KR" sz="3200" dirty="0">
                <a:latin typeface="+mn-ea"/>
              </a:rPr>
              <a:t>C : </a:t>
            </a:r>
            <a:r>
              <a:rPr lang="ko-KR" altLang="en-US" sz="3200" dirty="0">
                <a:latin typeface="+mn-ea"/>
              </a:rPr>
              <a:t>따라서 제약이 활성</a:t>
            </a:r>
            <a:r>
              <a:rPr lang="en-US" altLang="ko-KR" sz="3200" dirty="0">
                <a:latin typeface="+mn-ea"/>
              </a:rPr>
              <a:t>(active)</a:t>
            </a:r>
            <a:r>
              <a:rPr lang="ko-KR" altLang="en-US" sz="3200" dirty="0">
                <a:latin typeface="+mn-ea"/>
              </a:rPr>
              <a:t>되어</a:t>
            </a:r>
            <a:r>
              <a:rPr lang="en-US" altLang="ko-KR" sz="3200" dirty="0">
                <a:latin typeface="+mn-ea"/>
              </a:rPr>
              <a:t>, </a:t>
            </a:r>
            <a:r>
              <a:rPr lang="ko-KR" altLang="en-US" sz="3200" dirty="0">
                <a:latin typeface="+mn-ea"/>
              </a:rPr>
              <a:t>최적해는 경계              위에 존재</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p:txBody>
      </p:sp>
      <p:pic>
        <p:nvPicPr>
          <p:cNvPr id="7" name="그림 6" descr="\documentclass{article}&#10;\usepackage{amsmath}&#10;\pagestyle{empty}&#10;\begin{document}&#10;&#10;&#10;$&#10;f(x)&#10;$&#10;&#10;\end{document}" title="IguanaTex Bitmap Display">
            <a:extLst>
              <a:ext uri="{FF2B5EF4-FFF2-40B4-BE49-F238E27FC236}">
                <a16:creationId xmlns:a16="http://schemas.microsoft.com/office/drawing/2014/main" id="{B84B5DAE-749C-0716-414E-8AC6FD6AA099}"/>
              </a:ext>
            </a:extLst>
          </p:cNvPr>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3523931" y="2514600"/>
            <a:ext cx="728990" cy="407162"/>
          </a:xfrm>
          <a:prstGeom prst="rect">
            <a:avLst/>
          </a:prstGeom>
        </p:spPr>
      </p:pic>
      <p:pic>
        <p:nvPicPr>
          <p:cNvPr id="15" name="그림 14" descr="\documentclass{article}&#10;\usepackage{amsmath}&#10;\pagestyle{empty}&#10;\begin{document}&#10;&#10;&#10;$&#10;x^{\ast}&#10;$&#10;&#10;\end{document}" title="IguanaTex Bitmap Display">
            <a:extLst>
              <a:ext uri="{FF2B5EF4-FFF2-40B4-BE49-F238E27FC236}">
                <a16:creationId xmlns:a16="http://schemas.microsoft.com/office/drawing/2014/main" id="{B2B2E398-83B0-3B5B-89BC-62FC9DC16386}"/>
              </a:ext>
            </a:extLst>
          </p:cNvPr>
          <p:cNvPicPr>
            <a:picLocks noChangeAspect="1"/>
          </p:cNvPicPr>
          <p:nvPr>
            <p:custDataLst>
              <p:tags r:id="rId2"/>
            </p:custDataLst>
          </p:nvPr>
        </p:nvPicPr>
        <p:blipFill>
          <a:blip r:embed="rId16" cstate="print">
            <a:extLst>
              <a:ext uri="{28A0092B-C50C-407E-A947-70E740481C1C}">
                <a14:useLocalDpi xmlns:a14="http://schemas.microsoft.com/office/drawing/2010/main" val="0"/>
              </a:ext>
            </a:extLst>
          </a:blip>
          <a:stretch>
            <a:fillRect/>
          </a:stretch>
        </p:blipFill>
        <p:spPr>
          <a:xfrm>
            <a:off x="5105400" y="2524400"/>
            <a:ext cx="476800" cy="371200"/>
          </a:xfrm>
          <a:prstGeom prst="rect">
            <a:avLst/>
          </a:prstGeom>
        </p:spPr>
      </p:pic>
      <p:pic>
        <p:nvPicPr>
          <p:cNvPr id="16" name="그림 15" descr="\documentclass{article}&#10;\usepackage{amsmath}&#10;\pagestyle{empty}&#10;\begin{document}&#10;&#10;&#10;$&#10;x = x^{\ast}&#10;$&#10;&#10;\end{document}" title="IguanaTex Bitmap Display">
            <a:extLst>
              <a:ext uri="{FF2B5EF4-FFF2-40B4-BE49-F238E27FC236}">
                <a16:creationId xmlns:a16="http://schemas.microsoft.com/office/drawing/2014/main" id="{81DE61E5-0243-DEBE-7D8E-336D741DFB50}"/>
              </a:ext>
            </a:extLst>
          </p:cNvPr>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13675800" y="2524400"/>
            <a:ext cx="1488000" cy="371200"/>
          </a:xfrm>
          <a:prstGeom prst="rect">
            <a:avLst/>
          </a:prstGeom>
        </p:spPr>
      </p:pic>
      <p:pic>
        <p:nvPicPr>
          <p:cNvPr id="20" name="그림 19" descr="\documentclass{article}&#10;\usepackage{amsmath}&#10;\pagestyle{empty}&#10;\begin{document}&#10;&#10;&#10;$&#10;\lambda = \lambda^{\ast}&#10;$&#10;&#10;\end{document}" title="IguanaTex Bitmap Display">
            <a:extLst>
              <a:ext uri="{FF2B5EF4-FFF2-40B4-BE49-F238E27FC236}">
                <a16:creationId xmlns:a16="http://schemas.microsoft.com/office/drawing/2014/main" id="{86E8C3FC-029C-EC62-3823-CD620680DC4E}"/>
              </a:ext>
            </a:extLst>
          </p:cNvPr>
          <p:cNvPicPr>
            <a:picLocks noChangeAspect="1"/>
          </p:cNvPicPr>
          <p:nvPr>
            <p:custDataLst>
              <p:tags r:id="rId4"/>
            </p:custDataLst>
          </p:nvPr>
        </p:nvPicPr>
        <p:blipFill>
          <a:blip r:embed="rId18" cstate="print">
            <a:extLst>
              <a:ext uri="{28A0092B-C50C-407E-A947-70E740481C1C}">
                <a14:useLocalDpi xmlns:a14="http://schemas.microsoft.com/office/drawing/2010/main" val="0"/>
              </a:ext>
            </a:extLst>
          </a:blip>
          <a:stretch>
            <a:fillRect/>
          </a:stretch>
        </p:blipFill>
        <p:spPr>
          <a:xfrm>
            <a:off x="16154400" y="2514600"/>
            <a:ext cx="1488000" cy="374400"/>
          </a:xfrm>
          <a:prstGeom prst="rect">
            <a:avLst/>
          </a:prstGeom>
        </p:spPr>
      </p:pic>
      <p:pic>
        <p:nvPicPr>
          <p:cNvPr id="22" name="그림 21" descr="\documentclass{article}&#10;\usepackage{amsmath}&#10;\pagestyle{empty}&#10;\begin{document}&#10;&#10;&#10;$&#10;L&#10;$&#10;&#10;\end{document}" title="IguanaTex Bitmap Display">
            <a:extLst>
              <a:ext uri="{FF2B5EF4-FFF2-40B4-BE49-F238E27FC236}">
                <a16:creationId xmlns:a16="http://schemas.microsoft.com/office/drawing/2014/main" id="{D6962C9B-562A-DED4-4BEF-B066CE6FA6D6}"/>
              </a:ext>
            </a:extLst>
          </p:cNvPr>
          <p:cNvPicPr>
            <a:picLocks noChangeAspect="1"/>
          </p:cNvPicPr>
          <p:nvPr>
            <p:custDataLst>
              <p:tags r:id="rId5"/>
            </p:custDataLst>
          </p:nvPr>
        </p:nvPicPr>
        <p:blipFill>
          <a:blip r:embed="rId19" cstate="print">
            <a:extLst>
              <a:ext uri="{28A0092B-C50C-407E-A947-70E740481C1C}">
                <a14:useLocalDpi xmlns:a14="http://schemas.microsoft.com/office/drawing/2010/main" val="0"/>
              </a:ext>
            </a:extLst>
          </a:blip>
          <a:stretch>
            <a:fillRect/>
          </a:stretch>
        </p:blipFill>
        <p:spPr>
          <a:xfrm>
            <a:off x="18746655" y="2538816"/>
            <a:ext cx="323200" cy="361600"/>
          </a:xfrm>
          <a:prstGeom prst="rect">
            <a:avLst/>
          </a:prstGeom>
        </p:spPr>
      </p:pic>
      <p:pic>
        <p:nvPicPr>
          <p:cNvPr id="23" name="그림 22" descr="\documentclass{article}&#10;\usepackage{amsmath}&#10;\pagestyle{empty}&#10;\begin{document}&#10;&#10;&#10;$&#10;\nabla_{x}\,L\!\left(x^{\ast},\,\lambda^{\ast}\right)=0&#10;$&#10;&#10;\end{document}" title="IguanaTex Bitmap Display">
            <a:extLst>
              <a:ext uri="{FF2B5EF4-FFF2-40B4-BE49-F238E27FC236}">
                <a16:creationId xmlns:a16="http://schemas.microsoft.com/office/drawing/2014/main" id="{19DF72F2-5761-CB9D-D657-F985A5E25EC4}"/>
              </a:ext>
            </a:extLst>
          </p:cNvPr>
          <p:cNvPicPr>
            <a:picLocks noChangeAspect="1"/>
          </p:cNvPicPr>
          <p:nvPr>
            <p:custDataLst>
              <p:tags r:id="rId6"/>
            </p:custDataLst>
          </p:nvPr>
        </p:nvPicPr>
        <p:blipFill>
          <a:blip r:embed="rId20" cstate="print">
            <a:extLst>
              <a:ext uri="{28A0092B-C50C-407E-A947-70E740481C1C}">
                <a14:useLocalDpi xmlns:a14="http://schemas.microsoft.com/office/drawing/2010/main" val="0"/>
              </a:ext>
            </a:extLst>
          </a:blip>
          <a:stretch>
            <a:fillRect/>
          </a:stretch>
        </p:blipFill>
        <p:spPr>
          <a:xfrm>
            <a:off x="10225600" y="4072889"/>
            <a:ext cx="3932800" cy="534400"/>
          </a:xfrm>
          <a:prstGeom prst="rect">
            <a:avLst/>
          </a:prstGeom>
        </p:spPr>
      </p:pic>
      <p:pic>
        <p:nvPicPr>
          <p:cNvPr id="25" name="그림 24" descr="\documentclass{article}&#10;\usepackage{amsmath}&#10;\pagestyle{empty}&#10;\begin{document}&#10;&#10;&#10;$&#10;\min_y\ \frac12\,\|y-c\|^2&#10;\quad\text{s.t.}\quad a^\top y \le b&#10;$&#10;&#10;\end{document}" title="IguanaTex Bitmap Display">
            <a:extLst>
              <a:ext uri="{FF2B5EF4-FFF2-40B4-BE49-F238E27FC236}">
                <a16:creationId xmlns:a16="http://schemas.microsoft.com/office/drawing/2014/main" id="{9E06FE70-1C64-26A0-0874-A669D64D1FAA}"/>
              </a:ext>
            </a:extLst>
          </p:cNvPr>
          <p:cNvPicPr>
            <a:picLocks noChangeAspect="1"/>
          </p:cNvPicPr>
          <p:nvPr>
            <p:custDataLst>
              <p:tags r:id="rId7"/>
            </p:custDataLst>
          </p:nvPr>
        </p:nvPicPr>
        <p:blipFill>
          <a:blip r:embed="rId21" cstate="print">
            <a:extLst>
              <a:ext uri="{28A0092B-C50C-407E-A947-70E740481C1C}">
                <a14:useLocalDpi xmlns:a14="http://schemas.microsoft.com/office/drawing/2010/main" val="0"/>
              </a:ext>
            </a:extLst>
          </a:blip>
          <a:stretch>
            <a:fillRect/>
          </a:stretch>
        </p:blipFill>
        <p:spPr>
          <a:xfrm>
            <a:off x="5582200" y="6141781"/>
            <a:ext cx="6445100" cy="559713"/>
          </a:xfrm>
          <a:prstGeom prst="rect">
            <a:avLst/>
          </a:prstGeom>
        </p:spPr>
      </p:pic>
      <p:pic>
        <p:nvPicPr>
          <p:cNvPr id="27" name="그림 26" descr="\documentclass{article}&#10;\usepackage{amsmath}&#10;\pagestyle{empty}&#10;\begin{document}&#10;&#10;&#10;$&#10;c=\begin{bmatrix}2\\[2pt]1\end{bmatrix},\ &#10;a=\begin{bmatrix}1\\[2pt]1\end{bmatrix},\ &#10;b=2&#10;$&#10;&#10;\end{document}" title="IguanaTex Bitmap Display">
            <a:extLst>
              <a:ext uri="{FF2B5EF4-FFF2-40B4-BE49-F238E27FC236}">
                <a16:creationId xmlns:a16="http://schemas.microsoft.com/office/drawing/2014/main" id="{516FCE86-9A99-FC24-C871-90CEAA2B0ECD}"/>
              </a:ext>
            </a:extLst>
          </p:cNvPr>
          <p:cNvPicPr>
            <a:picLocks noChangeAspect="1"/>
          </p:cNvPicPr>
          <p:nvPr>
            <p:custDataLst>
              <p:tags r:id="rId8"/>
            </p:custDataLst>
          </p:nvPr>
        </p:nvPicPr>
        <p:blipFill>
          <a:blip r:embed="rId22" cstate="print">
            <a:extLst>
              <a:ext uri="{28A0092B-C50C-407E-A947-70E740481C1C}">
                <a14:useLocalDpi xmlns:a14="http://schemas.microsoft.com/office/drawing/2010/main" val="0"/>
              </a:ext>
            </a:extLst>
          </a:blip>
          <a:stretch>
            <a:fillRect/>
          </a:stretch>
        </p:blipFill>
        <p:spPr>
          <a:xfrm>
            <a:off x="13471781" y="5887261"/>
            <a:ext cx="4543374" cy="1010483"/>
          </a:xfrm>
          <a:prstGeom prst="rect">
            <a:avLst/>
          </a:prstGeom>
        </p:spPr>
      </p:pic>
      <p:pic>
        <p:nvPicPr>
          <p:cNvPr id="5" name="그림 4" descr="\documentclass{article}&#10;\usepackage{amsmath}&#10;\pagestyle{empty}&#10;\begin{document}&#10;&#10;&#10;$&#10;a^{\top}y=b&#10;$&#10;&#10;\end{document}" title="IguanaTex Bitmap Display">
            <a:extLst>
              <a:ext uri="{FF2B5EF4-FFF2-40B4-BE49-F238E27FC236}">
                <a16:creationId xmlns:a16="http://schemas.microsoft.com/office/drawing/2014/main" id="{C5272EB5-C1C3-B1C9-AA6B-EAB3ACBF50AB}"/>
              </a:ext>
            </a:extLst>
          </p:cNvPr>
          <p:cNvPicPr>
            <a:picLocks noChangeAspect="1"/>
          </p:cNvPicPr>
          <p:nvPr>
            <p:custDataLst>
              <p:tags r:id="rId9"/>
            </p:custDataLst>
          </p:nvPr>
        </p:nvPicPr>
        <p:blipFill>
          <a:blip r:embed="rId23" cstate="print">
            <a:extLst>
              <a:ext uri="{28A0092B-C50C-407E-A947-70E740481C1C}">
                <a14:useLocalDpi xmlns:a14="http://schemas.microsoft.com/office/drawing/2010/main" val="0"/>
              </a:ext>
            </a:extLst>
          </a:blip>
          <a:stretch>
            <a:fillRect/>
          </a:stretch>
        </p:blipFill>
        <p:spPr>
          <a:xfrm>
            <a:off x="12913800" y="7610941"/>
            <a:ext cx="1524000" cy="466259"/>
          </a:xfrm>
          <a:prstGeom prst="rect">
            <a:avLst/>
          </a:prstGeom>
        </p:spPr>
      </p:pic>
      <p:pic>
        <p:nvPicPr>
          <p:cNvPr id="9" name="그림 8" descr="\documentclass{article}&#10;\usepackage{amsmath}&#10;\pagestyle{empty}&#10;\begin{document}&#10;&#10;&#10;$&#10;\mathcal{L}(y,\lambda)&#10;= \tfrac12\|y-c\|^2 + \lambda\,(a^{\top}y-b),\qquad \lambda\ge 0&#10;$&#10;&#10;\end{document}" title="IguanaTex Bitmap Display">
            <a:extLst>
              <a:ext uri="{FF2B5EF4-FFF2-40B4-BE49-F238E27FC236}">
                <a16:creationId xmlns:a16="http://schemas.microsoft.com/office/drawing/2014/main" id="{004D7AAD-CD66-6FE6-3617-EF239E075A07}"/>
              </a:ext>
            </a:extLst>
          </p:cNvPr>
          <p:cNvPicPr>
            <a:picLocks noChangeAspect="1"/>
          </p:cNvPicPr>
          <p:nvPr>
            <p:custDataLst>
              <p:tags r:id="rId10"/>
            </p:custDataLst>
          </p:nvPr>
        </p:nvPicPr>
        <p:blipFill>
          <a:blip r:embed="rId24" cstate="print">
            <a:extLst>
              <a:ext uri="{28A0092B-C50C-407E-A947-70E740481C1C}">
                <a14:useLocalDpi xmlns:a14="http://schemas.microsoft.com/office/drawing/2010/main" val="0"/>
              </a:ext>
            </a:extLst>
          </a:blip>
          <a:stretch>
            <a:fillRect/>
          </a:stretch>
        </p:blipFill>
        <p:spPr>
          <a:xfrm>
            <a:off x="7471948" y="9050882"/>
            <a:ext cx="10384000" cy="640000"/>
          </a:xfrm>
          <a:prstGeom prst="rect">
            <a:avLst/>
          </a:prstGeom>
        </p:spPr>
      </p:pic>
      <p:pic>
        <p:nvPicPr>
          <p:cNvPr id="12" name="그림 11" descr="\documentclass{article}&#10;\usepackage{amsmath}&#10;\pagestyle{empty}&#10;\begin{document}&#10;&#10;&#10;$&#10;\nabla_y \mathcal{L}(y,\lambda)= (y-c)+\lambda a = 0&#10;$&#10;&#10;\end{document}" title="IguanaTex Bitmap Display">
            <a:extLst>
              <a:ext uri="{FF2B5EF4-FFF2-40B4-BE49-F238E27FC236}">
                <a16:creationId xmlns:a16="http://schemas.microsoft.com/office/drawing/2014/main" id="{438E53A6-B50C-8E77-8E1C-F5940D0C1083}"/>
              </a:ext>
            </a:extLst>
          </p:cNvPr>
          <p:cNvPicPr>
            <a:picLocks noChangeAspect="1"/>
          </p:cNvPicPr>
          <p:nvPr>
            <p:custDataLst>
              <p:tags r:id="rId11"/>
            </p:custDataLst>
          </p:nvPr>
        </p:nvPicPr>
        <p:blipFill>
          <a:blip r:embed="rId25" cstate="print">
            <a:extLst>
              <a:ext uri="{28A0092B-C50C-407E-A947-70E740481C1C}">
                <a14:useLocalDpi xmlns:a14="http://schemas.microsoft.com/office/drawing/2010/main" val="0"/>
              </a:ext>
            </a:extLst>
          </a:blip>
          <a:stretch>
            <a:fillRect/>
          </a:stretch>
        </p:blipFill>
        <p:spPr>
          <a:xfrm>
            <a:off x="9286348" y="10647092"/>
            <a:ext cx="6755200" cy="556800"/>
          </a:xfrm>
          <a:prstGeom prst="rect">
            <a:avLst/>
          </a:prstGeom>
        </p:spPr>
      </p:pic>
      <p:sp>
        <p:nvSpPr>
          <p:cNvPr id="13" name="TextBox 12">
            <a:extLst>
              <a:ext uri="{FF2B5EF4-FFF2-40B4-BE49-F238E27FC236}">
                <a16:creationId xmlns:a16="http://schemas.microsoft.com/office/drawing/2014/main" id="{22D14305-0C5A-CBAA-9006-263E4B1F1F21}"/>
              </a:ext>
            </a:extLst>
          </p:cNvPr>
          <p:cNvSpPr txBox="1"/>
          <p:nvPr/>
        </p:nvSpPr>
        <p:spPr>
          <a:xfrm>
            <a:off x="2937322" y="10692821"/>
            <a:ext cx="5289755" cy="584775"/>
          </a:xfrm>
          <a:prstGeom prst="rect">
            <a:avLst/>
          </a:prstGeom>
          <a:noFill/>
        </p:spPr>
        <p:txBody>
          <a:bodyPr wrap="square">
            <a:spAutoFit/>
          </a:bodyPr>
          <a:lstStyle/>
          <a:p>
            <a:r>
              <a:rPr lang="en-US" altLang="ko-KR" sz="3200" b="1" dirty="0">
                <a:latin typeface="+mn-ea"/>
              </a:rPr>
              <a:t>KKT </a:t>
            </a:r>
            <a:r>
              <a:rPr lang="ko-KR" altLang="en-US" sz="3200" b="1" dirty="0">
                <a:latin typeface="+mn-ea"/>
              </a:rPr>
              <a:t>정지조건</a:t>
            </a:r>
            <a:endParaRPr lang="ko-KR" altLang="en-US" sz="3200" b="1" dirty="0"/>
          </a:p>
        </p:txBody>
      </p:sp>
      <p:pic>
        <p:nvPicPr>
          <p:cNvPr id="28" name="그림 27" descr="\documentclass{article}&#10;\usepackage{amsmath}&#10;\pagestyle{empty}&#10;\begin{document}&#10;&#10;&#10;$&#10;y=c-\lambda a&#10;$&#10;&#10;\end{document}" title="IguanaTex Bitmap Display">
            <a:extLst>
              <a:ext uri="{FF2B5EF4-FFF2-40B4-BE49-F238E27FC236}">
                <a16:creationId xmlns:a16="http://schemas.microsoft.com/office/drawing/2014/main" id="{1650EB02-BB64-D049-FBB6-394C9DCF18A1}"/>
              </a:ext>
            </a:extLst>
          </p:cNvPr>
          <p:cNvPicPr>
            <a:picLocks noChangeAspect="1"/>
          </p:cNvPicPr>
          <p:nvPr>
            <p:custDataLst>
              <p:tags r:id="rId12"/>
            </p:custDataLst>
          </p:nvPr>
        </p:nvPicPr>
        <p:blipFill>
          <a:blip r:embed="rId26" cstate="print">
            <a:extLst>
              <a:ext uri="{28A0092B-C50C-407E-A947-70E740481C1C}">
                <a14:useLocalDpi xmlns:a14="http://schemas.microsoft.com/office/drawing/2010/main" val="0"/>
              </a:ext>
            </a:extLst>
          </a:blip>
          <a:stretch>
            <a:fillRect/>
          </a:stretch>
        </p:blipFill>
        <p:spPr>
          <a:xfrm>
            <a:off x="10811300" y="12053121"/>
            <a:ext cx="2432000" cy="476800"/>
          </a:xfrm>
          <a:prstGeom prst="rect">
            <a:avLst/>
          </a:prstGeom>
        </p:spPr>
      </p:pic>
      <p:sp>
        <p:nvSpPr>
          <p:cNvPr id="2" name="TextBox 1">
            <a:extLst>
              <a:ext uri="{FF2B5EF4-FFF2-40B4-BE49-F238E27FC236}">
                <a16:creationId xmlns:a16="http://schemas.microsoft.com/office/drawing/2014/main" id="{71B85D8C-CC5D-C47A-B493-5908CD206DCA}"/>
              </a:ext>
            </a:extLst>
          </p:cNvPr>
          <p:cNvSpPr txBox="1"/>
          <p:nvPr/>
        </p:nvSpPr>
        <p:spPr>
          <a:xfrm>
            <a:off x="5343800" y="4022514"/>
            <a:ext cx="5289755" cy="584775"/>
          </a:xfrm>
          <a:prstGeom prst="rect">
            <a:avLst/>
          </a:prstGeom>
          <a:noFill/>
        </p:spPr>
        <p:txBody>
          <a:bodyPr wrap="square">
            <a:spAutoFit/>
          </a:bodyPr>
          <a:lstStyle/>
          <a:p>
            <a:r>
              <a:rPr lang="en-US" altLang="ko-KR" sz="3200" b="1" dirty="0">
                <a:latin typeface="+mn-ea"/>
              </a:rPr>
              <a:t>KKT </a:t>
            </a:r>
            <a:r>
              <a:rPr lang="ko-KR" altLang="en-US" sz="3200" b="1" dirty="0">
                <a:latin typeface="+mn-ea"/>
              </a:rPr>
              <a:t>정지조건</a:t>
            </a:r>
            <a:endParaRPr lang="ko-KR" altLang="en-US" sz="3200" b="1" dirty="0"/>
          </a:p>
        </p:txBody>
      </p:sp>
    </p:spTree>
    <p:extLst>
      <p:ext uri="{BB962C8B-B14F-4D97-AF65-F5344CB8AC3E}">
        <p14:creationId xmlns:p14="http://schemas.microsoft.com/office/powerpoint/2010/main" val="3288764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23032-ADE2-ACB1-116C-EA1CDE353904}"/>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934A831-8091-E778-18AE-286ED0B7F624}"/>
              </a:ext>
            </a:extLst>
          </p:cNvPr>
          <p:cNvSpPr/>
          <p:nvPr/>
        </p:nvSpPr>
        <p:spPr>
          <a:xfrm>
            <a:off x="0" y="0"/>
            <a:ext cx="821042" cy="13716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458A61AF-6996-4204-ED5A-1925331688C8}"/>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1E9D872E-8187-3E3A-3385-6840D888D290}"/>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ko-KR" altLang="en-US" sz="6000" b="1" dirty="0">
                <a:solidFill>
                  <a:srgbClr val="000000"/>
                </a:solidFill>
                <a:latin typeface="Arial" panose="020B0604020202020204" pitchFamily="34" charset="0"/>
                <a:cs typeface="Arial" panose="020B0604020202020204" pitchFamily="34" charset="0"/>
              </a:rPr>
              <a:t>예제 </a:t>
            </a:r>
            <a:r>
              <a:rPr lang="en-US" altLang="ko-KR" sz="6000" b="1" dirty="0">
                <a:solidFill>
                  <a:srgbClr val="000000"/>
                </a:solidFill>
                <a:latin typeface="Arial" panose="020B0604020202020204" pitchFamily="34" charset="0"/>
                <a:cs typeface="Arial" panose="020B0604020202020204" pitchFamily="34" charset="0"/>
              </a:rPr>
              <a:t>2 (2</a:t>
            </a:r>
            <a:r>
              <a:rPr lang="ko-KR" altLang="en-US" sz="6000" b="1" dirty="0">
                <a:solidFill>
                  <a:srgbClr val="000000"/>
                </a:solidFill>
                <a:latin typeface="Arial" panose="020B0604020202020204" pitchFamily="34" charset="0"/>
                <a:cs typeface="Arial" panose="020B0604020202020204" pitchFamily="34" charset="0"/>
              </a:rPr>
              <a:t>차원 문제</a:t>
            </a:r>
            <a:r>
              <a:rPr lang="en-US" altLang="ko-KR" sz="6000" b="1" dirty="0">
                <a:solidFill>
                  <a:srgbClr val="000000"/>
                </a:solidFill>
                <a:latin typeface="Arial" panose="020B0604020202020204" pitchFamily="34" charset="0"/>
                <a:cs typeface="Arial" panose="020B0604020202020204" pitchFamily="34" charset="0"/>
              </a:rPr>
              <a:t>)</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6908B5-C0B5-3A8F-F7C4-CD81AD052579}"/>
              </a:ext>
            </a:extLst>
          </p:cNvPr>
          <p:cNvSpPr txBox="1"/>
          <p:nvPr/>
        </p:nvSpPr>
        <p:spPr>
          <a:xfrm>
            <a:off x="2086897" y="2244213"/>
            <a:ext cx="21154103" cy="959980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ko-KR" altLang="en-US" sz="3200" dirty="0">
                <a:latin typeface="+mn-ea"/>
              </a:rPr>
              <a:t>함수       가       에서 로컬 최소값이 되기 위한 필요조건은              와              에서     의 </a:t>
            </a:r>
            <a:r>
              <a:rPr lang="en-US" altLang="ko-KR" sz="3200" dirty="0">
                <a:latin typeface="+mn-ea"/>
              </a:rPr>
              <a:t>gradient</a:t>
            </a:r>
            <a:r>
              <a:rPr lang="ko-KR" altLang="en-US" sz="3200" dirty="0">
                <a:latin typeface="+mn-ea"/>
              </a:rPr>
              <a:t>가 </a:t>
            </a:r>
            <a:r>
              <a:rPr lang="en-US" altLang="ko-KR" sz="3200" dirty="0">
                <a:latin typeface="+mn-ea"/>
              </a:rPr>
              <a:t>0</a:t>
            </a:r>
            <a:r>
              <a:rPr lang="ko-KR" altLang="en-US" sz="3200" dirty="0">
                <a:latin typeface="+mn-ea"/>
              </a:rPr>
              <a:t>이 되는 것</a:t>
            </a: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문제 정식화 </a:t>
            </a:r>
            <a:r>
              <a:rPr lang="en-US" altLang="ko-KR" sz="3200" dirty="0">
                <a:latin typeface="+mn-ea"/>
              </a:rPr>
              <a:t>:</a:t>
            </a:r>
          </a:p>
          <a:p>
            <a:pPr>
              <a:lnSpc>
                <a:spcPct val="150000"/>
              </a:lnSpc>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활성 제약에</a:t>
            </a:r>
            <a:r>
              <a:rPr lang="en-US" altLang="ko-KR" sz="3200" dirty="0">
                <a:latin typeface="+mn-ea"/>
              </a:rPr>
              <a:t> </a:t>
            </a:r>
            <a:r>
              <a:rPr lang="ko-KR" altLang="en-US" sz="3200" dirty="0">
                <a:latin typeface="+mn-ea"/>
              </a:rPr>
              <a:t>대입</a:t>
            </a:r>
            <a:r>
              <a:rPr lang="en-US" altLang="ko-KR" sz="3200" dirty="0">
                <a:latin typeface="+mn-ea"/>
              </a:rPr>
              <a:t> :</a:t>
            </a: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marL="342900" indent="-342900">
              <a:lnSpc>
                <a:spcPct val="150000"/>
              </a:lnSpc>
              <a:buFont typeface="Arial" panose="020B0604020202020204" pitchFamily="34" charset="0"/>
              <a:buChar char="•"/>
            </a:pPr>
            <a:endParaRPr lang="en-US" altLang="ko-KR" sz="3200" dirty="0">
              <a:latin typeface="+mn-ea"/>
            </a:endParaRPr>
          </a:p>
          <a:p>
            <a:pPr>
              <a:lnSpc>
                <a:spcPct val="150000"/>
              </a:lnSpc>
            </a:pPr>
            <a:endParaRPr lang="en-US" altLang="ko-KR" sz="3200" dirty="0">
              <a:latin typeface="+mn-ea"/>
            </a:endParaRPr>
          </a:p>
          <a:p>
            <a:pPr marL="342900" indent="-342900">
              <a:lnSpc>
                <a:spcPct val="150000"/>
              </a:lnSpc>
              <a:buFont typeface="Arial" panose="020B0604020202020204" pitchFamily="34" charset="0"/>
              <a:buChar char="•"/>
            </a:pPr>
            <a:r>
              <a:rPr lang="ko-KR" altLang="en-US" sz="3200" dirty="0">
                <a:latin typeface="+mn-ea"/>
              </a:rPr>
              <a:t>결과</a:t>
            </a:r>
            <a:r>
              <a:rPr lang="en-US" altLang="ko-KR" sz="3200" dirty="0">
                <a:latin typeface="+mn-ea"/>
              </a:rPr>
              <a:t>(</a:t>
            </a:r>
            <a:r>
              <a:rPr lang="ko-KR" altLang="en-US" sz="3200" dirty="0">
                <a:latin typeface="+mn-ea"/>
              </a:rPr>
              <a:t>최적해</a:t>
            </a:r>
            <a:r>
              <a:rPr lang="en-US" altLang="ko-KR" sz="3200" dirty="0">
                <a:latin typeface="+mn-ea"/>
              </a:rPr>
              <a:t>) :</a:t>
            </a:r>
          </a:p>
        </p:txBody>
      </p:sp>
      <p:pic>
        <p:nvPicPr>
          <p:cNvPr id="7" name="그림 6" descr="\documentclass{article}&#10;\usepackage{amsmath}&#10;\pagestyle{empty}&#10;\begin{document}&#10;&#10;&#10;$&#10;f(x)&#10;$&#10;&#10;\end{document}" title="IguanaTex Bitmap Display">
            <a:extLst>
              <a:ext uri="{FF2B5EF4-FFF2-40B4-BE49-F238E27FC236}">
                <a16:creationId xmlns:a16="http://schemas.microsoft.com/office/drawing/2014/main" id="{687BCDC9-326C-010E-0EC4-6186885BDCEB}"/>
              </a:ext>
            </a:extLst>
          </p:cNvPr>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3523931" y="2514600"/>
            <a:ext cx="728990" cy="407162"/>
          </a:xfrm>
          <a:prstGeom prst="rect">
            <a:avLst/>
          </a:prstGeom>
        </p:spPr>
      </p:pic>
      <p:pic>
        <p:nvPicPr>
          <p:cNvPr id="15" name="그림 14" descr="\documentclass{article}&#10;\usepackage{amsmath}&#10;\pagestyle{empty}&#10;\begin{document}&#10;&#10;&#10;$&#10;x^{\ast}&#10;$&#10;&#10;\end{document}" title="IguanaTex Bitmap Display">
            <a:extLst>
              <a:ext uri="{FF2B5EF4-FFF2-40B4-BE49-F238E27FC236}">
                <a16:creationId xmlns:a16="http://schemas.microsoft.com/office/drawing/2014/main" id="{30AD8A38-892C-EFF1-768F-38D0B14B8D23}"/>
              </a:ext>
            </a:extLst>
          </p:cNvPr>
          <p:cNvPicPr>
            <a:picLocks noChangeAspect="1"/>
          </p:cNvPicPr>
          <p:nvPr>
            <p:custDataLst>
              <p:tags r:id="rId2"/>
            </p:custDataLst>
          </p:nvPr>
        </p:nvPicPr>
        <p:blipFill>
          <a:blip r:embed="rId16" cstate="print">
            <a:extLst>
              <a:ext uri="{28A0092B-C50C-407E-A947-70E740481C1C}">
                <a14:useLocalDpi xmlns:a14="http://schemas.microsoft.com/office/drawing/2010/main" val="0"/>
              </a:ext>
            </a:extLst>
          </a:blip>
          <a:stretch>
            <a:fillRect/>
          </a:stretch>
        </p:blipFill>
        <p:spPr>
          <a:xfrm>
            <a:off x="5105400" y="2524400"/>
            <a:ext cx="476800" cy="371200"/>
          </a:xfrm>
          <a:prstGeom prst="rect">
            <a:avLst/>
          </a:prstGeom>
        </p:spPr>
      </p:pic>
      <p:pic>
        <p:nvPicPr>
          <p:cNvPr id="16" name="그림 15" descr="\documentclass{article}&#10;\usepackage{amsmath}&#10;\pagestyle{empty}&#10;\begin{document}&#10;&#10;&#10;$&#10;x = x^{\ast}&#10;$&#10;&#10;\end{document}" title="IguanaTex Bitmap Display">
            <a:extLst>
              <a:ext uri="{FF2B5EF4-FFF2-40B4-BE49-F238E27FC236}">
                <a16:creationId xmlns:a16="http://schemas.microsoft.com/office/drawing/2014/main" id="{73D3EBBE-46A2-05C7-C518-D74C4A488841}"/>
              </a:ext>
            </a:extLst>
          </p:cNvPr>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13675800" y="2524400"/>
            <a:ext cx="1488000" cy="371200"/>
          </a:xfrm>
          <a:prstGeom prst="rect">
            <a:avLst/>
          </a:prstGeom>
        </p:spPr>
      </p:pic>
      <p:pic>
        <p:nvPicPr>
          <p:cNvPr id="20" name="그림 19" descr="\documentclass{article}&#10;\usepackage{amsmath}&#10;\pagestyle{empty}&#10;\begin{document}&#10;&#10;&#10;$&#10;\lambda = \lambda^{\ast}&#10;$&#10;&#10;\end{document}" title="IguanaTex Bitmap Display">
            <a:extLst>
              <a:ext uri="{FF2B5EF4-FFF2-40B4-BE49-F238E27FC236}">
                <a16:creationId xmlns:a16="http://schemas.microsoft.com/office/drawing/2014/main" id="{037E6B49-FF18-74CF-DC17-52A79472B79C}"/>
              </a:ext>
            </a:extLst>
          </p:cNvPr>
          <p:cNvPicPr>
            <a:picLocks noChangeAspect="1"/>
          </p:cNvPicPr>
          <p:nvPr>
            <p:custDataLst>
              <p:tags r:id="rId4"/>
            </p:custDataLst>
          </p:nvPr>
        </p:nvPicPr>
        <p:blipFill>
          <a:blip r:embed="rId18" cstate="print">
            <a:extLst>
              <a:ext uri="{28A0092B-C50C-407E-A947-70E740481C1C}">
                <a14:useLocalDpi xmlns:a14="http://schemas.microsoft.com/office/drawing/2010/main" val="0"/>
              </a:ext>
            </a:extLst>
          </a:blip>
          <a:stretch>
            <a:fillRect/>
          </a:stretch>
        </p:blipFill>
        <p:spPr>
          <a:xfrm>
            <a:off x="16154400" y="2514600"/>
            <a:ext cx="1488000" cy="374400"/>
          </a:xfrm>
          <a:prstGeom prst="rect">
            <a:avLst/>
          </a:prstGeom>
        </p:spPr>
      </p:pic>
      <p:pic>
        <p:nvPicPr>
          <p:cNvPr id="22" name="그림 21" descr="\documentclass{article}&#10;\usepackage{amsmath}&#10;\pagestyle{empty}&#10;\begin{document}&#10;&#10;&#10;$&#10;L&#10;$&#10;&#10;\end{document}" title="IguanaTex Bitmap Display">
            <a:extLst>
              <a:ext uri="{FF2B5EF4-FFF2-40B4-BE49-F238E27FC236}">
                <a16:creationId xmlns:a16="http://schemas.microsoft.com/office/drawing/2014/main" id="{D1248FF7-C460-80C0-D348-B98927547EED}"/>
              </a:ext>
            </a:extLst>
          </p:cNvPr>
          <p:cNvPicPr>
            <a:picLocks noChangeAspect="1"/>
          </p:cNvPicPr>
          <p:nvPr>
            <p:custDataLst>
              <p:tags r:id="rId5"/>
            </p:custDataLst>
          </p:nvPr>
        </p:nvPicPr>
        <p:blipFill>
          <a:blip r:embed="rId19" cstate="print">
            <a:extLst>
              <a:ext uri="{28A0092B-C50C-407E-A947-70E740481C1C}">
                <a14:useLocalDpi xmlns:a14="http://schemas.microsoft.com/office/drawing/2010/main" val="0"/>
              </a:ext>
            </a:extLst>
          </a:blip>
          <a:stretch>
            <a:fillRect/>
          </a:stretch>
        </p:blipFill>
        <p:spPr>
          <a:xfrm>
            <a:off x="18746655" y="2538816"/>
            <a:ext cx="323200" cy="361600"/>
          </a:xfrm>
          <a:prstGeom prst="rect">
            <a:avLst/>
          </a:prstGeom>
        </p:spPr>
      </p:pic>
      <p:pic>
        <p:nvPicPr>
          <p:cNvPr id="23" name="그림 22" descr="\documentclass{article}&#10;\usepackage{amsmath}&#10;\pagestyle{empty}&#10;\begin{document}&#10;&#10;&#10;$&#10;\nabla_{x}\,L\!\left(x^{\ast},\,\lambda^{\ast}\right)=0&#10;$&#10;&#10;\end{document}" title="IguanaTex Bitmap Display">
            <a:extLst>
              <a:ext uri="{FF2B5EF4-FFF2-40B4-BE49-F238E27FC236}">
                <a16:creationId xmlns:a16="http://schemas.microsoft.com/office/drawing/2014/main" id="{95E34D8C-0B42-3934-2347-F76987E89EE1}"/>
              </a:ext>
            </a:extLst>
          </p:cNvPr>
          <p:cNvPicPr>
            <a:picLocks noChangeAspect="1"/>
          </p:cNvPicPr>
          <p:nvPr>
            <p:custDataLst>
              <p:tags r:id="rId6"/>
            </p:custDataLst>
          </p:nvPr>
        </p:nvPicPr>
        <p:blipFill>
          <a:blip r:embed="rId20" cstate="print">
            <a:extLst>
              <a:ext uri="{28A0092B-C50C-407E-A947-70E740481C1C}">
                <a14:useLocalDpi xmlns:a14="http://schemas.microsoft.com/office/drawing/2010/main" val="0"/>
              </a:ext>
            </a:extLst>
          </a:blip>
          <a:stretch>
            <a:fillRect/>
          </a:stretch>
        </p:blipFill>
        <p:spPr>
          <a:xfrm>
            <a:off x="10225600" y="4072889"/>
            <a:ext cx="3932800" cy="534400"/>
          </a:xfrm>
          <a:prstGeom prst="rect">
            <a:avLst/>
          </a:prstGeom>
        </p:spPr>
      </p:pic>
      <p:pic>
        <p:nvPicPr>
          <p:cNvPr id="25" name="그림 24" descr="\documentclass{article}&#10;\usepackage{amsmath}&#10;\pagestyle{empty}&#10;\begin{document}&#10;&#10;&#10;$&#10;\min_y\ \frac12\,\|y-c\|^2&#10;\quad\text{s.t.}\quad a^\top y \le b&#10;$&#10;&#10;\end{document}" title="IguanaTex Bitmap Display">
            <a:extLst>
              <a:ext uri="{FF2B5EF4-FFF2-40B4-BE49-F238E27FC236}">
                <a16:creationId xmlns:a16="http://schemas.microsoft.com/office/drawing/2014/main" id="{3F9E2316-3339-84D5-9C23-CBD11D8F7F61}"/>
              </a:ext>
            </a:extLst>
          </p:cNvPr>
          <p:cNvPicPr>
            <a:picLocks noChangeAspect="1"/>
          </p:cNvPicPr>
          <p:nvPr>
            <p:custDataLst>
              <p:tags r:id="rId7"/>
            </p:custDataLst>
          </p:nvPr>
        </p:nvPicPr>
        <p:blipFill>
          <a:blip r:embed="rId21" cstate="print">
            <a:extLst>
              <a:ext uri="{28A0092B-C50C-407E-A947-70E740481C1C}">
                <a14:useLocalDpi xmlns:a14="http://schemas.microsoft.com/office/drawing/2010/main" val="0"/>
              </a:ext>
            </a:extLst>
          </a:blip>
          <a:stretch>
            <a:fillRect/>
          </a:stretch>
        </p:blipFill>
        <p:spPr>
          <a:xfrm>
            <a:off x="5582200" y="6141781"/>
            <a:ext cx="6445100" cy="559713"/>
          </a:xfrm>
          <a:prstGeom prst="rect">
            <a:avLst/>
          </a:prstGeom>
        </p:spPr>
      </p:pic>
      <p:pic>
        <p:nvPicPr>
          <p:cNvPr id="27" name="그림 26" descr="\documentclass{article}&#10;\usepackage{amsmath}&#10;\pagestyle{empty}&#10;\begin{document}&#10;&#10;&#10;$&#10;c=\begin{bmatrix}2\\[2pt]1\end{bmatrix},\ &#10;a=\begin{bmatrix}1\\[2pt]1\end{bmatrix},\ &#10;b=2&#10;$&#10;&#10;\end{document}" title="IguanaTex Bitmap Display">
            <a:extLst>
              <a:ext uri="{FF2B5EF4-FFF2-40B4-BE49-F238E27FC236}">
                <a16:creationId xmlns:a16="http://schemas.microsoft.com/office/drawing/2014/main" id="{06A44FC5-AD25-B875-A2F3-6CB7BFA1C929}"/>
              </a:ext>
            </a:extLst>
          </p:cNvPr>
          <p:cNvPicPr>
            <a:picLocks noChangeAspect="1"/>
          </p:cNvPicPr>
          <p:nvPr>
            <p:custDataLst>
              <p:tags r:id="rId8"/>
            </p:custDataLst>
          </p:nvPr>
        </p:nvPicPr>
        <p:blipFill>
          <a:blip r:embed="rId22" cstate="print">
            <a:extLst>
              <a:ext uri="{28A0092B-C50C-407E-A947-70E740481C1C}">
                <a14:useLocalDpi xmlns:a14="http://schemas.microsoft.com/office/drawing/2010/main" val="0"/>
              </a:ext>
            </a:extLst>
          </a:blip>
          <a:stretch>
            <a:fillRect/>
          </a:stretch>
        </p:blipFill>
        <p:spPr>
          <a:xfrm>
            <a:off x="13471781" y="5887261"/>
            <a:ext cx="4543374" cy="1010483"/>
          </a:xfrm>
          <a:prstGeom prst="rect">
            <a:avLst/>
          </a:prstGeom>
        </p:spPr>
      </p:pic>
      <p:pic>
        <p:nvPicPr>
          <p:cNvPr id="34" name="그림 33" descr="\documentclass{article}&#10;\usepackage{amsmath}&#10;\pagestyle{empty}&#10;\begin{document}&#10;&#10;&#10;$&#10;a^{\top}y=b&#10;\ \Longrightarrow\&#10;a^{\top}(c-\lambda a)=b&#10;\ \Longrightarrow\&#10;\lambda^{\star}=\frac{a^{\top}c-b}{\|a\|^2}&#10;=\frac{3-2}{\,1^2+1^2\,}&#10;=\frac{1}{2}=0.5&#10;$&#10;&#10;\end{document}" title="IguanaTex Bitmap Display">
            <a:extLst>
              <a:ext uri="{FF2B5EF4-FFF2-40B4-BE49-F238E27FC236}">
                <a16:creationId xmlns:a16="http://schemas.microsoft.com/office/drawing/2014/main" id="{34DF5BBA-E74E-EF34-0C2D-736634810FE8}"/>
              </a:ext>
            </a:extLst>
          </p:cNvPr>
          <p:cNvPicPr>
            <a:picLocks noChangeAspect="1"/>
          </p:cNvPicPr>
          <p:nvPr>
            <p:custDataLst>
              <p:tags r:id="rId9"/>
            </p:custDataLst>
          </p:nvPr>
        </p:nvPicPr>
        <p:blipFill>
          <a:blip r:embed="rId23" cstate="print">
            <a:extLst>
              <a:ext uri="{28A0092B-C50C-407E-A947-70E740481C1C}">
                <a14:useLocalDpi xmlns:a14="http://schemas.microsoft.com/office/drawing/2010/main" val="0"/>
              </a:ext>
            </a:extLst>
          </a:blip>
          <a:stretch>
            <a:fillRect/>
          </a:stretch>
        </p:blipFill>
        <p:spPr>
          <a:xfrm>
            <a:off x="4486507" y="8859354"/>
            <a:ext cx="15500800" cy="832000"/>
          </a:xfrm>
          <a:prstGeom prst="rect">
            <a:avLst/>
          </a:prstGeom>
        </p:spPr>
      </p:pic>
      <p:pic>
        <p:nvPicPr>
          <p:cNvPr id="35" name="그림 34" descr="\documentclass{article}&#10;\usepackage{amsmath}&#10;\pagestyle{empty}&#10;\begin{document}&#10;&#10;&#10;$&#10;y=c-\lambda a&#10;$&#10;&#10;\end{document}" title="IguanaTex Bitmap Display">
            <a:extLst>
              <a:ext uri="{FF2B5EF4-FFF2-40B4-BE49-F238E27FC236}">
                <a16:creationId xmlns:a16="http://schemas.microsoft.com/office/drawing/2014/main" id="{9DB4CBB4-B35D-EFD0-B1BD-466FD8214DD6}"/>
              </a:ext>
            </a:extLst>
          </p:cNvPr>
          <p:cNvPicPr>
            <a:picLocks noChangeAspect="1"/>
          </p:cNvPicPr>
          <p:nvPr>
            <p:custDataLst>
              <p:tags r:id="rId10"/>
            </p:custDataLst>
          </p:nvPr>
        </p:nvPicPr>
        <p:blipFill>
          <a:blip r:embed="rId24" cstate="print">
            <a:extLst>
              <a:ext uri="{28A0092B-C50C-407E-A947-70E740481C1C}">
                <a14:useLocalDpi xmlns:a14="http://schemas.microsoft.com/office/drawing/2010/main" val="0"/>
              </a:ext>
            </a:extLst>
          </a:blip>
          <a:stretch>
            <a:fillRect/>
          </a:stretch>
        </p:blipFill>
        <p:spPr>
          <a:xfrm>
            <a:off x="6687400" y="7527886"/>
            <a:ext cx="2432000" cy="476800"/>
          </a:xfrm>
          <a:prstGeom prst="rect">
            <a:avLst/>
          </a:prstGeom>
        </p:spPr>
      </p:pic>
      <p:pic>
        <p:nvPicPr>
          <p:cNvPr id="36" name="그림 35" descr="\documentclass{article}&#10;\usepackage{amsmath}&#10;\pagestyle{empty}&#10;\begin{document}&#10;&#10;&#10;$&#10;y^{\star}&#10;= c-\lambda^{\star} a&#10;= \begin{bmatrix}2\\[2pt]1\end{bmatrix}&#10;- 0.5\!\begin{bmatrix}1\\[2pt]1\end{bmatrix}&#10;=\boxed{\begin{bmatrix}1.5\\[2pt]0.5\end{bmatrix}}&#10;$&#10;&#10;\end{document}" title="IguanaTex Bitmap Display">
            <a:extLst>
              <a:ext uri="{FF2B5EF4-FFF2-40B4-BE49-F238E27FC236}">
                <a16:creationId xmlns:a16="http://schemas.microsoft.com/office/drawing/2014/main" id="{9EFE5CEA-7A54-958F-6315-DA2EF2D36451}"/>
              </a:ext>
            </a:extLst>
          </p:cNvPr>
          <p:cNvPicPr>
            <a:picLocks noChangeAspect="1"/>
          </p:cNvPicPr>
          <p:nvPr>
            <p:custDataLst>
              <p:tags r:id="rId11"/>
            </p:custDataLst>
          </p:nvPr>
        </p:nvPicPr>
        <p:blipFill>
          <a:blip r:embed="rId25" cstate="print">
            <a:extLst>
              <a:ext uri="{28A0092B-C50C-407E-A947-70E740481C1C}">
                <a14:useLocalDpi xmlns:a14="http://schemas.microsoft.com/office/drawing/2010/main" val="0"/>
              </a:ext>
            </a:extLst>
          </a:blip>
          <a:stretch>
            <a:fillRect/>
          </a:stretch>
        </p:blipFill>
        <p:spPr>
          <a:xfrm>
            <a:off x="7724800" y="10780964"/>
            <a:ext cx="8934400" cy="1744000"/>
          </a:xfrm>
          <a:prstGeom prst="rect">
            <a:avLst/>
          </a:prstGeom>
        </p:spPr>
      </p:pic>
      <p:pic>
        <p:nvPicPr>
          <p:cNvPr id="2" name="그림 1" descr="\documentclass{article}&#10;\usepackage{amsmath}&#10;\pagestyle{empty}&#10;\begin{document}&#10;&#10;&#10;$&#10;a^{\top}y=b&#10;$&#10;&#10;\end{document}" title="IguanaTex Bitmap Display">
            <a:extLst>
              <a:ext uri="{FF2B5EF4-FFF2-40B4-BE49-F238E27FC236}">
                <a16:creationId xmlns:a16="http://schemas.microsoft.com/office/drawing/2014/main" id="{240FE25D-4586-4E7C-F71F-9CA71A641310}"/>
              </a:ext>
            </a:extLst>
          </p:cNvPr>
          <p:cNvPicPr>
            <a:picLocks noChangeAspect="1"/>
          </p:cNvPicPr>
          <p:nvPr>
            <p:custDataLst>
              <p:tags r:id="rId12"/>
            </p:custDataLst>
          </p:nvPr>
        </p:nvPicPr>
        <p:blipFill>
          <a:blip r:embed="rId26" cstate="print">
            <a:extLst>
              <a:ext uri="{28A0092B-C50C-407E-A947-70E740481C1C}">
                <a14:useLocalDpi xmlns:a14="http://schemas.microsoft.com/office/drawing/2010/main" val="0"/>
              </a:ext>
            </a:extLst>
          </a:blip>
          <a:stretch>
            <a:fillRect/>
          </a:stretch>
        </p:blipFill>
        <p:spPr>
          <a:xfrm>
            <a:off x="10461455" y="7434161"/>
            <a:ext cx="1864800" cy="570525"/>
          </a:xfrm>
          <a:prstGeom prst="rect">
            <a:avLst/>
          </a:prstGeom>
        </p:spPr>
      </p:pic>
      <p:sp>
        <p:nvSpPr>
          <p:cNvPr id="5" name="TextBox 4">
            <a:extLst>
              <a:ext uri="{FF2B5EF4-FFF2-40B4-BE49-F238E27FC236}">
                <a16:creationId xmlns:a16="http://schemas.microsoft.com/office/drawing/2014/main" id="{6BFC1C10-152A-C8B0-3E85-C76E13F918B6}"/>
              </a:ext>
            </a:extLst>
          </p:cNvPr>
          <p:cNvSpPr txBox="1"/>
          <p:nvPr/>
        </p:nvSpPr>
        <p:spPr>
          <a:xfrm>
            <a:off x="5343800" y="4022514"/>
            <a:ext cx="5289755" cy="584775"/>
          </a:xfrm>
          <a:prstGeom prst="rect">
            <a:avLst/>
          </a:prstGeom>
          <a:noFill/>
        </p:spPr>
        <p:txBody>
          <a:bodyPr wrap="square">
            <a:spAutoFit/>
          </a:bodyPr>
          <a:lstStyle/>
          <a:p>
            <a:r>
              <a:rPr lang="en-US" altLang="ko-KR" sz="3200" b="1" dirty="0">
                <a:latin typeface="+mn-ea"/>
              </a:rPr>
              <a:t>KKT </a:t>
            </a:r>
            <a:r>
              <a:rPr lang="ko-KR" altLang="en-US" sz="3200" b="1" dirty="0">
                <a:latin typeface="+mn-ea"/>
              </a:rPr>
              <a:t>정지조건</a:t>
            </a:r>
            <a:endParaRPr lang="ko-KR" altLang="en-US" sz="3200" b="1" dirty="0"/>
          </a:p>
        </p:txBody>
      </p:sp>
    </p:spTree>
    <p:extLst>
      <p:ext uri="{BB962C8B-B14F-4D97-AF65-F5344CB8AC3E}">
        <p14:creationId xmlns:p14="http://schemas.microsoft.com/office/powerpoint/2010/main" val="1600711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7E08-C5ED-88CC-0C10-7A8F71DFD0CB}"/>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B4FFBE5D-D0A0-50A0-FA0D-CC700CDED90B}"/>
              </a:ext>
            </a:extLst>
          </p:cNvPr>
          <p:cNvSpPr/>
          <p:nvPr/>
        </p:nvSpPr>
        <p:spPr>
          <a:xfrm>
            <a:off x="0" y="0"/>
            <a:ext cx="821042" cy="13716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DEB3BE5D-7FE5-B0C1-A76A-0984ADD889F0}"/>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E8EC333-23AB-C30E-ADE4-27DC4FE58504}"/>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Solver</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E114584-C52A-C2ED-E016-EA82A83651A5}"/>
              </a:ext>
            </a:extLst>
          </p:cNvPr>
          <p:cNvSpPr txBox="1"/>
          <p:nvPr/>
        </p:nvSpPr>
        <p:spPr>
          <a:xfrm>
            <a:off x="2086897" y="2244213"/>
            <a:ext cx="21154103" cy="8799588"/>
          </a:xfrm>
          <a:prstGeom prst="rect">
            <a:avLst/>
          </a:prstGeom>
          <a:noFill/>
        </p:spPr>
        <p:txBody>
          <a:bodyPr wrap="square">
            <a:spAutoFit/>
          </a:bodyPr>
          <a:lstStyle/>
          <a:p>
            <a:pPr marL="342900" indent="-342900">
              <a:lnSpc>
                <a:spcPct val="200000"/>
              </a:lnSpc>
              <a:buFont typeface="Arial" panose="020B0604020202020204" pitchFamily="34" charset="0"/>
              <a:buChar char="•"/>
            </a:pPr>
            <a:r>
              <a:rPr lang="ko-KR" altLang="en-US" sz="3200" dirty="0">
                <a:latin typeface="+mn-ea"/>
              </a:rPr>
              <a:t>동일하게 </a:t>
            </a:r>
            <a:r>
              <a:rPr lang="en-US" altLang="ko-KR" sz="3200" b="1" dirty="0">
                <a:latin typeface="+mn-ea"/>
              </a:rPr>
              <a:t>KKT </a:t>
            </a:r>
            <a:r>
              <a:rPr lang="ko-KR" altLang="en-US" sz="3200" b="1" dirty="0">
                <a:latin typeface="+mn-ea"/>
              </a:rPr>
              <a:t>조건을 만족하는 최적해</a:t>
            </a:r>
            <a:r>
              <a:rPr lang="ko-KR" altLang="en-US" sz="3200" dirty="0">
                <a:latin typeface="+mn-ea"/>
              </a:rPr>
              <a:t>를 찾는다</a:t>
            </a:r>
            <a:endParaRPr lang="en-US" altLang="ko-KR" sz="3200" dirty="0">
              <a:latin typeface="+mn-ea"/>
            </a:endParaRPr>
          </a:p>
          <a:p>
            <a:pPr marL="342900" indent="-342900">
              <a:lnSpc>
                <a:spcPct val="200000"/>
              </a:lnSpc>
              <a:buFont typeface="Arial" panose="020B0604020202020204" pitchFamily="34" charset="0"/>
              <a:buChar char="•"/>
            </a:pPr>
            <a:r>
              <a:rPr lang="ko-KR" altLang="en-US" sz="3200" dirty="0"/>
              <a:t>손으로 직접 계산할 수 있지만</a:t>
            </a:r>
            <a:r>
              <a:rPr lang="en-US" altLang="ko-KR" sz="3200" dirty="0"/>
              <a:t>, </a:t>
            </a:r>
            <a:r>
              <a:rPr lang="ko-KR" altLang="en-US" sz="3200" dirty="0"/>
              <a:t>실제 문제는 변수</a:t>
            </a:r>
            <a:r>
              <a:rPr lang="en-US" altLang="ko-KR" sz="3200" dirty="0"/>
              <a:t>·</a:t>
            </a:r>
            <a:r>
              <a:rPr lang="ko-KR" altLang="en-US" sz="3200" dirty="0"/>
              <a:t>제약이 많고 반복적이므로 </a:t>
            </a:r>
            <a:r>
              <a:rPr lang="ko-KR" altLang="en-US" sz="3200" b="1" dirty="0"/>
              <a:t>컴퓨터가 자동으로</a:t>
            </a:r>
            <a:r>
              <a:rPr lang="ko-KR" altLang="en-US" sz="3200" dirty="0"/>
              <a:t> 그 과정을 수행</a:t>
            </a:r>
            <a:endParaRPr lang="en-US" altLang="ko-KR" sz="3200" dirty="0"/>
          </a:p>
          <a:p>
            <a:pPr marL="342900" indent="-342900">
              <a:lnSpc>
                <a:spcPct val="200000"/>
              </a:lnSpc>
              <a:buFont typeface="Arial" panose="020B0604020202020204" pitchFamily="34" charset="0"/>
              <a:buChar char="•"/>
            </a:pPr>
            <a:r>
              <a:rPr lang="ko-KR" altLang="en-US" sz="3200" dirty="0" err="1"/>
              <a:t>솔버마다</a:t>
            </a:r>
            <a:r>
              <a:rPr lang="ko-KR" altLang="en-US" sz="3200" dirty="0"/>
              <a:t> </a:t>
            </a:r>
            <a:r>
              <a:rPr lang="ko-KR" altLang="en-US" sz="3200" b="1" dirty="0"/>
              <a:t>계산 방법</a:t>
            </a:r>
            <a:r>
              <a:rPr lang="en-US" altLang="ko-KR" sz="3200" b="1" dirty="0"/>
              <a:t>(</a:t>
            </a:r>
            <a:r>
              <a:rPr lang="ko-KR" altLang="en-US" sz="3200" b="1" dirty="0"/>
              <a:t>알고리즘</a:t>
            </a:r>
            <a:r>
              <a:rPr lang="en-US" altLang="ko-KR" sz="3200" b="1" dirty="0"/>
              <a:t>)</a:t>
            </a:r>
            <a:r>
              <a:rPr lang="ko-KR" altLang="en-US" sz="3200" b="1" dirty="0"/>
              <a:t>이 다를 뿐 결과적으로 노리는 해는 동일</a:t>
            </a:r>
            <a:endParaRPr lang="en-US" altLang="ko-KR" sz="3200" b="1" dirty="0"/>
          </a:p>
          <a:p>
            <a:pPr marL="342900" indent="-342900">
              <a:lnSpc>
                <a:spcPct val="200000"/>
              </a:lnSpc>
              <a:buFont typeface="Arial" panose="020B0604020202020204" pitchFamily="34" charset="0"/>
              <a:buChar char="•"/>
            </a:pPr>
            <a:r>
              <a:rPr lang="ko-KR" altLang="en-US" sz="3200" dirty="0"/>
              <a:t>종료 판단은 </a:t>
            </a:r>
            <a:r>
              <a:rPr lang="en-US" altLang="ko-KR" sz="3200" dirty="0"/>
              <a:t>KKT </a:t>
            </a:r>
            <a:r>
              <a:rPr lang="ko-KR" altLang="en-US" sz="3200" dirty="0" err="1"/>
              <a:t>잔차</a:t>
            </a:r>
            <a:r>
              <a:rPr lang="en-US" altLang="ko-KR" sz="3200" dirty="0"/>
              <a:t>(</a:t>
            </a:r>
            <a:r>
              <a:rPr lang="ko-KR" altLang="en-US" sz="3200" dirty="0" err="1"/>
              <a:t>정지성</a:t>
            </a:r>
            <a:r>
              <a:rPr lang="en-US" altLang="ko-KR" sz="3200" dirty="0"/>
              <a:t>·</a:t>
            </a:r>
            <a:r>
              <a:rPr lang="ko-KR" altLang="en-US" sz="3200" dirty="0"/>
              <a:t>타당성</a:t>
            </a:r>
            <a:r>
              <a:rPr lang="en-US" altLang="ko-KR" sz="3200" dirty="0"/>
              <a:t>·</a:t>
            </a:r>
            <a:r>
              <a:rPr lang="ko-KR" altLang="en-US" sz="3200" dirty="0"/>
              <a:t>상보성</a:t>
            </a:r>
            <a:r>
              <a:rPr lang="en-US" altLang="ko-KR" sz="3200" dirty="0"/>
              <a:t>)</a:t>
            </a:r>
            <a:r>
              <a:rPr lang="ko-KR" altLang="en-US" sz="3200" dirty="0"/>
              <a:t>가 충분히 </a:t>
            </a:r>
            <a:r>
              <a:rPr lang="ko-KR" altLang="en-US" sz="3200" dirty="0" err="1"/>
              <a:t>작아졌는지로</a:t>
            </a:r>
            <a:r>
              <a:rPr lang="ko-KR" altLang="en-US" sz="3200" dirty="0"/>
              <a:t> 한다</a:t>
            </a:r>
            <a:endParaRPr lang="en-US" altLang="ko-KR" sz="3200" dirty="0"/>
          </a:p>
          <a:p>
            <a:pPr marL="342900" indent="-342900">
              <a:lnSpc>
                <a:spcPct val="200000"/>
              </a:lnSpc>
              <a:buFont typeface="Arial" panose="020B0604020202020204" pitchFamily="34" charset="0"/>
              <a:buChar char="•"/>
            </a:pPr>
            <a:r>
              <a:rPr lang="ko-KR" altLang="en-US" sz="3200" dirty="0">
                <a:latin typeface="+mn-ea"/>
              </a:rPr>
              <a:t>수치 안정성을 위해 스케일링</a:t>
            </a:r>
            <a:r>
              <a:rPr lang="en-US" altLang="ko-KR" sz="3200" dirty="0">
                <a:latin typeface="+mn-ea"/>
              </a:rPr>
              <a:t>, </a:t>
            </a:r>
            <a:r>
              <a:rPr lang="ko-KR" altLang="en-US" sz="3200" dirty="0">
                <a:latin typeface="+mn-ea"/>
              </a:rPr>
              <a:t>정규화</a:t>
            </a:r>
            <a:r>
              <a:rPr lang="en-US" altLang="ko-KR" sz="3200" dirty="0">
                <a:latin typeface="+mn-ea"/>
              </a:rPr>
              <a:t>, </a:t>
            </a:r>
            <a:r>
              <a:rPr lang="ko-KR" altLang="en-US" sz="3200" dirty="0">
                <a:latin typeface="+mn-ea"/>
              </a:rPr>
              <a:t>사전조건화</a:t>
            </a:r>
            <a:r>
              <a:rPr lang="en-US" altLang="ko-KR" sz="3200" dirty="0">
                <a:latin typeface="+mn-ea"/>
              </a:rPr>
              <a:t>, </a:t>
            </a:r>
            <a:r>
              <a:rPr lang="ko-KR" altLang="en-US" sz="3200" dirty="0" err="1">
                <a:latin typeface="+mn-ea"/>
              </a:rPr>
              <a:t>피벗팅</a:t>
            </a:r>
            <a:r>
              <a:rPr lang="ko-KR" altLang="en-US" sz="3200" dirty="0">
                <a:latin typeface="+mn-ea"/>
              </a:rPr>
              <a:t> 등을 쓴다</a:t>
            </a:r>
            <a:endParaRPr lang="en-US" altLang="ko-KR" sz="3200" dirty="0">
              <a:latin typeface="+mn-ea"/>
            </a:endParaRPr>
          </a:p>
          <a:p>
            <a:pPr marL="342900" indent="-342900">
              <a:lnSpc>
                <a:spcPct val="200000"/>
              </a:lnSpc>
              <a:buFont typeface="Arial" panose="020B0604020202020204" pitchFamily="34" charset="0"/>
              <a:buChar char="•"/>
            </a:pPr>
            <a:r>
              <a:rPr lang="ko-KR" altLang="en-US" sz="3200" b="1" dirty="0">
                <a:latin typeface="+mn-ea"/>
              </a:rPr>
              <a:t>성능을 좌우하는 요소 </a:t>
            </a:r>
            <a:r>
              <a:rPr lang="en-US" altLang="ko-KR" sz="3200" b="1" dirty="0">
                <a:latin typeface="+mn-ea"/>
              </a:rPr>
              <a:t>: </a:t>
            </a:r>
            <a:r>
              <a:rPr lang="ko-KR" altLang="en-US" sz="3200" dirty="0">
                <a:latin typeface="+mn-ea"/>
              </a:rPr>
              <a:t>문제 크기와 희소성</a:t>
            </a:r>
            <a:r>
              <a:rPr lang="en-US" altLang="ko-KR" sz="3200" dirty="0">
                <a:latin typeface="+mn-ea"/>
              </a:rPr>
              <a:t>, </a:t>
            </a:r>
            <a:r>
              <a:rPr lang="ko-KR" altLang="en-US" sz="3200" dirty="0">
                <a:latin typeface="+mn-ea"/>
              </a:rPr>
              <a:t>제약 구조</a:t>
            </a:r>
            <a:r>
              <a:rPr lang="en-US" altLang="ko-KR" sz="3200" dirty="0">
                <a:latin typeface="+mn-ea"/>
              </a:rPr>
              <a:t>, </a:t>
            </a:r>
            <a:r>
              <a:rPr lang="ko-KR" altLang="en-US" sz="3200" dirty="0">
                <a:latin typeface="+mn-ea"/>
              </a:rPr>
              <a:t>실시간 제약</a:t>
            </a:r>
            <a:r>
              <a:rPr lang="en-US" altLang="ko-KR" sz="3200" dirty="0">
                <a:latin typeface="+mn-ea"/>
              </a:rPr>
              <a:t>, </a:t>
            </a:r>
            <a:r>
              <a:rPr lang="ko-KR" altLang="en-US" sz="3200" dirty="0">
                <a:latin typeface="+mn-ea"/>
              </a:rPr>
              <a:t>하드웨어</a:t>
            </a:r>
            <a:r>
              <a:rPr lang="en-US" altLang="ko-KR" sz="3200" dirty="0">
                <a:latin typeface="+mn-ea"/>
              </a:rPr>
              <a:t>(CPU/GPU)</a:t>
            </a:r>
          </a:p>
          <a:p>
            <a:pPr marL="342900" indent="-342900">
              <a:lnSpc>
                <a:spcPct val="200000"/>
              </a:lnSpc>
              <a:buFont typeface="Arial" panose="020B0604020202020204" pitchFamily="34" charset="0"/>
              <a:buChar char="•"/>
            </a:pPr>
            <a:endParaRPr lang="en-US" altLang="ko-KR" sz="3200" dirty="0">
              <a:latin typeface="+mn-ea"/>
            </a:endParaRPr>
          </a:p>
          <a:p>
            <a:pPr>
              <a:lnSpc>
                <a:spcPct val="200000"/>
              </a:lnSpc>
            </a:pPr>
            <a:r>
              <a:rPr lang="ko-KR" altLang="en-US" sz="3200" b="1" dirty="0">
                <a:latin typeface="+mn-ea"/>
              </a:rPr>
              <a:t>결론 </a:t>
            </a:r>
            <a:r>
              <a:rPr lang="en-US" altLang="ko-KR" sz="3200" b="1" dirty="0">
                <a:latin typeface="+mn-ea"/>
              </a:rPr>
              <a:t>: </a:t>
            </a:r>
            <a:r>
              <a:rPr lang="en-US" altLang="ko-KR" sz="3200" dirty="0">
                <a:latin typeface="+mn-ea"/>
              </a:rPr>
              <a:t>QP </a:t>
            </a:r>
            <a:r>
              <a:rPr lang="ko-KR" altLang="en-US" sz="3200" dirty="0" err="1">
                <a:latin typeface="+mn-ea"/>
              </a:rPr>
              <a:t>솔버들은</a:t>
            </a:r>
            <a:r>
              <a:rPr lang="ko-KR" altLang="en-US" sz="3200" dirty="0">
                <a:latin typeface="+mn-ea"/>
              </a:rPr>
              <a:t> 접근법만 다를 뿐</a:t>
            </a:r>
            <a:r>
              <a:rPr lang="en-US" altLang="ko-KR" sz="3200" dirty="0">
                <a:latin typeface="+mn-ea"/>
              </a:rPr>
              <a:t>, </a:t>
            </a:r>
            <a:r>
              <a:rPr lang="ko-KR" altLang="en-US" sz="3200" dirty="0">
                <a:latin typeface="+mn-ea"/>
              </a:rPr>
              <a:t>모두 </a:t>
            </a:r>
            <a:r>
              <a:rPr lang="en-US" altLang="ko-KR" sz="3200" dirty="0">
                <a:latin typeface="+mn-ea"/>
              </a:rPr>
              <a:t>KKT </a:t>
            </a:r>
            <a:r>
              <a:rPr lang="ko-KR" altLang="en-US" sz="3200" dirty="0">
                <a:latin typeface="+mn-ea"/>
              </a:rPr>
              <a:t>조건을 만족하는 지점을 찾도록 설계되어 있다</a:t>
            </a:r>
            <a:endParaRPr lang="en-US" altLang="ko-KR" sz="3200" dirty="0">
              <a:latin typeface="+mn-ea"/>
            </a:endParaRPr>
          </a:p>
          <a:p>
            <a:pPr>
              <a:lnSpc>
                <a:spcPct val="200000"/>
              </a:lnSpc>
            </a:pPr>
            <a:r>
              <a:rPr lang="en-US" altLang="ko-KR" sz="3200" dirty="0">
                <a:latin typeface="+mn-ea"/>
              </a:rPr>
              <a:t>		&gt; </a:t>
            </a:r>
            <a:r>
              <a:rPr lang="ko-KR" altLang="en-US" sz="3200" dirty="0">
                <a:latin typeface="+mn-ea"/>
              </a:rPr>
              <a:t>문제 성격</a:t>
            </a:r>
            <a:r>
              <a:rPr lang="en-US" altLang="ko-KR" sz="3200" dirty="0">
                <a:latin typeface="+mn-ea"/>
              </a:rPr>
              <a:t>(</a:t>
            </a:r>
            <a:r>
              <a:rPr lang="ko-KR" altLang="en-US" sz="3200" dirty="0">
                <a:latin typeface="+mn-ea"/>
              </a:rPr>
              <a:t>크기</a:t>
            </a:r>
            <a:r>
              <a:rPr lang="en-US" altLang="ko-KR" sz="3200" dirty="0">
                <a:latin typeface="+mn-ea"/>
              </a:rPr>
              <a:t>·</a:t>
            </a:r>
            <a:r>
              <a:rPr lang="ko-KR" altLang="en-US" sz="3200" dirty="0">
                <a:latin typeface="+mn-ea"/>
              </a:rPr>
              <a:t>희소성</a:t>
            </a:r>
            <a:r>
              <a:rPr lang="en-US" altLang="ko-KR" sz="3200" dirty="0">
                <a:latin typeface="+mn-ea"/>
              </a:rPr>
              <a:t>·</a:t>
            </a:r>
            <a:r>
              <a:rPr lang="ko-KR" altLang="en-US" sz="3200" dirty="0">
                <a:latin typeface="+mn-ea"/>
              </a:rPr>
              <a:t>실시간성</a:t>
            </a:r>
            <a:r>
              <a:rPr lang="en-US" altLang="ko-KR" sz="3200" dirty="0">
                <a:latin typeface="+mn-ea"/>
              </a:rPr>
              <a:t>)</a:t>
            </a:r>
            <a:r>
              <a:rPr lang="ko-KR" altLang="en-US" sz="3200" dirty="0">
                <a:latin typeface="+mn-ea"/>
              </a:rPr>
              <a:t>에 맞는 알고리즘을 골라 쓰면 된다</a:t>
            </a:r>
            <a:endParaRPr lang="en-US" altLang="ko-KR" sz="3200" dirty="0">
              <a:latin typeface="+mn-ea"/>
            </a:endParaRPr>
          </a:p>
        </p:txBody>
      </p:sp>
    </p:spTree>
    <p:extLst>
      <p:ext uri="{BB962C8B-B14F-4D97-AF65-F5344CB8AC3E}">
        <p14:creationId xmlns:p14="http://schemas.microsoft.com/office/powerpoint/2010/main" val="3543023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253B6-FC7A-17E2-D902-7E6C8CA514B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381D00C8-8BC7-8955-7843-F2E738B462DB}"/>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46D68826-B821-11B0-6504-918371922CCD}"/>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7839A4B1-17CC-BBD6-618C-8CF413E72350}"/>
              </a:ext>
            </a:extLst>
          </p:cNvPr>
          <p:cNvSpPr txBox="1"/>
          <p:nvPr/>
        </p:nvSpPr>
        <p:spPr>
          <a:xfrm>
            <a:off x="1600200" y="609600"/>
            <a:ext cx="169164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Multi-Objective</a:t>
            </a:r>
            <a:r>
              <a:rPr lang="ko-KR" altLang="en-US" sz="6000" b="1"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Optimization</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28749DA-D978-BA02-2AF6-3E0DFEB35F74}"/>
              </a:ext>
            </a:extLst>
          </p:cNvPr>
          <p:cNvSpPr txBox="1"/>
          <p:nvPr/>
        </p:nvSpPr>
        <p:spPr>
          <a:xfrm>
            <a:off x="2086897" y="2244213"/>
            <a:ext cx="21154103" cy="5844933"/>
          </a:xfrm>
          <a:prstGeom prst="rect">
            <a:avLst/>
          </a:prstGeom>
          <a:noFill/>
        </p:spPr>
        <p:txBody>
          <a:bodyPr wrap="square">
            <a:spAutoFit/>
          </a:bodyPr>
          <a:lstStyle/>
          <a:p>
            <a:pPr marL="342900" indent="-342900">
              <a:lnSpc>
                <a:spcPct val="200000"/>
              </a:lnSpc>
              <a:buFont typeface="Arial" panose="020B0604020202020204" pitchFamily="34" charset="0"/>
              <a:buChar char="•"/>
            </a:pPr>
            <a:r>
              <a:rPr lang="ko-KR" altLang="en-US" sz="3200" dirty="0">
                <a:latin typeface="+mn-ea"/>
              </a:rPr>
              <a:t>복잡한 로봇은 </a:t>
            </a:r>
            <a:r>
              <a:rPr lang="ko-KR" altLang="en-US" sz="3200" dirty="0" err="1">
                <a:latin typeface="+mn-ea"/>
              </a:rPr>
              <a:t>주과제</a:t>
            </a:r>
            <a:r>
              <a:rPr lang="en-US" altLang="ko-KR" sz="3200" dirty="0">
                <a:latin typeface="+mn-ea"/>
              </a:rPr>
              <a:t>(main task) </a:t>
            </a:r>
            <a:r>
              <a:rPr lang="ko-KR" altLang="en-US" sz="3200" dirty="0">
                <a:latin typeface="+mn-ea"/>
              </a:rPr>
              <a:t>에 비해 자유도가 더 많아</a:t>
            </a:r>
            <a:r>
              <a:rPr lang="en-US" altLang="ko-KR" sz="3200" dirty="0">
                <a:latin typeface="+mn-ea"/>
              </a:rPr>
              <a:t> </a:t>
            </a:r>
            <a:r>
              <a:rPr lang="ko-KR" altLang="en-US" sz="3200" dirty="0">
                <a:latin typeface="+mn-ea"/>
              </a:rPr>
              <a:t>여자유도를 갖는다</a:t>
            </a:r>
            <a:endParaRPr lang="en-US" altLang="ko-KR" sz="3200" dirty="0">
              <a:latin typeface="+mn-ea"/>
            </a:endParaRPr>
          </a:p>
          <a:p>
            <a:pPr>
              <a:lnSpc>
                <a:spcPct val="200000"/>
              </a:lnSpc>
            </a:pPr>
            <a:r>
              <a:rPr lang="en-US" altLang="ko-KR" sz="3200" dirty="0">
                <a:latin typeface="+mn-ea"/>
              </a:rPr>
              <a:t>	</a:t>
            </a:r>
            <a:r>
              <a:rPr lang="ko-KR" altLang="en-US" sz="3200" dirty="0">
                <a:latin typeface="+mn-ea"/>
              </a:rPr>
              <a:t>예</a:t>
            </a:r>
            <a:r>
              <a:rPr lang="en-US" altLang="ko-KR" sz="3200" dirty="0">
                <a:latin typeface="+mn-ea"/>
              </a:rPr>
              <a:t>) 7-DoF </a:t>
            </a:r>
            <a:r>
              <a:rPr lang="ko-KR" altLang="en-US" sz="3200" dirty="0" err="1">
                <a:latin typeface="+mn-ea"/>
              </a:rPr>
              <a:t>매니퓰레이터가</a:t>
            </a:r>
            <a:r>
              <a:rPr lang="ko-KR" altLang="en-US" sz="3200" dirty="0">
                <a:latin typeface="+mn-ea"/>
              </a:rPr>
              <a:t> </a:t>
            </a:r>
            <a:r>
              <a:rPr lang="en-US" altLang="ko-KR" sz="3200" dirty="0">
                <a:latin typeface="+mn-ea"/>
              </a:rPr>
              <a:t>EE</a:t>
            </a:r>
            <a:r>
              <a:rPr lang="ko-KR" altLang="en-US" sz="3200" dirty="0">
                <a:latin typeface="+mn-ea"/>
              </a:rPr>
              <a:t>의 </a:t>
            </a:r>
            <a:r>
              <a:rPr lang="en-US" altLang="ko-KR" sz="3200" dirty="0">
                <a:latin typeface="+mn-ea"/>
              </a:rPr>
              <a:t>6DoF </a:t>
            </a:r>
            <a:r>
              <a:rPr lang="ko-KR" altLang="en-US" sz="3200" dirty="0">
                <a:latin typeface="+mn-ea"/>
              </a:rPr>
              <a:t>포즈를 제어 → 여분 </a:t>
            </a:r>
            <a:r>
              <a:rPr lang="en-US" altLang="ko-KR" sz="3200" dirty="0">
                <a:latin typeface="+mn-ea"/>
              </a:rPr>
              <a:t>1 </a:t>
            </a:r>
            <a:r>
              <a:rPr lang="en-US" altLang="ko-KR" sz="3200" dirty="0" err="1">
                <a:latin typeface="+mn-ea"/>
              </a:rPr>
              <a:t>DoF</a:t>
            </a:r>
            <a:endParaRPr lang="en-US" altLang="ko-KR" sz="3200" dirty="0">
              <a:latin typeface="+mn-ea"/>
            </a:endParaRPr>
          </a:p>
          <a:p>
            <a:pPr>
              <a:lnSpc>
                <a:spcPct val="200000"/>
              </a:lnSpc>
            </a:pPr>
            <a:r>
              <a:rPr lang="en-US" altLang="ko-KR" sz="3200" dirty="0">
                <a:latin typeface="+mn-ea"/>
              </a:rPr>
              <a:t>	</a:t>
            </a:r>
            <a:r>
              <a:rPr lang="ko-KR" altLang="en-US" sz="3200" dirty="0">
                <a:latin typeface="+mn-ea"/>
              </a:rPr>
              <a:t>예</a:t>
            </a:r>
            <a:r>
              <a:rPr lang="en-US" altLang="ko-KR" sz="3200" dirty="0">
                <a:latin typeface="+mn-ea"/>
              </a:rPr>
              <a:t>) 18-DoF </a:t>
            </a:r>
            <a:r>
              <a:rPr lang="ko-KR" altLang="en-US" sz="3200" dirty="0">
                <a:latin typeface="+mn-ea"/>
              </a:rPr>
              <a:t>이족보행 로봇이 </a:t>
            </a:r>
            <a:r>
              <a:rPr lang="ko-KR" altLang="en-US" sz="3200" dirty="0" err="1">
                <a:latin typeface="+mn-ea"/>
              </a:rPr>
              <a:t>양발의</a:t>
            </a:r>
            <a:r>
              <a:rPr lang="ko-KR" altLang="en-US" sz="3200" dirty="0">
                <a:latin typeface="+mn-ea"/>
              </a:rPr>
              <a:t> </a:t>
            </a:r>
            <a:r>
              <a:rPr lang="en-US" altLang="ko-KR" sz="3200" dirty="0">
                <a:latin typeface="+mn-ea"/>
              </a:rPr>
              <a:t>12DoF </a:t>
            </a:r>
            <a:r>
              <a:rPr lang="ko-KR" altLang="en-US" sz="3200" dirty="0">
                <a:latin typeface="+mn-ea"/>
              </a:rPr>
              <a:t>포즈를 제어 → 여분 </a:t>
            </a:r>
            <a:r>
              <a:rPr lang="en-US" altLang="ko-KR" sz="3200" dirty="0">
                <a:latin typeface="+mn-ea"/>
              </a:rPr>
              <a:t>6 </a:t>
            </a:r>
            <a:r>
              <a:rPr lang="en-US" altLang="ko-KR" sz="3200" dirty="0" err="1">
                <a:latin typeface="+mn-ea"/>
              </a:rPr>
              <a:t>DoF</a:t>
            </a:r>
            <a:endParaRPr lang="en-US" altLang="ko-KR" sz="3200" dirty="0">
              <a:latin typeface="+mn-ea"/>
            </a:endParaRPr>
          </a:p>
          <a:p>
            <a:pPr>
              <a:lnSpc>
                <a:spcPct val="200000"/>
              </a:lnSpc>
            </a:pP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남는 자유도는 </a:t>
            </a:r>
            <a:r>
              <a:rPr lang="ko-KR" altLang="en-US" sz="3200" b="1" dirty="0" err="1">
                <a:latin typeface="+mn-ea"/>
              </a:rPr>
              <a:t>부과제</a:t>
            </a:r>
            <a:r>
              <a:rPr lang="en-US" altLang="ko-KR" sz="3200" b="1" dirty="0">
                <a:latin typeface="+mn-ea"/>
              </a:rPr>
              <a:t>(secondary tasks)</a:t>
            </a:r>
            <a:r>
              <a:rPr lang="ko-KR" altLang="en-US" sz="3200" dirty="0">
                <a:latin typeface="+mn-ea"/>
              </a:rPr>
              <a:t>를 수행하는 데 활용할 수 있다</a:t>
            </a:r>
            <a:r>
              <a:rPr lang="en-US" altLang="ko-KR" sz="3200" dirty="0">
                <a:latin typeface="+mn-ea"/>
              </a:rPr>
              <a:t>(</a:t>
            </a:r>
            <a:r>
              <a:rPr lang="ko-KR" altLang="en-US" sz="3200" dirty="0">
                <a:latin typeface="+mn-ea"/>
              </a:rPr>
              <a:t>자세</a:t>
            </a:r>
            <a:r>
              <a:rPr lang="en-US" altLang="ko-KR" sz="3200" dirty="0">
                <a:latin typeface="+mn-ea"/>
              </a:rPr>
              <a:t>·</a:t>
            </a:r>
            <a:r>
              <a:rPr lang="ko-KR" altLang="en-US" sz="3200" dirty="0">
                <a:latin typeface="+mn-ea"/>
              </a:rPr>
              <a:t>관절 여유도 관리</a:t>
            </a:r>
            <a:r>
              <a:rPr lang="en-US" altLang="ko-KR" sz="3200" dirty="0">
                <a:latin typeface="+mn-ea"/>
              </a:rPr>
              <a:t>, </a:t>
            </a:r>
            <a:r>
              <a:rPr lang="ko-KR" altLang="en-US" sz="3200" dirty="0">
                <a:latin typeface="+mn-ea"/>
              </a:rPr>
              <a:t>에너지 최소화</a:t>
            </a:r>
            <a:r>
              <a:rPr lang="en-US" altLang="ko-KR" sz="3200" dirty="0">
                <a:latin typeface="+mn-ea"/>
              </a:rPr>
              <a:t>, </a:t>
            </a:r>
            <a:r>
              <a:rPr lang="ko-KR" altLang="en-US" sz="3200" dirty="0" err="1">
                <a:latin typeface="+mn-ea"/>
              </a:rPr>
              <a:t>접촉력</a:t>
            </a:r>
            <a:r>
              <a:rPr lang="ko-KR" altLang="en-US" sz="3200" dirty="0">
                <a:latin typeface="+mn-ea"/>
              </a:rPr>
              <a:t> 정규화 등</a:t>
            </a:r>
            <a:r>
              <a:rPr lang="en-US" altLang="ko-KR" sz="3200" dirty="0">
                <a:latin typeface="+mn-ea"/>
              </a:rPr>
              <a:t>) </a:t>
            </a:r>
          </a:p>
        </p:txBody>
      </p:sp>
    </p:spTree>
    <p:extLst>
      <p:ext uri="{BB962C8B-B14F-4D97-AF65-F5344CB8AC3E}">
        <p14:creationId xmlns:p14="http://schemas.microsoft.com/office/powerpoint/2010/main" val="2064686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65287-88B9-BD05-8152-33B118714691}"/>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4A03F6E-CE10-9FE9-2EB1-B1491D0A2D15}"/>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1FFEDAB-E654-E1B8-5166-C43018C7344B}"/>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840D9341-B498-77C6-9FD7-1F77C973413A}"/>
              </a:ext>
            </a:extLst>
          </p:cNvPr>
          <p:cNvSpPr txBox="1"/>
          <p:nvPr/>
        </p:nvSpPr>
        <p:spPr>
          <a:xfrm>
            <a:off x="1600200" y="609600"/>
            <a:ext cx="169164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Multi-Objective</a:t>
            </a:r>
            <a:r>
              <a:rPr lang="ko-KR" altLang="en-US" sz="6000" b="1"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Optimization</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FBF9F66-4FDD-1E4A-0B3B-B9C677E219B1}"/>
              </a:ext>
            </a:extLst>
          </p:cNvPr>
          <p:cNvSpPr txBox="1"/>
          <p:nvPr/>
        </p:nvSpPr>
        <p:spPr>
          <a:xfrm>
            <a:off x="2086897" y="2244213"/>
            <a:ext cx="21154103" cy="7235186"/>
          </a:xfrm>
          <a:prstGeom prst="rect">
            <a:avLst/>
          </a:prstGeom>
          <a:noFill/>
        </p:spPr>
        <p:txBody>
          <a:bodyPr wrap="square">
            <a:spAutoFit/>
          </a:bodyPr>
          <a:lstStyle/>
          <a:p>
            <a:pPr>
              <a:lnSpc>
                <a:spcPct val="200000"/>
              </a:lnSpc>
            </a:pPr>
            <a:r>
              <a:rPr lang="ko-KR" altLang="en-US" sz="4000" b="1" dirty="0" err="1"/>
              <a:t>가중합</a:t>
            </a:r>
            <a:r>
              <a:rPr lang="en-US" altLang="ko-KR" sz="4000" b="1" dirty="0"/>
              <a:t>(Weighted Sum)</a:t>
            </a:r>
            <a:endParaRPr lang="en-US" altLang="ko-KR" sz="4000" b="1" dirty="0">
              <a:latin typeface="+mn-ea"/>
            </a:endParaRPr>
          </a:p>
          <a:p>
            <a:pPr marL="457200" indent="-457200">
              <a:lnSpc>
                <a:spcPct val="200000"/>
              </a:lnSpc>
              <a:buFont typeface="Arial" panose="020B0604020202020204" pitchFamily="34" charset="0"/>
              <a:buChar char="•"/>
            </a:pPr>
            <a:r>
              <a:rPr lang="ko-KR" altLang="en-US" sz="2800" dirty="0"/>
              <a:t>여러 과제를 동시에 다루는 가장 단순한 방법은 </a:t>
            </a:r>
            <a:r>
              <a:rPr lang="ko-KR" altLang="en-US" sz="2800" b="1" dirty="0" err="1"/>
              <a:t>가중합</a:t>
            </a:r>
            <a:r>
              <a:rPr lang="en-US" altLang="ko-KR" sz="2800" b="1" dirty="0"/>
              <a:t>(Weighted Sum)</a:t>
            </a:r>
          </a:p>
          <a:p>
            <a:pPr marL="457200" indent="-457200">
              <a:lnSpc>
                <a:spcPct val="200000"/>
              </a:lnSpc>
              <a:buFont typeface="Arial" panose="020B0604020202020204" pitchFamily="34" charset="0"/>
              <a:buChar char="•"/>
            </a:pPr>
            <a:r>
              <a:rPr lang="ko-KR" altLang="en-US" sz="2800" dirty="0"/>
              <a:t>각 과제를 작업 함수  </a:t>
            </a:r>
            <a:r>
              <a:rPr lang="en-US" altLang="ko-KR" sz="2800" dirty="0"/>
              <a:t>	</a:t>
            </a:r>
            <a:r>
              <a:rPr lang="ko-KR" altLang="en-US" sz="2800" dirty="0"/>
              <a:t>로 두고</a:t>
            </a:r>
            <a:r>
              <a:rPr lang="en-US" altLang="ko-KR" sz="2800" dirty="0"/>
              <a:t>, </a:t>
            </a:r>
            <a:r>
              <a:rPr lang="ko-KR" altLang="en-US" sz="2800" dirty="0"/>
              <a:t>가중치 </a:t>
            </a:r>
            <a:r>
              <a:rPr lang="en-US" altLang="ko-KR" sz="2800" dirty="0"/>
              <a:t>         </a:t>
            </a:r>
            <a:r>
              <a:rPr lang="ko-KR" altLang="en-US" sz="2800" dirty="0"/>
              <a:t>를 곱해 합을 최소화</a:t>
            </a:r>
            <a:endParaRPr lang="en-US" altLang="ko-KR" sz="2800" dirty="0"/>
          </a:p>
          <a:p>
            <a:pPr marL="457200" indent="-457200">
              <a:lnSpc>
                <a:spcPct val="200000"/>
              </a:lnSpc>
              <a:buFont typeface="Arial" panose="020B0604020202020204" pitchFamily="34" charset="0"/>
              <a:buChar char="•"/>
            </a:pPr>
            <a:r>
              <a:rPr lang="ko-KR" altLang="en-US" sz="2800" dirty="0"/>
              <a:t>장점</a:t>
            </a:r>
            <a:r>
              <a:rPr lang="en-US" altLang="ko-KR" sz="2800" dirty="0"/>
              <a:t>: </a:t>
            </a:r>
            <a:r>
              <a:rPr lang="ko-KR" altLang="en-US" sz="2800" dirty="0"/>
              <a:t>표준 </a:t>
            </a:r>
            <a:r>
              <a:rPr lang="en-US" altLang="ko-KR" sz="2800" dirty="0"/>
              <a:t>QP </a:t>
            </a:r>
            <a:r>
              <a:rPr lang="ko-KR" altLang="en-US" sz="2800" dirty="0"/>
              <a:t>꼴을 유지해 계산이 빠르고 안정적</a:t>
            </a:r>
            <a:endParaRPr lang="en-US" altLang="ko-KR" sz="2800" dirty="0"/>
          </a:p>
          <a:p>
            <a:pPr marL="457200" indent="-457200">
              <a:lnSpc>
                <a:spcPct val="200000"/>
              </a:lnSpc>
              <a:buFont typeface="Arial" panose="020B0604020202020204" pitchFamily="34" charset="0"/>
              <a:buChar char="•"/>
            </a:pPr>
            <a:r>
              <a:rPr lang="ko-KR" altLang="en-US" sz="2800" dirty="0"/>
              <a:t>단점</a:t>
            </a:r>
            <a:r>
              <a:rPr lang="en-US" altLang="ko-KR" sz="2800" dirty="0"/>
              <a:t>: </a:t>
            </a:r>
            <a:r>
              <a:rPr lang="ko-KR" altLang="en-US" sz="2800" dirty="0"/>
              <a:t>가중치 선정이 어렵고</a:t>
            </a:r>
            <a:r>
              <a:rPr lang="en-US" altLang="ko-KR" sz="2800" dirty="0"/>
              <a:t>, </a:t>
            </a:r>
            <a:r>
              <a:rPr lang="ko-KR" altLang="en-US" sz="2800" dirty="0"/>
              <a:t>너무 크거나 작은 가중치는 수치 악화</a:t>
            </a:r>
            <a:r>
              <a:rPr lang="en-US" altLang="ko-KR" sz="2800" dirty="0"/>
              <a:t>·</a:t>
            </a:r>
            <a:r>
              <a:rPr lang="ko-KR" altLang="en-US" sz="2800" dirty="0"/>
              <a:t>스케일링 문제를 유발</a:t>
            </a:r>
          </a:p>
          <a:p>
            <a:pPr marL="457200" indent="-457200">
              <a:lnSpc>
                <a:spcPct val="200000"/>
              </a:lnSpc>
              <a:buFont typeface="Arial" panose="020B0604020202020204" pitchFamily="34" charset="0"/>
              <a:buChar char="•"/>
            </a:pPr>
            <a:endParaRPr lang="en-US" altLang="ko-KR" sz="2800" dirty="0"/>
          </a:p>
          <a:p>
            <a:pPr marL="457200" indent="-457200">
              <a:lnSpc>
                <a:spcPct val="200000"/>
              </a:lnSpc>
              <a:buFont typeface="Arial" panose="020B0604020202020204" pitchFamily="34" charset="0"/>
              <a:buChar char="•"/>
            </a:pPr>
            <a:endParaRPr lang="en-US" altLang="ko-KR" sz="2800" dirty="0"/>
          </a:p>
          <a:p>
            <a:pPr marL="457200" indent="-457200">
              <a:lnSpc>
                <a:spcPct val="200000"/>
              </a:lnSpc>
              <a:buFont typeface="Arial" panose="020B0604020202020204" pitchFamily="34" charset="0"/>
              <a:buChar char="•"/>
            </a:pPr>
            <a:endParaRPr lang="en-US" altLang="ko-KR" sz="2800" dirty="0"/>
          </a:p>
        </p:txBody>
      </p:sp>
      <p:pic>
        <p:nvPicPr>
          <p:cNvPr id="7" name="그림 6" descr="\documentclass{article}&#10;\usepackage{amsmath}&#10;\pagestyle{empty}&#10;\begin{document}&#10;&#10;&#10;$&#10;g_i(y)&#10;$&#10;&#10;\end{document}" title="IguanaTex Bitmap Display">
            <a:extLst>
              <a:ext uri="{FF2B5EF4-FFF2-40B4-BE49-F238E27FC236}">
                <a16:creationId xmlns:a16="http://schemas.microsoft.com/office/drawing/2014/main" id="{8E7CF360-8686-F1E8-66FF-9EE2BB0BFDB8}"/>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5943600" y="4672933"/>
            <a:ext cx="762000" cy="382145"/>
          </a:xfrm>
          <a:prstGeom prst="rect">
            <a:avLst/>
          </a:prstGeom>
        </p:spPr>
      </p:pic>
      <p:pic>
        <p:nvPicPr>
          <p:cNvPr id="11" name="그림 10" descr="\documentclass{article}&#10;\usepackage{amsmath}&#10;\pagestyle{empty}&#10;\begin{document}&#10;&#10;&#10;$&#10;w_i&#10;$&#10;&#10;\end{document}" title="IguanaTex Bitmap Display">
            <a:extLst>
              <a:ext uri="{FF2B5EF4-FFF2-40B4-BE49-F238E27FC236}">
                <a16:creationId xmlns:a16="http://schemas.microsoft.com/office/drawing/2014/main" id="{FEB6E815-3177-A69C-88F6-02591FE23D23}"/>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9349510" y="4724400"/>
            <a:ext cx="480290" cy="304800"/>
          </a:xfrm>
          <a:prstGeom prst="rect">
            <a:avLst/>
          </a:prstGeom>
        </p:spPr>
      </p:pic>
      <p:pic>
        <p:nvPicPr>
          <p:cNvPr id="13" name="그림 12" descr="\documentclass{article}&#10;\usepackage{amsmath}&#10;\pagestyle{empty}&#10;\begin{document}&#10;&#10;&#10;$&#10;g_i(y) \;=\; \big\| A_i\,y - a_i \big\|^{2},&#10;\quad i=1,\dots,N&#10;$&#10;&#10;\end{document}" title="IguanaTex Bitmap Display">
            <a:extLst>
              <a:ext uri="{FF2B5EF4-FFF2-40B4-BE49-F238E27FC236}">
                <a16:creationId xmlns:a16="http://schemas.microsoft.com/office/drawing/2014/main" id="{A9AA25EC-1E8F-C988-534C-F2D12F6ED0BD}"/>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7905600" y="7577799"/>
            <a:ext cx="8572800" cy="761600"/>
          </a:xfrm>
          <a:prstGeom prst="rect">
            <a:avLst/>
          </a:prstGeom>
        </p:spPr>
      </p:pic>
      <p:pic>
        <p:nvPicPr>
          <p:cNvPr id="15" name="그림 14" descr="\documentclass{article}&#10;\usepackage{amsmath}&#10;\pagestyle{empty}&#10;\begin{document}&#10;&#10;&#10;$&#10;\begin{aligned}&#10;&amp;\underset{y}{\mathrm{minimize}}&#10;&amp;&amp; \sum_{i=1}^{N} w_i\, g_i(y)&#10;\\&#10;&amp;\mathrm{subject\ to}&#10;&amp;&amp;&#10;\begin{bmatrix}&#10;J(q) &amp; 0        &amp; 0 \\&#10;M(q) &amp; -J(q)^{\top} &amp; -S^{\top}&#10;\end{bmatrix}&#10;\begin{bmatrix}&#10;\ddot q\\[2pt] f\\[2pt] \tau&#10;\end{bmatrix}&#10;=&#10;\begin{bmatrix}&#10;-\dot J(q,\dot q)\,\dot q\\[2pt]&#10;-\,h(q,\dot q)&#10;\end{bmatrix}.&#10;\end{aligned}&#10;$&#10;&#10;\end{document}" title="IguanaTex Bitmap Display">
            <a:extLst>
              <a:ext uri="{FF2B5EF4-FFF2-40B4-BE49-F238E27FC236}">
                <a16:creationId xmlns:a16="http://schemas.microsoft.com/office/drawing/2014/main" id="{27B767A9-489B-61BF-3126-C13F2EBAF9E2}"/>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5751171" y="9448800"/>
            <a:ext cx="12881657" cy="3824194"/>
          </a:xfrm>
          <a:prstGeom prst="rect">
            <a:avLst/>
          </a:prstGeom>
        </p:spPr>
      </p:pic>
    </p:spTree>
    <p:extLst>
      <p:ext uri="{BB962C8B-B14F-4D97-AF65-F5344CB8AC3E}">
        <p14:creationId xmlns:p14="http://schemas.microsoft.com/office/powerpoint/2010/main" val="2041862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A8CCA-E941-7FDB-5B02-4353B2AE59C1}"/>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AE4F8D4E-DC1F-7E24-8B1E-5912F13F9FBF}"/>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97878DC2-A68F-B3D2-8939-E512246EE71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F95F1338-D440-FAF8-5D81-6AD7CF7A1ECC}"/>
              </a:ext>
            </a:extLst>
          </p:cNvPr>
          <p:cNvSpPr txBox="1"/>
          <p:nvPr/>
        </p:nvSpPr>
        <p:spPr>
          <a:xfrm>
            <a:off x="1600200" y="609600"/>
            <a:ext cx="169164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HQP (Hierarchical QP)</a:t>
            </a:r>
            <a:endParaRPr lang="en" altLang="ko-KR" sz="6000" b="1" dirty="0">
              <a:solidFill>
                <a:srgbClr val="00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446F5D2-AE75-D5B9-80F6-F4DC82ADFD34}"/>
                  </a:ext>
                </a:extLst>
              </p:cNvPr>
              <p:cNvSpPr txBox="1"/>
              <p:nvPr/>
            </p:nvSpPr>
            <p:spPr>
              <a:xfrm>
                <a:off x="2086897" y="2244213"/>
                <a:ext cx="21154103" cy="10030695"/>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altLang="ko-KR" sz="3200" dirty="0">
                    <a:latin typeface="+mn-ea"/>
                  </a:rPr>
                  <a:t> </a:t>
                </a:r>
                <a:r>
                  <a:rPr lang="ko-KR" altLang="en-US" sz="3200" dirty="0">
                    <a:latin typeface="+mn-ea"/>
                  </a:rPr>
                  <a:t>또 다른 방법은 여러 작업        가 있을 때 </a:t>
                </a:r>
                <a:r>
                  <a:rPr lang="ko-KR" altLang="en-US" sz="3200" b="1" dirty="0">
                    <a:latin typeface="+mn-ea"/>
                  </a:rPr>
                  <a:t>우선순위</a:t>
                </a:r>
                <a:r>
                  <a:rPr lang="en-US" altLang="ko-KR" sz="3200" b="1" dirty="0">
                    <a:latin typeface="+mn-ea"/>
                  </a:rPr>
                  <a:t>(priority)</a:t>
                </a:r>
                <a:r>
                  <a:rPr lang="ko-KR" altLang="en-US" sz="3200" dirty="0">
                    <a:latin typeface="+mn-ea"/>
                  </a:rPr>
                  <a:t>를 정해 해결하는 것  </a:t>
                </a:r>
                <a:r>
                  <a:rPr lang="en-US" altLang="ko-KR" sz="3200" dirty="0">
                    <a:latin typeface="+mn-ea"/>
                  </a:rPr>
                  <a:t>=  HPQ</a:t>
                </a:r>
              </a:p>
              <a:p>
                <a:pPr>
                  <a:lnSpc>
                    <a:spcPct val="200000"/>
                  </a:lnSpc>
                </a:pPr>
                <a:r>
                  <a:rPr lang="en-US" altLang="ko-KR" sz="3200" dirty="0">
                    <a:latin typeface="+mn-ea"/>
                  </a:rPr>
                  <a:t>	</a:t>
                </a:r>
                <a:r>
                  <a:rPr lang="ko-KR" altLang="en-US" sz="3200" dirty="0"/>
                  <a:t>“작업 </a:t>
                </a:r>
                <a:r>
                  <a:rPr lang="en-US" altLang="ko-KR" sz="3200" dirty="0"/>
                  <a:t>1 ≫ </a:t>
                </a:r>
                <a:r>
                  <a:rPr lang="ko-KR" altLang="en-US" sz="3200" dirty="0"/>
                  <a:t>작업 </a:t>
                </a:r>
                <a:r>
                  <a:rPr lang="en-US" altLang="ko-KR" sz="3200" dirty="0"/>
                  <a:t>2 ≫ … ≫ </a:t>
                </a:r>
                <a:r>
                  <a:rPr lang="ko-KR" altLang="en-US" sz="3200" dirty="0"/>
                  <a:t>작업 </a:t>
                </a:r>
                <a14:m>
                  <m:oMath xmlns:m="http://schemas.openxmlformats.org/officeDocument/2006/math">
                    <m:r>
                      <a:rPr lang="en-US" altLang="ko-KR" sz="3200" b="0" i="1" smtClean="0">
                        <a:latin typeface="Cambria Math" panose="02040503050406030204" pitchFamily="18" charset="0"/>
                      </a:rPr>
                      <m:t>𝑁</m:t>
                    </m:r>
                  </m:oMath>
                </a14:m>
                <a:r>
                  <a:rPr lang="ko-KR" altLang="en-US" sz="3200" dirty="0"/>
                  <a:t>”처럼 </a:t>
                </a:r>
                <a:r>
                  <a:rPr lang="ko-KR" altLang="en-US" sz="3200" b="1" dirty="0"/>
                  <a:t>상위 과제가 하위 과제보다 무한히 중요</a:t>
                </a:r>
                <a:r>
                  <a:rPr lang="ko-KR" altLang="en-US" sz="3200" dirty="0"/>
                  <a:t>하다고 본다</a:t>
                </a:r>
                <a:endParaRPr lang="en-US" altLang="ko-KR" sz="3200" dirty="0"/>
              </a:p>
              <a:p>
                <a:pPr>
                  <a:lnSpc>
                    <a:spcPct val="200000"/>
                  </a:lnSpc>
                </a:pPr>
                <a:endParaRPr lang="en-US" altLang="ko-KR" sz="3200" dirty="0">
                  <a:latin typeface="+mn-ea"/>
                </a:endParaRPr>
              </a:p>
              <a:p>
                <a:pPr>
                  <a:lnSpc>
                    <a:spcPct val="200000"/>
                  </a:lnSpc>
                </a:pPr>
                <a:r>
                  <a:rPr lang="ko-KR" altLang="en-US" sz="4000" b="1" dirty="0">
                    <a:latin typeface="+mn-ea"/>
                  </a:rPr>
                  <a:t>원리</a:t>
                </a: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구현은 연속</a:t>
                </a:r>
                <a:r>
                  <a:rPr lang="en-US" altLang="ko-KR" sz="3200" dirty="0">
                    <a:latin typeface="+mn-ea"/>
                  </a:rPr>
                  <a:t>(cascade) QP: </a:t>
                </a:r>
                <a:r>
                  <a:rPr lang="ko-KR" altLang="en-US" sz="3200" dirty="0">
                    <a:latin typeface="+mn-ea"/>
                  </a:rPr>
                  <a:t>𝑖</a:t>
                </a:r>
                <a:r>
                  <a:rPr lang="en-US" altLang="ko-KR" sz="3200" dirty="0">
                    <a:latin typeface="+mn-ea"/>
                  </a:rPr>
                  <a:t>=1 </a:t>
                </a:r>
                <a:r>
                  <a:rPr lang="ko-KR" altLang="en-US" sz="3200" dirty="0">
                    <a:latin typeface="+mn-ea"/>
                  </a:rPr>
                  <a:t>부터 𝑁까지 순서대로 작은 </a:t>
                </a:r>
                <a:r>
                  <a:rPr lang="en-US" altLang="ko-KR" sz="3200" dirty="0">
                    <a:latin typeface="+mn-ea"/>
                  </a:rPr>
                  <a:t>QP</a:t>
                </a:r>
                <a:r>
                  <a:rPr lang="ko-KR" altLang="en-US" sz="3200" dirty="0">
                    <a:latin typeface="+mn-ea"/>
                  </a:rPr>
                  <a:t>를 풀며</a:t>
                </a:r>
                <a:r>
                  <a:rPr lang="en-US" altLang="ko-KR" sz="3200" dirty="0">
                    <a:latin typeface="+mn-ea"/>
                  </a:rPr>
                  <a:t>,</a:t>
                </a:r>
              </a:p>
              <a:p>
                <a:pPr marL="457200" indent="-457200">
                  <a:lnSpc>
                    <a:spcPct val="200000"/>
                  </a:lnSpc>
                  <a:buFont typeface="Arial" panose="020B0604020202020204" pitchFamily="34" charset="0"/>
                  <a:buChar char="•"/>
                </a:pPr>
                <a:r>
                  <a:rPr lang="ko-KR" altLang="en-US" sz="3200" dirty="0">
                    <a:latin typeface="+mn-ea"/>
                  </a:rPr>
                  <a:t>동역학</a:t>
                </a:r>
                <a:r>
                  <a:rPr lang="en-US" altLang="ko-KR" sz="3200" dirty="0">
                    <a:latin typeface="+mn-ea"/>
                  </a:rPr>
                  <a:t>/</a:t>
                </a:r>
                <a:r>
                  <a:rPr lang="ko-KR" altLang="en-US" sz="3200" dirty="0">
                    <a:latin typeface="+mn-ea"/>
                  </a:rPr>
                  <a:t>접촉 등 공통 평등제약은 매 단계에 모두 유지하고</a:t>
                </a:r>
                <a:r>
                  <a:rPr lang="en-US" altLang="ko-KR" sz="3200" dirty="0">
                    <a:latin typeface="+mn-ea"/>
                  </a:rPr>
                  <a:t>,</a:t>
                </a:r>
              </a:p>
              <a:p>
                <a:pPr marL="457200" indent="-457200">
                  <a:lnSpc>
                    <a:spcPct val="200000"/>
                  </a:lnSpc>
                  <a:buFont typeface="Arial" panose="020B0604020202020204" pitchFamily="34" charset="0"/>
                  <a:buChar char="•"/>
                </a:pPr>
                <a:r>
                  <a:rPr lang="ko-KR" altLang="en-US" sz="3200" dirty="0">
                    <a:latin typeface="+mn-ea"/>
                  </a:rPr>
                  <a:t>이전 단계 𝑗</a:t>
                </a:r>
                <a:r>
                  <a:rPr lang="en-US" altLang="ko-KR" sz="3200" dirty="0">
                    <a:latin typeface="+mn-ea"/>
                  </a:rPr>
                  <a:t>&lt;</a:t>
                </a:r>
                <a:r>
                  <a:rPr lang="ko-KR" altLang="en-US" sz="3200" dirty="0">
                    <a:latin typeface="+mn-ea"/>
                  </a:rPr>
                  <a:t>𝑖에서 얻은 </a:t>
                </a:r>
                <a:r>
                  <a:rPr lang="ko-KR" altLang="en-US" sz="3200" dirty="0" err="1">
                    <a:latin typeface="+mn-ea"/>
                  </a:rPr>
                  <a:t>최적값</a:t>
                </a:r>
                <a:r>
                  <a:rPr lang="ko-KR" altLang="en-US" sz="3200" dirty="0">
                    <a:latin typeface="+mn-ea"/>
                  </a:rPr>
                  <a:t>       를 그대로 유지하도록 </a:t>
                </a:r>
                <a:r>
                  <a:rPr lang="ko-KR" altLang="en-US" sz="3200" b="1" dirty="0">
                    <a:latin typeface="+mn-ea"/>
                  </a:rPr>
                  <a:t>제약에 추가</a:t>
                </a:r>
                <a:endParaRPr lang="en-US" altLang="ko-KR" sz="3200" b="1" dirty="0">
                  <a:latin typeface="+mn-ea"/>
                </a:endParaRPr>
              </a:p>
              <a:p>
                <a:pPr>
                  <a:lnSpc>
                    <a:spcPct val="200000"/>
                  </a:lnSpc>
                </a:pPr>
                <a:endParaRPr lang="en-US" altLang="ko-KR" sz="3200" b="1" dirty="0">
                  <a:latin typeface="+mn-ea"/>
                </a:endParaRPr>
              </a:p>
              <a:p>
                <a:pPr>
                  <a:lnSpc>
                    <a:spcPct val="200000"/>
                  </a:lnSpc>
                </a:pPr>
                <a:r>
                  <a:rPr lang="ko-KR" altLang="en-US" sz="3200" b="1" dirty="0">
                    <a:latin typeface="+mn-ea"/>
                  </a:rPr>
                  <a:t>장점 </a:t>
                </a:r>
                <a:r>
                  <a:rPr lang="en-US" altLang="ko-KR" sz="3200" b="1" dirty="0">
                    <a:latin typeface="+mn-ea"/>
                  </a:rPr>
                  <a:t>: </a:t>
                </a:r>
                <a:r>
                  <a:rPr lang="ko-KR" altLang="en-US" sz="3200" dirty="0">
                    <a:latin typeface="+mn-ea"/>
                  </a:rPr>
                  <a:t>가중치 찾기보다 우선순위 정하기가 쉽다</a:t>
                </a:r>
                <a:endParaRPr lang="en-US" altLang="ko-KR" sz="3200" dirty="0">
                  <a:latin typeface="+mn-ea"/>
                </a:endParaRPr>
              </a:p>
              <a:p>
                <a:pPr>
                  <a:lnSpc>
                    <a:spcPct val="200000"/>
                  </a:lnSpc>
                </a:pPr>
                <a:r>
                  <a:rPr lang="ko-KR" altLang="en-US" sz="3200" b="1" dirty="0">
                    <a:latin typeface="+mn-ea"/>
                  </a:rPr>
                  <a:t>단점 </a:t>
                </a:r>
                <a:r>
                  <a:rPr lang="en-US" altLang="ko-KR" sz="3200" b="1" dirty="0">
                    <a:latin typeface="+mn-ea"/>
                  </a:rPr>
                  <a:t>: </a:t>
                </a:r>
                <a:r>
                  <a:rPr lang="ko-KR" altLang="en-US" sz="3200" dirty="0">
                    <a:latin typeface="+mn-ea"/>
                  </a:rPr>
                  <a:t>여러 번 </a:t>
                </a:r>
                <a:r>
                  <a:rPr lang="en-US" altLang="ko-KR" sz="3200" dirty="0">
                    <a:latin typeface="+mn-ea"/>
                  </a:rPr>
                  <a:t>QP</a:t>
                </a:r>
                <a:r>
                  <a:rPr lang="ko-KR" altLang="en-US" sz="3200" dirty="0">
                    <a:latin typeface="+mn-ea"/>
                  </a:rPr>
                  <a:t>를 풀어야 해서 </a:t>
                </a:r>
                <a:r>
                  <a:rPr lang="ko-KR" altLang="en-US" sz="3200" dirty="0" err="1">
                    <a:latin typeface="+mn-ea"/>
                  </a:rPr>
                  <a:t>계산량</a:t>
                </a:r>
                <a:r>
                  <a:rPr lang="ko-KR" altLang="en-US" sz="3200" dirty="0">
                    <a:latin typeface="+mn-ea"/>
                  </a:rPr>
                  <a:t> 증가</a:t>
                </a:r>
                <a:r>
                  <a:rPr lang="en-US" altLang="ko-KR" sz="3200" dirty="0">
                    <a:latin typeface="+mn-ea"/>
                  </a:rPr>
                  <a:t>,</a:t>
                </a:r>
                <a:r>
                  <a:rPr lang="ko-KR" altLang="en-US" sz="3200" dirty="0">
                    <a:latin typeface="+mn-ea"/>
                  </a:rPr>
                  <a:t> 상위 과제 결과가 너무 제한적이면 하위 과제 실행 불가</a:t>
                </a:r>
              </a:p>
            </p:txBody>
          </p:sp>
        </mc:Choice>
        <mc:Fallback xmlns="">
          <p:sp>
            <p:nvSpPr>
              <p:cNvPr id="6" name="TextBox 5">
                <a:extLst>
                  <a:ext uri="{FF2B5EF4-FFF2-40B4-BE49-F238E27FC236}">
                    <a16:creationId xmlns:a16="http://schemas.microsoft.com/office/drawing/2014/main" id="{8446F5D2-AE75-D5B9-80F6-F4DC82ADFD34}"/>
                  </a:ext>
                </a:extLst>
              </p:cNvPr>
              <p:cNvSpPr txBox="1">
                <a:spLocks noRot="1" noChangeAspect="1" noMove="1" noResize="1" noEditPoints="1" noAdjustHandles="1" noChangeArrowheads="1" noChangeShapeType="1" noTextEdit="1"/>
              </p:cNvSpPr>
              <p:nvPr/>
            </p:nvSpPr>
            <p:spPr>
              <a:xfrm>
                <a:off x="2086897" y="2244213"/>
                <a:ext cx="21154103" cy="10030695"/>
              </a:xfrm>
              <a:prstGeom prst="rect">
                <a:avLst/>
              </a:prstGeom>
              <a:blipFill>
                <a:blip r:embed="rId5"/>
                <a:stretch>
                  <a:fillRect l="-1008" b="-972"/>
                </a:stretch>
              </a:blipFill>
            </p:spPr>
            <p:txBody>
              <a:bodyPr/>
              <a:lstStyle/>
              <a:p>
                <a:r>
                  <a:rPr lang="ko-KR" altLang="en-US">
                    <a:noFill/>
                  </a:rPr>
                  <a:t> </a:t>
                </a:r>
              </a:p>
            </p:txBody>
          </p:sp>
        </mc:Fallback>
      </mc:AlternateContent>
      <p:pic>
        <p:nvPicPr>
          <p:cNvPr id="2" name="그림 1" descr="\documentclass{article}&#10;\usepackage{amsmath}&#10;\pagestyle{empty}&#10;\begin{document}&#10;&#10;&#10;$&#10;g_i(y)&#10;$&#10;&#10;\end{document}" title="IguanaTex Bitmap Display">
            <a:extLst>
              <a:ext uri="{FF2B5EF4-FFF2-40B4-BE49-F238E27FC236}">
                <a16:creationId xmlns:a16="http://schemas.microsoft.com/office/drawing/2014/main" id="{DF9A7F4F-F6A8-B1CA-18F3-B5D72B6C99AD}"/>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7467600" y="2665855"/>
            <a:ext cx="762000" cy="382145"/>
          </a:xfrm>
          <a:prstGeom prst="rect">
            <a:avLst/>
          </a:prstGeom>
        </p:spPr>
      </p:pic>
      <p:pic>
        <p:nvPicPr>
          <p:cNvPr id="7" name="그림 6" descr="\documentclass{article}&#10;\usepackage{amsmath}&#10;\pagestyle{empty}&#10;\begin{document}&#10;&#10;&#10;$&#10;g_j&#10;$&#10;&#10;\end{document}" title="IguanaTex Bitmap Display">
            <a:extLst>
              <a:ext uri="{FF2B5EF4-FFF2-40B4-BE49-F238E27FC236}">
                <a16:creationId xmlns:a16="http://schemas.microsoft.com/office/drawing/2014/main" id="{F9C0A5F9-9B24-E14F-290C-D046BCAE9B74}"/>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8610600" y="8839200"/>
            <a:ext cx="381001" cy="363143"/>
          </a:xfrm>
          <a:prstGeom prst="rect">
            <a:avLst/>
          </a:prstGeom>
        </p:spPr>
      </p:pic>
    </p:spTree>
    <p:extLst>
      <p:ext uri="{BB962C8B-B14F-4D97-AF65-F5344CB8AC3E}">
        <p14:creationId xmlns:p14="http://schemas.microsoft.com/office/powerpoint/2010/main" val="1103398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9965A-F629-3D72-AA2E-33C255197CDC}"/>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E31CA6A-B7BA-6146-EC91-D6013C2ED563}"/>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8ADAEDD-927E-AB78-7DB3-9DE89371FF19}"/>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DF7BFEB9-85A7-164F-3646-7FBE04CF5107}"/>
              </a:ext>
            </a:extLst>
          </p:cNvPr>
          <p:cNvSpPr txBox="1"/>
          <p:nvPr/>
        </p:nvSpPr>
        <p:spPr>
          <a:xfrm>
            <a:off x="1600200" y="609600"/>
            <a:ext cx="169164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HQP (Hierarchical QP)</a:t>
            </a:r>
            <a:endParaRPr lang="en" altLang="ko-KR" sz="6000" b="1" dirty="0">
              <a:solidFill>
                <a:srgbClr val="00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F56423D-7AD3-8481-0227-C8280D873AC4}"/>
                  </a:ext>
                </a:extLst>
              </p:cNvPr>
              <p:cNvSpPr txBox="1"/>
              <p:nvPr/>
            </p:nvSpPr>
            <p:spPr>
              <a:xfrm>
                <a:off x="2086897" y="2244213"/>
                <a:ext cx="21154103" cy="4860048"/>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altLang="ko-KR" sz="3200" dirty="0">
                    <a:latin typeface="+mn-ea"/>
                  </a:rPr>
                  <a:t> </a:t>
                </a:r>
                <a:r>
                  <a:rPr lang="ko-KR" altLang="en-US" sz="3200" dirty="0">
                    <a:latin typeface="+mn-ea"/>
                  </a:rPr>
                  <a:t>또 다른 방법은 여러 작업        가 있을 때 </a:t>
                </a:r>
                <a:r>
                  <a:rPr lang="ko-KR" altLang="en-US" sz="3200" b="1" dirty="0">
                    <a:latin typeface="+mn-ea"/>
                  </a:rPr>
                  <a:t>우선순위</a:t>
                </a:r>
                <a:r>
                  <a:rPr lang="en-US" altLang="ko-KR" sz="3200" b="1" dirty="0">
                    <a:latin typeface="+mn-ea"/>
                  </a:rPr>
                  <a:t>(priority)</a:t>
                </a:r>
                <a:r>
                  <a:rPr lang="ko-KR" altLang="en-US" sz="3200" dirty="0">
                    <a:latin typeface="+mn-ea"/>
                  </a:rPr>
                  <a:t>를 정해 해결하는 것  </a:t>
                </a:r>
                <a:r>
                  <a:rPr lang="en-US" altLang="ko-KR" sz="3200" dirty="0">
                    <a:latin typeface="+mn-ea"/>
                  </a:rPr>
                  <a:t>=  HPQ</a:t>
                </a:r>
              </a:p>
              <a:p>
                <a:pPr>
                  <a:lnSpc>
                    <a:spcPct val="200000"/>
                  </a:lnSpc>
                </a:pPr>
                <a:r>
                  <a:rPr lang="en-US" altLang="ko-KR" sz="3200" dirty="0">
                    <a:latin typeface="+mn-ea"/>
                  </a:rPr>
                  <a:t>	</a:t>
                </a:r>
                <a:r>
                  <a:rPr lang="ko-KR" altLang="en-US" sz="3200" dirty="0"/>
                  <a:t>“작업 </a:t>
                </a:r>
                <a:r>
                  <a:rPr lang="en-US" altLang="ko-KR" sz="3200" dirty="0"/>
                  <a:t>1 ≫ </a:t>
                </a:r>
                <a:r>
                  <a:rPr lang="ko-KR" altLang="en-US" sz="3200" dirty="0"/>
                  <a:t>작업 </a:t>
                </a:r>
                <a:r>
                  <a:rPr lang="en-US" altLang="ko-KR" sz="3200" dirty="0"/>
                  <a:t>2 ≫ … ≫ </a:t>
                </a:r>
                <a:r>
                  <a:rPr lang="ko-KR" altLang="en-US" sz="3200" dirty="0"/>
                  <a:t>작업 </a:t>
                </a:r>
                <a14:m>
                  <m:oMath xmlns:m="http://schemas.openxmlformats.org/officeDocument/2006/math">
                    <m:r>
                      <a:rPr lang="en-US" altLang="ko-KR" sz="3200" b="0" i="1" smtClean="0">
                        <a:latin typeface="Cambria Math" panose="02040503050406030204" pitchFamily="18" charset="0"/>
                      </a:rPr>
                      <m:t>𝑁</m:t>
                    </m:r>
                  </m:oMath>
                </a14:m>
                <a:r>
                  <a:rPr lang="ko-KR" altLang="en-US" sz="3200" dirty="0"/>
                  <a:t>”처럼 </a:t>
                </a:r>
                <a:r>
                  <a:rPr lang="ko-KR" altLang="en-US" sz="3200" b="1" dirty="0"/>
                  <a:t>상위 과제가 하위 과제보다 무한히 중요</a:t>
                </a:r>
                <a:r>
                  <a:rPr lang="ko-KR" altLang="en-US" sz="3200" dirty="0"/>
                  <a:t>하다고 본다</a:t>
                </a:r>
                <a:endParaRPr lang="en-US" altLang="ko-KR" sz="3200" dirty="0"/>
              </a:p>
              <a:p>
                <a:pPr>
                  <a:lnSpc>
                    <a:spcPct val="200000"/>
                  </a:lnSpc>
                </a:pP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이전 단계 𝑗</a:t>
                </a:r>
                <a:r>
                  <a:rPr lang="en-US" altLang="ko-KR" sz="3200" dirty="0">
                    <a:latin typeface="+mn-ea"/>
                  </a:rPr>
                  <a:t>&lt;</a:t>
                </a:r>
                <a:r>
                  <a:rPr lang="ko-KR" altLang="en-US" sz="3200" dirty="0">
                    <a:latin typeface="+mn-ea"/>
                  </a:rPr>
                  <a:t>𝑖에서 얻은 </a:t>
                </a:r>
                <a:r>
                  <a:rPr lang="ko-KR" altLang="en-US" sz="3200" dirty="0" err="1">
                    <a:latin typeface="+mn-ea"/>
                  </a:rPr>
                  <a:t>최적값</a:t>
                </a:r>
                <a:r>
                  <a:rPr lang="ko-KR" altLang="en-US" sz="3200" dirty="0">
                    <a:latin typeface="+mn-ea"/>
                  </a:rPr>
                  <a:t>       를 그대로 유지하도록 </a:t>
                </a:r>
                <a:r>
                  <a:rPr lang="ko-KR" altLang="en-US" sz="3200" b="1" dirty="0">
                    <a:latin typeface="+mn-ea"/>
                  </a:rPr>
                  <a:t>제약에 추가</a:t>
                </a:r>
                <a:endParaRPr lang="en-US" altLang="ko-KR" sz="3200" b="1" dirty="0">
                  <a:latin typeface="+mn-ea"/>
                </a:endParaRPr>
              </a:p>
              <a:p>
                <a:pPr>
                  <a:lnSpc>
                    <a:spcPct val="200000"/>
                  </a:lnSpc>
                </a:pPr>
                <a:endParaRPr lang="ko-KR" altLang="en-US" sz="3200" dirty="0">
                  <a:latin typeface="+mn-ea"/>
                </a:endParaRPr>
              </a:p>
            </p:txBody>
          </p:sp>
        </mc:Choice>
        <mc:Fallback xmlns="">
          <p:sp>
            <p:nvSpPr>
              <p:cNvPr id="6" name="TextBox 5">
                <a:extLst>
                  <a:ext uri="{FF2B5EF4-FFF2-40B4-BE49-F238E27FC236}">
                    <a16:creationId xmlns:a16="http://schemas.microsoft.com/office/drawing/2014/main" id="{6F56423D-7AD3-8481-0227-C8280D873AC4}"/>
                  </a:ext>
                </a:extLst>
              </p:cNvPr>
              <p:cNvSpPr txBox="1">
                <a:spLocks noRot="1" noChangeAspect="1" noMove="1" noResize="1" noEditPoints="1" noAdjustHandles="1" noChangeArrowheads="1" noChangeShapeType="1" noTextEdit="1"/>
              </p:cNvSpPr>
              <p:nvPr/>
            </p:nvSpPr>
            <p:spPr>
              <a:xfrm>
                <a:off x="2086897" y="2244213"/>
                <a:ext cx="21154103" cy="4860048"/>
              </a:xfrm>
              <a:prstGeom prst="rect">
                <a:avLst/>
              </a:prstGeom>
              <a:blipFill>
                <a:blip r:embed="rId6"/>
                <a:stretch>
                  <a:fillRect l="-663"/>
                </a:stretch>
              </a:blipFill>
            </p:spPr>
            <p:txBody>
              <a:bodyPr/>
              <a:lstStyle/>
              <a:p>
                <a:r>
                  <a:rPr lang="ko-KR" altLang="en-US">
                    <a:noFill/>
                  </a:rPr>
                  <a:t> </a:t>
                </a:r>
              </a:p>
            </p:txBody>
          </p:sp>
        </mc:Fallback>
      </mc:AlternateContent>
      <p:pic>
        <p:nvPicPr>
          <p:cNvPr id="2" name="그림 1" descr="\documentclass{article}&#10;\usepackage{amsmath}&#10;\pagestyle{empty}&#10;\begin{document}&#10;&#10;&#10;$&#10;g_i(y)&#10;$&#10;&#10;\end{document}" title="IguanaTex Bitmap Display">
            <a:extLst>
              <a:ext uri="{FF2B5EF4-FFF2-40B4-BE49-F238E27FC236}">
                <a16:creationId xmlns:a16="http://schemas.microsoft.com/office/drawing/2014/main" id="{C986B161-12B2-A269-F75F-48D4459FB9CF}"/>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7467600" y="2665855"/>
            <a:ext cx="762000" cy="382145"/>
          </a:xfrm>
          <a:prstGeom prst="rect">
            <a:avLst/>
          </a:prstGeom>
        </p:spPr>
      </p:pic>
      <p:pic>
        <p:nvPicPr>
          <p:cNvPr id="8" name="그림 7" descr="\documentclass{article}&#10;\usepackage{amsmath}&#10;\pagestyle{empty}&#10;\begin{document}&#10;&#10;&#10;$&#10;\forall\, i=1,\dots,N:\qquad&#10;\begin{aligned}&#10;&amp;\underset{y}{\mathrm{minimize}} &amp;&amp; g_i(y) \\&#10;&amp;\mathrm{subject\ to} &amp;&amp;&#10;\begin{bmatrix}&#10;J &amp; 0 &amp; 0 \\&#10;M &amp; -J^{\top} &amp; -S^{\top}&#10;\end{bmatrix}&#10;\begin{bmatrix}&#10;\ddot q\\[2pt] f\\[2pt] \tau&#10;\end{bmatrix}&#10;=&#10;\begin{bmatrix}&#10;-\dot J\,\dot q\\[2pt]&#10;-\,h&#10;\end{bmatrix}, \\[6pt]&#10;&amp;&amp;&amp; g_j(y) = g_j^{\star}, \qquad \forall\, j&lt;i .&#10;\end{aligned}&#10;$&#10;&#10;\end{document}" title="IguanaTex Bitmap Display">
            <a:extLst>
              <a:ext uri="{FF2B5EF4-FFF2-40B4-BE49-F238E27FC236}">
                <a16:creationId xmlns:a16="http://schemas.microsoft.com/office/drawing/2014/main" id="{462637AE-907A-668A-381F-659361C1013F}"/>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803316" y="7748274"/>
            <a:ext cx="15833600" cy="4473600"/>
          </a:xfrm>
          <a:prstGeom prst="rect">
            <a:avLst/>
          </a:prstGeom>
        </p:spPr>
      </p:pic>
      <p:sp>
        <p:nvSpPr>
          <p:cNvPr id="9" name="직사각형 8">
            <a:extLst>
              <a:ext uri="{FF2B5EF4-FFF2-40B4-BE49-F238E27FC236}">
                <a16:creationId xmlns:a16="http://schemas.microsoft.com/office/drawing/2014/main" id="{A44A0BED-031D-1C90-A9E2-B122F6AE0933}"/>
              </a:ext>
            </a:extLst>
          </p:cNvPr>
          <p:cNvSpPr/>
          <p:nvPr/>
        </p:nvSpPr>
        <p:spPr>
          <a:xfrm>
            <a:off x="9982200" y="11353800"/>
            <a:ext cx="6019800" cy="1066800"/>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pic>
        <p:nvPicPr>
          <p:cNvPr id="5" name="그림 4" descr="\documentclass{article}&#10;\usepackage{amsmath}&#10;\pagestyle{empty}&#10;\begin{document}&#10;&#10;&#10;$&#10;g_j&#10;$&#10;&#10;\end{document}" title="IguanaTex Bitmap Display">
            <a:extLst>
              <a:ext uri="{FF2B5EF4-FFF2-40B4-BE49-F238E27FC236}">
                <a16:creationId xmlns:a16="http://schemas.microsoft.com/office/drawing/2014/main" id="{5F91DBF9-724A-FE38-6865-08142CC5A8B7}"/>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686800" y="5638800"/>
            <a:ext cx="381001" cy="363143"/>
          </a:xfrm>
          <a:prstGeom prst="rect">
            <a:avLst/>
          </a:prstGeom>
        </p:spPr>
      </p:pic>
    </p:spTree>
    <p:extLst>
      <p:ext uri="{BB962C8B-B14F-4D97-AF65-F5344CB8AC3E}">
        <p14:creationId xmlns:p14="http://schemas.microsoft.com/office/powerpoint/2010/main" val="3010982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1E47-BFCD-A985-13C7-7AE6D1F7150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6972EBF0-A1B4-A873-2F06-9443770E7AA7}"/>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2FA810BF-E6CB-DB8B-C2F1-3FF2B37A3E5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B37A910-4EB7-5690-6096-F6A26FF55DE0}"/>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Thank</a:t>
            </a:r>
            <a:r>
              <a:rPr lang="en-US" sz="6000" b="1" dirty="0">
                <a:solidFill>
                  <a:srgbClr val="000000"/>
                </a:solidFill>
                <a:latin typeface="Arial" panose="020B0604020202020204" pitchFamily="34" charset="0"/>
                <a:cs typeface="Arial" panose="020B0604020202020204" pitchFamily="34" charset="0"/>
              </a:rPr>
              <a:t> you</a:t>
            </a:r>
            <a:endParaRPr lang="en" sz="6000" b="1" i="0" u="none" strike="noStrike"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2902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2301.462"/>
  <p:tag name="LATEXADDIN" val="\documentclass{article}&#10;\usepackage{amsmath}&#10;\pagestyle{empty}&#10;\begin{document}&#10;&#10;&#10;$&#10;\min_{\tau}\ \frac{1}{2}\,(\tau-\tau_{PD})^{2}&#10;\quad \text{s.t.}\quad&#10;\tau_{\min} \le \tau \le \tau_{\max}&#10;$&#10;&#10;\end{document}"/>
  <p:tag name="IGUANATEXSIZE" val="42"/>
  <p:tag name="IGUANATEXCURSOR" val="190"/>
  <p:tag name="TRANSPARENCY" val="True"/>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72.74094"/>
  <p:tag name="ORIGINALWIDTH" val="206.2243"/>
  <p:tag name="LATEXADDIN" val="\documentclass{article}&#10;\usepackage{amsmath}&#10;\pagestyle{empty}&#10;\begin{document}&#10;&#10;&#10;$&#10;\tau_{PD}&#10;$&#10;&#10;\end{document}"/>
  <p:tag name="IGUANATEXSIZE" val="32"/>
  <p:tag name="IGUANATEXCURSOR" val="93"/>
  <p:tag name="TRANSPARENCY" val="True"/>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2301.462"/>
  <p:tag name="LATEXADDIN" val="\documentclass{article}&#10;\usepackage{amsmath}&#10;\pagestyle{empty}&#10;\begin{document}&#10;&#10;&#10;$&#10;\min_{\tau}\ \frac{1}{2}\,(\tau-\tau_{PD})^{2}&#10;\quad \text{s.t.}\quad&#10;\tau_{\min} \le \tau \le \tau_{\max}&#10;$&#10;&#10;\end{document}"/>
  <p:tag name="IGUANATEXSIZE" val="42"/>
  <p:tag name="IGUANATEXCURSOR" val="190"/>
  <p:tag name="TRANSPARENCY" val="True"/>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06.4867"/>
  <p:tag name="ORIGINALWIDTH" val="2165.729"/>
  <p:tag name="LATEXADDIN" val="\documentclass{article}&#10;\usepackage{amsmath}&#10;\pagestyle{empty}&#10;\begin{document}&#10;&#10;&#10;$&#10;\tau_{PD}=1.8,\qquad \tau_{\min}=-2,\qquad \tau_{\max}=1&#10;$&#10;&#10;\end{document}"/>
  <p:tag name="IGUANATEXSIZE" val="42"/>
  <p:tag name="IGUANATEXCURSOR" val="140"/>
  <p:tag name="TRANSPARENCY" val="True"/>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2269.966"/>
  <p:tag name="LATEXADDIN" val="\documentclass{article}&#10;\usepackage{amsmath}&#10;\pagestyle{empty}&#10;\begin{document}&#10;&#10;&#10;$&#10;\frac{d}{d\tau}\Big(\tfrac12(\tau-\tau_{PD})^2\Big)=0&#10;\;\Rightarrow\;&#10;\tau^\star=\tau_{PD}=1.8&#10;$&#10;&#10;\end{document}"/>
  <p:tag name="IGUANATEXSIZE" val="42"/>
  <p:tag name="IGUANATEXCURSOR" val="178"/>
  <p:tag name="TRANSPARENCY" val="True"/>
  <p:tag name="LATEXENGINEID" val="0"/>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3537.308"/>
  <p:tag name="LATEXADDIN" val="\documentclass{article}&#10;\usepackage{amsmath}&#10;\pagestyle{empty}&#10;\begin{document}&#10;&#10;&#10;$&#10; \tau^\star=1.8&gt;\tau_{\max}=1,\ \text{activate the upper bound}&#10;\ \Rightarrow\ &#10;\tau=\tau_{\max}=1&#10;$&#10;&#10;\end{document}"/>
  <p:tag name="IGUANATEXSIZE" val="42"/>
  <p:tag name="IGUANATEXCURSOR" val="182"/>
  <p:tag name="TRANSPARENCY" val="True"/>
  <p:tag name="LATEXENGINEID" val="0"/>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76.9779"/>
  <p:tag name="ORIGINALWIDTH" val="438.6952"/>
  <p:tag name="LATEXADDIN" val="\documentclass{article}&#10;\usepackage{amsmath}&#10;\pagestyle{empty}&#10;\begin{document}&#10;&#10;&#10;$&#10;\boxed{\tau^\star=1}&#10;$&#10;&#10;\end{document}"/>
  <p:tag name="IGUANATEXSIZE" val="42"/>
  <p:tag name="IGUANATEXCURSOR" val="104"/>
  <p:tag name="TRANSPARENCY" val="True"/>
  <p:tag name="LATEXENGINEID" val="0"/>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43.982"/>
  <p:tag name="ORIGINALWIDTH" val="2806.149"/>
  <p:tag name="LATEXADDIN" val="\documentclass{article}&#10;\usepackage{amsmath}&#10;\pagestyle{empty}&#10;\begin{document}&#10;&#10;&#10;$&#10;\mathcal{L}(x,\lambda)\;=\; f(x)\;+\;\sum_{i=1}^{m}\lambda_i\,g_i(x)&#10;\;=\; f(x)+\lambda^{\top}g(x)&#10;$&#10;&#10;\end{document}"/>
  <p:tag name="IGUANATEXSIZE" val="42"/>
  <p:tag name="IGUANATEXCURSOR" val="182"/>
  <p:tag name="TRANSPARENCY" val="True"/>
  <p:tag name="LATEXENGINEID" val="0"/>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324.7094"/>
  <p:tag name="ORIGINALWIDTH" val="2112.486"/>
  <p:tag name="LATEXADDIN" val="\documentclass{article}&#10;\usepackage{amsmath}&#10;\pagestyle{empty}&#10;\begin{document}&#10;&#10;&#10;$&#10;\begin{array}{ll}&#10;\text{minimize} &amp; f(x)\\[4pt]&#10;\text{subject to} &amp; g_i(x)=0,\quad i=1,2,\dots,m&#10;\end{array}&#10;$&#10;&#10;\end{document}"/>
  <p:tag name="IGUANATEXSIZE" val="42"/>
  <p:tag name="IGUANATEXCURSOR" val="192"/>
  <p:tag name="TRANSPARENCY" val="True"/>
  <p:tag name="LATEXENGINEID" val="0"/>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222"/>
  <p:tag name="LATEXADDIN" val="\documentclass{article}&#10;\usepackage{amsmath}&#10;\pagestyle{empty}&#10;\begin{document}&#10;&#10;&#10;$&#10;f(x)&#10;$&#10;&#10;\end{document}"/>
  <p:tag name="IGUANATEXSIZE" val="32"/>
  <p:tag name="IGUANATEXCURSOR" val="88"/>
  <p:tag name="TRANSPARENCY" val="True"/>
  <p:tag name="LATEXENGINEID" val="0"/>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pagestyle{empty}&#10;\begin{document}&#10;&#10;&#10;$&#10;x^{\ast}&#10;$&#10;&#10;\end{document}"/>
  <p:tag name="IGUANATEXSIZE" val="42"/>
  <p:tag name="IGUANATEXCURSOR" val="92"/>
  <p:tag name="TRANSPARENCY" val="True"/>
  <p:tag name="LATEXENGINEID" val="0"/>
  <p:tag name="TEMPFOLDER" val="c:\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348.7064"/>
  <p:tag name="LATEXADDIN" val="\documentclass{article}&#10;\usepackage{amsmath}&#10;\pagestyle{empty}&#10;\begin{document}&#10;&#10;&#10;$&#10;x = x^{\ast}&#10;$&#10;&#10;\end{document}"/>
  <p:tag name="IGUANATEXSIZE" val="42"/>
  <p:tag name="IGUANATEXCURSOR" val="96"/>
  <p:tag name="TRANSPARENCY" val="True"/>
  <p:tag name="LATEXENGINEID" val="0"/>
  <p:tag name="TEMPFOLDER" val="c:\temp\"/>
  <p:tag name="LATEXFORMHEIGHT" val="312"/>
  <p:tag name="LATEXFORMWIDTH" val="384"/>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348.7064"/>
  <p:tag name="LATEXADDIN" val="\documentclass{article}&#10;\usepackage{amsmath}&#10;\pagestyle{empty}&#10;\begin{document}&#10;&#10;&#10;$&#10;\lambda = \lambda^{\ast}&#10;$&#10;&#10;\end{document}"/>
  <p:tag name="IGUANATEXSIZE" val="42"/>
  <p:tag name="IGUANATEXCURSOR" val="84"/>
  <p:tag name="TRANSPARENCY" val="True"/>
  <p:tag name="LATEXENGINEID" val="0"/>
  <p:tag name="TEMPFOLDER" val="c:\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75.74055"/>
  <p:tag name="LATEXADDIN" val="\documentclass{article}&#10;\usepackage{amsmath}&#10;\pagestyle{empty}&#10;\begin{document}&#10;&#10;&#10;$&#10;L&#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21.6348"/>
  <p:tag name="LATEXADDIN" val="\documentclass{article}&#10;\usepackage{amsmath}&#10;\pagestyle{empty}&#10;\begin{document}&#10;&#10;&#10;$&#10;\nabla_{x}\,L\!\left(x^{\ast},\,\lambda^{\ast}\right)=0&#10;$&#10;&#10;\end{document}"/>
  <p:tag name="IGUANATEXSIZE" val="42"/>
  <p:tag name="IGUANATEXCURSOR" val="139"/>
  <p:tag name="TRANSPARENCY" val="True"/>
  <p:tag name="LATEXENGINEID" val="0"/>
  <p:tag name="TEMPFOLDER" val="c:\temp\"/>
  <p:tag name="LATEXFORMHEIGHT" val="312"/>
  <p:tag name="LATEXFORMWIDTH" val="384"/>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1727.034"/>
  <p:tag name="LATEXADDIN" val="\documentclass{article}&#10;\usepackage{amsmath}&#10;\pagestyle{empty}&#10;\begin{document}&#10;&#10;&#10;$&#10;\min_y\ \frac12\,\|y-c\|^2&#10;\quad\text{s.t.}\quad a^\top y \le b&#10;$&#10;&#10;\end{document}"/>
  <p:tag name="IGUANATEXSIZE" val="32"/>
  <p:tag name="IGUANATEXCURSOR" val="90"/>
  <p:tag name="TRANSPARENCY" val="True"/>
  <p:tag name="LATEXENGINEID" val="0"/>
  <p:tag name="TEMPFOLDER" val="c:\temp\"/>
  <p:tag name="LATEXFORMHEIGHT" val="312"/>
  <p:tag name="LATEXFORMWIDTH" val="384"/>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345.332"/>
  <p:tag name="LATEXADDIN" val="\documentclass{article}&#10;\usepackage{amsmath}&#10;\pagestyle{empty}&#10;\begin{document}&#10;&#10;&#10;$&#10;c=\begin{bmatrix}2\\[2pt]1\end{bmatrix},\ &#10;a=\begin{bmatrix}1\\[2pt]1\end{bmatrix},\ &#10;b=2&#10;$&#10;&#10;\end{document}"/>
  <p:tag name="IGUANATEXSIZE" val="42"/>
  <p:tag name="IGUANATEXCURSOR" val="173"/>
  <p:tag name="TRANSPARENCY" val="True"/>
  <p:tag name="LATEXENGINEID" val="0"/>
  <p:tag name="TEMPFOLDER" val="c:\temp\"/>
  <p:tag name="LATEXFORMHEIGHT" val="312"/>
  <p:tag name="LATEXFORMWIDTH" val="384"/>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2003"/>
  <p:tag name="LATEXADDIN" val="\documentclass{article}&#10;\usepackage{amsmath}&#10;\pagestyle{empty}&#10;\begin{document}&#10;&#10;&#10;$&#10;f(y)=\tfrac12\|y-c\|^2&#10;=\tfrac12\,(y-c)^{\top}(y-c)&#10;$&#10;&#10;\end{document}"/>
  <p:tag name="IGUANATEXSIZE" val="32"/>
  <p:tag name="IGUANATEXCURSOR" val="135"/>
  <p:tag name="TRANSPARENCY" val="True"/>
  <p:tag name="LATEXENGINEID" val="0"/>
  <p:tag name="TEMPFOLDER" val="c:\temp\"/>
  <p:tag name="LATEXFORMHEIGHT" val="312"/>
  <p:tag name="LATEXFORMWIDTH" val="384"/>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73.1534"/>
  <p:tag name="LATEXADDIN" val="\documentclass{article}&#10;\usepackage{amsmath}&#10;\pagestyle{empty}&#10;\begin{document}&#10;&#10;&#10;$&#10;\nabla f(y) = y-c&#10;$&#10;&#10;\end{document}"/>
  <p:tag name="IGUANATEXSIZE" val="42"/>
  <p:tag name="IGUANATEXCURSOR" val="101"/>
  <p:tag name="TRANSPARENCY" val="True"/>
  <p:tag name="LATEXENGINEID" val="0"/>
  <p:tag name="TEMPFOLDER" val="c:\temp\"/>
  <p:tag name="LATEXFORMHEIGHT" val="312"/>
  <p:tag name="LATEXFORMWIDTH" val="384"/>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581.552"/>
  <p:tag name="LATEXADDIN" val="\documentclass{article}&#10;\usepackage{amsmath}&#10;\pagestyle{empty}&#10;\begin{document}&#10;&#10;&#10;$&#10;\nabla f(y)=0 \ \Longrightarrow\ y_0=c&#10;=&#10;\begin{bmatrix}2\\[2pt]1\end{bmatrix}&#10;$&#10;&#10;\end{document}"/>
  <p:tag name="IGUANATEXSIZE" val="42"/>
  <p:tag name="IGUANATEXCURSOR" val="120"/>
  <p:tag name="TRANSPARENCY" val="True"/>
  <p:tag name="LATEXENGINEID" val="0"/>
  <p:tag name="TEMPFOLDER" val="c:\temp\"/>
  <p:tag name="LATEXFORMHEIGHT" val="312"/>
  <p:tag name="LATEXFORMWIDTH" val="384"/>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706.787"/>
  <p:tag name="LATEXADDIN" val="\documentclass{article}&#10;\usepackage{amsmath}&#10;\pagestyle{empty}&#10;\begin{document}&#10;&#10;&#10;$&#10;a^{\top}c = \begin{bmatrix}1&amp;1\end{bmatrix}\!\begin{bmatrix}2\\[2pt]1\end{bmatrix}&#10;=3 \;&gt;\; b(=2)&#10;$&#10;&#10;\end{document}"/>
  <p:tag name="IGUANATEXSIZE" val="42"/>
  <p:tag name="IGUANATEXCURSOR" val="181"/>
  <p:tag name="TRANSPARENCY" val="True"/>
  <p:tag name="LATEXENGINEID" val="0"/>
  <p:tag name="TEMPFOLDER" val="c:\temp\"/>
  <p:tag name="LATEXFORMHEIGHT" val="312"/>
  <p:tag name="LATEXFORMWIDTH" val="38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222"/>
  <p:tag name="LATEXADDIN" val="\documentclass{article}&#10;\usepackage{amsmath}&#10;\pagestyle{empty}&#10;\begin{document}&#10;&#10;&#10;$&#10;f(x)&#10;$&#10;&#10;\end{document}"/>
  <p:tag name="IGUANATEXSIZE" val="32"/>
  <p:tag name="IGUANATEXCURSOR" val="88"/>
  <p:tag name="TRANSPARENCY" val="True"/>
  <p:tag name="LATEXENGINEID" val="0"/>
  <p:tag name="TEMPFOLDER" val="c:\temp\"/>
  <p:tag name="LATEXFORMHEIGHT" val="312"/>
  <p:tag name="LATEXFORMWIDTH" val="384"/>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pagestyle{empty}&#10;\begin{document}&#10;&#10;&#10;$&#10;x^{\ast}&#10;$&#10;&#10;\end{document}"/>
  <p:tag name="IGUANATEXSIZE" val="42"/>
  <p:tag name="IGUANATEXCURSOR" val="92"/>
  <p:tag name="TRANSPARENCY" val="True"/>
  <p:tag name="LATEXENGINEID" val="0"/>
  <p:tag name="TEMPFOLDER" val="c:\temp\"/>
  <p:tag name="LATEXFORMHEIGHT" val="312"/>
  <p:tag name="LATEXFORMWIDTH" val="384"/>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348.7064"/>
  <p:tag name="LATEXADDIN" val="\documentclass{article}&#10;\usepackage{amsmath}&#10;\pagestyle{empty}&#10;\begin{document}&#10;&#10;&#10;$&#10;x = x^{\ast}&#10;$&#10;&#10;\end{document}"/>
  <p:tag name="IGUANATEXSIZE" val="42"/>
  <p:tag name="IGUANATEXCURSOR" val="96"/>
  <p:tag name="TRANSPARENCY" val="True"/>
  <p:tag name="LATEXENGINEID" val="0"/>
  <p:tag name="TEMPFOLDER" val="c:\temp\"/>
  <p:tag name="LATEXFORMHEIGHT" val="312"/>
  <p:tag name="LATEXFORMWIDTH" val="384"/>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348.7064"/>
  <p:tag name="LATEXADDIN" val="\documentclass{article}&#10;\usepackage{amsmath}&#10;\pagestyle{empty}&#10;\begin{document}&#10;&#10;&#10;$&#10;\lambda = \lambda^{\ast}&#10;$&#10;&#10;\end{document}"/>
  <p:tag name="IGUANATEXSIZE" val="42"/>
  <p:tag name="IGUANATEXCURSOR" val="84"/>
  <p:tag name="TRANSPARENCY" val="True"/>
  <p:tag name="LATEXENGINEID" val="0"/>
  <p:tag name="TEMPFOLDER" val="c:\temp\"/>
  <p:tag name="LATEXFORMHEIGHT" val="312"/>
  <p:tag name="LATEXFORMWIDTH" val="384"/>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75.74055"/>
  <p:tag name="LATEXADDIN" val="\documentclass{article}&#10;\usepackage{amsmath}&#10;\pagestyle{empty}&#10;\begin{document}&#10;&#10;&#10;$&#10;L&#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21.6348"/>
  <p:tag name="LATEXADDIN" val="\documentclass{article}&#10;\usepackage{amsmath}&#10;\pagestyle{empty}&#10;\begin{document}&#10;&#10;&#10;$&#10;\nabla_{x}\,L\!\left(x^{\ast},\,\lambda^{\ast}\right)=0&#10;$&#10;&#10;\end{document}"/>
  <p:tag name="IGUANATEXSIZE" val="42"/>
  <p:tag name="IGUANATEXCURSOR" val="139"/>
  <p:tag name="TRANSPARENCY" val="True"/>
  <p:tag name="LATEXENGINEID" val="0"/>
  <p:tag name="TEMPFOLDER" val="c:\temp\"/>
  <p:tag name="LATEXFORMHEIGHT" val="312"/>
  <p:tag name="LATEXFORMWIDTH" val="38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1727.034"/>
  <p:tag name="LATEXADDIN" val="\documentclass{article}&#10;\usepackage{amsmath}&#10;\pagestyle{empty}&#10;\begin{document}&#10;&#10;&#10;$&#10;\min_y\ \frac12\,\|y-c\|^2&#10;\quad\text{s.t.}\quad a^\top y \le b&#10;$&#10;&#10;\end{document}"/>
  <p:tag name="IGUANATEXSIZE" val="32"/>
  <p:tag name="IGUANATEXCURSOR" val="90"/>
  <p:tag name="TRANSPARENCY" val="True"/>
  <p:tag name="LATEXENGINEID" val="0"/>
  <p:tag name="TEMPFOLDER" val="c:\temp\"/>
  <p:tag name="LATEXFORMHEIGHT" val="312"/>
  <p:tag name="LATEXFORMWIDTH" val="384"/>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345.332"/>
  <p:tag name="LATEXADDIN" val="\documentclass{article}&#10;\usepackage{amsmath}&#10;\pagestyle{empty}&#10;\begin{document}&#10;&#10;&#10;$&#10;c=\begin{bmatrix}2\\[2pt]1\end{bmatrix},\ &#10;a=\begin{bmatrix}1\\[2pt]1\end{bmatrix},\ &#10;b=2&#10;$&#10;&#10;\end{document}"/>
  <p:tag name="IGUANATEXSIZE" val="42"/>
  <p:tag name="IGUANATEXCURSOR" val="173"/>
  <p:tag name="TRANSPARENCY" val="True"/>
  <p:tag name="LATEXENGINEID" val="0"/>
  <p:tag name="TEMPFOLDER" val="c:\temp\"/>
  <p:tag name="LATEXFORMHEIGHT" val="312"/>
  <p:tag name="LATEXFORMWIDTH" val="384"/>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428.9464"/>
  <p:tag name="LATEXADDIN" val="\documentclass{article}&#10;\usepackage{amsmath}&#10;\pagestyle{empty}&#10;\begin{document}&#10;&#10;&#10;$&#10;a^{\top}y=b&#10;$&#10;&#10;\end{document}"/>
  <p:tag name="IGUANATEXSIZE" val="32"/>
  <p:tag name="IGUANATEXCURSOR" val="95"/>
  <p:tag name="TRANSPARENCY" val="True"/>
  <p:tag name="LATEXENGINEID" val="0"/>
  <p:tag name="TEMPFOLDER" val="c:\temp\"/>
  <p:tag name="LATEXFORMHEIGHT" val="312"/>
  <p:tag name="LATEXFORMWIDTH" val="38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2433.446"/>
  <p:tag name="LATEXADDIN" val="\documentclass{article}&#10;\usepackage{amsmath}&#10;\pagestyle{empty}&#10;\begin{document}&#10;&#10;&#10;$&#10;\mathcal{L}(y,\lambda)&#10;= \tfrac12\|y-c\|^2 + \lambda\,(a^{\top}y-b),\qquad \lambda\ge 0&#10;$&#10;&#10;\end{document}"/>
  <p:tag name="IGUANATEXSIZE" val="42"/>
  <p:tag name="IGUANATEXCURSOR" val="171"/>
  <p:tag name="TRANSPARENCY" val="True"/>
  <p:tag name="LATEXENGINEID" val="0"/>
  <p:tag name="TEMPFOLDER" val="c:\temp\"/>
  <p:tag name="LATEXFORMHEIGHT" val="312"/>
  <p:tag name="LATEXFORMWIDTH" val="38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1583.052"/>
  <p:tag name="LATEXADDIN" val="\documentclass{article}&#10;\usepackage{amsmath}&#10;\pagestyle{empty}&#10;\begin{document}&#10;&#10;&#10;$&#10;\nabla_y \mathcal{L}(y,\lambda)= (y-c)+\lambda a = 0&#10;$&#10;&#10;\end{document}"/>
  <p:tag name="IGUANATEXSIZE" val="42"/>
  <p:tag name="IGUANATEXCURSOR" val="136"/>
  <p:tag name="TRANSPARENCY" val="True"/>
  <p:tag name="LATEXENGINEID" val="0"/>
  <p:tag name="TEMPFOLDER" val="c:\temp\"/>
  <p:tag name="LATEXFORMHEIGHT" val="312"/>
  <p:tag name="LATEXFORMWIDTH" val="384"/>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569.9287"/>
  <p:tag name="LATEXADDIN" val="\documentclass{article}&#10;\usepackage{amsmath}&#10;\pagestyle{empty}&#10;\begin{document}&#10;&#10;&#10;$&#10;y=c-\lambda a&#10;$&#10;&#10;\end{document}"/>
  <p:tag name="IGUANATEXSIZE" val="42"/>
  <p:tag name="IGUANATEXCURSOR" val="97"/>
  <p:tag name="TRANSPARENCY" val="True"/>
  <p:tag name="LATEXENGINEID" val="0"/>
  <p:tag name="TEMPFOLDER" val="c:\temp\"/>
  <p:tag name="LATEXFORMHEIGHT" val="312"/>
  <p:tag name="LATEXFORMWIDTH" val="38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222"/>
  <p:tag name="LATEXADDIN" val="\documentclass{article}&#10;\usepackage{amsmath}&#10;\pagestyle{empty}&#10;\begin{document}&#10;&#10;&#10;$&#10;f(x)&#10;$&#10;&#10;\end{document}"/>
  <p:tag name="IGUANATEXSIZE" val="32"/>
  <p:tag name="IGUANATEXCURSOR" val="88"/>
  <p:tag name="TRANSPARENCY" val="True"/>
  <p:tag name="LATEXENGINEID" val="0"/>
  <p:tag name="TEMPFOLDER" val="c:\temp\"/>
  <p:tag name="LATEXFORMHEIGHT" val="312"/>
  <p:tag name="LATEXFORMWIDTH" val="38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pagestyle{empty}&#10;\begin{document}&#10;&#10;&#10;$&#10;x^{\ast}&#10;$&#10;&#10;\end{document}"/>
  <p:tag name="IGUANATEXSIZE" val="42"/>
  <p:tag name="IGUANATEXCURSOR" val="92"/>
  <p:tag name="TRANSPARENCY" val="True"/>
  <p:tag name="LATEXENGINEID" val="0"/>
  <p:tag name="TEMPFOLDER" val="c:\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348.7064"/>
  <p:tag name="LATEXADDIN" val="\documentclass{article}&#10;\usepackage{amsmath}&#10;\pagestyle{empty}&#10;\begin{document}&#10;&#10;&#10;$&#10;x = x^{\ast}&#10;$&#10;&#10;\end{document}"/>
  <p:tag name="IGUANATEXSIZE" val="42"/>
  <p:tag name="IGUANATEXCURSOR" val="96"/>
  <p:tag name="TRANSPARENCY" val="True"/>
  <p:tag name="LATEXENGINEID" val="0"/>
  <p:tag name="TEMPFOLDER" val="c:\temp\"/>
  <p:tag name="LATEXFORMHEIGHT" val="312"/>
  <p:tag name="LATEXFORMWIDTH" val="384"/>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348.7064"/>
  <p:tag name="LATEXADDIN" val="\documentclass{article}&#10;\usepackage{amsmath}&#10;\pagestyle{empty}&#10;\begin{document}&#10;&#10;&#10;$&#10;\lambda = \lambda^{\ast}&#10;$&#10;&#10;\end{document}"/>
  <p:tag name="IGUANATEXSIZE" val="42"/>
  <p:tag name="IGUANATEXCURSOR" val="84"/>
  <p:tag name="TRANSPARENCY" val="True"/>
  <p:tag name="LATEXENGINEID" val="0"/>
  <p:tag name="TEMPFOLDER" val="c:\temp\"/>
  <p:tag name="LATEXFORMHEIGHT" val="312"/>
  <p:tag name="LATEXFORMWIDTH" val="384"/>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75.74055"/>
  <p:tag name="LATEXADDIN" val="\documentclass{article}&#10;\usepackage{amsmath}&#10;\pagestyle{empty}&#10;\begin{document}&#10;&#10;&#10;$&#10;L&#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21.6348"/>
  <p:tag name="LATEXADDIN" val="\documentclass{article}&#10;\usepackage{amsmath}&#10;\pagestyle{empty}&#10;\begin{document}&#10;&#10;&#10;$&#10;\nabla_{x}\,L\!\left(x^{\ast},\,\lambda^{\ast}\right)=0&#10;$&#10;&#10;\end{document}"/>
  <p:tag name="IGUANATEXSIZE" val="42"/>
  <p:tag name="IGUANATEXCURSOR" val="139"/>
  <p:tag name="TRANSPARENCY" val="True"/>
  <p:tag name="LATEXENGINEID" val="0"/>
  <p:tag name="TEMPFOLDER" val="c:\temp\"/>
  <p:tag name="LATEXFORMHEIGHT" val="312"/>
  <p:tag name="LATEXFORMWIDTH" val="38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1727.034"/>
  <p:tag name="LATEXADDIN" val="\documentclass{article}&#10;\usepackage{amsmath}&#10;\pagestyle{empty}&#10;\begin{document}&#10;&#10;&#10;$&#10;\min_y\ \frac12\,\|y-c\|^2&#10;\quad\text{s.t.}\quad a^\top y \le b&#10;$&#10;&#10;\end{document}"/>
  <p:tag name="IGUANATEXSIZE" val="32"/>
  <p:tag name="IGUANATEXCURSOR" val="90"/>
  <p:tag name="TRANSPARENCY" val="True"/>
  <p:tag name="LATEXENGINEID" val="0"/>
  <p:tag name="TEMPFOLDER" val="c:\temp\"/>
  <p:tag name="LATEXFORMHEIGHT" val="312"/>
  <p:tag name="LATEXFORMWIDTH" val="384"/>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345.332"/>
  <p:tag name="LATEXADDIN" val="\documentclass{article}&#10;\usepackage{amsmath}&#10;\pagestyle{empty}&#10;\begin{document}&#10;&#10;&#10;$&#10;c=\begin{bmatrix}2\\[2pt]1\end{bmatrix},\ &#10;a=\begin{bmatrix}1\\[2pt]1\end{bmatrix},\ &#10;b=2&#10;$&#10;&#10;\end{document}"/>
  <p:tag name="IGUANATEXSIZE" val="42"/>
  <p:tag name="IGUANATEXCURSOR" val="173"/>
  <p:tag name="TRANSPARENCY" val="True"/>
  <p:tag name="LATEXENGINEID" val="0"/>
  <p:tag name="TEMPFOLDER" val="c:\temp\"/>
  <p:tag name="LATEXFORMHEIGHT" val="312"/>
  <p:tag name="LATEXFORMWIDTH" val="384"/>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94.9756"/>
  <p:tag name="ORIGINALWIDTH" val="3632.546"/>
  <p:tag name="LATEXADDIN" val="\documentclass{article}&#10;\usepackage{amsmath}&#10;\pagestyle{empty}&#10;\begin{document}&#10;&#10;&#10;$&#10;a^{\top}y=b&#10;\ \Longrightarrow\&#10;a^{\top}(c-\lambda a)=b&#10;\ \Longrightarrow\&#10;\lambda^{\star}=\frac{a^{\top}c-b}{\|a\|^2}&#10;=\frac{3-2}{\,1^2+1^2\,}&#10;=\frac{1}{2}=0.5&#10;$&#10;&#10;\end{document}"/>
  <p:tag name="IGUANATEXSIZE" val="42"/>
  <p:tag name="IGUANATEXCURSOR" val="243"/>
  <p:tag name="TRANSPARENCY" val="True"/>
  <p:tag name="LATEXENGINEID" val="0"/>
  <p:tag name="TEMPFOLDER" val="c:\temp\"/>
  <p:tag name="LATEXFORMHEIGHT" val="312"/>
  <p:tag name="LATEXFORMWIDTH" val="384"/>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569.9287"/>
  <p:tag name="LATEXADDIN" val="\documentclass{article}&#10;\usepackage{amsmath}&#10;\pagestyle{empty}&#10;\begin{document}&#10;&#10;&#10;$&#10;y=c-\lambda a&#10;$&#10;&#10;\end{document}"/>
  <p:tag name="IGUANATEXSIZE" val="42"/>
  <p:tag name="IGUANATEXCURSOR" val="97"/>
  <p:tag name="TRANSPARENCY" val="True"/>
  <p:tag name="LATEXENGINEID" val="0"/>
  <p:tag name="TEMPFOLDER" val="c:\temp\"/>
  <p:tag name="LATEXFORMHEIGHT" val="312"/>
  <p:tag name="LATEXFORMWIDTH" val="384"/>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408.6989"/>
  <p:tag name="ORIGINALWIDTH" val="2093.738"/>
  <p:tag name="LATEXADDIN" val="\documentclass{article}&#10;\usepackage{amsmath}&#10;\pagestyle{empty}&#10;\begin{document}&#10;&#10;&#10;$&#10;y^{\star}&#10;= c-\lambda^{\star} a&#10;= \begin{bmatrix}2\\[2pt]1\end{bmatrix}&#10;- 0.5\!\begin{bmatrix}1\\[2pt]1\end{bmatrix}&#10;=\boxed{\begin{bmatrix}1.5\\[2pt]0.5\end{bmatrix}}&#10;$&#10;&#10;\end{document}"/>
  <p:tag name="IGUANATEXSIZE" val="42"/>
  <p:tag name="IGUANATEXCURSOR" val="251"/>
  <p:tag name="TRANSPARENCY" val="True"/>
  <p:tag name="LATEXENGINEID" val="0"/>
  <p:tag name="TEMPFOLDER" val="c:\temp\"/>
  <p:tag name="LATEXFORMHEIGHT" val="312"/>
  <p:tag name="LATEXFORMWIDTH" val="384"/>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428.9464"/>
  <p:tag name="LATEXADDIN" val="\documentclass{article}&#10;\usepackage{amsmath}&#10;\pagestyle{empty}&#10;\begin{document}&#10;&#10;&#10;$&#10;a^{\top}y=b&#10;$&#10;&#10;\end{document}"/>
  <p:tag name="IGUANATEXSIZE" val="32"/>
  <p:tag name="IGUANATEXCURSOR" val="95"/>
  <p:tag name="TRANSPARENCY" val="True"/>
  <p:tag name="LATEXENGINEID" val="0"/>
  <p:tag name="TEMPFOLDER" val="c:\temp\"/>
  <p:tag name="LATEXFORMHEIGHT" val="312"/>
  <p:tag name="LATEXFORMWIDTH" val="384"/>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49.7188"/>
  <p:tag name="LATEXADDIN" val="\documentclass{article}&#10;\usepackage{amsmath}&#10;\pagestyle{empty}&#10;\begin{document}&#10;&#10;&#10;$&#10;g_i(y)&#10;$&#10;&#10;\end{document}"/>
  <p:tag name="IGUANATEXSIZE" val="28"/>
  <p:tag name="IGUANATEXCURSOR" val="90"/>
  <p:tag name="TRANSPARENCY" val="True"/>
  <p:tag name="LATEXENGINEID" val="0"/>
  <p:tag name="TEMPFOLDER" val="c:\temp\"/>
  <p:tag name="LATEXFORMHEIGHT" val="312"/>
  <p:tag name="LATEXFORMWIDTH" val="384"/>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116.9854"/>
  <p:tag name="LATEXADDIN" val="\documentclass{article}&#10;\usepackage{amsmath}&#10;\pagestyle{empty}&#10;\begin{document}&#10;&#10;&#10;$&#10;w_i&#10;$&#10;&#10;\end{document}"/>
  <p:tag name="IGUANATEXSIZE" val="42"/>
  <p:tag name="IGUANATEXCURSOR" val="87"/>
  <p:tag name="TRANSPARENCY" val="True"/>
  <p:tag name="LATEXENGINEID" val="0"/>
  <p:tag name="TEMPFOLDER" val="c:\temp\"/>
  <p:tag name="LATEXFORMHEIGHT" val="312"/>
  <p:tag name="LATEXFORMWIDTH" val="384"/>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78.4777"/>
  <p:tag name="ORIGINALWIDTH" val="2008.999"/>
  <p:tag name="LATEXADDIN" val="\documentclass{article}&#10;\usepackage{amsmath}&#10;\pagestyle{empty}&#10;\begin{document}&#10;&#10;&#10;$&#10;g_i(y) \;=\; \big\| A_i\,y - a_i \big\|^{2},&#10;\quad i=1,\dots,N&#10;$&#10;&#10;\end{document}"/>
  <p:tag name="IGUANATEXSIZE" val="42"/>
  <p:tag name="IGUANATEXCURSOR" val="146"/>
  <p:tag name="TRANSPARENCY" val="True"/>
  <p:tag name="LATEXENGINEID" val="0"/>
  <p:tag name="TEMPFOLDER" val="c:\temp\"/>
  <p:tag name="LATEXFORMHEIGHT" val="312"/>
  <p:tag name="LATEXFORMWIDTH" val="384"/>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946.3817"/>
  <p:tag name="ORIGINALWIDTH" val="3187.851"/>
  <p:tag name="LATEXADDIN" val="\documentclass{article}&#10;\usepackage{amsmath}&#10;\pagestyle{empty}&#10;\begin{document}&#10;&#10;&#10;$&#10;\begin{aligned}&#10;&amp;\underset{y}{\mathrm{minimize}}&#10;&amp;&amp; \sum_{i=1}^{N} w_i\, g_i(y)&#10;\\&#10;&amp;\mathrm{subject\ to}&#10;&amp;&amp;&#10;\begin{bmatrix}&#10;J(q) &amp; 0        &amp; 0 \\&#10;M(q) &amp; -J(q)^{\top} &amp; -S^{\top}&#10;\end{bmatrix}&#10;\begin{bmatrix}&#10;\ddot q\\[2pt] f\\[2pt] \tau&#10;\end{bmatrix}&#10;=&#10;\begin{bmatrix}&#10;-\dot J(q,\dot q)\,\dot q\\[2pt]&#10;-\,h(q,\dot q)&#10;\end{bmatrix}.&#10;\end{aligned}&#10;$&#10;&#10;\end{document}"/>
  <p:tag name="IGUANATEXSIZE" val="42"/>
  <p:tag name="IGUANATEXCURSOR" val="430"/>
  <p:tag name="TRANSPARENCY" val="True"/>
  <p:tag name="LATEXENGINEID" val="0"/>
  <p:tag name="TEMPFOLDER" val="c:\temp\"/>
  <p:tag name="LATEXFORMHEIGHT" val="312"/>
  <p:tag name="LATEXFORMWIDTH" val="384"/>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49.7188"/>
  <p:tag name="LATEXADDIN" val="\documentclass{article}&#10;\usepackage{amsmath}&#10;\pagestyle{empty}&#10;\begin{document}&#10;&#10;&#10;$&#10;g_i(y)&#10;$&#10;&#10;\end{document}"/>
  <p:tag name="IGUANATEXSIZE" val="28"/>
  <p:tag name="IGUANATEXCURSOR" val="90"/>
  <p:tag name="TRANSPARENCY" val="True"/>
  <p:tag name="LATEXENGINEID" val="0"/>
  <p:tag name="TEMPFOLDER" val="c:\temp\"/>
  <p:tag name="LATEXFORMHEIGHT" val="312"/>
  <p:tag name="LATEXFORMWIDTH" val="384"/>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91.48859"/>
  <p:tag name="ORIGINALWIDTH" val="95.98803"/>
  <p:tag name="LATEXADDIN" val="\documentclass{article}&#10;\usepackage{amsmath}&#10;\pagestyle{empty}&#10;\begin{document}&#10;&#10;&#10;$&#10;g_j&#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49.7188"/>
  <p:tag name="LATEXADDIN" val="\documentclass{article}&#10;\usepackage{amsmath}&#10;\pagestyle{empty}&#10;\begin{document}&#10;&#10;&#10;$&#10;g_i(y)&#10;$&#10;&#10;\end{document}"/>
  <p:tag name="IGUANATEXSIZE" val="28"/>
  <p:tag name="IGUANATEXCURSOR" val="90"/>
  <p:tag name="TRANSPARENCY" val="True"/>
  <p:tag name="LATEXENGINEID" val="0"/>
  <p:tag name="TEMPFOLDER" val="c:\temp\"/>
  <p:tag name="LATEXFORMHEIGHT" val="312"/>
  <p:tag name="LATEXFORMWIDTH" val="384"/>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048.369"/>
  <p:tag name="ORIGINALWIDTH" val="3710.536"/>
  <p:tag name="LATEXADDIN" val="\documentclass{article}&#10;\usepackage{amsmath}&#10;\pagestyle{empty}&#10;\begin{document}&#10;&#10;&#10;$&#10;\forall\, i=1,\dots,N:\qquad&#10;\begin{aligned}&#10;&amp;\underset{y}{\mathrm{minimize}} &amp;&amp; g_i(y) \\&#10;&amp;\mathrm{subject\ to} &amp;&amp;&#10;\begin{bmatrix}&#10;J &amp; 0 &amp; 0 \\&#10;M &amp; -J^{\top} &amp; -S^{\top}&#10;\end{bmatrix}&#10;\begin{bmatrix}&#10;\ddot q\\[2pt] f\\[2pt] \tau&#10;\end{bmatrix}&#10;=&#10;\begin{bmatrix}&#10;-\dot J\,\dot q\\[2pt]&#10;-\,h&#10;\end{bmatrix}, \\[6pt]&#10;&amp;&amp;&amp; g_j(y) = g_j^{\star}, \qquad \forall\, j&lt;i .&#10;\end{aligned}&#10;$&#10;&#10;\end{document}"/>
  <p:tag name="IGUANATEXSIZE" val="42"/>
  <p:tag name="IGUANATEXCURSOR" val="459"/>
  <p:tag name="TRANSPARENCY" val="True"/>
  <p:tag name="LATEXENGINEID" val="0"/>
  <p:tag name="TEMPFOLDER" val="c:\temp\"/>
  <p:tag name="LATEXFORMHEIGHT" val="312"/>
  <p:tag name="LATEXFORMWIDTH" val="384"/>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91.48859"/>
  <p:tag name="ORIGINALWIDTH" val="95.98803"/>
  <p:tag name="LATEXADDIN" val="\documentclass{article}&#10;\usepackage{amsmath}&#10;\pagestyle{empty}&#10;\begin{document}&#10;&#10;&#10;$&#10;g_j&#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2150</TotalTime>
  <Words>755</Words>
  <Application>Microsoft Office PowerPoint</Application>
  <PresentationFormat>사용자 지정</PresentationFormat>
  <Paragraphs>119</Paragraphs>
  <Slides>12</Slides>
  <Notes>11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vt:i4>
      </vt:variant>
    </vt:vector>
  </HeadingPairs>
  <TitlesOfParts>
    <vt:vector size="17" baseType="lpstr">
      <vt:lpstr>Cambria Math</vt:lpstr>
      <vt:lpstr>Arial</vt:lpstr>
      <vt:lpstr>Calibri</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강민 이</cp:lastModifiedBy>
  <cp:revision>182</cp:revision>
  <dcterms:created xsi:type="dcterms:W3CDTF">2006-08-16T00:00:00Z</dcterms:created>
  <dcterms:modified xsi:type="dcterms:W3CDTF">2025-11-18T11:08:47Z</dcterms:modified>
</cp:coreProperties>
</file>