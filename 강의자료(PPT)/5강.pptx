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sldIdLst>
    <p:sldId id="352" r:id="rId2"/>
    <p:sldId id="311" r:id="rId3"/>
    <p:sldId id="366" r:id="rId4"/>
    <p:sldId id="365" r:id="rId5"/>
    <p:sldId id="313" r:id="rId6"/>
    <p:sldId id="367" r:id="rId7"/>
    <p:sldId id="368" r:id="rId8"/>
    <p:sldId id="369" r:id="rId9"/>
    <p:sldId id="371" r:id="rId10"/>
    <p:sldId id="372" r:id="rId11"/>
    <p:sldId id="373" r:id="rId12"/>
    <p:sldId id="374" r:id="rId13"/>
    <p:sldId id="375" r:id="rId14"/>
    <p:sldId id="376" r:id="rId15"/>
    <p:sldId id="377" r:id="rId16"/>
    <p:sldId id="378" r:id="rId17"/>
    <p:sldId id="379" r:id="rId18"/>
    <p:sldId id="380" r:id="rId19"/>
    <p:sldId id="381" r:id="rId20"/>
    <p:sldId id="382" r:id="rId21"/>
    <p:sldId id="383" r:id="rId22"/>
    <p:sldId id="321" r:id="rId23"/>
  </p:sldIdLst>
  <p:sldSz cx="24384000" cy="13716000"/>
  <p:notesSz cx="6858000" cy="9144000"/>
  <p:embeddedFontLst>
    <p:embeddedFont>
      <p:font typeface="맑은 고딕" panose="020B0503020000020004" pitchFamily="50" charset="-127"/>
      <p:regular r:id="rId25"/>
      <p:bold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1B35"/>
    <a:srgbClr val="FF0000"/>
    <a:srgbClr val="F4E05D"/>
    <a:srgbClr val="FFFFFF"/>
    <a:srgbClr val="001D58"/>
    <a:srgbClr val="000E2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071" autoAdjust="0"/>
    <p:restoredTop sz="88685" autoAdjust="0"/>
  </p:normalViewPr>
  <p:slideViewPr>
    <p:cSldViewPr>
      <p:cViewPr>
        <p:scale>
          <a:sx n="33" d="100"/>
          <a:sy n="33" d="100"/>
        </p:scale>
        <p:origin x="1056" y="3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5130ED-C0B9-4FC1-BB2D-D58A566FAF25}" type="datetimeFigureOut">
              <a:rPr lang="ko-KR" altLang="en-US" smtClean="0"/>
              <a:t>2025-11-23</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8FB9C9-7C23-4F4E-9852-726E7DBF3378}" type="slidenum">
              <a:rPr lang="ko-KR" altLang="en-US" smtClean="0"/>
              <a:t>‹#›</a:t>
            </a:fld>
            <a:endParaRPr lang="ko-KR" altLang="en-US"/>
          </a:p>
        </p:txBody>
      </p:sp>
    </p:spTree>
    <p:extLst>
      <p:ext uri="{BB962C8B-B14F-4D97-AF65-F5344CB8AC3E}">
        <p14:creationId xmlns:p14="http://schemas.microsoft.com/office/powerpoint/2010/main" val="81263935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E7A9FC-84AE-F465-21B2-BDE8761AE0E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67C86CB-1173-F763-8D0C-394D5DC73F5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3409DD-949A-B9B8-5AB4-3041285CE6A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8E89A25-4A94-AC78-79E5-92BA454A9854}"/>
              </a:ext>
            </a:extLst>
          </p:cNvPr>
          <p:cNvSpPr>
            <a:spLocks noGrp="1"/>
          </p:cNvSpPr>
          <p:nvPr>
            <p:ph type="sldNum" sz="quarter" idx="5"/>
          </p:nvPr>
        </p:nvSpPr>
        <p:spPr/>
        <p:txBody>
          <a:bodyPr/>
          <a:lstStyle/>
          <a:p>
            <a:fld id="{818FB9C9-7C23-4F4E-9852-726E7DBF3378}" type="slidenum">
              <a:rPr lang="ko-KR" altLang="en-US" smtClean="0"/>
              <a:t>1</a:t>
            </a:fld>
            <a:endParaRPr lang="ko-KR" altLang="en-US"/>
          </a:p>
        </p:txBody>
      </p:sp>
    </p:spTree>
    <p:extLst>
      <p:ext uri="{BB962C8B-B14F-4D97-AF65-F5344CB8AC3E}">
        <p14:creationId xmlns:p14="http://schemas.microsoft.com/office/powerpoint/2010/main" val="2058510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818FB9C9-7C23-4F4E-9852-726E7DBF3378}" type="slidenum">
              <a:rPr lang="ko-KR" altLang="en-US" smtClean="0"/>
              <a:t>4</a:t>
            </a:fld>
            <a:endParaRPr lang="ko-KR" altLang="en-US"/>
          </a:p>
        </p:txBody>
      </p:sp>
    </p:spTree>
    <p:extLst>
      <p:ext uri="{BB962C8B-B14F-4D97-AF65-F5344CB8AC3E}">
        <p14:creationId xmlns:p14="http://schemas.microsoft.com/office/powerpoint/2010/main" val="931590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tags" Target="../tags/tag3.xml"/><Relationship Id="rId7"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7.xml"/><Relationship Id="rId11" Type="http://schemas.openxmlformats.org/officeDocument/2006/relationships/image" Target="../media/image9.png"/><Relationship Id="rId5" Type="http://schemas.openxmlformats.org/officeDocument/2006/relationships/tags" Target="../tags/tag5.xml"/><Relationship Id="rId10" Type="http://schemas.openxmlformats.org/officeDocument/2006/relationships/image" Target="../media/image8.png"/><Relationship Id="rId4" Type="http://schemas.openxmlformats.org/officeDocument/2006/relationships/tags" Target="../tags/tag4.xml"/><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11.png"/><Relationship Id="rId18" Type="http://schemas.openxmlformats.org/officeDocument/2006/relationships/image" Target="../media/image14.png"/><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0.png"/><Relationship Id="rId17" Type="http://schemas.openxmlformats.org/officeDocument/2006/relationships/image" Target="../media/image13.png"/><Relationship Id="rId2" Type="http://schemas.openxmlformats.org/officeDocument/2006/relationships/tags" Target="../tags/tag7.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slideLayout" Target="../slideLayouts/slideLayout7.xml"/><Relationship Id="rId5" Type="http://schemas.openxmlformats.org/officeDocument/2006/relationships/tags" Target="../tags/tag10.xml"/><Relationship Id="rId15" Type="http://schemas.openxmlformats.org/officeDocument/2006/relationships/image" Target="../media/image9.png"/><Relationship Id="rId10" Type="http://schemas.openxmlformats.org/officeDocument/2006/relationships/tags" Target="../tags/tag15.xml"/><Relationship Id="rId19" Type="http://schemas.openxmlformats.org/officeDocument/2006/relationships/image" Target="../media/image15.png"/><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7.xml"/><Relationship Id="rId1" Type="http://schemas.openxmlformats.org/officeDocument/2006/relationships/tags" Target="../tags/tag1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7.xml"/><Relationship Id="rId7" Type="http://schemas.openxmlformats.org/officeDocument/2006/relationships/image" Target="../media/image28.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2.png"/><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23.xml"/><Relationship Id="rId7" Type="http://schemas.openxmlformats.org/officeDocument/2006/relationships/image" Target="../media/image34.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33.png"/><Relationship Id="rId5" Type="http://schemas.openxmlformats.org/officeDocument/2006/relationships/slideLayout" Target="../slideLayouts/slideLayout7.xml"/><Relationship Id="rId10" Type="http://schemas.openxmlformats.org/officeDocument/2006/relationships/image" Target="../media/image32.png"/><Relationship Id="rId4" Type="http://schemas.openxmlformats.org/officeDocument/2006/relationships/tags" Target="../tags/tag24.xml"/><Relationship Id="rId9"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media/image39.pn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38.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37.png"/><Relationship Id="rId5" Type="http://schemas.openxmlformats.org/officeDocument/2006/relationships/tags" Target="../tags/tag29.xml"/><Relationship Id="rId15" Type="http://schemas.openxmlformats.org/officeDocument/2006/relationships/image" Target="../media/image41.png"/><Relationship Id="rId10" Type="http://schemas.openxmlformats.org/officeDocument/2006/relationships/image" Target="../media/image8.png"/><Relationship Id="rId4" Type="http://schemas.openxmlformats.org/officeDocument/2006/relationships/tags" Target="../tags/tag28.xml"/><Relationship Id="rId9" Type="http://schemas.openxmlformats.org/officeDocument/2006/relationships/image" Target="../media/image32.png"/><Relationship Id="rId14" Type="http://schemas.openxmlformats.org/officeDocument/2006/relationships/image" Target="../media/image40.png"/></Relationships>
</file>

<file path=ppt/slides/_rels/slide15.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tags" Target="../tags/tag33.xml"/><Relationship Id="rId16" Type="http://schemas.openxmlformats.org/officeDocument/2006/relationships/image" Target="../media/image46.png"/><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32.png"/><Relationship Id="rId5" Type="http://schemas.openxmlformats.org/officeDocument/2006/relationships/tags" Target="../tags/tag36.xml"/><Relationship Id="rId15" Type="http://schemas.openxmlformats.org/officeDocument/2006/relationships/image" Target="../media/image45.png"/><Relationship Id="rId10" Type="http://schemas.openxmlformats.org/officeDocument/2006/relationships/slideLayout" Target="../slideLayouts/slideLayout7.xml"/><Relationship Id="rId4" Type="http://schemas.openxmlformats.org/officeDocument/2006/relationships/tags" Target="../tags/tag35.xml"/><Relationship Id="rId9" Type="http://schemas.openxmlformats.org/officeDocument/2006/relationships/tags" Target="../tags/tag40.xml"/><Relationship Id="rId14" Type="http://schemas.openxmlformats.org/officeDocument/2006/relationships/image" Target="../media/image44.png"/></Relationships>
</file>

<file path=ppt/slides/_rels/slide1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tags" Target="../tags/tag43.xml"/><Relationship Id="rId7" Type="http://schemas.openxmlformats.org/officeDocument/2006/relationships/slideLayout" Target="../slideLayouts/slideLayout7.xml"/><Relationship Id="rId12" Type="http://schemas.openxmlformats.org/officeDocument/2006/relationships/image" Target="../media/image54.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image" Target="../media/image53.png"/><Relationship Id="rId5" Type="http://schemas.openxmlformats.org/officeDocument/2006/relationships/tags" Target="../tags/tag45.xml"/><Relationship Id="rId10" Type="http://schemas.openxmlformats.org/officeDocument/2006/relationships/image" Target="../media/image52.png"/><Relationship Id="rId4" Type="http://schemas.openxmlformats.org/officeDocument/2006/relationships/tags" Target="../tags/tag44.xml"/><Relationship Id="rId9" Type="http://schemas.openxmlformats.org/officeDocument/2006/relationships/image" Target="../media/image51.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4.png"/><Relationship Id="rId3" Type="http://schemas.openxmlformats.org/officeDocument/2006/relationships/tags" Target="../tags/tag49.xml"/><Relationship Id="rId7" Type="http://schemas.openxmlformats.org/officeDocument/2006/relationships/slideLayout" Target="../slideLayouts/slideLayout7.xml"/><Relationship Id="rId12" Type="http://schemas.openxmlformats.org/officeDocument/2006/relationships/image" Target="../media/image5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11" Type="http://schemas.openxmlformats.org/officeDocument/2006/relationships/image" Target="../media/image57.png"/><Relationship Id="rId5" Type="http://schemas.openxmlformats.org/officeDocument/2006/relationships/tags" Target="../tags/tag51.xml"/><Relationship Id="rId10" Type="http://schemas.openxmlformats.org/officeDocument/2006/relationships/image" Target="../media/image56.png"/><Relationship Id="rId4" Type="http://schemas.openxmlformats.org/officeDocument/2006/relationships/tags" Target="../tags/tag50.xml"/><Relationship Id="rId9" Type="http://schemas.openxmlformats.org/officeDocument/2006/relationships/image" Target="../media/image5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8.png"/><Relationship Id="rId4" Type="http://schemas.openxmlformats.org/officeDocument/2006/relationships/image" Target="../media/image58.png"/></Relationships>
</file>

<file path=ppt/slides/_rels/slide2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2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tags" Target="../tags/tag56.xml"/><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90F6E-3659-70F4-AC21-5A8CB9DE950F}"/>
            </a:ext>
          </a:extLst>
        </p:cNvPr>
        <p:cNvGrpSpPr/>
        <p:nvPr/>
      </p:nvGrpSpPr>
      <p:grpSpPr>
        <a:xfrm>
          <a:off x="0" y="0"/>
          <a:ext cx="0" cy="0"/>
          <a:chOff x="0" y="0"/>
          <a:chExt cx="0" cy="0"/>
        </a:xfrm>
      </p:grpSpPr>
      <p:pic>
        <p:nvPicPr>
          <p:cNvPr id="13" name="그림 12">
            <a:extLst>
              <a:ext uri="{FF2B5EF4-FFF2-40B4-BE49-F238E27FC236}">
                <a16:creationId xmlns:a16="http://schemas.microsoft.com/office/drawing/2014/main" id="{C6C7E699-A6CB-2768-B208-6404305F8523}"/>
              </a:ext>
            </a:extLst>
          </p:cNvPr>
          <p:cNvPicPr>
            <a:picLocks noChangeAspect="1"/>
          </p:cNvPicPr>
          <p:nvPr/>
        </p:nvPicPr>
        <p:blipFill>
          <a:blip r:embed="rId3"/>
          <a:stretch>
            <a:fillRect/>
          </a:stretch>
        </p:blipFill>
        <p:spPr>
          <a:xfrm flipH="1">
            <a:off x="-36232" y="20319"/>
            <a:ext cx="24420232" cy="13695681"/>
          </a:xfrm>
          <a:prstGeom prst="rect">
            <a:avLst/>
          </a:prstGeom>
        </p:spPr>
      </p:pic>
      <p:sp>
        <p:nvSpPr>
          <p:cNvPr id="14" name="직사각형 13">
            <a:extLst>
              <a:ext uri="{FF2B5EF4-FFF2-40B4-BE49-F238E27FC236}">
                <a16:creationId xmlns:a16="http://schemas.microsoft.com/office/drawing/2014/main" id="{4F267450-688A-DCC2-8E14-B7794EAA6278}"/>
              </a:ext>
            </a:extLst>
          </p:cNvPr>
          <p:cNvSpPr/>
          <p:nvPr/>
        </p:nvSpPr>
        <p:spPr>
          <a:xfrm>
            <a:off x="-25400" y="2286001"/>
            <a:ext cx="16027400" cy="9570720"/>
          </a:xfrm>
          <a:prstGeom prst="rect">
            <a:avLst/>
          </a:prstGeom>
          <a:solidFill>
            <a:srgbClr val="F2F2F2">
              <a:alpha val="8784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 name="TextBox 4">
            <a:extLst>
              <a:ext uri="{FF2B5EF4-FFF2-40B4-BE49-F238E27FC236}">
                <a16:creationId xmlns:a16="http://schemas.microsoft.com/office/drawing/2014/main" id="{3749403D-BD1D-9F7D-D87E-4D25A7D229B5}"/>
              </a:ext>
            </a:extLst>
          </p:cNvPr>
          <p:cNvSpPr txBox="1"/>
          <p:nvPr/>
        </p:nvSpPr>
        <p:spPr>
          <a:xfrm>
            <a:off x="1371600" y="4279900"/>
            <a:ext cx="15405100" cy="4406900"/>
          </a:xfrm>
          <a:prstGeom prst="rect">
            <a:avLst/>
          </a:prstGeom>
        </p:spPr>
        <p:txBody>
          <a:bodyPr lIns="0" tIns="169333" rIns="0" bIns="0" rtlCol="0" anchor="t"/>
          <a:lstStyle/>
          <a:p>
            <a:pPr lvl="0" algn="l">
              <a:lnSpc>
                <a:spcPct val="99600"/>
              </a:lnSpc>
            </a:pPr>
            <a:r>
              <a:rPr lang="en" sz="11100" b="1" i="0" u="none" strike="noStrike" dirty="0">
                <a:solidFill>
                  <a:srgbClr val="002060"/>
                </a:solidFill>
                <a:latin typeface="Arial" panose="020B0604020202020204" pitchFamily="34" charset="0"/>
                <a:cs typeface="Arial" panose="020B0604020202020204" pitchFamily="34" charset="0"/>
              </a:rPr>
              <a:t>Inverse-Dynamics</a:t>
            </a:r>
          </a:p>
          <a:p>
            <a:pPr lvl="0" algn="l">
              <a:lnSpc>
                <a:spcPct val="99600"/>
              </a:lnSpc>
            </a:pPr>
            <a:r>
              <a:rPr lang="en" sz="11100" b="0" i="0" u="none" strike="noStrike" dirty="0">
                <a:solidFill>
                  <a:srgbClr val="002060"/>
                </a:solidFill>
                <a:latin typeface="Arial" panose="020B0604020202020204" pitchFamily="34" charset="0"/>
                <a:cs typeface="Arial" panose="020B0604020202020204" pitchFamily="34" charset="0"/>
              </a:rPr>
              <a:t>Tutorial</a:t>
            </a:r>
            <a:endParaRPr lang="en" sz="4000" i="0" u="none" strike="noStrike" dirty="0">
              <a:solidFill>
                <a:srgbClr val="002060"/>
              </a:solidFill>
              <a:latin typeface="Arial" panose="020B0604020202020204" pitchFamily="34" charset="0"/>
              <a:cs typeface="Arial" panose="020B0604020202020204" pitchFamily="34" charset="0"/>
            </a:endParaRPr>
          </a:p>
        </p:txBody>
      </p:sp>
      <p:sp>
        <p:nvSpPr>
          <p:cNvPr id="5" name="TextBox 5">
            <a:extLst>
              <a:ext uri="{FF2B5EF4-FFF2-40B4-BE49-F238E27FC236}">
                <a16:creationId xmlns:a16="http://schemas.microsoft.com/office/drawing/2014/main" id="{2643FD1C-B54D-40CD-A8BA-B77E732F6485}"/>
              </a:ext>
            </a:extLst>
          </p:cNvPr>
          <p:cNvSpPr txBox="1"/>
          <p:nvPr/>
        </p:nvSpPr>
        <p:spPr>
          <a:xfrm>
            <a:off x="1447800" y="3111500"/>
            <a:ext cx="13754100" cy="952500"/>
          </a:xfrm>
          <a:prstGeom prst="rect">
            <a:avLst/>
          </a:prstGeom>
        </p:spPr>
        <p:txBody>
          <a:bodyPr lIns="0" tIns="67733" rIns="0" bIns="0" rtlCol="0" anchor="t"/>
          <a:lstStyle/>
          <a:p>
            <a:pPr lvl="0" algn="l">
              <a:lnSpc>
                <a:spcPct val="99600"/>
              </a:lnSpc>
            </a:pPr>
            <a:r>
              <a:rPr lang="en-US" sz="5333" spc="426" dirty="0">
                <a:solidFill>
                  <a:schemeClr val="tx1">
                    <a:lumMod val="75000"/>
                    <a:lumOff val="25000"/>
                  </a:schemeClr>
                </a:solidFill>
                <a:latin typeface="Arial" panose="020B0604020202020204" pitchFamily="34" charset="0"/>
                <a:cs typeface="Arial" panose="020B0604020202020204" pitchFamily="34" charset="0"/>
              </a:rPr>
              <a:t>Week 5</a:t>
            </a:r>
            <a:endParaRPr lang="en" sz="5333" b="0" i="0" u="none" strike="noStrike" spc="426"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6" name="TextBox 6">
            <a:extLst>
              <a:ext uri="{FF2B5EF4-FFF2-40B4-BE49-F238E27FC236}">
                <a16:creationId xmlns:a16="http://schemas.microsoft.com/office/drawing/2014/main" id="{C8459913-7449-7271-9FD3-83CD9A3F6EC5}"/>
              </a:ext>
            </a:extLst>
          </p:cNvPr>
          <p:cNvSpPr txBox="1"/>
          <p:nvPr/>
        </p:nvSpPr>
        <p:spPr>
          <a:xfrm>
            <a:off x="1447800" y="8686800"/>
            <a:ext cx="13677900" cy="596900"/>
          </a:xfrm>
          <a:prstGeom prst="rect">
            <a:avLst/>
          </a:prstGeom>
        </p:spPr>
        <p:txBody>
          <a:bodyPr lIns="0" tIns="42333" rIns="0" bIns="0" rtlCol="0" anchor="t"/>
          <a:lstStyle/>
          <a:p>
            <a:pPr lvl="0" algn="l">
              <a:lnSpc>
                <a:spcPct val="99600"/>
              </a:lnSpc>
            </a:pPr>
            <a:r>
              <a:rPr lang="en-US" altLang="ko-KR" sz="3333" b="1" dirty="0" err="1">
                <a:solidFill>
                  <a:schemeClr val="tx1">
                    <a:lumMod val="75000"/>
                    <a:lumOff val="25000"/>
                  </a:schemeClr>
                </a:solidFill>
                <a:latin typeface="Arial" panose="020B0604020202020204" pitchFamily="34" charset="0"/>
                <a:cs typeface="Arial" panose="020B0604020202020204" pitchFamily="34" charset="0"/>
              </a:rPr>
              <a:t>Kangmin</a:t>
            </a:r>
            <a:r>
              <a:rPr lang="en-US" altLang="ko-KR" sz="3333" b="1" dirty="0">
                <a:solidFill>
                  <a:schemeClr val="tx1">
                    <a:lumMod val="75000"/>
                    <a:lumOff val="25000"/>
                  </a:schemeClr>
                </a:solidFill>
                <a:latin typeface="Arial" panose="020B0604020202020204" pitchFamily="34" charset="0"/>
                <a:cs typeface="Arial" panose="020B0604020202020204" pitchFamily="34" charset="0"/>
              </a:rPr>
              <a:t> Lee </a:t>
            </a:r>
          </a:p>
        </p:txBody>
      </p:sp>
      <p:sp>
        <p:nvSpPr>
          <p:cNvPr id="9" name="TextBox 9">
            <a:extLst>
              <a:ext uri="{FF2B5EF4-FFF2-40B4-BE49-F238E27FC236}">
                <a16:creationId xmlns:a16="http://schemas.microsoft.com/office/drawing/2014/main" id="{F6FFDEA5-0409-7AC1-369B-73A820B7FBB7}"/>
              </a:ext>
            </a:extLst>
          </p:cNvPr>
          <p:cNvSpPr txBox="1"/>
          <p:nvPr/>
        </p:nvSpPr>
        <p:spPr>
          <a:xfrm>
            <a:off x="1371600" y="9753600"/>
            <a:ext cx="13106400" cy="1607821"/>
          </a:xfrm>
          <a:prstGeom prst="rect">
            <a:avLst/>
          </a:prstGeom>
        </p:spPr>
        <p:txBody>
          <a:bodyPr rtlCol="0" anchor="t"/>
          <a:lstStyle/>
          <a:p>
            <a:pPr lvl="0">
              <a:lnSpc>
                <a:spcPct val="124499"/>
              </a:lnSpc>
            </a:pPr>
            <a:r>
              <a:rPr lang="en-US" altLang="ko-KR" sz="2400" dirty="0">
                <a:solidFill>
                  <a:schemeClr val="tx1">
                    <a:lumMod val="65000"/>
                    <a:lumOff val="35000"/>
                  </a:schemeClr>
                </a:solidFill>
              </a:rPr>
              <a:t>This tutorial covers inverse-dynamics from Operational Space Control to QP, HQP, and TSID focusing on the math, intuition, and practical design patterns behind them. Through code and simulation, you’ll learn to formulate tasks and constraints and compute constraint-satisfying torques suitable for robots.</a:t>
            </a:r>
            <a:endParaRPr lang="en" sz="2266" b="0" i="0" u="none" strike="noStrike" dirty="0">
              <a:solidFill>
                <a:schemeClr val="tx1">
                  <a:lumMod val="65000"/>
                  <a:lumOff val="35000"/>
                </a:schemeClr>
              </a:solidFill>
              <a:latin typeface="Arial" panose="020B0604020202020204" pitchFamily="34" charset="0"/>
            </a:endParaRPr>
          </a:p>
        </p:txBody>
      </p:sp>
    </p:spTree>
    <p:extLst>
      <p:ext uri="{BB962C8B-B14F-4D97-AF65-F5344CB8AC3E}">
        <p14:creationId xmlns:p14="http://schemas.microsoft.com/office/powerpoint/2010/main" val="2077828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직사각형 34">
            <a:extLst>
              <a:ext uri="{FF2B5EF4-FFF2-40B4-BE49-F238E27FC236}">
                <a16:creationId xmlns:a16="http://schemas.microsoft.com/office/drawing/2014/main" id="{D777DF7A-4527-D6A4-B8DC-3AE74E23942D}"/>
              </a:ext>
            </a:extLst>
          </p:cNvPr>
          <p:cNvSpPr/>
          <p:nvPr/>
        </p:nvSpPr>
        <p:spPr>
          <a:xfrm>
            <a:off x="4771"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81BDFB1-71E4-0325-125C-45052688FB84}"/>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D759DCBC-68C6-64BD-FD82-724A5AB0788A}"/>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파이썬 코드 실행 방법</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5AC2E7A8-8225-0E2B-B034-992C04AE491C}"/>
              </a:ext>
            </a:extLst>
          </p:cNvPr>
          <p:cNvSpPr txBox="1"/>
          <p:nvPr/>
        </p:nvSpPr>
        <p:spPr>
          <a:xfrm>
            <a:off x="1600200" y="2253735"/>
            <a:ext cx="21564600" cy="10338471"/>
          </a:xfrm>
          <a:prstGeom prst="rect">
            <a:avLst/>
          </a:prstGeom>
          <a:noFill/>
        </p:spPr>
        <p:txBody>
          <a:bodyPr wrap="square">
            <a:spAutoFit/>
          </a:bodyPr>
          <a:lstStyle/>
          <a:p>
            <a:pPr marL="971550" lvl="1" indent="-514350">
              <a:lnSpc>
                <a:spcPct val="150000"/>
              </a:lnSpc>
              <a:buAutoNum type="arabicPeriod"/>
            </a:pPr>
            <a:r>
              <a:rPr lang="ko-KR" altLang="en-US" sz="3200" b="1" dirty="0">
                <a:latin typeface="+mn-ea"/>
              </a:rPr>
              <a:t>터미널 실행</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r>
              <a:rPr lang="ko-KR" altLang="en-US" sz="3200" b="1" dirty="0">
                <a:latin typeface="+mn-ea"/>
              </a:rPr>
              <a:t>저장소 폴더로 이동</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r>
              <a:rPr lang="ko-KR" altLang="en-US" sz="3200" b="1" dirty="0">
                <a:latin typeface="+mn-ea"/>
              </a:rPr>
              <a:t>실습 코드 실행</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p:txBody>
      </p:sp>
      <p:sp>
        <p:nvSpPr>
          <p:cNvPr id="2" name="사각형: 둥근 모서리 1">
            <a:extLst>
              <a:ext uri="{FF2B5EF4-FFF2-40B4-BE49-F238E27FC236}">
                <a16:creationId xmlns:a16="http://schemas.microsoft.com/office/drawing/2014/main" id="{BE62FC62-2A5A-1C57-D67C-4927062C1436}"/>
              </a:ext>
            </a:extLst>
          </p:cNvPr>
          <p:cNvSpPr/>
          <p:nvPr/>
        </p:nvSpPr>
        <p:spPr>
          <a:xfrm>
            <a:off x="2921000" y="3352800"/>
            <a:ext cx="19278600" cy="12192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latin typeface="+mj-lt"/>
              </a:rPr>
              <a:t>	Ubuntu </a:t>
            </a:r>
            <a:r>
              <a:rPr lang="ko-KR" altLang="en-US" sz="2800" dirty="0">
                <a:solidFill>
                  <a:schemeClr val="tx1"/>
                </a:solidFill>
                <a:latin typeface="+mj-lt"/>
              </a:rPr>
              <a:t>에서 터미널을 엽니다</a:t>
            </a:r>
          </a:p>
        </p:txBody>
      </p:sp>
      <p:sp>
        <p:nvSpPr>
          <p:cNvPr id="4" name="사각형: 둥근 모서리 3">
            <a:extLst>
              <a:ext uri="{FF2B5EF4-FFF2-40B4-BE49-F238E27FC236}">
                <a16:creationId xmlns:a16="http://schemas.microsoft.com/office/drawing/2014/main" id="{7E5E6023-EE87-837F-579A-06297700C2FE}"/>
              </a:ext>
            </a:extLst>
          </p:cNvPr>
          <p:cNvSpPr/>
          <p:nvPr/>
        </p:nvSpPr>
        <p:spPr>
          <a:xfrm>
            <a:off x="2921000" y="6248400"/>
            <a:ext cx="19278600" cy="12192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latin typeface="+mj-lt"/>
              </a:rPr>
              <a:t>	cd ~/path/to/demo_code.py</a:t>
            </a:r>
            <a:endParaRPr lang="ko-KR" altLang="en-US" sz="2800" dirty="0">
              <a:solidFill>
                <a:schemeClr val="tx1"/>
              </a:solidFill>
              <a:latin typeface="+mj-lt"/>
            </a:endParaRPr>
          </a:p>
        </p:txBody>
      </p:sp>
      <p:sp>
        <p:nvSpPr>
          <p:cNvPr id="5" name="사각형: 둥근 모서리 4">
            <a:extLst>
              <a:ext uri="{FF2B5EF4-FFF2-40B4-BE49-F238E27FC236}">
                <a16:creationId xmlns:a16="http://schemas.microsoft.com/office/drawing/2014/main" id="{5CF64DB2-7407-27D0-02DE-68AFC395C08C}"/>
              </a:ext>
            </a:extLst>
          </p:cNvPr>
          <p:cNvSpPr/>
          <p:nvPr/>
        </p:nvSpPr>
        <p:spPr>
          <a:xfrm>
            <a:off x="2921000" y="9144000"/>
            <a:ext cx="19278600" cy="12192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rPr>
              <a:t>	python3 demo_code.py</a:t>
            </a:r>
            <a:endParaRPr lang="ko-KR" altLang="en-US" sz="28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CBA6F-E621-10E0-5D15-6A268D3BAED5}"/>
            </a:ext>
          </a:extLst>
        </p:cNvPr>
        <p:cNvGrpSpPr/>
        <p:nvPr/>
      </p:nvGrpSpPr>
      <p:grpSpPr>
        <a:xfrm>
          <a:off x="0" y="0"/>
          <a:ext cx="0" cy="0"/>
          <a:chOff x="0" y="0"/>
          <a:chExt cx="0" cy="0"/>
        </a:xfrm>
      </p:grpSpPr>
      <p:sp>
        <p:nvSpPr>
          <p:cNvPr id="35" name="직사각형 34">
            <a:extLst>
              <a:ext uri="{FF2B5EF4-FFF2-40B4-BE49-F238E27FC236}">
                <a16:creationId xmlns:a16="http://schemas.microsoft.com/office/drawing/2014/main" id="{336FDEE4-6BBF-F56E-BC7B-4283C736259C}"/>
              </a:ext>
            </a:extLst>
          </p:cNvPr>
          <p:cNvSpPr/>
          <p:nvPr/>
        </p:nvSpPr>
        <p:spPr>
          <a:xfrm>
            <a:off x="4771"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D4001C17-5D1F-BAE7-BB27-97197FE07E6C}"/>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390A37C-5870-AB5F-2828-E63DF450CA34}"/>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파이썬 코드 실행 방법</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A1467300-CF7C-FF0E-82C8-A1F42CFD8A02}"/>
              </a:ext>
            </a:extLst>
          </p:cNvPr>
          <p:cNvSpPr txBox="1"/>
          <p:nvPr/>
        </p:nvSpPr>
        <p:spPr>
          <a:xfrm>
            <a:off x="1600200" y="2253735"/>
            <a:ext cx="21564600" cy="10338471"/>
          </a:xfrm>
          <a:prstGeom prst="rect">
            <a:avLst/>
          </a:prstGeom>
          <a:noFill/>
        </p:spPr>
        <p:txBody>
          <a:bodyPr wrap="square">
            <a:spAutoFit/>
          </a:bodyPr>
          <a:lstStyle/>
          <a:p>
            <a:pPr lvl="1">
              <a:lnSpc>
                <a:spcPct val="150000"/>
              </a:lnSpc>
            </a:pPr>
            <a:r>
              <a:rPr lang="en-US" altLang="ko-KR" sz="3200" b="1" dirty="0">
                <a:latin typeface="+mn-ea"/>
              </a:rPr>
              <a:t>4. MP4 </a:t>
            </a:r>
            <a:r>
              <a:rPr lang="ko-KR" altLang="en-US" sz="3200" b="1" dirty="0">
                <a:latin typeface="+mn-ea"/>
              </a:rPr>
              <a:t>영상 저장을 위한 </a:t>
            </a:r>
            <a:r>
              <a:rPr lang="en-US" altLang="ko-KR" sz="3200" b="1" dirty="0" err="1">
                <a:latin typeface="+mn-ea"/>
              </a:rPr>
              <a:t>ffmpeg</a:t>
            </a:r>
            <a:r>
              <a:rPr lang="en-US" altLang="ko-KR" sz="3200" b="1" dirty="0">
                <a:latin typeface="+mn-ea"/>
              </a:rPr>
              <a:t> </a:t>
            </a:r>
            <a:r>
              <a:rPr lang="ko-KR" altLang="en-US" sz="3200" b="1" dirty="0">
                <a:latin typeface="+mn-ea"/>
              </a:rPr>
              <a:t>설치 </a:t>
            </a:r>
            <a:r>
              <a:rPr lang="en-US" altLang="ko-KR" sz="3200" b="1" dirty="0">
                <a:latin typeface="+mn-ea"/>
              </a:rPr>
              <a:t>(</a:t>
            </a:r>
            <a:r>
              <a:rPr lang="ko-KR" altLang="en-US" sz="3200" b="1" dirty="0">
                <a:latin typeface="+mn-ea"/>
              </a:rPr>
              <a:t>선택 사항</a:t>
            </a:r>
            <a:r>
              <a:rPr lang="en-US" altLang="ko-KR" sz="3200" b="1" dirty="0">
                <a:latin typeface="+mn-ea"/>
              </a:rPr>
              <a:t>)</a:t>
            </a:r>
          </a:p>
          <a:p>
            <a:pPr lvl="1">
              <a:lnSpc>
                <a:spcPct val="150000"/>
              </a:lnSpc>
            </a:pPr>
            <a:endParaRPr lang="en-US" altLang="ko-KR" sz="3200" b="1" dirty="0">
              <a:latin typeface="+mn-ea"/>
            </a:endParaRPr>
          </a:p>
          <a:p>
            <a:pPr lvl="1">
              <a:lnSpc>
                <a:spcPct val="150000"/>
              </a:lnSpc>
            </a:pPr>
            <a:r>
              <a:rPr lang="ko-KR" altLang="en-US" sz="3200" dirty="0">
                <a:latin typeface="+mn-ea"/>
              </a:rPr>
              <a:t>코드를 실행했을 때 예를 들어 다음과 같은 출력이 보일 수 있습니다</a:t>
            </a:r>
            <a:r>
              <a:rPr lang="en-US" altLang="ko-KR" sz="3200" dirty="0">
                <a:latin typeface="+mn-ea"/>
              </a:rPr>
              <a:t>.</a:t>
            </a:r>
          </a:p>
          <a:p>
            <a:pPr lvl="1">
              <a:lnSpc>
                <a:spcPct val="150000"/>
              </a:lnSpc>
            </a:pPr>
            <a:endParaRPr lang="en-US" altLang="ko-KR" sz="3200" dirty="0">
              <a:latin typeface="+mn-ea"/>
            </a:endParaRPr>
          </a:p>
          <a:p>
            <a:pPr lvl="1">
              <a:lnSpc>
                <a:spcPct val="150000"/>
              </a:lnSpc>
            </a:pPr>
            <a:endParaRPr lang="en-US" altLang="ko-KR" sz="3200" dirty="0">
              <a:latin typeface="+mn-ea"/>
            </a:endParaRPr>
          </a:p>
          <a:p>
            <a:pPr lvl="1">
              <a:lnSpc>
                <a:spcPct val="150000"/>
              </a:lnSpc>
            </a:pPr>
            <a:endParaRPr lang="en-US" altLang="ko-KR" sz="3200" dirty="0">
              <a:latin typeface="+mn-ea"/>
            </a:endParaRPr>
          </a:p>
          <a:p>
            <a:pPr lvl="1">
              <a:lnSpc>
                <a:spcPct val="150000"/>
              </a:lnSpc>
            </a:pPr>
            <a:r>
              <a:rPr lang="ko-KR" altLang="en-US" sz="3200" dirty="0">
                <a:latin typeface="+mn-ea"/>
              </a:rPr>
              <a:t>이는 </a:t>
            </a:r>
            <a:r>
              <a:rPr lang="en-US" altLang="ko-KR" sz="3200" b="1" dirty="0">
                <a:latin typeface="+mn-ea"/>
              </a:rPr>
              <a:t>GIF </a:t>
            </a:r>
            <a:r>
              <a:rPr lang="ko-KR" altLang="en-US" sz="3200" b="1" dirty="0">
                <a:latin typeface="+mn-ea"/>
              </a:rPr>
              <a:t>파일은 저장되었지만</a:t>
            </a:r>
            <a:r>
              <a:rPr lang="en-US" altLang="ko-KR" sz="3200" b="1" dirty="0">
                <a:latin typeface="+mn-ea"/>
              </a:rPr>
              <a:t>, MP4 </a:t>
            </a:r>
            <a:r>
              <a:rPr lang="ko-KR" altLang="en-US" sz="3200" b="1" dirty="0">
                <a:latin typeface="+mn-ea"/>
              </a:rPr>
              <a:t>파일을 저장하려면 </a:t>
            </a:r>
            <a:r>
              <a:rPr lang="en-US" altLang="ko-KR" sz="3200" b="1" dirty="0" err="1">
                <a:latin typeface="+mn-ea"/>
              </a:rPr>
              <a:t>ffmpeg</a:t>
            </a:r>
            <a:r>
              <a:rPr lang="ko-KR" altLang="en-US" sz="3200" b="1" dirty="0">
                <a:latin typeface="+mn-ea"/>
              </a:rPr>
              <a:t>가 필요하다</a:t>
            </a:r>
            <a:r>
              <a:rPr lang="ko-KR" altLang="en-US" sz="3200" dirty="0">
                <a:latin typeface="+mn-ea"/>
              </a:rPr>
              <a:t>는 의미입니다</a:t>
            </a:r>
            <a:r>
              <a:rPr lang="en-US" altLang="ko-KR" sz="3200" dirty="0">
                <a:latin typeface="+mn-ea"/>
              </a:rPr>
              <a:t>.</a:t>
            </a:r>
          </a:p>
          <a:p>
            <a:pPr lvl="1">
              <a:lnSpc>
                <a:spcPct val="150000"/>
              </a:lnSpc>
            </a:pPr>
            <a:r>
              <a:rPr lang="en-US" altLang="ko-KR" sz="3200" dirty="0">
                <a:latin typeface="+mn-ea"/>
              </a:rPr>
              <a:t>Ubuntu</a:t>
            </a:r>
            <a:r>
              <a:rPr lang="ko-KR" altLang="en-US" sz="3200" dirty="0">
                <a:latin typeface="+mn-ea"/>
              </a:rPr>
              <a:t>에서 </a:t>
            </a:r>
            <a:r>
              <a:rPr lang="en-US" altLang="ko-KR" sz="3200" dirty="0" err="1">
                <a:latin typeface="+mn-ea"/>
              </a:rPr>
              <a:t>ffmpeg</a:t>
            </a:r>
            <a:r>
              <a:rPr lang="ko-KR" altLang="en-US" sz="3200" dirty="0">
                <a:latin typeface="+mn-ea"/>
              </a:rPr>
              <a:t>를 설치하려면 다음 명령을 실행합니다</a:t>
            </a:r>
            <a:r>
              <a:rPr lang="en-US" altLang="ko-KR" sz="3200" dirty="0">
                <a:latin typeface="+mn-ea"/>
              </a:rPr>
              <a:t>.</a:t>
            </a:r>
          </a:p>
          <a:p>
            <a:pPr lvl="1">
              <a:lnSpc>
                <a:spcPct val="150000"/>
              </a:lnSpc>
            </a:pPr>
            <a:endParaRPr lang="en-US" altLang="ko-KR" sz="3200" dirty="0">
              <a:latin typeface="+mn-ea"/>
            </a:endParaRPr>
          </a:p>
          <a:p>
            <a:pPr lvl="1">
              <a:lnSpc>
                <a:spcPct val="150000"/>
              </a:lnSpc>
            </a:pPr>
            <a:endParaRPr lang="en-US" altLang="ko-KR" sz="3200" dirty="0">
              <a:latin typeface="+mn-ea"/>
            </a:endParaRPr>
          </a:p>
          <a:p>
            <a:pPr lvl="1">
              <a:lnSpc>
                <a:spcPct val="150000"/>
              </a:lnSpc>
            </a:pPr>
            <a:endParaRPr lang="en-US" altLang="ko-KR" sz="3200" dirty="0">
              <a:latin typeface="+mn-ea"/>
            </a:endParaRPr>
          </a:p>
          <a:p>
            <a:pPr lvl="1">
              <a:lnSpc>
                <a:spcPct val="150000"/>
              </a:lnSpc>
            </a:pPr>
            <a:r>
              <a:rPr lang="ko-KR" altLang="en-US" sz="3200" dirty="0">
                <a:latin typeface="+mn-ea"/>
              </a:rPr>
              <a:t>설치 후 다시 코드를 실행합니다</a:t>
            </a:r>
            <a:r>
              <a:rPr lang="en-US" altLang="ko-KR" sz="3200" dirty="0">
                <a:latin typeface="+mn-ea"/>
              </a:rPr>
              <a:t>.</a:t>
            </a:r>
          </a:p>
          <a:p>
            <a:pPr lvl="1">
              <a:lnSpc>
                <a:spcPct val="150000"/>
              </a:lnSpc>
            </a:pPr>
            <a:endParaRPr lang="en-US" altLang="ko-KR" sz="3200" dirty="0">
              <a:latin typeface="+mn-ea"/>
            </a:endParaRPr>
          </a:p>
          <a:p>
            <a:pPr lvl="1">
              <a:lnSpc>
                <a:spcPct val="150000"/>
              </a:lnSpc>
            </a:pPr>
            <a:endParaRPr lang="en-US" altLang="ko-KR" sz="3200" dirty="0">
              <a:latin typeface="+mn-ea"/>
            </a:endParaRPr>
          </a:p>
        </p:txBody>
      </p:sp>
      <p:sp>
        <p:nvSpPr>
          <p:cNvPr id="2" name="사각형: 둥근 모서리 1">
            <a:extLst>
              <a:ext uri="{FF2B5EF4-FFF2-40B4-BE49-F238E27FC236}">
                <a16:creationId xmlns:a16="http://schemas.microsoft.com/office/drawing/2014/main" id="{26A8B031-14E9-7BA9-5E1D-2CE7100B04A8}"/>
              </a:ext>
            </a:extLst>
          </p:cNvPr>
          <p:cNvSpPr/>
          <p:nvPr/>
        </p:nvSpPr>
        <p:spPr>
          <a:xfrm>
            <a:off x="2901122" y="4865085"/>
            <a:ext cx="19278600" cy="1459515"/>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latin typeface="+mj-lt"/>
              </a:rPr>
              <a:t>	Saved GIF: outputs/tsid_qp_control.gif</a:t>
            </a:r>
          </a:p>
          <a:p>
            <a:r>
              <a:rPr lang="en-US" altLang="ko-KR" sz="2800" dirty="0">
                <a:solidFill>
                  <a:schemeClr val="tx1"/>
                </a:solidFill>
                <a:latin typeface="+mj-lt"/>
              </a:rPr>
              <a:t>	MP4 save failed (need </a:t>
            </a:r>
            <a:r>
              <a:rPr lang="en-US" altLang="ko-KR" sz="2800" dirty="0" err="1">
                <a:solidFill>
                  <a:schemeClr val="tx1"/>
                </a:solidFill>
                <a:latin typeface="+mj-lt"/>
              </a:rPr>
              <a:t>ffmpeg</a:t>
            </a:r>
            <a:r>
              <a:rPr lang="en-US" altLang="ko-KR" sz="2800" dirty="0">
                <a:solidFill>
                  <a:schemeClr val="tx1"/>
                </a:solidFill>
                <a:latin typeface="+mj-lt"/>
              </a:rPr>
              <a:t>?): [</a:t>
            </a:r>
            <a:r>
              <a:rPr lang="en-US" altLang="ko-KR" sz="2800" dirty="0" err="1">
                <a:solidFill>
                  <a:schemeClr val="tx1"/>
                </a:solidFill>
                <a:latin typeface="+mj-lt"/>
              </a:rPr>
              <a:t>WinError</a:t>
            </a:r>
            <a:r>
              <a:rPr lang="en-US" altLang="ko-KR" sz="2800" dirty="0">
                <a:solidFill>
                  <a:schemeClr val="tx1"/>
                </a:solidFill>
                <a:latin typeface="+mj-lt"/>
              </a:rPr>
              <a:t> 2] </a:t>
            </a:r>
            <a:r>
              <a:rPr lang="ko-KR" altLang="en-US" sz="2800" dirty="0">
                <a:solidFill>
                  <a:schemeClr val="tx1"/>
                </a:solidFill>
                <a:latin typeface="+mj-lt"/>
              </a:rPr>
              <a:t>지정된 파일을 찾을 수 없습니다</a:t>
            </a:r>
          </a:p>
        </p:txBody>
      </p:sp>
      <p:sp>
        <p:nvSpPr>
          <p:cNvPr id="4" name="사각형: 둥근 모서리 3">
            <a:extLst>
              <a:ext uri="{FF2B5EF4-FFF2-40B4-BE49-F238E27FC236}">
                <a16:creationId xmlns:a16="http://schemas.microsoft.com/office/drawing/2014/main" id="{F0E95565-0330-7834-5E2F-7E0620BE607C}"/>
              </a:ext>
            </a:extLst>
          </p:cNvPr>
          <p:cNvSpPr/>
          <p:nvPr/>
        </p:nvSpPr>
        <p:spPr>
          <a:xfrm>
            <a:off x="2901122" y="8660030"/>
            <a:ext cx="19278600" cy="12192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latin typeface="+mj-lt"/>
              </a:rPr>
              <a:t>	</a:t>
            </a:r>
            <a:r>
              <a:rPr lang="en-US" altLang="ko-KR" sz="2800" dirty="0" err="1">
                <a:solidFill>
                  <a:schemeClr val="tx1"/>
                </a:solidFill>
                <a:latin typeface="+mj-lt"/>
              </a:rPr>
              <a:t>sudo</a:t>
            </a:r>
            <a:r>
              <a:rPr lang="en-US" altLang="ko-KR" sz="2800" dirty="0">
                <a:solidFill>
                  <a:schemeClr val="tx1"/>
                </a:solidFill>
                <a:latin typeface="+mj-lt"/>
              </a:rPr>
              <a:t> apt update</a:t>
            </a:r>
          </a:p>
          <a:p>
            <a:r>
              <a:rPr lang="en-US" altLang="ko-KR" sz="2800" dirty="0">
                <a:solidFill>
                  <a:schemeClr val="tx1"/>
                </a:solidFill>
                <a:latin typeface="+mj-lt"/>
              </a:rPr>
              <a:t>	</a:t>
            </a:r>
            <a:r>
              <a:rPr lang="en-US" altLang="ko-KR" sz="2800" dirty="0" err="1">
                <a:solidFill>
                  <a:schemeClr val="tx1"/>
                </a:solidFill>
                <a:latin typeface="+mj-lt"/>
              </a:rPr>
              <a:t>sudo</a:t>
            </a:r>
            <a:r>
              <a:rPr lang="en-US" altLang="ko-KR" sz="2800" dirty="0">
                <a:solidFill>
                  <a:schemeClr val="tx1"/>
                </a:solidFill>
                <a:latin typeface="+mj-lt"/>
              </a:rPr>
              <a:t> apt install </a:t>
            </a:r>
            <a:r>
              <a:rPr lang="en-US" altLang="ko-KR" sz="2800" dirty="0" err="1">
                <a:solidFill>
                  <a:schemeClr val="tx1"/>
                </a:solidFill>
                <a:latin typeface="+mj-lt"/>
              </a:rPr>
              <a:t>ffmpeg</a:t>
            </a:r>
            <a:endParaRPr lang="ko-KR" altLang="en-US" sz="2800" dirty="0">
              <a:solidFill>
                <a:schemeClr val="tx1"/>
              </a:solidFill>
              <a:latin typeface="+mj-lt"/>
            </a:endParaRPr>
          </a:p>
        </p:txBody>
      </p:sp>
      <p:sp>
        <p:nvSpPr>
          <p:cNvPr id="7" name="사각형: 둥근 모서리 6">
            <a:extLst>
              <a:ext uri="{FF2B5EF4-FFF2-40B4-BE49-F238E27FC236}">
                <a16:creationId xmlns:a16="http://schemas.microsoft.com/office/drawing/2014/main" id="{CFB515DF-C458-8F9D-B7D0-138D206CDC16}"/>
              </a:ext>
            </a:extLst>
          </p:cNvPr>
          <p:cNvSpPr/>
          <p:nvPr/>
        </p:nvSpPr>
        <p:spPr>
          <a:xfrm>
            <a:off x="2901122" y="11353800"/>
            <a:ext cx="19278600" cy="1219200"/>
          </a:xfrm>
          <a:prstGeom prst="round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ko-KR" sz="2800" dirty="0">
                <a:solidFill>
                  <a:schemeClr val="tx1"/>
                </a:solidFill>
              </a:rPr>
              <a:t>	python3 demo_code.py</a:t>
            </a:r>
            <a:endParaRPr lang="ko-KR" altLang="en-US" sz="2800" dirty="0">
              <a:solidFill>
                <a:schemeClr val="tx1"/>
              </a:solidFill>
            </a:endParaRPr>
          </a:p>
        </p:txBody>
      </p:sp>
    </p:spTree>
    <p:extLst>
      <p:ext uri="{BB962C8B-B14F-4D97-AF65-F5344CB8AC3E}">
        <p14:creationId xmlns:p14="http://schemas.microsoft.com/office/powerpoint/2010/main" val="3824478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FDEA9-B6BD-DF6E-31A8-B5FB6FF3AC61}"/>
            </a:ext>
          </a:extLst>
        </p:cNvPr>
        <p:cNvGrpSpPr/>
        <p:nvPr/>
      </p:nvGrpSpPr>
      <p:grpSpPr>
        <a:xfrm>
          <a:off x="0" y="0"/>
          <a:ext cx="0" cy="0"/>
          <a:chOff x="0" y="0"/>
          <a:chExt cx="0" cy="0"/>
        </a:xfrm>
      </p:grpSpPr>
      <p:sp>
        <p:nvSpPr>
          <p:cNvPr id="35" name="직사각형 34">
            <a:extLst>
              <a:ext uri="{FF2B5EF4-FFF2-40B4-BE49-F238E27FC236}">
                <a16:creationId xmlns:a16="http://schemas.microsoft.com/office/drawing/2014/main" id="{83AE5413-B960-6116-DF86-63C20D8EA57B}"/>
              </a:ext>
            </a:extLst>
          </p:cNvPr>
          <p:cNvSpPr/>
          <p:nvPr/>
        </p:nvSpPr>
        <p:spPr>
          <a:xfrm>
            <a:off x="4771" y="0"/>
            <a:ext cx="821042" cy="13716000"/>
          </a:xfrm>
          <a:prstGeom prst="rect">
            <a:avLst/>
          </a:prstGeom>
          <a:solidFill>
            <a:srgbClr val="F4E0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BC230F15-6E5D-3810-20D1-B75CE5E86F2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4615899D-90D6-EB0E-99B7-BA6DC67C30DE}"/>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dirty="0">
                <a:solidFill>
                  <a:srgbClr val="000000"/>
                </a:solidFill>
                <a:latin typeface="Arial" panose="020B0604020202020204" pitchFamily="34" charset="0"/>
                <a:cs typeface="Arial" panose="020B0604020202020204" pitchFamily="34" charset="0"/>
              </a:rPr>
              <a:t>파이썬 코드 실행 결과</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90CBD93-90E5-296A-5A98-3EB166AF9155}"/>
              </a:ext>
            </a:extLst>
          </p:cNvPr>
          <p:cNvSpPr txBox="1"/>
          <p:nvPr/>
        </p:nvSpPr>
        <p:spPr>
          <a:xfrm>
            <a:off x="1600200" y="2253735"/>
            <a:ext cx="21564600" cy="735842"/>
          </a:xfrm>
          <a:prstGeom prst="rect">
            <a:avLst/>
          </a:prstGeom>
          <a:noFill/>
        </p:spPr>
        <p:txBody>
          <a:bodyPr wrap="square">
            <a:spAutoFit/>
          </a:bodyPr>
          <a:lstStyle/>
          <a:p>
            <a:pPr lvl="1">
              <a:lnSpc>
                <a:spcPct val="150000"/>
              </a:lnSpc>
            </a:pPr>
            <a:r>
              <a:rPr lang="ko-KR" altLang="en-US" sz="3200" b="1" dirty="0">
                <a:latin typeface="+mn-ea"/>
              </a:rPr>
              <a:t>코드 실행이 끝나면 다음과 같은 파일들이 </a:t>
            </a:r>
            <a:r>
              <a:rPr lang="en-US" altLang="ko-KR" sz="3200" b="1" dirty="0">
                <a:latin typeface="+mn-ea"/>
              </a:rPr>
              <a:t>outputs/ </a:t>
            </a:r>
            <a:r>
              <a:rPr lang="ko-KR" altLang="en-US" sz="3200" b="1" dirty="0">
                <a:latin typeface="+mn-ea"/>
              </a:rPr>
              <a:t>폴더에 생성됩니다</a:t>
            </a:r>
            <a:r>
              <a:rPr lang="en-US" altLang="ko-KR" sz="3200" b="1" dirty="0">
                <a:latin typeface="+mn-ea"/>
              </a:rPr>
              <a:t>.</a:t>
            </a:r>
          </a:p>
        </p:txBody>
      </p:sp>
      <p:sp>
        <p:nvSpPr>
          <p:cNvPr id="10" name="TextBox 9">
            <a:extLst>
              <a:ext uri="{FF2B5EF4-FFF2-40B4-BE49-F238E27FC236}">
                <a16:creationId xmlns:a16="http://schemas.microsoft.com/office/drawing/2014/main" id="{DD083AD5-3BE1-C428-5FEE-6287966A44C8}"/>
              </a:ext>
            </a:extLst>
          </p:cNvPr>
          <p:cNvSpPr txBox="1"/>
          <p:nvPr/>
        </p:nvSpPr>
        <p:spPr>
          <a:xfrm>
            <a:off x="2425700" y="3733800"/>
            <a:ext cx="20269200" cy="2554545"/>
          </a:xfrm>
          <a:prstGeom prst="rect">
            <a:avLst/>
          </a:prstGeom>
          <a:noFill/>
        </p:spPr>
        <p:txBody>
          <a:bodyPr wrap="square">
            <a:spAutoFit/>
          </a:bodyPr>
          <a:lstStyle/>
          <a:p>
            <a:pPr marL="457200" indent="-457200">
              <a:buFont typeface="Arial" panose="020B0604020202020204" pitchFamily="34" charset="0"/>
              <a:buChar char="•"/>
            </a:pPr>
            <a:r>
              <a:rPr lang="en-US" altLang="ko-KR" sz="3200" b="1" dirty="0">
                <a:latin typeface="+mn-ea"/>
                <a:cs typeface="Arial Unicode MS" panose="020B0604020202020204" pitchFamily="50" charset="-127"/>
              </a:rPr>
              <a:t>tsid_qp_control.gif :  </a:t>
            </a:r>
            <a:r>
              <a:rPr lang="en-US" altLang="ko-KR" sz="3200" dirty="0">
                <a:latin typeface="+mn-ea"/>
                <a:cs typeface="Arial Unicode MS" panose="020B0604020202020204" pitchFamily="50" charset="-127"/>
              </a:rPr>
              <a:t>2-</a:t>
            </a:r>
            <a:r>
              <a:rPr lang="ko-KR" altLang="en-US" sz="3200" dirty="0">
                <a:latin typeface="+mn-ea"/>
                <a:cs typeface="Arial Unicode MS" panose="020B0604020202020204" pitchFamily="50" charset="-127"/>
              </a:rPr>
              <a:t>자유도 </a:t>
            </a:r>
            <a:r>
              <a:rPr lang="ko-KR" altLang="en-US" sz="3200" dirty="0" err="1">
                <a:latin typeface="+mn-ea"/>
                <a:cs typeface="Arial Unicode MS" panose="020B0604020202020204" pitchFamily="50" charset="-127"/>
              </a:rPr>
              <a:t>로봇팔이</a:t>
            </a:r>
            <a:r>
              <a:rPr lang="ko-KR" altLang="en-US" sz="3200" dirty="0">
                <a:latin typeface="+mn-ea"/>
                <a:cs typeface="Arial Unicode MS" panose="020B0604020202020204" pitchFamily="50" charset="-127"/>
              </a:rPr>
              <a:t> 궤적을 추종하는 애니메이션</a:t>
            </a:r>
            <a:endParaRPr lang="en-US" altLang="ko-KR" sz="3200" dirty="0">
              <a:latin typeface="+mn-ea"/>
              <a:cs typeface="Arial Unicode MS" panose="020B0604020202020204" pitchFamily="50" charset="-127"/>
            </a:endParaRPr>
          </a:p>
          <a:p>
            <a:pPr marL="457200" indent="-457200">
              <a:buFont typeface="Arial" panose="020B0604020202020204" pitchFamily="34" charset="0"/>
              <a:buChar char="•"/>
            </a:pPr>
            <a:endParaRPr lang="ko-KR" altLang="en-US" sz="3200" dirty="0">
              <a:latin typeface="+mn-ea"/>
              <a:cs typeface="Arial Unicode MS" panose="020B0604020202020204" pitchFamily="50" charset="-127"/>
            </a:endParaRPr>
          </a:p>
          <a:p>
            <a:pPr marL="457200" indent="-457200">
              <a:buFont typeface="Arial" panose="020B0604020202020204" pitchFamily="34" charset="0"/>
              <a:buChar char="•"/>
            </a:pPr>
            <a:r>
              <a:rPr lang="en-US" altLang="ko-KR" sz="3200" b="1" dirty="0">
                <a:latin typeface="+mn-ea"/>
                <a:cs typeface="Arial Unicode MS" panose="020B0604020202020204" pitchFamily="50" charset="-127"/>
              </a:rPr>
              <a:t>tsid_qp_demo_plots.png :  </a:t>
            </a:r>
            <a:r>
              <a:rPr lang="ko-KR" altLang="en-US" sz="3200" dirty="0">
                <a:latin typeface="+mn-ea"/>
                <a:cs typeface="Arial Unicode MS" panose="020B0604020202020204" pitchFamily="50" charset="-127"/>
              </a:rPr>
              <a:t>조인트 </a:t>
            </a:r>
            <a:r>
              <a:rPr lang="en-US" altLang="ko-KR" sz="3200" dirty="0">
                <a:latin typeface="+mn-ea"/>
                <a:cs typeface="Arial Unicode MS" panose="020B0604020202020204" pitchFamily="50" charset="-127"/>
              </a:rPr>
              <a:t>q, </a:t>
            </a:r>
            <a:r>
              <a:rPr lang="en-US" altLang="ko-KR" sz="3200" dirty="0" err="1">
                <a:latin typeface="+mn-ea"/>
                <a:cs typeface="Arial Unicode MS" panose="020B0604020202020204" pitchFamily="50" charset="-127"/>
              </a:rPr>
              <a:t>dq</a:t>
            </a:r>
            <a:r>
              <a:rPr lang="en-US" altLang="ko-KR" sz="3200" dirty="0">
                <a:latin typeface="+mn-ea"/>
                <a:cs typeface="Arial Unicode MS" panose="020B0604020202020204" pitchFamily="50" charset="-127"/>
              </a:rPr>
              <a:t>, </a:t>
            </a:r>
            <a:r>
              <a:rPr lang="en-US" altLang="ko-KR" sz="3200" dirty="0" err="1">
                <a:latin typeface="+mn-ea"/>
                <a:cs typeface="Arial Unicode MS" panose="020B0604020202020204" pitchFamily="50" charset="-127"/>
              </a:rPr>
              <a:t>ddq</a:t>
            </a:r>
            <a:r>
              <a:rPr lang="en-US" altLang="ko-KR" sz="3200" dirty="0">
                <a:latin typeface="+mn-ea"/>
                <a:cs typeface="Arial Unicode MS" panose="020B0604020202020204" pitchFamily="50" charset="-127"/>
              </a:rPr>
              <a:t>, </a:t>
            </a:r>
            <a:r>
              <a:rPr lang="ko-KR" altLang="en-US" sz="3200" dirty="0">
                <a:latin typeface="+mn-ea"/>
                <a:cs typeface="Arial Unicode MS" panose="020B0604020202020204" pitchFamily="50" charset="-127"/>
              </a:rPr>
              <a:t>토크</a:t>
            </a:r>
            <a:r>
              <a:rPr lang="en-US" altLang="ko-KR" sz="3200" dirty="0">
                <a:latin typeface="+mn-ea"/>
                <a:cs typeface="Arial Unicode MS" panose="020B0604020202020204" pitchFamily="50" charset="-127"/>
              </a:rPr>
              <a:t>, QP </a:t>
            </a:r>
            <a:r>
              <a:rPr lang="ko-KR" altLang="en-US" sz="3200" dirty="0" err="1">
                <a:latin typeface="+mn-ea"/>
                <a:cs typeface="Arial Unicode MS" panose="020B0604020202020204" pitchFamily="50" charset="-127"/>
              </a:rPr>
              <a:t>솔버</a:t>
            </a:r>
            <a:r>
              <a:rPr lang="ko-KR" altLang="en-US" sz="3200" dirty="0">
                <a:latin typeface="+mn-ea"/>
                <a:cs typeface="Arial Unicode MS" panose="020B0604020202020204" pitchFamily="50" charset="-127"/>
              </a:rPr>
              <a:t> 상태 등의 시간 그래프</a:t>
            </a:r>
            <a:endParaRPr lang="en-US" altLang="ko-KR" sz="3200" dirty="0">
              <a:latin typeface="+mn-ea"/>
              <a:cs typeface="Arial Unicode MS" panose="020B0604020202020204" pitchFamily="50" charset="-127"/>
            </a:endParaRPr>
          </a:p>
          <a:p>
            <a:pPr marL="457200" indent="-457200">
              <a:buFont typeface="Arial" panose="020B0604020202020204" pitchFamily="34" charset="0"/>
              <a:buChar char="•"/>
            </a:pPr>
            <a:endParaRPr lang="ko-KR" altLang="en-US" sz="3200" dirty="0">
              <a:latin typeface="+mn-ea"/>
              <a:cs typeface="Arial Unicode MS" panose="020B0604020202020204" pitchFamily="50" charset="-127"/>
            </a:endParaRPr>
          </a:p>
          <a:p>
            <a:pPr marL="457200" indent="-457200">
              <a:buFont typeface="Arial" panose="020B0604020202020204" pitchFamily="34" charset="0"/>
              <a:buChar char="•"/>
            </a:pPr>
            <a:r>
              <a:rPr lang="en-US" altLang="ko-KR" sz="3200" b="1" dirty="0">
                <a:latin typeface="+mn-ea"/>
                <a:cs typeface="Arial Unicode MS" panose="020B0604020202020204" pitchFamily="50" charset="-127"/>
              </a:rPr>
              <a:t>tsid_qp_demo_plots_explain.png :  </a:t>
            </a:r>
            <a:r>
              <a:rPr lang="ko-KR" altLang="en-US" sz="3200" dirty="0" err="1">
                <a:latin typeface="+mn-ea"/>
                <a:cs typeface="Arial Unicode MS" panose="020B0604020202020204" pitchFamily="50" charset="-127"/>
              </a:rPr>
              <a:t>트래킹</a:t>
            </a:r>
            <a:r>
              <a:rPr lang="ko-KR" altLang="en-US" sz="3200" dirty="0">
                <a:latin typeface="+mn-ea"/>
                <a:cs typeface="Arial Unicode MS" panose="020B0604020202020204" pitchFamily="50" charset="-127"/>
              </a:rPr>
              <a:t> 에러</a:t>
            </a:r>
            <a:r>
              <a:rPr lang="en-US" altLang="ko-KR" sz="3200" dirty="0">
                <a:latin typeface="+mn-ea"/>
                <a:cs typeface="Arial Unicode MS" panose="020B0604020202020204" pitchFamily="50" charset="-127"/>
              </a:rPr>
              <a:t>, EE </a:t>
            </a:r>
            <a:r>
              <a:rPr lang="ko-KR" altLang="en-US" sz="3200" dirty="0">
                <a:latin typeface="+mn-ea"/>
                <a:cs typeface="Arial Unicode MS" panose="020B0604020202020204" pitchFamily="50" charset="-127"/>
              </a:rPr>
              <a:t>궤적</a:t>
            </a:r>
            <a:r>
              <a:rPr lang="en-US" altLang="ko-KR" sz="3200" dirty="0">
                <a:latin typeface="+mn-ea"/>
                <a:cs typeface="Arial Unicode MS" panose="020B0604020202020204" pitchFamily="50" charset="-127"/>
              </a:rPr>
              <a:t>, </a:t>
            </a:r>
            <a:r>
              <a:rPr lang="ko-KR" altLang="en-US" sz="3200" dirty="0">
                <a:latin typeface="+mn-ea"/>
                <a:cs typeface="Arial Unicode MS" panose="020B0604020202020204" pitchFamily="50" charset="-127"/>
              </a:rPr>
              <a:t>최종 포즈 등을 설명하는 플롯</a:t>
            </a:r>
          </a:p>
        </p:txBody>
      </p:sp>
      <p:pic>
        <p:nvPicPr>
          <p:cNvPr id="14" name="그림 13">
            <a:extLst>
              <a:ext uri="{FF2B5EF4-FFF2-40B4-BE49-F238E27FC236}">
                <a16:creationId xmlns:a16="http://schemas.microsoft.com/office/drawing/2014/main" id="{313ED05A-1E43-927B-D473-AC51D12E5ED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39000" y="6851374"/>
            <a:ext cx="5477594" cy="6573112"/>
          </a:xfrm>
          <a:prstGeom prst="rect">
            <a:avLst/>
          </a:prstGeom>
        </p:spPr>
      </p:pic>
      <p:pic>
        <p:nvPicPr>
          <p:cNvPr id="16" name="그림 15">
            <a:extLst>
              <a:ext uri="{FF2B5EF4-FFF2-40B4-BE49-F238E27FC236}">
                <a16:creationId xmlns:a16="http://schemas.microsoft.com/office/drawing/2014/main" id="{584F3A3E-9901-2486-72D0-8B98D23E41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813420" y="7315200"/>
            <a:ext cx="11300550" cy="4708563"/>
          </a:xfrm>
          <a:prstGeom prst="rect">
            <a:avLst/>
          </a:prstGeom>
        </p:spPr>
      </p:pic>
      <p:pic>
        <p:nvPicPr>
          <p:cNvPr id="17" name="tsid_qp_control">
            <a:hlinkClick r:id="" action="ppaction://media"/>
            <a:extLst>
              <a:ext uri="{FF2B5EF4-FFF2-40B4-BE49-F238E27FC236}">
                <a16:creationId xmlns:a16="http://schemas.microsoft.com/office/drawing/2014/main" id="{1969A21D-6EB9-73E1-5E40-4DACC86AC91A}"/>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1143000" y="6553200"/>
            <a:ext cx="6242051" cy="6242051"/>
          </a:xfrm>
          <a:prstGeom prst="rect">
            <a:avLst/>
          </a:prstGeom>
        </p:spPr>
      </p:pic>
    </p:spTree>
    <p:extLst>
      <p:ext uri="{BB962C8B-B14F-4D97-AF65-F5344CB8AC3E}">
        <p14:creationId xmlns:p14="http://schemas.microsoft.com/office/powerpoint/2010/main" val="704854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000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with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DFDD8-A6EE-3806-C618-009CAD32C44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BDFFFB94-7288-9446-A4E3-2A901AAB88CF}"/>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53B530B1-FAB6-C50E-F100-47B45D4D1C5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15C5C01-DB44-1405-78C2-653CF4042CA6}"/>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내용</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F95C4C25-CFCF-C4BA-E163-4CD8289E433F}"/>
              </a:ext>
            </a:extLst>
          </p:cNvPr>
          <p:cNvSpPr txBox="1"/>
          <p:nvPr/>
        </p:nvSpPr>
        <p:spPr>
          <a:xfrm>
            <a:off x="1600200" y="2253735"/>
            <a:ext cx="21564600" cy="5921365"/>
          </a:xfrm>
          <a:prstGeom prst="rect">
            <a:avLst/>
          </a:prstGeom>
          <a:noFill/>
        </p:spPr>
        <p:txBody>
          <a:bodyPr wrap="square">
            <a:spAutoFit/>
          </a:bodyPr>
          <a:lstStyle/>
          <a:p>
            <a:pPr>
              <a:lnSpc>
                <a:spcPct val="150000"/>
              </a:lnSpc>
              <a:buNone/>
            </a:pPr>
            <a:r>
              <a:rPr lang="ko-KR" altLang="en-US" sz="3200" dirty="0"/>
              <a:t>이 예제는 **</a:t>
            </a:r>
            <a:r>
              <a:rPr lang="en-US" altLang="ko-KR" sz="3200" dirty="0"/>
              <a:t>2-</a:t>
            </a:r>
            <a:r>
              <a:rPr lang="ko-KR" altLang="en-US" sz="3200" dirty="0"/>
              <a:t>자유도 평면 </a:t>
            </a:r>
            <a:r>
              <a:rPr lang="ko-KR" altLang="en-US" sz="3200" dirty="0" err="1"/>
              <a:t>로봇팔</a:t>
            </a:r>
            <a:r>
              <a:rPr lang="ko-KR" altLang="en-US" sz="3200" dirty="0"/>
              <a:t>**에 대해  </a:t>
            </a:r>
          </a:p>
          <a:p>
            <a:pPr marL="914400" lvl="1" indent="-457200">
              <a:lnSpc>
                <a:spcPct val="150000"/>
              </a:lnSpc>
              <a:buFont typeface="Arial" panose="020B0604020202020204" pitchFamily="34" charset="0"/>
              <a:buChar char="•"/>
            </a:pPr>
            <a:r>
              <a:rPr lang="en-US" altLang="ko-KR" sz="3200" b="1" dirty="0"/>
              <a:t>TSID(Task-Space / Torque-Space Inverse Dynamics) </a:t>
            </a:r>
            <a:r>
              <a:rPr lang="ko-KR" altLang="en-US" sz="3200" b="1" dirty="0"/>
              <a:t>스타일의 </a:t>
            </a:r>
            <a:r>
              <a:rPr lang="en-US" altLang="ko-KR" sz="3200" b="1" dirty="0"/>
              <a:t>QP </a:t>
            </a:r>
            <a:r>
              <a:rPr lang="ko-KR" altLang="en-US" sz="3200" b="1" dirty="0"/>
              <a:t>제어</a:t>
            </a:r>
            <a:r>
              <a:rPr lang="ko-KR" altLang="en-US" sz="3200" dirty="0"/>
              <a:t>를 적용하고  </a:t>
            </a:r>
          </a:p>
          <a:p>
            <a:pPr marL="914400" lvl="1" indent="-457200">
              <a:lnSpc>
                <a:spcPct val="150000"/>
              </a:lnSpc>
              <a:buFont typeface="Arial" panose="020B0604020202020204" pitchFamily="34" charset="0"/>
              <a:buChar char="•"/>
            </a:pPr>
            <a:r>
              <a:rPr lang="ko-KR" altLang="en-US" sz="3200" b="1" dirty="0"/>
              <a:t>토크 한계</a:t>
            </a:r>
            <a:r>
              <a:rPr lang="ko-KR" altLang="en-US" sz="3200" dirty="0"/>
              <a:t>를 만족시키면서  </a:t>
            </a:r>
          </a:p>
          <a:p>
            <a:pPr marL="914400" lvl="1" indent="-457200">
              <a:lnSpc>
                <a:spcPct val="150000"/>
              </a:lnSpc>
              <a:buFont typeface="Arial" panose="020B0604020202020204" pitchFamily="34" charset="0"/>
              <a:buChar char="•"/>
            </a:pPr>
            <a:r>
              <a:rPr lang="ko-KR" altLang="en-US" sz="3200" b="1" dirty="0"/>
              <a:t>원하는 관절 가속도</a:t>
            </a:r>
            <a:r>
              <a:rPr lang="ko-KR" altLang="en-US" sz="3200" dirty="0"/>
              <a:t>를 최대한 따라가도록 하는 풀</a:t>
            </a:r>
            <a:r>
              <a:rPr lang="en-US" altLang="ko-KR" sz="3200" dirty="0"/>
              <a:t>-</a:t>
            </a:r>
            <a:r>
              <a:rPr lang="ko-KR" altLang="en-US" sz="3200" dirty="0"/>
              <a:t>파이프라인을  </a:t>
            </a:r>
          </a:p>
          <a:p>
            <a:pPr marL="914400" lvl="1" indent="-457200">
              <a:lnSpc>
                <a:spcPct val="150000"/>
              </a:lnSpc>
              <a:buFont typeface="Arial" panose="020B0604020202020204" pitchFamily="34" charset="0"/>
              <a:buChar char="•"/>
            </a:pPr>
            <a:r>
              <a:rPr lang="ko-KR" altLang="en-US" sz="3200" dirty="0"/>
              <a:t>하나의 파이썬 파일로 구현한 데모입니다</a:t>
            </a:r>
            <a:endParaRPr lang="en-US" altLang="ko-KR" sz="3200" dirty="0"/>
          </a:p>
          <a:p>
            <a:pPr>
              <a:lnSpc>
                <a:spcPct val="150000"/>
              </a:lnSpc>
              <a:buNone/>
            </a:pPr>
            <a:endParaRPr lang="en-US" altLang="ko-KR" sz="3200" dirty="0"/>
          </a:p>
          <a:p>
            <a:pPr>
              <a:lnSpc>
                <a:spcPct val="150000"/>
              </a:lnSpc>
              <a:buNone/>
            </a:pPr>
            <a:r>
              <a:rPr lang="en-US" altLang="ko-KR" sz="3200" dirty="0"/>
              <a:t>`</a:t>
            </a:r>
            <a:r>
              <a:rPr lang="en-US" altLang="ko-KR" sz="3200" dirty="0" err="1"/>
              <a:t>ActiveSetQP</a:t>
            </a:r>
            <a:r>
              <a:rPr lang="en-US" altLang="ko-KR" sz="3200" dirty="0"/>
              <a:t>`</a:t>
            </a:r>
            <a:r>
              <a:rPr lang="ko-KR" altLang="en-US" sz="3200" dirty="0"/>
              <a:t>라는 </a:t>
            </a:r>
            <a:r>
              <a:rPr lang="ko-KR" altLang="en-US" sz="3200" b="1" dirty="0"/>
              <a:t>아주 작은 교육용 </a:t>
            </a:r>
            <a:r>
              <a:rPr lang="en-US" altLang="ko-KR" sz="3200" b="1" dirty="0"/>
              <a:t>Active-Set QP </a:t>
            </a:r>
            <a:r>
              <a:rPr lang="ko-KR" altLang="en-US" sz="3200" b="1" dirty="0" err="1"/>
              <a:t>솔버</a:t>
            </a:r>
            <a:r>
              <a:rPr lang="ko-KR" altLang="en-US" sz="3200" dirty="0" err="1"/>
              <a:t>를</a:t>
            </a:r>
            <a:r>
              <a:rPr lang="ko-KR" altLang="en-US" sz="3200" dirty="0"/>
              <a:t> 파일 안에 직접 구현하여</a:t>
            </a:r>
            <a:r>
              <a:rPr lang="en-US" altLang="ko-KR" sz="3200" dirty="0"/>
              <a:t>, </a:t>
            </a:r>
            <a:r>
              <a:rPr lang="ko-KR" altLang="en-US" sz="3200" dirty="0"/>
              <a:t>외부 </a:t>
            </a:r>
            <a:r>
              <a:rPr lang="en-US" altLang="ko-KR" sz="3200" dirty="0"/>
              <a:t>QP </a:t>
            </a:r>
            <a:r>
              <a:rPr lang="ko-KR" altLang="en-US" sz="3200" dirty="0"/>
              <a:t>라이브러리 없이도 </a:t>
            </a:r>
            <a:endParaRPr lang="en-US" altLang="ko-KR" sz="3200" dirty="0"/>
          </a:p>
          <a:p>
            <a:pPr>
              <a:lnSpc>
                <a:spcPct val="150000"/>
              </a:lnSpc>
              <a:buNone/>
            </a:pPr>
            <a:r>
              <a:rPr lang="en-US" altLang="ko-KR" sz="3200" b="1" dirty="0"/>
              <a:t>TSID + QP</a:t>
            </a:r>
            <a:r>
              <a:rPr lang="ko-KR" altLang="en-US" sz="3200" b="1" dirty="0"/>
              <a:t>의 전체 흐름</a:t>
            </a:r>
            <a:r>
              <a:rPr lang="ko-KR" altLang="en-US" sz="3200" dirty="0"/>
              <a:t>을 실험해볼 수 있습니다</a:t>
            </a:r>
            <a:r>
              <a:rPr lang="en-US" altLang="ko-KR" sz="3200" dirty="0"/>
              <a:t>.</a:t>
            </a:r>
            <a:endParaRPr lang="en-US" altLang="ko-KR" sz="2400" dirty="0">
              <a:latin typeface="+mn-ea"/>
            </a:endParaRPr>
          </a:p>
        </p:txBody>
      </p:sp>
    </p:spTree>
    <p:extLst>
      <p:ext uri="{BB962C8B-B14F-4D97-AF65-F5344CB8AC3E}">
        <p14:creationId xmlns:p14="http://schemas.microsoft.com/office/powerpoint/2010/main" val="1101979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B7C91-86F5-D95D-F9E6-DABC8AEE3E1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8F9144F-D88A-1316-FF2E-EA2C47C28285}"/>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08B57D1-A068-E06D-2347-905638DCBBC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6C054B64-D849-C4F8-5EDF-30EC70046855}"/>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시스템 개요</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8C024670-A62F-F594-EBB0-3E19C889A9DD}"/>
              </a:ext>
            </a:extLst>
          </p:cNvPr>
          <p:cNvSpPr txBox="1"/>
          <p:nvPr/>
        </p:nvSpPr>
        <p:spPr>
          <a:xfrm>
            <a:off x="1600200" y="2253735"/>
            <a:ext cx="21564600" cy="8876020"/>
          </a:xfrm>
          <a:prstGeom prst="rect">
            <a:avLst/>
          </a:prstGeom>
          <a:noFill/>
        </p:spPr>
        <p:txBody>
          <a:bodyPr wrap="square">
            <a:spAutoFit/>
          </a:bodyPr>
          <a:lstStyle/>
          <a:p>
            <a:pPr marL="457200" indent="-457200">
              <a:lnSpc>
                <a:spcPct val="150000"/>
              </a:lnSpc>
              <a:buFont typeface="Arial" panose="020B0604020202020204" pitchFamily="34" charset="0"/>
              <a:buChar char="•"/>
            </a:pPr>
            <a:r>
              <a:rPr lang="ko-KR" altLang="en-US" sz="3200" dirty="0"/>
              <a:t>로봇</a:t>
            </a:r>
            <a:r>
              <a:rPr lang="en-US" altLang="ko-KR" sz="3200" dirty="0"/>
              <a:t>: 2-</a:t>
            </a:r>
            <a:r>
              <a:rPr lang="ko-KR" altLang="en-US" sz="3200" dirty="0"/>
              <a:t>자유도 평면 </a:t>
            </a:r>
            <a:r>
              <a:rPr lang="ko-KR" altLang="en-US" sz="3200" dirty="0" err="1"/>
              <a:t>매니퓰레이터</a:t>
            </a:r>
            <a:r>
              <a:rPr lang="ko-KR" altLang="en-US" sz="3200" dirty="0"/>
              <a:t> </a:t>
            </a:r>
            <a:r>
              <a:rPr lang="en-US" altLang="ko-KR" sz="3200" dirty="0"/>
              <a:t>(</a:t>
            </a:r>
            <a:r>
              <a:rPr lang="ko-KR" altLang="en-US" sz="3200" dirty="0"/>
              <a:t>기저 고정</a:t>
            </a:r>
            <a:r>
              <a:rPr lang="en-US" altLang="ko-KR" sz="3200" dirty="0"/>
              <a:t>, </a:t>
            </a:r>
            <a:r>
              <a:rPr lang="ko-KR" altLang="en-US" sz="3200" dirty="0"/>
              <a:t>중력 및 관성 포함</a:t>
            </a:r>
            <a:r>
              <a:rPr lang="en-US" altLang="ko-KR" sz="3200" dirty="0"/>
              <a:t>)</a:t>
            </a:r>
          </a:p>
          <a:p>
            <a:pPr marL="457200" indent="-457200">
              <a:lnSpc>
                <a:spcPct val="150000"/>
              </a:lnSpc>
              <a:buFont typeface="Arial" panose="020B0604020202020204" pitchFamily="34" charset="0"/>
              <a:buChar char="•"/>
            </a:pPr>
            <a:endParaRPr lang="en-US" altLang="ko-KR" sz="3200" dirty="0"/>
          </a:p>
          <a:p>
            <a:pPr marL="457200" indent="-457200">
              <a:lnSpc>
                <a:spcPct val="150000"/>
              </a:lnSpc>
              <a:buFont typeface="Arial" panose="020B0604020202020204" pitchFamily="34" charset="0"/>
              <a:buChar char="•"/>
            </a:pPr>
            <a:r>
              <a:rPr lang="ko-KR" altLang="en-US" sz="3200" dirty="0"/>
              <a:t>상태</a:t>
            </a:r>
            <a:r>
              <a:rPr lang="en-US" altLang="ko-KR" sz="3200" dirty="0"/>
              <a:t>:</a:t>
            </a:r>
          </a:p>
          <a:p>
            <a:pPr>
              <a:lnSpc>
                <a:spcPct val="150000"/>
              </a:lnSpc>
            </a:pPr>
            <a:r>
              <a:rPr lang="en-US" altLang="ko-KR" sz="3200" dirty="0"/>
              <a:t>	- </a:t>
            </a:r>
            <a:r>
              <a:rPr lang="ko-KR" altLang="en-US" sz="3200" dirty="0"/>
              <a:t>관절 위치</a:t>
            </a:r>
            <a:r>
              <a:rPr lang="en-US" altLang="ko-KR" sz="3200" dirty="0"/>
              <a:t>:</a:t>
            </a:r>
          </a:p>
          <a:p>
            <a:pPr>
              <a:lnSpc>
                <a:spcPct val="150000"/>
              </a:lnSpc>
            </a:pPr>
            <a:r>
              <a:rPr lang="en-US" altLang="ko-KR" sz="3200" dirty="0"/>
              <a:t>	- </a:t>
            </a:r>
            <a:r>
              <a:rPr lang="ko-KR" altLang="en-US" sz="3200" dirty="0"/>
              <a:t>관절 속도</a:t>
            </a:r>
            <a:r>
              <a:rPr lang="en-US" altLang="ko-KR" sz="3200" dirty="0"/>
              <a:t>: </a:t>
            </a:r>
          </a:p>
          <a:p>
            <a:pPr>
              <a:lnSpc>
                <a:spcPct val="150000"/>
              </a:lnSpc>
            </a:pPr>
            <a:r>
              <a:rPr lang="en-US" altLang="ko-KR" sz="3200" dirty="0"/>
              <a:t>	- </a:t>
            </a:r>
            <a:r>
              <a:rPr lang="ko-KR" altLang="en-US" sz="3200" dirty="0"/>
              <a:t>관절 가속도</a:t>
            </a:r>
            <a:r>
              <a:rPr lang="en-US" altLang="ko-KR" sz="3200" dirty="0"/>
              <a:t>:</a:t>
            </a:r>
          </a:p>
          <a:p>
            <a:pPr>
              <a:lnSpc>
                <a:spcPct val="150000"/>
              </a:lnSpc>
            </a:pPr>
            <a:endParaRPr lang="en-US" altLang="ko-KR" sz="3200" dirty="0"/>
          </a:p>
          <a:p>
            <a:pPr marL="457200" indent="-457200">
              <a:lnSpc>
                <a:spcPct val="150000"/>
              </a:lnSpc>
              <a:buFont typeface="Arial" panose="020B0604020202020204" pitchFamily="34" charset="0"/>
              <a:buChar char="•"/>
            </a:pPr>
            <a:r>
              <a:rPr lang="ko-KR" altLang="en-US" sz="3200" dirty="0"/>
              <a:t>입력</a:t>
            </a:r>
            <a:r>
              <a:rPr lang="en-US" altLang="ko-KR" sz="3200" dirty="0"/>
              <a:t>(</a:t>
            </a:r>
            <a:r>
              <a:rPr lang="ko-KR" altLang="en-US" sz="3200" dirty="0"/>
              <a:t>제어 변수</a:t>
            </a:r>
            <a:r>
              <a:rPr lang="en-US" altLang="ko-KR" sz="3200" dirty="0"/>
              <a:t>):</a:t>
            </a:r>
          </a:p>
          <a:p>
            <a:pPr>
              <a:lnSpc>
                <a:spcPct val="150000"/>
              </a:lnSpc>
            </a:pPr>
            <a:r>
              <a:rPr lang="en-US" altLang="ko-KR" sz="3200" dirty="0"/>
              <a:t>	 - </a:t>
            </a:r>
            <a:r>
              <a:rPr lang="ko-KR" altLang="en-US" sz="3200" dirty="0"/>
              <a:t>관절 토크</a:t>
            </a:r>
            <a:r>
              <a:rPr lang="en-US" altLang="ko-KR" sz="3200" dirty="0"/>
              <a:t>: </a:t>
            </a:r>
          </a:p>
          <a:p>
            <a:pPr>
              <a:lnSpc>
                <a:spcPct val="150000"/>
              </a:lnSpc>
            </a:pPr>
            <a:endParaRPr lang="en-US" altLang="ko-KR" sz="3200" dirty="0"/>
          </a:p>
          <a:p>
            <a:pPr marL="457200" indent="-457200">
              <a:lnSpc>
                <a:spcPct val="150000"/>
              </a:lnSpc>
              <a:buFont typeface="Arial" panose="020B0604020202020204" pitchFamily="34" charset="0"/>
              <a:buChar char="•"/>
            </a:pPr>
            <a:r>
              <a:rPr lang="ko-KR" altLang="en-US" sz="3200" dirty="0"/>
              <a:t>동역학 식</a:t>
            </a:r>
            <a:r>
              <a:rPr lang="en-US" altLang="ko-KR" sz="3200" dirty="0"/>
              <a:t>:</a:t>
            </a:r>
          </a:p>
          <a:p>
            <a:pPr>
              <a:lnSpc>
                <a:spcPct val="150000"/>
              </a:lnSpc>
            </a:pPr>
            <a:r>
              <a:rPr lang="en-US" altLang="ko-KR" sz="3200" dirty="0"/>
              <a:t>	</a:t>
            </a:r>
            <a:endParaRPr lang="en-US" altLang="ko-KR" sz="2400" dirty="0">
              <a:latin typeface="+mn-ea"/>
            </a:endParaRPr>
          </a:p>
        </p:txBody>
      </p:sp>
      <p:pic>
        <p:nvPicPr>
          <p:cNvPr id="12" name="그림 11" descr="\documentclass{article}&#10;\usepackage{amsmath}&#10;\pagestyle{empty}&#10;\begin{document}&#10;&#10;$&#10;q&#10;$&#10;&#10;&#10;&#10;\end{document}" title="IguanaTex Bitmap Display">
            <a:extLst>
              <a:ext uri="{FF2B5EF4-FFF2-40B4-BE49-F238E27FC236}">
                <a16:creationId xmlns:a16="http://schemas.microsoft.com/office/drawing/2014/main" id="{AA078818-3443-A868-9CD7-851DB1974AF1}"/>
              </a:ext>
            </a:extLst>
          </p:cNvPr>
          <p:cNvPicPr>
            <a:picLocks noChangeAspect="1"/>
          </p:cNvPicPr>
          <p:nvPr>
            <p:custDataLst>
              <p:tags r:id="rId1"/>
            </p:custDataLst>
          </p:nvPr>
        </p:nvPicPr>
        <p:blipFill>
          <a:blip r:embed="rId7" cstate="print">
            <a:extLst>
              <a:ext uri="{28A0092B-C50C-407E-A947-70E740481C1C}">
                <a14:useLocalDpi xmlns:a14="http://schemas.microsoft.com/office/drawing/2010/main" val="0"/>
              </a:ext>
            </a:extLst>
          </a:blip>
          <a:stretch>
            <a:fillRect/>
          </a:stretch>
        </p:blipFill>
        <p:spPr>
          <a:xfrm>
            <a:off x="4905053" y="4748209"/>
            <a:ext cx="210286" cy="320000"/>
          </a:xfrm>
          <a:prstGeom prst="rect">
            <a:avLst/>
          </a:prstGeom>
        </p:spPr>
      </p:pic>
      <p:pic>
        <p:nvPicPr>
          <p:cNvPr id="14" name="그림 13" descr="\documentclass{article}&#10;\usepackage{amsmath}&#10;\pagestyle{empty}&#10;\begin{document}&#10;&#10;$&#10;\dot{q}&#10;$&#10;&#10;&#10;&#10;\end{document}" title="IguanaTex Bitmap Display">
            <a:extLst>
              <a:ext uri="{FF2B5EF4-FFF2-40B4-BE49-F238E27FC236}">
                <a16:creationId xmlns:a16="http://schemas.microsoft.com/office/drawing/2014/main" id="{42FD2B35-73BA-B7D0-E146-CFDAD9760D5C}"/>
              </a:ext>
            </a:extLst>
          </p:cNvPr>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4905053" y="5394399"/>
            <a:ext cx="210286" cy="435810"/>
          </a:xfrm>
          <a:prstGeom prst="rect">
            <a:avLst/>
          </a:prstGeom>
        </p:spPr>
      </p:pic>
      <p:pic>
        <p:nvPicPr>
          <p:cNvPr id="16" name="그림 15" descr="\documentclass{article}&#10;\usepackage{amsmath}&#10;\pagestyle{empty}&#10;\begin{document}&#10;&#10;$&#10;\ddot{q}&#10;$&#10;&#10;&#10;&#10;\end{document}" title="IguanaTex Bitmap Display">
            <a:extLst>
              <a:ext uri="{FF2B5EF4-FFF2-40B4-BE49-F238E27FC236}">
                <a16:creationId xmlns:a16="http://schemas.microsoft.com/office/drawing/2014/main" id="{AA664191-D5E3-340E-BCF5-7B2CE6C8F7B9}"/>
              </a:ext>
            </a:extLst>
          </p:cNvPr>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267739" y="6135009"/>
            <a:ext cx="222476" cy="435810"/>
          </a:xfrm>
          <a:prstGeom prst="rect">
            <a:avLst/>
          </a:prstGeom>
        </p:spPr>
      </p:pic>
      <p:pic>
        <p:nvPicPr>
          <p:cNvPr id="18" name="그림 17" descr="\documentclass{article}&#10;\usepackage{amsmath}&#10;\pagestyle{empty}&#10;\begin{document}&#10;&#10;$&#10;M(q)\,\ddot{q} + h(q, \dot{q}) = \tau&#10;$&#10;&#10;&#10;&#10;\end{document}" title="IguanaTex Bitmap Display">
            <a:extLst>
              <a:ext uri="{FF2B5EF4-FFF2-40B4-BE49-F238E27FC236}">
                <a16:creationId xmlns:a16="http://schemas.microsoft.com/office/drawing/2014/main" id="{4E1D7441-CBED-F0D3-6A96-73187062B223}"/>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tretch>
            <a:fillRect/>
          </a:stretch>
        </p:blipFill>
        <p:spPr>
          <a:xfrm>
            <a:off x="2636822" y="10606948"/>
            <a:ext cx="4443428" cy="508952"/>
          </a:xfrm>
          <a:prstGeom prst="rect">
            <a:avLst/>
          </a:prstGeom>
        </p:spPr>
      </p:pic>
      <p:pic>
        <p:nvPicPr>
          <p:cNvPr id="20" name="그림 19" descr="\documentclass{article}&#10;\usepackage{amsmath}&#10;\pagestyle{empty}&#10;\begin{document}&#10;&#10;$&#10;\tau&#10;$&#10;&#10;&#10;&#10;\end{document}" title="IguanaTex Bitmap Display">
            <a:extLst>
              <a:ext uri="{FF2B5EF4-FFF2-40B4-BE49-F238E27FC236}">
                <a16:creationId xmlns:a16="http://schemas.microsoft.com/office/drawing/2014/main" id="{726EACE4-5B80-A817-B8F4-70FB17E602CF}"/>
              </a:ext>
            </a:extLst>
          </p:cNvPr>
          <p:cNvPicPr>
            <a:picLocks noChangeAspect="1"/>
          </p:cNvPicPr>
          <p:nvPr>
            <p:custDataLst>
              <p:tags r:id="rId5"/>
            </p:custDataLst>
          </p:nvPr>
        </p:nvPicPr>
        <p:blipFill>
          <a:blip r:embed="rId11" cstate="print">
            <a:extLst>
              <a:ext uri="{28A0092B-C50C-407E-A947-70E740481C1C}">
                <a14:useLocalDpi xmlns:a14="http://schemas.microsoft.com/office/drawing/2010/main" val="0"/>
              </a:ext>
            </a:extLst>
          </a:blip>
          <a:stretch>
            <a:fillRect/>
          </a:stretch>
        </p:blipFill>
        <p:spPr>
          <a:xfrm>
            <a:off x="5020882" y="8452930"/>
            <a:ext cx="246857" cy="225524"/>
          </a:xfrm>
          <a:prstGeom prst="rect">
            <a:avLst/>
          </a:prstGeom>
        </p:spPr>
      </p:pic>
    </p:spTree>
    <p:extLst>
      <p:ext uri="{BB962C8B-B14F-4D97-AF65-F5344CB8AC3E}">
        <p14:creationId xmlns:p14="http://schemas.microsoft.com/office/powerpoint/2010/main" val="3972931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FD0EF-2747-8E4B-6F2C-783AFD55FED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ECFAA5F-EA8A-7A7A-D134-4E9EB23F7B1E}"/>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09949EC3-78C3-83BC-57B9-9931D112C6E7}"/>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6F05E51C-823F-D799-76E7-C49FA0FFC9E8}"/>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시스템 개요</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B79F963-2845-D8E8-4F26-B67AD9300FD6}"/>
              </a:ext>
            </a:extLst>
          </p:cNvPr>
          <p:cNvSpPr txBox="1"/>
          <p:nvPr/>
        </p:nvSpPr>
        <p:spPr>
          <a:xfrm>
            <a:off x="1600200" y="2253735"/>
            <a:ext cx="21564600" cy="11077135"/>
          </a:xfrm>
          <a:prstGeom prst="rect">
            <a:avLst/>
          </a:prstGeom>
          <a:noFill/>
        </p:spPr>
        <p:txBody>
          <a:bodyPr wrap="square">
            <a:spAutoFit/>
          </a:bodyPr>
          <a:lstStyle/>
          <a:p>
            <a:pPr marL="971550" lvl="1" indent="-514350">
              <a:lnSpc>
                <a:spcPct val="150000"/>
              </a:lnSpc>
              <a:buAutoNum type="arabicPeriod"/>
            </a:pPr>
            <a:r>
              <a:rPr lang="en-US" altLang="ko-KR" sz="3200" b="1" dirty="0">
                <a:latin typeface="+mn-ea"/>
              </a:rPr>
              <a:t>Reference </a:t>
            </a:r>
            <a:r>
              <a:rPr lang="ko-KR" altLang="en-US" sz="3200" b="1" dirty="0">
                <a:latin typeface="+mn-ea"/>
              </a:rPr>
              <a:t>궤적 생성</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r>
              <a:rPr lang="en-US" altLang="ko-KR" sz="3200" b="1" dirty="0">
                <a:latin typeface="+mn-ea"/>
              </a:rPr>
              <a:t>TSID</a:t>
            </a:r>
            <a:r>
              <a:rPr lang="ko-KR" altLang="en-US" sz="3200" b="1" dirty="0">
                <a:latin typeface="+mn-ea"/>
              </a:rPr>
              <a:t> 형식으로 원하는 가속도 계산</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r>
              <a:rPr lang="en-US" altLang="ko-KR" sz="3200" b="1" dirty="0">
                <a:latin typeface="+mn-ea"/>
              </a:rPr>
              <a:t>QP</a:t>
            </a:r>
            <a:r>
              <a:rPr lang="ko-KR" altLang="en-US" sz="3200" b="1" dirty="0">
                <a:latin typeface="+mn-ea"/>
              </a:rPr>
              <a:t>로    </a:t>
            </a:r>
            <a:r>
              <a:rPr lang="en-US" altLang="ko-KR" sz="3200" b="1" dirty="0">
                <a:latin typeface="+mn-ea"/>
              </a:rPr>
              <a:t>,</a:t>
            </a:r>
            <a:r>
              <a:rPr lang="ko-KR" altLang="en-US" sz="3200" b="1" dirty="0">
                <a:latin typeface="+mn-ea"/>
              </a:rPr>
              <a:t>     결정</a:t>
            </a:r>
            <a:endParaRPr lang="en-US" altLang="ko-KR" sz="3200" b="1" dirty="0">
              <a:latin typeface="+mn-ea"/>
            </a:endParaRPr>
          </a:p>
          <a:p>
            <a:pPr lvl="1">
              <a:lnSpc>
                <a:spcPct val="150000"/>
              </a:lnSpc>
            </a:pPr>
            <a:r>
              <a:rPr lang="en-US" altLang="ko-KR" sz="3200" dirty="0">
                <a:latin typeface="+mn-ea"/>
              </a:rPr>
              <a:t>	- </a:t>
            </a:r>
            <a:r>
              <a:rPr lang="ko-KR" altLang="en-US" sz="3200" dirty="0">
                <a:latin typeface="+mn-ea"/>
              </a:rPr>
              <a:t>목적</a:t>
            </a:r>
            <a:r>
              <a:rPr lang="en-US" altLang="ko-KR" sz="3200" dirty="0">
                <a:latin typeface="+mn-ea"/>
              </a:rPr>
              <a:t> : </a:t>
            </a:r>
          </a:p>
          <a:p>
            <a:pPr lvl="1">
              <a:lnSpc>
                <a:spcPct val="150000"/>
              </a:lnSpc>
            </a:pPr>
            <a:r>
              <a:rPr lang="en-US" altLang="ko-KR" sz="3200" dirty="0">
                <a:latin typeface="+mn-ea"/>
              </a:rPr>
              <a:t>	- </a:t>
            </a:r>
            <a:r>
              <a:rPr lang="ko-KR" altLang="en-US" sz="3200" dirty="0">
                <a:latin typeface="+mn-ea"/>
              </a:rPr>
              <a:t>제약 </a:t>
            </a:r>
            <a:r>
              <a:rPr lang="en-US" altLang="ko-KR" sz="3200" dirty="0">
                <a:latin typeface="+mn-ea"/>
              </a:rPr>
              <a:t>: </a:t>
            </a:r>
          </a:p>
          <a:p>
            <a:pPr lvl="1">
              <a:lnSpc>
                <a:spcPct val="150000"/>
              </a:lnSpc>
            </a:pPr>
            <a:endParaRPr lang="en-US" altLang="ko-KR" sz="3200" b="1" dirty="0">
              <a:latin typeface="+mn-ea"/>
            </a:endParaRPr>
          </a:p>
          <a:p>
            <a:pPr lvl="1">
              <a:lnSpc>
                <a:spcPct val="150000"/>
              </a:lnSpc>
            </a:pPr>
            <a:r>
              <a:rPr lang="en-US" altLang="ko-KR" sz="3200" b="1" dirty="0">
                <a:latin typeface="+mn-ea"/>
              </a:rPr>
              <a:t>4. </a:t>
            </a:r>
            <a:r>
              <a:rPr lang="ko-KR" altLang="en-US" sz="3200" b="1" dirty="0">
                <a:latin typeface="+mn-ea"/>
              </a:rPr>
              <a:t>컨트롤러 출력 </a:t>
            </a:r>
            <a:r>
              <a:rPr lang="en-US" altLang="ko-KR" sz="3200" b="1" dirty="0">
                <a:latin typeface="+mn-ea"/>
              </a:rPr>
              <a:t>: Forward dynamics</a:t>
            </a:r>
          </a:p>
          <a:p>
            <a:pPr lvl="1">
              <a:lnSpc>
                <a:spcPct val="150000"/>
              </a:lnSpc>
            </a:pPr>
            <a:r>
              <a:rPr lang="en-US" altLang="ko-KR" sz="3200" dirty="0">
                <a:latin typeface="+mn-ea"/>
              </a:rPr>
              <a:t>	- QP </a:t>
            </a:r>
            <a:r>
              <a:rPr lang="ko-KR" altLang="en-US" sz="3200" dirty="0">
                <a:latin typeface="+mn-ea"/>
              </a:rPr>
              <a:t>해에서     부분만 뽑아서 </a:t>
            </a:r>
            <a:r>
              <a:rPr lang="ko-KR" altLang="en-US" sz="3200" b="1" dirty="0">
                <a:latin typeface="+mn-ea"/>
              </a:rPr>
              <a:t>제어 입력</a:t>
            </a:r>
            <a:r>
              <a:rPr lang="ko-KR" altLang="en-US" sz="3200" dirty="0">
                <a:latin typeface="+mn-ea"/>
              </a:rPr>
              <a:t>으로 사용 </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ko-KR" altLang="en-US" sz="3200" b="1" dirty="0">
                <a:latin typeface="+mn-ea"/>
              </a:rPr>
              <a:t>이 전체 흐름을 코드에서는 </a:t>
            </a:r>
            <a:r>
              <a:rPr lang="en-US" altLang="ko-KR" sz="3200" b="1" dirty="0" err="1">
                <a:latin typeface="+mn-ea"/>
              </a:rPr>
              <a:t>run_sim</a:t>
            </a:r>
            <a:r>
              <a:rPr lang="en-US" altLang="ko-KR" sz="3200" b="1" dirty="0">
                <a:latin typeface="+mn-ea"/>
              </a:rPr>
              <a:t>() </a:t>
            </a:r>
            <a:r>
              <a:rPr lang="ko-KR" altLang="en-US" sz="3200" b="1" dirty="0">
                <a:latin typeface="+mn-ea"/>
              </a:rPr>
              <a:t>안의 루프에서 한 타임스텝마다 수행한다</a:t>
            </a:r>
            <a:r>
              <a:rPr lang="en-US" altLang="ko-KR" sz="3200" b="1" dirty="0">
                <a:latin typeface="+mn-ea"/>
              </a:rPr>
              <a:t>.</a:t>
            </a:r>
          </a:p>
          <a:p>
            <a:pPr marL="971550" lvl="1" indent="-514350">
              <a:lnSpc>
                <a:spcPct val="150000"/>
              </a:lnSpc>
              <a:buAutoNum type="arabicPeriod"/>
            </a:pPr>
            <a:endParaRPr lang="en-US" altLang="ko-KR" sz="3200" b="1" dirty="0">
              <a:latin typeface="+mn-ea"/>
            </a:endParaRPr>
          </a:p>
        </p:txBody>
      </p:sp>
      <p:pic>
        <p:nvPicPr>
          <p:cNvPr id="9" name="그림 8" descr="\documentclass{article}&#10;\usepackage{amsmath}&#10;\pagestyle{empty}&#10;\begin{document}&#10;&#10;$&#10;(q_{ref}(t), \dot{q}_{ref}(t), \ddot{q}_{ref}(t))&#10;$&#10;&#10;&#10;&#10;\end{document}" title="IguanaTex Bitmap Display">
            <a:extLst>
              <a:ext uri="{FF2B5EF4-FFF2-40B4-BE49-F238E27FC236}">
                <a16:creationId xmlns:a16="http://schemas.microsoft.com/office/drawing/2014/main" id="{D05D3DE0-73CE-14B5-2A5B-C54D9251F2A5}"/>
              </a:ext>
            </a:extLst>
          </p:cNvPr>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7094395" y="2438400"/>
            <a:ext cx="5110857" cy="530286"/>
          </a:xfrm>
          <a:prstGeom prst="rect">
            <a:avLst/>
          </a:prstGeom>
        </p:spPr>
      </p:pic>
      <p:pic>
        <p:nvPicPr>
          <p:cNvPr id="15" name="그림 14" descr="\documentclass{article}&#10;\usepackage{amsmath}&#10;\pagestyle{empty}&#10;\begin{document}&#10;&#10;$&#10;\ddot{q}_{des}(t)= K_p(q_{ref}-q)+K_d(\dot{q}_{ref}-\dot{q})+\ddot{q}_{ref}&#10;$&#10;&#10;&#10;&#10;\end{document}" title="IguanaTex Bitmap Display">
            <a:extLst>
              <a:ext uri="{FF2B5EF4-FFF2-40B4-BE49-F238E27FC236}">
                <a16:creationId xmlns:a16="http://schemas.microsoft.com/office/drawing/2014/main" id="{E3C5C574-19C9-B5FF-F0F7-B99DB694A01F}"/>
              </a:ext>
            </a:extLst>
          </p:cNvPr>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9649823" y="3886200"/>
            <a:ext cx="9746286" cy="530286"/>
          </a:xfrm>
          <a:prstGeom prst="rect">
            <a:avLst/>
          </a:prstGeom>
        </p:spPr>
      </p:pic>
      <p:pic>
        <p:nvPicPr>
          <p:cNvPr id="17" name="그림 16" descr="\documentclass{article}&#10;\usepackage{amsmath}&#10;\pagestyle{empty}&#10;\begin{document}&#10;&#10;$&#10;\ddot{q}&#10;$&#10;&#10;&#10;&#10;\end{document}" title="IguanaTex Bitmap Display">
            <a:extLst>
              <a:ext uri="{FF2B5EF4-FFF2-40B4-BE49-F238E27FC236}">
                <a16:creationId xmlns:a16="http://schemas.microsoft.com/office/drawing/2014/main" id="{A5EBA9A7-923F-D49F-D7A2-512A0B18ABBA}"/>
              </a:ext>
            </a:extLst>
          </p:cNvPr>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3810000" y="5410200"/>
            <a:ext cx="222476" cy="435810"/>
          </a:xfrm>
          <a:prstGeom prst="rect">
            <a:avLst/>
          </a:prstGeom>
        </p:spPr>
      </p:pic>
      <p:pic>
        <p:nvPicPr>
          <p:cNvPr id="19" name="그림 18" descr="\documentclass{article}&#10;\usepackage{amsmath}&#10;\pagestyle{empty}&#10;\begin{document}&#10;&#10;$&#10;\tau&#10;$&#10;&#10;&#10;&#10;\end{document}" title="IguanaTex Bitmap Display">
            <a:extLst>
              <a:ext uri="{FF2B5EF4-FFF2-40B4-BE49-F238E27FC236}">
                <a16:creationId xmlns:a16="http://schemas.microsoft.com/office/drawing/2014/main" id="{194FCF50-EFB3-7434-94D8-A73038991078}"/>
              </a:ext>
            </a:extLst>
          </p:cNvPr>
          <p:cNvPicPr>
            <a:picLocks noChangeAspect="1"/>
          </p:cNvPicPr>
          <p:nvPr>
            <p:custDataLst>
              <p:tags r:id="rId4"/>
            </p:custDataLst>
          </p:nvPr>
        </p:nvPicPr>
        <p:blipFill>
          <a:blip r:embed="rId15" cstate="print">
            <a:extLst>
              <a:ext uri="{28A0092B-C50C-407E-A947-70E740481C1C}">
                <a14:useLocalDpi xmlns:a14="http://schemas.microsoft.com/office/drawing/2010/main" val="0"/>
              </a:ext>
            </a:extLst>
          </a:blip>
          <a:stretch>
            <a:fillRect/>
          </a:stretch>
        </p:blipFill>
        <p:spPr>
          <a:xfrm>
            <a:off x="4495800" y="5565676"/>
            <a:ext cx="246857" cy="225524"/>
          </a:xfrm>
          <a:prstGeom prst="rect">
            <a:avLst/>
          </a:prstGeom>
        </p:spPr>
      </p:pic>
      <p:pic>
        <p:nvPicPr>
          <p:cNvPr id="22" name="그림 21" descr="\documentclass{article}&#10;\usepackage{amsmath}&#10;\pagestyle{empty}&#10;\begin{document}&#10;&#10;$&#10;M(q)\,\ddot q + h(q,\dot q)-\tau = 0&#10;$&#10;&#10;&#10;&#10;\end{document}" title="IguanaTex Bitmap Display">
            <a:extLst>
              <a:ext uri="{FF2B5EF4-FFF2-40B4-BE49-F238E27FC236}">
                <a16:creationId xmlns:a16="http://schemas.microsoft.com/office/drawing/2014/main" id="{F7ECB248-93D7-50A3-D161-B0732B831C4E}"/>
              </a:ext>
            </a:extLst>
          </p:cNvPr>
          <p:cNvPicPr>
            <a:picLocks noChangeAspect="1"/>
          </p:cNvPicPr>
          <p:nvPr>
            <p:custDataLst>
              <p:tags r:id="rId5"/>
            </p:custDataLst>
          </p:nvPr>
        </p:nvPicPr>
        <p:blipFill>
          <a:blip r:embed="rId16" cstate="print">
            <a:extLst>
              <a:ext uri="{28A0092B-C50C-407E-A947-70E740481C1C}">
                <a14:useLocalDpi xmlns:a14="http://schemas.microsoft.com/office/drawing/2010/main" val="0"/>
              </a:ext>
            </a:extLst>
          </a:blip>
          <a:stretch>
            <a:fillRect/>
          </a:stretch>
        </p:blipFill>
        <p:spPr>
          <a:xfrm>
            <a:off x="4358562" y="6934200"/>
            <a:ext cx="4252038" cy="407162"/>
          </a:xfrm>
          <a:prstGeom prst="rect">
            <a:avLst/>
          </a:prstGeom>
        </p:spPr>
      </p:pic>
      <p:pic>
        <p:nvPicPr>
          <p:cNvPr id="24" name="그림 23" descr="\documentclass{article}&#10;\usepackage{amsmath}&#10;\pagestyle{empty}&#10;\begin{document}&#10;&#10;$&#10;\ddot{q} \approx \ddot{q}_{\mathrm{des}}&#10;$&#10;&#10;&#10;&#10;\end{document}" title="IguanaTex Bitmap Display">
            <a:extLst>
              <a:ext uri="{FF2B5EF4-FFF2-40B4-BE49-F238E27FC236}">
                <a16:creationId xmlns:a16="http://schemas.microsoft.com/office/drawing/2014/main" id="{F4D379C8-826E-51D0-E6DD-F27106D1060D}"/>
              </a:ext>
            </a:extLst>
          </p:cNvPr>
          <p:cNvPicPr>
            <a:picLocks noChangeAspect="1"/>
          </p:cNvPicPr>
          <p:nvPr>
            <p:custDataLst>
              <p:tags r:id="rId6"/>
            </p:custDataLst>
          </p:nvPr>
        </p:nvPicPr>
        <p:blipFill>
          <a:blip r:embed="rId17" cstate="print">
            <a:extLst>
              <a:ext uri="{28A0092B-C50C-407E-A947-70E740481C1C}">
                <a14:useLocalDpi xmlns:a14="http://schemas.microsoft.com/office/drawing/2010/main" val="0"/>
              </a:ext>
            </a:extLst>
          </a:blip>
          <a:stretch>
            <a:fillRect/>
          </a:stretch>
        </p:blipFill>
        <p:spPr>
          <a:xfrm>
            <a:off x="4358562" y="6144795"/>
            <a:ext cx="1676190" cy="435810"/>
          </a:xfrm>
          <a:prstGeom prst="rect">
            <a:avLst/>
          </a:prstGeom>
        </p:spPr>
      </p:pic>
      <p:pic>
        <p:nvPicPr>
          <p:cNvPr id="26" name="그림 25" descr="\documentclass{article}&#10;\usepackage{amsmath}&#10;\pagestyle{empty}&#10;\begin{document}&#10;&#10;$&#10;\tau_{\min} \le \tau \le \tau_{\max}&#10;$&#10;&#10;&#10;&#10;\end{document}" title="IguanaTex Bitmap Display">
            <a:extLst>
              <a:ext uri="{FF2B5EF4-FFF2-40B4-BE49-F238E27FC236}">
                <a16:creationId xmlns:a16="http://schemas.microsoft.com/office/drawing/2014/main" id="{DEFF7F33-655F-4FF9-78F1-0FE81329BC13}"/>
              </a:ext>
            </a:extLst>
          </p:cNvPr>
          <p:cNvPicPr>
            <a:picLocks noChangeAspect="1"/>
          </p:cNvPicPr>
          <p:nvPr>
            <p:custDataLst>
              <p:tags r:id="rId7"/>
            </p:custDataLst>
          </p:nvPr>
        </p:nvPicPr>
        <p:blipFill>
          <a:blip r:embed="rId18" cstate="print">
            <a:extLst>
              <a:ext uri="{28A0092B-C50C-407E-A947-70E740481C1C}">
                <a14:useLocalDpi xmlns:a14="http://schemas.microsoft.com/office/drawing/2010/main" val="0"/>
              </a:ext>
            </a:extLst>
          </a:blip>
          <a:stretch>
            <a:fillRect/>
          </a:stretch>
        </p:blipFill>
        <p:spPr>
          <a:xfrm>
            <a:off x="9766243" y="6935487"/>
            <a:ext cx="2794057" cy="321829"/>
          </a:xfrm>
          <a:prstGeom prst="rect">
            <a:avLst/>
          </a:prstGeom>
        </p:spPr>
      </p:pic>
      <p:pic>
        <p:nvPicPr>
          <p:cNvPr id="27" name="그림 26" descr="\documentclass{article}&#10;\usepackage{amsmath}&#10;\pagestyle{empty}&#10;\begin{document}&#10;&#10;$&#10;\tau&#10;$&#10;&#10;&#10;&#10;\end{document}" title="IguanaTex Bitmap Display">
            <a:extLst>
              <a:ext uri="{FF2B5EF4-FFF2-40B4-BE49-F238E27FC236}">
                <a16:creationId xmlns:a16="http://schemas.microsoft.com/office/drawing/2014/main" id="{9461823C-D757-F27C-A277-616643B1CF68}"/>
              </a:ext>
            </a:extLst>
          </p:cNvPr>
          <p:cNvPicPr>
            <a:picLocks noChangeAspect="1"/>
          </p:cNvPicPr>
          <p:nvPr>
            <p:custDataLst>
              <p:tags r:id="rId8"/>
            </p:custDataLst>
          </p:nvPr>
        </p:nvPicPr>
        <p:blipFill>
          <a:blip r:embed="rId15" cstate="print">
            <a:extLst>
              <a:ext uri="{28A0092B-C50C-407E-A947-70E740481C1C}">
                <a14:useLocalDpi xmlns:a14="http://schemas.microsoft.com/office/drawing/2010/main" val="0"/>
              </a:ext>
            </a:extLst>
          </a:blip>
          <a:stretch>
            <a:fillRect/>
          </a:stretch>
        </p:blipFill>
        <p:spPr>
          <a:xfrm>
            <a:off x="5073228" y="9223276"/>
            <a:ext cx="246857" cy="225524"/>
          </a:xfrm>
          <a:prstGeom prst="rect">
            <a:avLst/>
          </a:prstGeom>
        </p:spPr>
      </p:pic>
      <p:pic>
        <p:nvPicPr>
          <p:cNvPr id="30" name="그림 29" descr="\documentclass{article}&#10;\usepackage{amsmath}&#10;\pagestyle{empty}&#10;\begin{document}&#10;&#10;$&#10;M(q)\,\ddot q_{plant} + h(q,\dot q)=\tau&#10;$&#10;&#10;&#10;&#10;\end{document}" title="IguanaTex Bitmap Display">
            <a:extLst>
              <a:ext uri="{FF2B5EF4-FFF2-40B4-BE49-F238E27FC236}">
                <a16:creationId xmlns:a16="http://schemas.microsoft.com/office/drawing/2014/main" id="{CEE41942-613D-3F31-F544-0EE05CA98C1C}"/>
              </a:ext>
            </a:extLst>
          </p:cNvPr>
          <p:cNvPicPr>
            <a:picLocks noChangeAspect="1"/>
          </p:cNvPicPr>
          <p:nvPr>
            <p:custDataLst>
              <p:tags r:id="rId9"/>
            </p:custDataLst>
          </p:nvPr>
        </p:nvPicPr>
        <p:blipFill>
          <a:blip r:embed="rId19" cstate="print">
            <a:extLst>
              <a:ext uri="{28A0092B-C50C-407E-A947-70E740481C1C}">
                <a14:useLocalDpi xmlns:a14="http://schemas.microsoft.com/office/drawing/2010/main" val="0"/>
              </a:ext>
            </a:extLst>
          </a:blip>
          <a:stretch>
            <a:fillRect/>
          </a:stretch>
        </p:blipFill>
        <p:spPr>
          <a:xfrm>
            <a:off x="4381753" y="9891439"/>
            <a:ext cx="4330056" cy="421791"/>
          </a:xfrm>
          <a:prstGeom prst="rect">
            <a:avLst/>
          </a:prstGeom>
        </p:spPr>
      </p:pic>
      <p:pic>
        <p:nvPicPr>
          <p:cNvPr id="32" name="그림 31" descr="\documentclass{article}&#10;\usepackage{amsmath}&#10;\pagestyle{empty}&#10;\begin{document}&#10;&#10;$&#10;\ddot{q}_{\text{plant}} = M(q)^{-1}(\tau - h(q,\dot{q})&#10;$&#10;&#10;&#10;&#10;\end{document}" title="IguanaTex Bitmap Display">
            <a:extLst>
              <a:ext uri="{FF2B5EF4-FFF2-40B4-BE49-F238E27FC236}">
                <a16:creationId xmlns:a16="http://schemas.microsoft.com/office/drawing/2014/main" id="{DE636BD9-767F-4A1F-263C-CF8CDF733AD1}"/>
              </a:ext>
            </a:extLst>
          </p:cNvPr>
          <p:cNvPicPr>
            <a:picLocks noChangeAspect="1"/>
          </p:cNvPicPr>
          <p:nvPr>
            <p:custDataLst>
              <p:tags r:id="rId10"/>
            </p:custDataLst>
          </p:nvPr>
        </p:nvPicPr>
        <p:blipFill>
          <a:blip r:embed="rId20" cstate="print">
            <a:extLst>
              <a:ext uri="{28A0092B-C50C-407E-A947-70E740481C1C}">
                <a14:useLocalDpi xmlns:a14="http://schemas.microsoft.com/office/drawing/2010/main" val="0"/>
              </a:ext>
            </a:extLst>
          </a:blip>
          <a:stretch>
            <a:fillRect/>
          </a:stretch>
        </p:blipFill>
        <p:spPr>
          <a:xfrm>
            <a:off x="4495800" y="10788999"/>
            <a:ext cx="4788419" cy="451048"/>
          </a:xfrm>
          <a:prstGeom prst="rect">
            <a:avLst/>
          </a:prstGeom>
        </p:spPr>
      </p:pic>
    </p:spTree>
    <p:extLst>
      <p:ext uri="{BB962C8B-B14F-4D97-AF65-F5344CB8AC3E}">
        <p14:creationId xmlns:p14="http://schemas.microsoft.com/office/powerpoint/2010/main" val="80103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18D8C-796E-588F-6666-770E0B4BA47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DB762A70-B16E-718E-BCEF-BB64C9BC36EC}"/>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138A0CE-C967-0A01-172A-0D9ED5D1BE0A}"/>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3A8F7FC9-468B-3FEE-1C0B-39F851BA2C8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9B3F832-053C-6726-5606-C00C071D805C}"/>
              </a:ext>
            </a:extLst>
          </p:cNvPr>
          <p:cNvSpPr txBox="1"/>
          <p:nvPr/>
        </p:nvSpPr>
        <p:spPr>
          <a:xfrm>
            <a:off x="1600200" y="2253735"/>
            <a:ext cx="21564600" cy="6645152"/>
          </a:xfrm>
          <a:prstGeom prst="rect">
            <a:avLst/>
          </a:prstGeom>
          <a:noFill/>
        </p:spPr>
        <p:txBody>
          <a:bodyPr wrap="square">
            <a:spAutoFit/>
          </a:bodyPr>
          <a:lstStyle/>
          <a:p>
            <a:pPr lvl="1">
              <a:lnSpc>
                <a:spcPct val="150000"/>
              </a:lnSpc>
            </a:pPr>
            <a:r>
              <a:rPr lang="en-US" altLang="ko-KR" sz="3200" b="1" dirty="0">
                <a:latin typeface="+mn-ea"/>
              </a:rPr>
              <a:t>main </a:t>
            </a:r>
            <a:r>
              <a:rPr lang="ko-KR" altLang="en-US" sz="3200" b="1" dirty="0">
                <a:latin typeface="+mn-ea"/>
              </a:rPr>
              <a:t>함수  </a:t>
            </a:r>
            <a:r>
              <a:rPr lang="en-US" altLang="ko-KR" sz="3200" b="1" dirty="0">
                <a:latin typeface="+mn-ea"/>
              </a:rPr>
              <a:t>→  </a:t>
            </a:r>
            <a:r>
              <a:rPr lang="en-US" altLang="ko-KR" sz="3200" b="1" dirty="0" err="1">
                <a:latin typeface="+mn-ea"/>
              </a:rPr>
              <a:t>run_sim</a:t>
            </a:r>
            <a:r>
              <a:rPr lang="en-US" altLang="ko-KR" sz="3200" b="1" dirty="0">
                <a:latin typeface="+mn-ea"/>
              </a:rPr>
              <a:t>() </a:t>
            </a:r>
            <a:r>
              <a:rPr lang="ko-KR" altLang="en-US" sz="3200" b="1" dirty="0">
                <a:latin typeface="+mn-ea"/>
              </a:rPr>
              <a:t>실행</a:t>
            </a: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lvl="1">
              <a:lnSpc>
                <a:spcPct val="150000"/>
              </a:lnSpc>
            </a:pPr>
            <a:r>
              <a:rPr lang="en-US" altLang="ko-KR" sz="3200" b="1" dirty="0" err="1">
                <a:latin typeface="+mn-ea"/>
              </a:rPr>
              <a:t>run_sim</a:t>
            </a:r>
            <a:r>
              <a:rPr lang="en-US" altLang="ko-KR" sz="3200" b="1" dirty="0">
                <a:latin typeface="+mn-ea"/>
              </a:rPr>
              <a:t>() </a:t>
            </a:r>
            <a:r>
              <a:rPr lang="ko-KR" altLang="en-US" sz="3200" b="1" dirty="0">
                <a:latin typeface="+mn-ea"/>
              </a:rPr>
              <a:t>함수</a:t>
            </a:r>
            <a:endParaRPr lang="en-US" altLang="ko-KR" sz="3200" b="1" dirty="0">
              <a:latin typeface="+mn-ea"/>
            </a:endParaRPr>
          </a:p>
          <a:p>
            <a:pPr marL="1371600" lvl="2" indent="-457200">
              <a:lnSpc>
                <a:spcPct val="150000"/>
              </a:lnSpc>
              <a:buFont typeface="Arial" panose="020B0604020202020204" pitchFamily="34" charset="0"/>
              <a:buChar char="•"/>
            </a:pPr>
            <a:r>
              <a:rPr lang="ko-KR" altLang="en-US" sz="3200" dirty="0">
                <a:latin typeface="+mn-ea"/>
              </a:rPr>
              <a:t>로봇 정의 및 초기화 </a:t>
            </a:r>
            <a:r>
              <a:rPr lang="en-US" altLang="ko-KR" sz="3200" dirty="0">
                <a:latin typeface="+mn-ea"/>
              </a:rPr>
              <a:t>:</a:t>
            </a:r>
          </a:p>
          <a:p>
            <a:pPr lvl="1">
              <a:lnSpc>
                <a:spcPct val="150000"/>
              </a:lnSpc>
            </a:pPr>
            <a:endParaRPr lang="en-US" altLang="ko-KR" sz="3200" b="1" dirty="0">
              <a:latin typeface="+mn-ea"/>
            </a:endParaRPr>
          </a:p>
          <a:p>
            <a:pPr lvl="1">
              <a:lnSpc>
                <a:spcPct val="150000"/>
              </a:lnSpc>
            </a:pPr>
            <a:endParaRPr lang="en-US" altLang="ko-KR" sz="3200" b="1" dirty="0">
              <a:latin typeface="+mn-ea"/>
            </a:endParaRPr>
          </a:p>
        </p:txBody>
      </p:sp>
      <p:pic>
        <p:nvPicPr>
          <p:cNvPr id="6" name="그림 5">
            <a:extLst>
              <a:ext uri="{FF2B5EF4-FFF2-40B4-BE49-F238E27FC236}">
                <a16:creationId xmlns:a16="http://schemas.microsoft.com/office/drawing/2014/main" id="{ABCF8520-694D-AA90-DCA6-D36269254F95}"/>
              </a:ext>
            </a:extLst>
          </p:cNvPr>
          <p:cNvPicPr>
            <a:picLocks noChangeAspect="1"/>
          </p:cNvPicPr>
          <p:nvPr/>
        </p:nvPicPr>
        <p:blipFill>
          <a:blip r:embed="rId2"/>
          <a:stretch>
            <a:fillRect/>
          </a:stretch>
        </p:blipFill>
        <p:spPr>
          <a:xfrm>
            <a:off x="2819400" y="3276600"/>
            <a:ext cx="14891956" cy="2133600"/>
          </a:xfrm>
          <a:prstGeom prst="rect">
            <a:avLst/>
          </a:prstGeom>
          <a:ln>
            <a:solidFill>
              <a:srgbClr val="1E1B35"/>
            </a:solidFill>
          </a:ln>
        </p:spPr>
      </p:pic>
      <p:pic>
        <p:nvPicPr>
          <p:cNvPr id="11" name="그림 10">
            <a:extLst>
              <a:ext uri="{FF2B5EF4-FFF2-40B4-BE49-F238E27FC236}">
                <a16:creationId xmlns:a16="http://schemas.microsoft.com/office/drawing/2014/main" id="{ECB1E523-2F9A-7F93-C3BD-5AE7F157001C}"/>
              </a:ext>
            </a:extLst>
          </p:cNvPr>
          <p:cNvPicPr>
            <a:picLocks noChangeAspect="1"/>
          </p:cNvPicPr>
          <p:nvPr/>
        </p:nvPicPr>
        <p:blipFill>
          <a:blip r:embed="rId3"/>
          <a:stretch>
            <a:fillRect/>
          </a:stretch>
        </p:blipFill>
        <p:spPr>
          <a:xfrm>
            <a:off x="2819400" y="7717694"/>
            <a:ext cx="6570518" cy="3212253"/>
          </a:xfrm>
          <a:prstGeom prst="rect">
            <a:avLst/>
          </a:prstGeom>
          <a:ln>
            <a:solidFill>
              <a:srgbClr val="1E1B35"/>
            </a:solidFill>
          </a:ln>
        </p:spPr>
      </p:pic>
    </p:spTree>
    <p:extLst>
      <p:ext uri="{BB962C8B-B14F-4D97-AF65-F5344CB8AC3E}">
        <p14:creationId xmlns:p14="http://schemas.microsoft.com/office/powerpoint/2010/main" val="1837844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59FF-0E96-05DB-5D28-2F825A7A83C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4E95C89-8BDC-FFBE-AF81-0C935AF80F14}"/>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B5C56A95-F1A7-E978-6BFC-991870B2FD24}"/>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13A3328E-D4D2-7574-104D-BE662167EB46}"/>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ED3B1D50-F5F2-D8D4-1BE0-B664864895A0}"/>
              </a:ext>
            </a:extLst>
          </p:cNvPr>
          <p:cNvSpPr txBox="1"/>
          <p:nvPr/>
        </p:nvSpPr>
        <p:spPr>
          <a:xfrm>
            <a:off x="1600200" y="2253735"/>
            <a:ext cx="21564600" cy="9599807"/>
          </a:xfrm>
          <a:prstGeom prst="rect">
            <a:avLst/>
          </a:prstGeom>
          <a:noFill/>
        </p:spPr>
        <p:txBody>
          <a:bodyPr wrap="square">
            <a:spAutoFit/>
          </a:bodyPr>
          <a:lstStyle/>
          <a:p>
            <a:pPr lvl="1">
              <a:lnSpc>
                <a:spcPct val="150000"/>
              </a:lnSpc>
            </a:pPr>
            <a:r>
              <a:rPr lang="en-US" altLang="ko-KR" sz="3200" b="1" dirty="0">
                <a:latin typeface="+mn-ea"/>
              </a:rPr>
              <a:t>Class Planar2Link : </a:t>
            </a:r>
            <a:r>
              <a:rPr lang="en-US" altLang="ko-KR" sz="3200" dirty="0">
                <a:latin typeface="+mn-ea"/>
              </a:rPr>
              <a:t>2DOF </a:t>
            </a:r>
            <a:r>
              <a:rPr lang="ko-KR" altLang="en-US" sz="3200" dirty="0">
                <a:latin typeface="+mn-ea"/>
              </a:rPr>
              <a:t>링크 로봇 구현</a:t>
            </a:r>
            <a:endParaRPr lang="en-US" altLang="ko-KR" sz="3200"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marL="971550" lvl="1" indent="-514350">
              <a:lnSpc>
                <a:spcPct val="150000"/>
              </a:lnSpc>
              <a:buAutoNum type="arabicPeriod"/>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en-US" altLang="ko-KR" sz="3200" b="1" dirty="0" err="1">
                <a:latin typeface="+mn-ea"/>
              </a:rPr>
              <a:t>run_sim</a:t>
            </a:r>
            <a:r>
              <a:rPr lang="en-US" altLang="ko-KR" sz="3200" b="1" dirty="0">
                <a:latin typeface="+mn-ea"/>
              </a:rPr>
              <a:t>() </a:t>
            </a:r>
            <a:r>
              <a:rPr lang="ko-KR" altLang="en-US" sz="3200" b="1" dirty="0">
                <a:latin typeface="+mn-ea"/>
              </a:rPr>
              <a:t>안의 </a:t>
            </a:r>
            <a:r>
              <a:rPr lang="en-US" altLang="ko-KR" sz="3200" b="1" dirty="0">
                <a:latin typeface="+mn-ea"/>
              </a:rPr>
              <a:t>for </a:t>
            </a:r>
            <a:r>
              <a:rPr lang="ko-KR" altLang="en-US" sz="3200" b="1" dirty="0">
                <a:latin typeface="+mn-ea"/>
              </a:rPr>
              <a:t>루프</a:t>
            </a:r>
            <a:r>
              <a:rPr lang="en-US" altLang="ko-KR" sz="3200" b="1" dirty="0">
                <a:latin typeface="+mn-ea"/>
              </a:rPr>
              <a:t>(</a:t>
            </a:r>
            <a:r>
              <a:rPr lang="ko-KR" altLang="en-US" sz="3200" b="1" dirty="0">
                <a:latin typeface="+mn-ea"/>
              </a:rPr>
              <a:t>핵심 제어 흐름</a:t>
            </a:r>
            <a:r>
              <a:rPr lang="en-US" altLang="ko-KR" sz="3200" b="1" dirty="0">
                <a:latin typeface="+mn-ea"/>
              </a:rPr>
              <a:t>)</a:t>
            </a:r>
          </a:p>
          <a:p>
            <a:pPr lvl="1">
              <a:lnSpc>
                <a:spcPct val="150000"/>
              </a:lnSpc>
            </a:pPr>
            <a:endParaRPr lang="en-US" altLang="ko-KR" sz="3200" b="1" dirty="0">
              <a:latin typeface="+mn-ea"/>
            </a:endParaRPr>
          </a:p>
          <a:p>
            <a:pPr lvl="1">
              <a:lnSpc>
                <a:spcPct val="150000"/>
              </a:lnSpc>
            </a:pPr>
            <a:endParaRPr lang="en-US" altLang="ko-KR" sz="3200" b="1" dirty="0">
              <a:latin typeface="+mn-ea"/>
            </a:endParaRPr>
          </a:p>
        </p:txBody>
      </p:sp>
      <p:pic>
        <p:nvPicPr>
          <p:cNvPr id="9" name="그림 8">
            <a:extLst>
              <a:ext uri="{FF2B5EF4-FFF2-40B4-BE49-F238E27FC236}">
                <a16:creationId xmlns:a16="http://schemas.microsoft.com/office/drawing/2014/main" id="{0506E421-F056-13B0-EE89-D19D9EDA78D2}"/>
              </a:ext>
            </a:extLst>
          </p:cNvPr>
          <p:cNvPicPr>
            <a:picLocks noChangeAspect="1"/>
          </p:cNvPicPr>
          <p:nvPr/>
        </p:nvPicPr>
        <p:blipFill>
          <a:blip r:embed="rId2"/>
          <a:stretch>
            <a:fillRect/>
          </a:stretch>
        </p:blipFill>
        <p:spPr>
          <a:xfrm>
            <a:off x="3917950" y="3230110"/>
            <a:ext cx="6324600" cy="5299580"/>
          </a:xfrm>
          <a:prstGeom prst="rect">
            <a:avLst/>
          </a:prstGeom>
          <a:ln>
            <a:solidFill>
              <a:srgbClr val="1E1B35"/>
            </a:solidFill>
          </a:ln>
        </p:spPr>
      </p:pic>
      <p:pic>
        <p:nvPicPr>
          <p:cNvPr id="14" name="그림 13">
            <a:extLst>
              <a:ext uri="{FF2B5EF4-FFF2-40B4-BE49-F238E27FC236}">
                <a16:creationId xmlns:a16="http://schemas.microsoft.com/office/drawing/2014/main" id="{B76EB1D6-0860-263B-9A26-643AC517BE47}"/>
              </a:ext>
            </a:extLst>
          </p:cNvPr>
          <p:cNvPicPr>
            <a:picLocks noChangeAspect="1"/>
          </p:cNvPicPr>
          <p:nvPr/>
        </p:nvPicPr>
        <p:blipFill>
          <a:blip r:embed="rId3"/>
          <a:stretch>
            <a:fillRect/>
          </a:stretch>
        </p:blipFill>
        <p:spPr>
          <a:xfrm>
            <a:off x="3908011" y="10933664"/>
            <a:ext cx="6172200" cy="528601"/>
          </a:xfrm>
          <a:prstGeom prst="rect">
            <a:avLst/>
          </a:prstGeom>
          <a:ln>
            <a:solidFill>
              <a:srgbClr val="1E1B35"/>
            </a:solidFill>
          </a:ln>
        </p:spPr>
      </p:pic>
    </p:spTree>
    <p:extLst>
      <p:ext uri="{BB962C8B-B14F-4D97-AF65-F5344CB8AC3E}">
        <p14:creationId xmlns:p14="http://schemas.microsoft.com/office/powerpoint/2010/main" val="12476841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1B29-8A54-DE9B-741A-3F6E8B9EDC83}"/>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0189031-3D14-112A-527C-7FDC74613333}"/>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0BD3B826-A264-EDF5-43F0-F79792C2E50B}"/>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7ACD12C0-349E-E62D-2463-8312DF7B88E3}"/>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6FB0576-D388-D6CE-E330-11613E813B8A}"/>
              </a:ext>
            </a:extLst>
          </p:cNvPr>
          <p:cNvSpPr txBox="1"/>
          <p:nvPr/>
        </p:nvSpPr>
        <p:spPr>
          <a:xfrm>
            <a:off x="1600200" y="2253735"/>
            <a:ext cx="21564600" cy="9599807"/>
          </a:xfrm>
          <a:prstGeom prst="rect">
            <a:avLst/>
          </a:prstGeom>
          <a:noFill/>
        </p:spPr>
        <p:txBody>
          <a:bodyPr wrap="square">
            <a:spAutoFit/>
          </a:bodyPr>
          <a:lstStyle/>
          <a:p>
            <a:pPr lvl="1">
              <a:lnSpc>
                <a:spcPct val="150000"/>
              </a:lnSpc>
            </a:pPr>
            <a:r>
              <a:rPr lang="en-US" altLang="ko-KR" sz="3200" b="1" dirty="0">
                <a:latin typeface="+mn-ea"/>
              </a:rPr>
              <a:t>Reference </a:t>
            </a:r>
            <a:r>
              <a:rPr lang="ko-KR" altLang="en-US" sz="3200" b="1" dirty="0">
                <a:latin typeface="+mn-ea"/>
              </a:rPr>
              <a:t>궤적 생성</a:t>
            </a: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en-US" altLang="ko-KR" sz="3200" b="1" dirty="0">
                <a:latin typeface="+mn-ea"/>
              </a:rPr>
              <a:t>- Sin </a:t>
            </a:r>
            <a:r>
              <a:rPr lang="ko-KR" altLang="en-US" sz="3200" b="1" dirty="0">
                <a:latin typeface="+mn-ea"/>
              </a:rPr>
              <a:t>함수 형태로 시간에 따라 각도가 변하도록 설계</a:t>
            </a:r>
            <a:endParaRPr lang="en-US" altLang="ko-KR" sz="3200" b="1" dirty="0">
              <a:latin typeface="+mn-ea"/>
            </a:endParaRPr>
          </a:p>
          <a:p>
            <a:pPr lvl="1">
              <a:lnSpc>
                <a:spcPct val="150000"/>
              </a:lnSpc>
            </a:pPr>
            <a:endParaRPr lang="en-US" altLang="ko-KR" sz="3200" b="1" dirty="0">
              <a:latin typeface="+mn-ea"/>
            </a:endParaRPr>
          </a:p>
        </p:txBody>
      </p:sp>
      <p:pic>
        <p:nvPicPr>
          <p:cNvPr id="6" name="그림 5" descr="\documentclass{article}&#10;\usepackage{amsmath}&#10;\pagestyle{empty}&#10;\begin{document}&#10;&#10;$&#10;(q_{\text{ref}}(t),\ \dot q_{\text{ref}}(t),\ \ddot q_{\text{ref}}(t))&#10;= \texttt{posture\_reference}(t)&#10;$&#10;&#10;&#10;&#10;\end{document}" title="IguanaTex Bitmap Display">
            <a:extLst>
              <a:ext uri="{FF2B5EF4-FFF2-40B4-BE49-F238E27FC236}">
                <a16:creationId xmlns:a16="http://schemas.microsoft.com/office/drawing/2014/main" id="{CDE0148E-0D75-04E2-2A38-0ABDDCA09993}"/>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6781800" y="2367180"/>
            <a:ext cx="10645333" cy="508952"/>
          </a:xfrm>
          <a:prstGeom prst="rect">
            <a:avLst/>
          </a:prstGeom>
        </p:spPr>
      </p:pic>
      <p:pic>
        <p:nvPicPr>
          <p:cNvPr id="8" name="그림 7">
            <a:extLst>
              <a:ext uri="{FF2B5EF4-FFF2-40B4-BE49-F238E27FC236}">
                <a16:creationId xmlns:a16="http://schemas.microsoft.com/office/drawing/2014/main" id="{17C854B1-8053-5444-82A5-45EC03C90E1D}"/>
              </a:ext>
            </a:extLst>
          </p:cNvPr>
          <p:cNvPicPr>
            <a:picLocks noChangeAspect="1"/>
          </p:cNvPicPr>
          <p:nvPr/>
        </p:nvPicPr>
        <p:blipFill>
          <a:blip r:embed="rId4"/>
          <a:stretch>
            <a:fillRect/>
          </a:stretch>
        </p:blipFill>
        <p:spPr>
          <a:xfrm>
            <a:off x="3581400" y="3444328"/>
            <a:ext cx="11364661" cy="735842"/>
          </a:xfrm>
          <a:prstGeom prst="rect">
            <a:avLst/>
          </a:prstGeom>
          <a:ln>
            <a:solidFill>
              <a:srgbClr val="1E1B35"/>
            </a:solidFill>
          </a:ln>
        </p:spPr>
      </p:pic>
      <p:pic>
        <p:nvPicPr>
          <p:cNvPr id="18" name="그림 17">
            <a:extLst>
              <a:ext uri="{FF2B5EF4-FFF2-40B4-BE49-F238E27FC236}">
                <a16:creationId xmlns:a16="http://schemas.microsoft.com/office/drawing/2014/main" id="{BA0E8E8A-D091-94BB-5D97-74F62D26D3C4}"/>
              </a:ext>
            </a:extLst>
          </p:cNvPr>
          <p:cNvPicPr>
            <a:picLocks noChangeAspect="1"/>
          </p:cNvPicPr>
          <p:nvPr/>
        </p:nvPicPr>
        <p:blipFill>
          <a:blip r:embed="rId5"/>
          <a:stretch>
            <a:fillRect/>
          </a:stretch>
        </p:blipFill>
        <p:spPr>
          <a:xfrm>
            <a:off x="3581400" y="4572000"/>
            <a:ext cx="11355896" cy="5081433"/>
          </a:xfrm>
          <a:prstGeom prst="rect">
            <a:avLst/>
          </a:prstGeom>
          <a:ln>
            <a:solidFill>
              <a:srgbClr val="1E1B35"/>
            </a:solidFill>
          </a:ln>
        </p:spPr>
      </p:pic>
      <p:pic>
        <p:nvPicPr>
          <p:cNvPr id="7" name="그림 6">
            <a:extLst>
              <a:ext uri="{FF2B5EF4-FFF2-40B4-BE49-F238E27FC236}">
                <a16:creationId xmlns:a16="http://schemas.microsoft.com/office/drawing/2014/main" id="{4F77F2B3-745E-7EE4-AB35-4C886AB93D5F}"/>
              </a:ext>
            </a:extLst>
          </p:cNvPr>
          <p:cNvPicPr>
            <a:picLocks noChangeAspect="1"/>
          </p:cNvPicPr>
          <p:nvPr/>
        </p:nvPicPr>
        <p:blipFill>
          <a:blip r:embed="rId6"/>
          <a:stretch>
            <a:fillRect/>
          </a:stretch>
        </p:blipFill>
        <p:spPr>
          <a:xfrm>
            <a:off x="16516577" y="3444328"/>
            <a:ext cx="6235139" cy="6209105"/>
          </a:xfrm>
          <a:prstGeom prst="rect">
            <a:avLst/>
          </a:prstGeom>
          <a:ln>
            <a:solidFill>
              <a:schemeClr val="tx1"/>
            </a:solidFill>
          </a:ln>
        </p:spPr>
      </p:pic>
    </p:spTree>
    <p:extLst>
      <p:ext uri="{BB962C8B-B14F-4D97-AF65-F5344CB8AC3E}">
        <p14:creationId xmlns:p14="http://schemas.microsoft.com/office/powerpoint/2010/main" val="14317523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60BDE-5D83-6885-9A0C-C28A888ECE2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60DB39C-BDE8-620A-FFB2-0B8A66B6F8E1}"/>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715DEDB-6B07-FFB7-6BD8-67962DB16AB8}"/>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8DC0B11-BC53-3A05-D5B3-AF1EEEE24369}"/>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763B4564-D74A-26E4-5722-D8E58F5AA6FD}"/>
              </a:ext>
            </a:extLst>
          </p:cNvPr>
          <p:cNvSpPr txBox="1"/>
          <p:nvPr/>
        </p:nvSpPr>
        <p:spPr>
          <a:xfrm>
            <a:off x="1600200" y="2253735"/>
            <a:ext cx="21564600" cy="735842"/>
          </a:xfrm>
          <a:prstGeom prst="rect">
            <a:avLst/>
          </a:prstGeom>
          <a:noFill/>
        </p:spPr>
        <p:txBody>
          <a:bodyPr wrap="square">
            <a:spAutoFit/>
          </a:bodyPr>
          <a:lstStyle/>
          <a:p>
            <a:pPr lvl="1">
              <a:lnSpc>
                <a:spcPct val="150000"/>
              </a:lnSpc>
            </a:pPr>
            <a:r>
              <a:rPr lang="en-US" altLang="ko-KR" sz="3200" b="1" dirty="0">
                <a:latin typeface="+mn-ea"/>
              </a:rPr>
              <a:t>TSID </a:t>
            </a:r>
            <a:r>
              <a:rPr lang="ko-KR" altLang="en-US" sz="3200" b="1" dirty="0">
                <a:latin typeface="+mn-ea"/>
              </a:rPr>
              <a:t>형식의 오차 및 가속도 정의</a:t>
            </a:r>
            <a:endParaRPr lang="en-US" altLang="ko-KR" sz="3200" b="1" dirty="0">
              <a:latin typeface="+mn-ea"/>
            </a:endParaRPr>
          </a:p>
        </p:txBody>
      </p:sp>
      <p:pic>
        <p:nvPicPr>
          <p:cNvPr id="11" name="그림 10" descr="\documentclass{article}&#10;\usepackage{amsmath}&#10;\pagestyle{empty}&#10;\begin{document}&#10;&#10;$&#10;e(t)   = q_{\text{ref}}(t) - q(t),&#10;\qquad&#10;\dot e(t) = \dot q_{\text{ref}}(t) - \dot q(t)&#10;$&#10;&#10;&#10;&#10;\end{document}" title="IguanaTex Bitmap Display">
            <a:extLst>
              <a:ext uri="{FF2B5EF4-FFF2-40B4-BE49-F238E27FC236}">
                <a16:creationId xmlns:a16="http://schemas.microsoft.com/office/drawing/2014/main" id="{B0C78B04-5A14-F6CB-2C6C-8F42054E99D8}"/>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752692" y="7543800"/>
            <a:ext cx="9596952" cy="508952"/>
          </a:xfrm>
          <a:prstGeom prst="rect">
            <a:avLst/>
          </a:prstGeom>
        </p:spPr>
      </p:pic>
      <p:pic>
        <p:nvPicPr>
          <p:cNvPr id="13" name="그림 12" descr="\documentclass{article}&#10;\usepackage{amsmath}&#10;\pagestyle{empty}&#10;\begin{document}&#10;&#10;$&#10;\ddot q_{\text{des}}(t)&#10;= K_p\, e(t) + K_d\, \dot e(t) + \ddot q_{\text{ref}}(t)&#10;$&#10;&#10;&#10;&#10;\end{document}" title="IguanaTex Bitmap Display">
            <a:extLst>
              <a:ext uri="{FF2B5EF4-FFF2-40B4-BE49-F238E27FC236}">
                <a16:creationId xmlns:a16="http://schemas.microsoft.com/office/drawing/2014/main" id="{9D323F79-9881-8691-6AB0-9A9F81685514}"/>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3752692" y="8573727"/>
            <a:ext cx="7646476" cy="527238"/>
          </a:xfrm>
          <a:prstGeom prst="rect">
            <a:avLst/>
          </a:prstGeom>
        </p:spPr>
      </p:pic>
      <p:pic>
        <p:nvPicPr>
          <p:cNvPr id="16" name="그림 15">
            <a:extLst>
              <a:ext uri="{FF2B5EF4-FFF2-40B4-BE49-F238E27FC236}">
                <a16:creationId xmlns:a16="http://schemas.microsoft.com/office/drawing/2014/main" id="{220AF1BC-0211-3C79-2D1F-1EEA40E4D8B7}"/>
              </a:ext>
            </a:extLst>
          </p:cNvPr>
          <p:cNvPicPr>
            <a:picLocks noChangeAspect="1"/>
          </p:cNvPicPr>
          <p:nvPr/>
        </p:nvPicPr>
        <p:blipFill>
          <a:blip r:embed="rId6"/>
          <a:stretch>
            <a:fillRect/>
          </a:stretch>
        </p:blipFill>
        <p:spPr>
          <a:xfrm>
            <a:off x="3748683" y="3414511"/>
            <a:ext cx="11872318" cy="902483"/>
          </a:xfrm>
          <a:prstGeom prst="rect">
            <a:avLst/>
          </a:prstGeom>
          <a:ln>
            <a:solidFill>
              <a:srgbClr val="1E1B35"/>
            </a:solidFill>
          </a:ln>
        </p:spPr>
      </p:pic>
      <p:pic>
        <p:nvPicPr>
          <p:cNvPr id="6" name="그림 5">
            <a:extLst>
              <a:ext uri="{FF2B5EF4-FFF2-40B4-BE49-F238E27FC236}">
                <a16:creationId xmlns:a16="http://schemas.microsoft.com/office/drawing/2014/main" id="{B5A365AB-6DBB-4A40-25DE-C7170F08BCDA}"/>
              </a:ext>
            </a:extLst>
          </p:cNvPr>
          <p:cNvPicPr>
            <a:picLocks noChangeAspect="1"/>
          </p:cNvPicPr>
          <p:nvPr/>
        </p:nvPicPr>
        <p:blipFill>
          <a:blip r:embed="rId7"/>
          <a:stretch>
            <a:fillRect/>
          </a:stretch>
        </p:blipFill>
        <p:spPr>
          <a:xfrm>
            <a:off x="3748681" y="4689948"/>
            <a:ext cx="11872318" cy="2067532"/>
          </a:xfrm>
          <a:prstGeom prst="rect">
            <a:avLst/>
          </a:prstGeom>
          <a:ln>
            <a:solidFill>
              <a:schemeClr val="tx1"/>
            </a:solidFill>
          </a:ln>
        </p:spPr>
      </p:pic>
      <p:pic>
        <p:nvPicPr>
          <p:cNvPr id="7" name="그림 6">
            <a:extLst>
              <a:ext uri="{FF2B5EF4-FFF2-40B4-BE49-F238E27FC236}">
                <a16:creationId xmlns:a16="http://schemas.microsoft.com/office/drawing/2014/main" id="{CBD867C4-31A0-66E6-08D4-D6E76D7A26A1}"/>
              </a:ext>
            </a:extLst>
          </p:cNvPr>
          <p:cNvPicPr>
            <a:picLocks noChangeAspect="1"/>
          </p:cNvPicPr>
          <p:nvPr/>
        </p:nvPicPr>
        <p:blipFill>
          <a:blip r:embed="rId8"/>
          <a:stretch>
            <a:fillRect/>
          </a:stretch>
        </p:blipFill>
        <p:spPr>
          <a:xfrm>
            <a:off x="16516577" y="3444328"/>
            <a:ext cx="6235139" cy="6209105"/>
          </a:xfrm>
          <a:prstGeom prst="rect">
            <a:avLst/>
          </a:prstGeom>
          <a:ln>
            <a:solidFill>
              <a:schemeClr val="tx1"/>
            </a:solidFill>
          </a:ln>
        </p:spPr>
      </p:pic>
    </p:spTree>
    <p:extLst>
      <p:ext uri="{BB962C8B-B14F-4D97-AF65-F5344CB8AC3E}">
        <p14:creationId xmlns:p14="http://schemas.microsoft.com/office/powerpoint/2010/main" val="4185220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C0B80-A9E2-090B-54B6-C0E33E44E5B1}"/>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F91ABDB9-8F76-7EA4-FACC-C4D704BAB3A1}"/>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480813E4-26B5-FACA-CF89-6872B1233F9D}"/>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4F12E0C3-9313-2792-DB60-78253D86BC8F}"/>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06A647D6-9EC6-D2FF-3FD8-3A9854C0EC48}"/>
              </a:ext>
            </a:extLst>
          </p:cNvPr>
          <p:cNvSpPr txBox="1"/>
          <p:nvPr/>
        </p:nvSpPr>
        <p:spPr>
          <a:xfrm>
            <a:off x="1600200" y="2253735"/>
            <a:ext cx="21564600" cy="6645152"/>
          </a:xfrm>
          <a:prstGeom prst="rect">
            <a:avLst/>
          </a:prstGeom>
          <a:noFill/>
        </p:spPr>
        <p:txBody>
          <a:bodyPr wrap="square">
            <a:spAutoFit/>
          </a:bodyPr>
          <a:lstStyle/>
          <a:p>
            <a:pPr lvl="1">
              <a:lnSpc>
                <a:spcPct val="150000"/>
              </a:lnSpc>
            </a:pPr>
            <a:r>
              <a:rPr lang="en-US" altLang="ko-KR" sz="3200" b="1" dirty="0">
                <a:latin typeface="+mn-ea"/>
              </a:rPr>
              <a:t>QP</a:t>
            </a:r>
            <a:r>
              <a:rPr lang="ko-KR" altLang="en-US" sz="3200" b="1" dirty="0">
                <a:latin typeface="+mn-ea"/>
              </a:rPr>
              <a:t>형태에 맞는 꼴 맞추기</a:t>
            </a: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p:txBody>
      </p:sp>
      <p:pic>
        <p:nvPicPr>
          <p:cNvPr id="8" name="그림 7">
            <a:extLst>
              <a:ext uri="{FF2B5EF4-FFF2-40B4-BE49-F238E27FC236}">
                <a16:creationId xmlns:a16="http://schemas.microsoft.com/office/drawing/2014/main" id="{AD83D0CD-897A-4112-6170-77FE79CEAE12}"/>
              </a:ext>
            </a:extLst>
          </p:cNvPr>
          <p:cNvPicPr>
            <a:picLocks noChangeAspect="1"/>
          </p:cNvPicPr>
          <p:nvPr/>
        </p:nvPicPr>
        <p:blipFill>
          <a:blip r:embed="rId4"/>
          <a:stretch>
            <a:fillRect/>
          </a:stretch>
        </p:blipFill>
        <p:spPr>
          <a:xfrm>
            <a:off x="2895599" y="3290638"/>
            <a:ext cx="10443219" cy="1433762"/>
          </a:xfrm>
          <a:prstGeom prst="rect">
            <a:avLst/>
          </a:prstGeom>
          <a:ln>
            <a:solidFill>
              <a:schemeClr val="tx1"/>
            </a:solidFill>
          </a:ln>
        </p:spPr>
      </p:pic>
      <p:pic>
        <p:nvPicPr>
          <p:cNvPr id="10" name="그림 9">
            <a:extLst>
              <a:ext uri="{FF2B5EF4-FFF2-40B4-BE49-F238E27FC236}">
                <a16:creationId xmlns:a16="http://schemas.microsoft.com/office/drawing/2014/main" id="{42328E15-ED20-6C73-F97D-2F33A33795AE}"/>
              </a:ext>
            </a:extLst>
          </p:cNvPr>
          <p:cNvPicPr>
            <a:picLocks noChangeAspect="1"/>
          </p:cNvPicPr>
          <p:nvPr/>
        </p:nvPicPr>
        <p:blipFill>
          <a:blip r:embed="rId5"/>
          <a:stretch>
            <a:fillRect/>
          </a:stretch>
        </p:blipFill>
        <p:spPr>
          <a:xfrm>
            <a:off x="2895599" y="5025462"/>
            <a:ext cx="10443219" cy="3110746"/>
          </a:xfrm>
          <a:prstGeom prst="rect">
            <a:avLst/>
          </a:prstGeom>
          <a:ln>
            <a:solidFill>
              <a:schemeClr val="tx1"/>
            </a:solidFill>
          </a:ln>
        </p:spPr>
      </p:pic>
      <p:pic>
        <p:nvPicPr>
          <p:cNvPr id="14" name="그림 13" descr="\documentclass{article}&#10;\usepackage{amsmath}&#10;\pagestyle{empty}&#10;\begin{document}&#10;&#10;&#10;$&#10;\begin{aligned}&#10;  &amp;\min_{\ddot{q},\,\tau} &amp;&amp; \frac{1}{2}\, w_{\ddot{q}} \left\lVert \ddot{q} - \ddot{q}_{\mathrm{des}} \right\rVert^{2} \\&#10;  &amp;\text{s.t.} &amp;&amp; M(q)\,\ddot{q} + h(q,\dot{q}) - \tau = 0, \\&#10;  &amp;&amp;&amp; \tau_{\min} \le \tau \le \tau_{\max}.&#10;\end{aligned}&#10;$&#10;&#10;\end{document}" title="IguanaTex Bitmap Display">
            <a:extLst>
              <a:ext uri="{FF2B5EF4-FFF2-40B4-BE49-F238E27FC236}">
                <a16:creationId xmlns:a16="http://schemas.microsoft.com/office/drawing/2014/main" id="{D4C85F93-3E9D-BF5F-BD33-558A117A6F6F}"/>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3470650" y="10392800"/>
            <a:ext cx="7219200" cy="2713600"/>
          </a:xfrm>
          <a:prstGeom prst="rect">
            <a:avLst/>
          </a:prstGeom>
        </p:spPr>
      </p:pic>
      <p:sp>
        <p:nvSpPr>
          <p:cNvPr id="17" name="TextBox 16">
            <a:extLst>
              <a:ext uri="{FF2B5EF4-FFF2-40B4-BE49-F238E27FC236}">
                <a16:creationId xmlns:a16="http://schemas.microsoft.com/office/drawing/2014/main" id="{E43BA646-09C8-9136-3F53-508D833B65CF}"/>
              </a:ext>
            </a:extLst>
          </p:cNvPr>
          <p:cNvSpPr txBox="1"/>
          <p:nvPr/>
        </p:nvSpPr>
        <p:spPr>
          <a:xfrm>
            <a:off x="3733800" y="8940508"/>
            <a:ext cx="5793205" cy="655372"/>
          </a:xfrm>
          <a:prstGeom prst="rect">
            <a:avLst/>
          </a:prstGeom>
          <a:noFill/>
        </p:spPr>
        <p:txBody>
          <a:bodyPr wrap="square">
            <a:spAutoFit/>
          </a:bodyPr>
          <a:lstStyle/>
          <a:p>
            <a:pPr lvl="1">
              <a:lnSpc>
                <a:spcPct val="150000"/>
              </a:lnSpc>
            </a:pPr>
            <a:r>
              <a:rPr lang="ko-KR" altLang="en-US" sz="2800" b="1" dirty="0">
                <a:latin typeface="+mn-ea"/>
              </a:rPr>
              <a:t>우리가 풀고자 하는 문제 형태</a:t>
            </a:r>
            <a:endParaRPr lang="en-US" altLang="ko-KR" sz="2800" b="1" dirty="0">
              <a:latin typeface="+mn-ea"/>
            </a:endParaRPr>
          </a:p>
        </p:txBody>
      </p:sp>
      <p:sp>
        <p:nvSpPr>
          <p:cNvPr id="18" name="TextBox 17">
            <a:extLst>
              <a:ext uri="{FF2B5EF4-FFF2-40B4-BE49-F238E27FC236}">
                <a16:creationId xmlns:a16="http://schemas.microsoft.com/office/drawing/2014/main" id="{DB0368FD-7B2E-4F78-5F3B-FA2C27F69B73}"/>
              </a:ext>
            </a:extLst>
          </p:cNvPr>
          <p:cNvSpPr txBox="1"/>
          <p:nvPr/>
        </p:nvSpPr>
        <p:spPr>
          <a:xfrm>
            <a:off x="15544800" y="8898887"/>
            <a:ext cx="5793205" cy="655372"/>
          </a:xfrm>
          <a:prstGeom prst="rect">
            <a:avLst/>
          </a:prstGeom>
          <a:noFill/>
        </p:spPr>
        <p:txBody>
          <a:bodyPr wrap="square">
            <a:spAutoFit/>
          </a:bodyPr>
          <a:lstStyle/>
          <a:p>
            <a:pPr lvl="1">
              <a:lnSpc>
                <a:spcPct val="150000"/>
              </a:lnSpc>
            </a:pPr>
            <a:r>
              <a:rPr lang="en-US" altLang="ko-KR" sz="2800" b="1" dirty="0">
                <a:latin typeface="+mn-ea"/>
              </a:rPr>
              <a:t>QP</a:t>
            </a:r>
            <a:r>
              <a:rPr lang="ko-KR" altLang="en-US" sz="2800" b="1" dirty="0">
                <a:latin typeface="+mn-ea"/>
              </a:rPr>
              <a:t>가 요구하는 형식</a:t>
            </a:r>
            <a:endParaRPr lang="en-US" altLang="ko-KR" sz="2800" b="1" dirty="0">
              <a:latin typeface="+mn-ea"/>
            </a:endParaRPr>
          </a:p>
        </p:txBody>
      </p:sp>
      <p:sp>
        <p:nvSpPr>
          <p:cNvPr id="19" name="화살표: 오른쪽 18">
            <a:extLst>
              <a:ext uri="{FF2B5EF4-FFF2-40B4-BE49-F238E27FC236}">
                <a16:creationId xmlns:a16="http://schemas.microsoft.com/office/drawing/2014/main" id="{8A1AAB37-8CAB-64CA-E5C0-BF02F914FD72}"/>
              </a:ext>
            </a:extLst>
          </p:cNvPr>
          <p:cNvSpPr/>
          <p:nvPr/>
        </p:nvSpPr>
        <p:spPr>
          <a:xfrm>
            <a:off x="10930579" y="9171151"/>
            <a:ext cx="3259442" cy="284228"/>
          </a:xfrm>
          <a:prstGeom prst="rightArrow">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1" name="그림 20" descr="\documentclass{article}&#10;\usepackage{amsmath}&#10;\pagestyle{empty}&#10;\begin{document}&#10;&#10;&#10;$&#10;\begin{aligned}&#10;  &amp;\min_{x} &amp;&amp; \frac{1}{2}\, x^{\top} H x + g^{\top} x \\&#10;  &amp;\text{s.t.} &amp;&amp; A_{\mathrm{eq}} x = b_{\mathrm{eq}}, \\&#10;  &amp;&amp;&amp; A_{\mathrm{in}} x \le b_{\mathrm{in}}.&#10;\end{aligned}&#10;$&#10;&#10;\end{document}" title="IguanaTex Bitmap Display">
            <a:extLst>
              <a:ext uri="{FF2B5EF4-FFF2-40B4-BE49-F238E27FC236}">
                <a16:creationId xmlns:a16="http://schemas.microsoft.com/office/drawing/2014/main" id="{EC9C0C86-1643-B7DE-B18C-8ECB95AB57BE}"/>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15316200" y="10153465"/>
            <a:ext cx="4982400" cy="2617600"/>
          </a:xfrm>
          <a:prstGeom prst="rect">
            <a:avLst/>
          </a:prstGeom>
        </p:spPr>
      </p:pic>
    </p:spTree>
    <p:extLst>
      <p:ext uri="{BB962C8B-B14F-4D97-AF65-F5344CB8AC3E}">
        <p14:creationId xmlns:p14="http://schemas.microsoft.com/office/powerpoint/2010/main" val="951114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7B26-DDDF-688C-7C43-9AD66A7AA51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84374B28-D894-BFDA-A3D9-80B355867423}"/>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9BB08D78-AD6D-2218-6AAF-A175443DAE8C}"/>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C5C56B83-4FEC-D6C9-9C1E-0B1746BEE68F}"/>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121DFC4-5348-C68C-AF90-A4EC1927833A}"/>
              </a:ext>
            </a:extLst>
          </p:cNvPr>
          <p:cNvSpPr txBox="1"/>
          <p:nvPr/>
        </p:nvSpPr>
        <p:spPr>
          <a:xfrm>
            <a:off x="1600200" y="2253735"/>
            <a:ext cx="21564600" cy="735842"/>
          </a:xfrm>
          <a:prstGeom prst="rect">
            <a:avLst/>
          </a:prstGeom>
          <a:noFill/>
        </p:spPr>
        <p:txBody>
          <a:bodyPr wrap="square">
            <a:spAutoFit/>
          </a:bodyPr>
          <a:lstStyle/>
          <a:p>
            <a:pPr lvl="1">
              <a:lnSpc>
                <a:spcPct val="150000"/>
              </a:lnSpc>
            </a:pPr>
            <a:r>
              <a:rPr lang="ko-KR" altLang="en-US" sz="3200" b="1" dirty="0">
                <a:latin typeface="+mn-ea"/>
              </a:rPr>
              <a:t>형식을 맞추기 위해 단순히 전개한 후 개선을 위해 행렬 형태로 정리</a:t>
            </a:r>
            <a:endParaRPr lang="en-US" altLang="ko-KR" sz="3200" b="1" dirty="0">
              <a:latin typeface="+mn-ea"/>
            </a:endParaRPr>
          </a:p>
        </p:txBody>
      </p:sp>
      <p:pic>
        <p:nvPicPr>
          <p:cNvPr id="6" name="그림 5" descr="\documentclass{article}&#10;\usepackage{amsmath}&#10;\pagestyle{empty}&#10;\begin{document}&#10;&#10;&#10;$&#10;x =&#10;\begin{bmatrix}&#10;  \ddot{q} \\&#10;  \tau&#10;\end{bmatrix}&#10;=&#10;\begin{bmatrix}&#10;  \ddot{q}_{1} \\&#10;  \ddot{q}_{2} \\&#10;  \tau_{1} \\&#10;  \tau_{2}&#10;\end{bmatrix}&#10;$&#10;&#10;\end{document}" title="IguanaTex Bitmap Display">
            <a:extLst>
              <a:ext uri="{FF2B5EF4-FFF2-40B4-BE49-F238E27FC236}">
                <a16:creationId xmlns:a16="http://schemas.microsoft.com/office/drawing/2014/main" id="{D7143F35-1DB7-2A35-F2C5-A9CDD89B01E1}"/>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971800" y="3442585"/>
            <a:ext cx="3124200" cy="2229174"/>
          </a:xfrm>
          <a:prstGeom prst="rect">
            <a:avLst/>
          </a:prstGeom>
        </p:spPr>
      </p:pic>
      <p:pic>
        <p:nvPicPr>
          <p:cNvPr id="12" name="그림 11" descr="\documentclass{article}&#10;\usepackage{amsmath}&#10;\pagestyle{empty}&#10;\begin{document}&#10;&#10;&#10;$&#10;\frac{1}{2}\, w_{\ddot{q}}\,&#10;(\ddot{q} - \ddot{q}_{\mathrm{des}})^{\top}&#10;(\ddot{q} - \ddot{q}_{\mathrm{des}})&#10;=&#10;\frac{1}{2}\, w_{\ddot{q}}\,&#10;\bigl(&#10;\ddot{q}^{\top}\ddot{q}&#10;- 2\,\ddot{q}_{\mathrm{des}}^{\top}\ddot{q}&#10;+ \ddot{q}_{\mathrm{des}}^{\top}\ddot{q}_{\mathrm{des}}&#10;\bigr)&#10;$&#10;&#10;\end{document}" title="IguanaTex Bitmap Display">
            <a:extLst>
              <a:ext uri="{FF2B5EF4-FFF2-40B4-BE49-F238E27FC236}">
                <a16:creationId xmlns:a16="http://schemas.microsoft.com/office/drawing/2014/main" id="{8DC84553-5010-D858-CAA6-CB337BCDC49B}"/>
              </a:ext>
            </a:extLst>
          </p:cNvPr>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8246758" y="4386641"/>
            <a:ext cx="13366400" cy="640000"/>
          </a:xfrm>
          <a:prstGeom prst="rect">
            <a:avLst/>
          </a:prstGeom>
        </p:spPr>
      </p:pic>
      <p:pic>
        <p:nvPicPr>
          <p:cNvPr id="23" name="그림 22" descr="\documentclass{article}&#10;\usepackage{amsmath}&#10;\pagestyle{empty}&#10;\begin{document}&#10;&#10;&#10;$&#10;H =&#10;\begin{bmatrix}&#10;w_{\ddot{q}} &amp; 0 &amp; 0 &amp; 0 \\&#10;0 &amp; w_{\ddot{q}} &amp; 0 &amp; 0 \\&#10;0 &amp; 0 &amp; 0 &amp; 0 \\&#10;0 &amp; 0 &amp; 0 &amp; 0&#10;\end{bmatrix}&#10;=&#10;\begin{bmatrix}&#10;w_{\ddot{q}} I_{2} &amp; 0_{2\times 2} \\&#10;0_{2\times 2} &amp; 0_{2\times 2}&#10;\end{bmatrix},&#10;\qquad&#10;g =&#10;\begin{bmatrix}&#10;- w_{\ddot{q}}\,\ddot{q}_{\mathrm{des}} \\&#10;0&#10;\end{bmatrix}&#10;=&#10;\begin{bmatrix}&#10;- w_{\ddot{q}}\,\ddot{q}_{\mathrm{des},1} \\&#10;- w_{\ddot{q}}\,\ddot{q}_{\mathrm{des},2} \\&#10;0 \\&#10;0&#10;\end{bmatrix}&#10;$&#10;&#10;\end{document}" title="IguanaTex Bitmap Display">
            <a:extLst>
              <a:ext uri="{FF2B5EF4-FFF2-40B4-BE49-F238E27FC236}">
                <a16:creationId xmlns:a16="http://schemas.microsoft.com/office/drawing/2014/main" id="{02F31B32-B9DD-518D-6DDB-2E6277F447FD}"/>
              </a:ext>
            </a:extLst>
          </p:cNvPr>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3379200" y="7068823"/>
            <a:ext cx="17625599" cy="2550400"/>
          </a:xfrm>
          <a:prstGeom prst="rect">
            <a:avLst/>
          </a:prstGeom>
        </p:spPr>
      </p:pic>
      <p:pic>
        <p:nvPicPr>
          <p:cNvPr id="25" name="그림 24">
            <a:extLst>
              <a:ext uri="{FF2B5EF4-FFF2-40B4-BE49-F238E27FC236}">
                <a16:creationId xmlns:a16="http://schemas.microsoft.com/office/drawing/2014/main" id="{82519C14-6D77-D65F-3137-41F51BFAE74B}"/>
              </a:ext>
            </a:extLst>
          </p:cNvPr>
          <p:cNvPicPr>
            <a:picLocks noChangeAspect="1"/>
          </p:cNvPicPr>
          <p:nvPr/>
        </p:nvPicPr>
        <p:blipFill>
          <a:blip r:embed="rId9"/>
          <a:stretch>
            <a:fillRect/>
          </a:stretch>
        </p:blipFill>
        <p:spPr>
          <a:xfrm>
            <a:off x="7620000" y="10551989"/>
            <a:ext cx="11343963" cy="2550400"/>
          </a:xfrm>
          <a:prstGeom prst="rect">
            <a:avLst/>
          </a:prstGeom>
          <a:ln>
            <a:solidFill>
              <a:schemeClr val="tx1"/>
            </a:solidFill>
          </a:ln>
        </p:spPr>
      </p:pic>
      <p:pic>
        <p:nvPicPr>
          <p:cNvPr id="26" name="그림 25" descr="\documentclass{article}&#10;\usepackage{amsmath}&#10;\pagestyle{empty}&#10;\begin{document}&#10;&#10;&#10;$&#10;\begin{aligned}&#10;  &amp;\min_{x} &amp;&amp; \frac{1}{2}\, x^{\top} H x + g^{\top} x \\&#10;  &amp;\text{s.t.} &amp;&amp; A_{\mathrm{eq}} x = b_{\mathrm{eq}}, \\&#10;  &amp;&amp;&amp; A_{\mathrm{in}} x \le b_{\mathrm{in}}.&#10;\end{aligned}&#10;$&#10;&#10;\end{document}" title="IguanaTex Bitmap Display">
            <a:extLst>
              <a:ext uri="{FF2B5EF4-FFF2-40B4-BE49-F238E27FC236}">
                <a16:creationId xmlns:a16="http://schemas.microsoft.com/office/drawing/2014/main" id="{7134D821-78D0-48EE-4268-A39B8D2611ED}"/>
              </a:ext>
            </a:extLst>
          </p:cNvPr>
          <p:cNvPicPr>
            <a:picLocks noChangeAspect="1"/>
          </p:cNvPicPr>
          <p:nvPr>
            <p:custDataLst>
              <p:tags r:id="rId4"/>
            </p:custDataLst>
          </p:nvPr>
        </p:nvPicPr>
        <p:blipFill>
          <a:blip r:embed="rId10" cstate="print">
            <a:extLst>
              <a:ext uri="{28A0092B-C50C-407E-A947-70E740481C1C}">
                <a14:useLocalDpi xmlns:a14="http://schemas.microsoft.com/office/drawing/2010/main" val="0"/>
              </a:ext>
            </a:extLst>
          </a:blip>
          <a:srcRect b="52140"/>
          <a:stretch>
            <a:fillRect/>
          </a:stretch>
        </p:blipFill>
        <p:spPr>
          <a:xfrm>
            <a:off x="15392400" y="2129952"/>
            <a:ext cx="4982400" cy="1252776"/>
          </a:xfrm>
          <a:prstGeom prst="rect">
            <a:avLst/>
          </a:prstGeom>
        </p:spPr>
      </p:pic>
    </p:spTree>
    <p:extLst>
      <p:ext uri="{BB962C8B-B14F-4D97-AF65-F5344CB8AC3E}">
        <p14:creationId xmlns:p14="http://schemas.microsoft.com/office/powerpoint/2010/main" val="86963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C23C1-9BA1-E4B3-A9FD-B8E716A3132D}"/>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CD084261-9597-79A1-BEA0-9BF28FCB5E43}"/>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903DEF98-72CF-DDBF-04C7-BAD72A3C9B8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C42D7E99-FDA8-C14F-52DD-1702CA9AFB23}"/>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BA9003D-920B-786B-64E3-F9C1964C1939}"/>
              </a:ext>
            </a:extLst>
          </p:cNvPr>
          <p:cNvSpPr txBox="1"/>
          <p:nvPr/>
        </p:nvSpPr>
        <p:spPr>
          <a:xfrm>
            <a:off x="1600200" y="2253735"/>
            <a:ext cx="21564600" cy="7383816"/>
          </a:xfrm>
          <a:prstGeom prst="rect">
            <a:avLst/>
          </a:prstGeom>
          <a:noFill/>
        </p:spPr>
        <p:txBody>
          <a:bodyPr wrap="square">
            <a:spAutoFit/>
          </a:bodyPr>
          <a:lstStyle/>
          <a:p>
            <a:pPr lvl="1">
              <a:lnSpc>
                <a:spcPct val="150000"/>
              </a:lnSpc>
            </a:pPr>
            <a:r>
              <a:rPr lang="ko-KR" altLang="en-US" sz="3200" b="1" dirty="0">
                <a:latin typeface="+mn-ea"/>
              </a:rPr>
              <a:t>형식을 맞추기 위해 단순히 전개한 후 개선을 위해 행렬 형태로 정리</a:t>
            </a: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ko-KR" altLang="en-US" sz="3200" b="1" dirty="0">
                <a:latin typeface="+mn-ea"/>
              </a:rPr>
              <a:t>전개 </a:t>
            </a:r>
            <a:r>
              <a:rPr lang="en-US" altLang="ko-KR" sz="3200" b="1" dirty="0">
                <a:latin typeface="+mn-ea"/>
              </a:rPr>
              <a:t>:</a:t>
            </a:r>
          </a:p>
          <a:p>
            <a:pPr lvl="1">
              <a:lnSpc>
                <a:spcPct val="150000"/>
              </a:lnSpc>
            </a:pPr>
            <a:endParaRPr lang="en-US" altLang="ko-KR" sz="3200" b="1" dirty="0">
              <a:latin typeface="+mn-ea"/>
            </a:endParaRPr>
          </a:p>
          <a:p>
            <a:pPr lvl="1">
              <a:lnSpc>
                <a:spcPct val="150000"/>
              </a:lnSpc>
            </a:pPr>
            <a:r>
              <a:rPr lang="ko-KR" altLang="en-US" sz="3200" b="1" dirty="0">
                <a:latin typeface="+mn-ea"/>
              </a:rPr>
              <a:t>변형 </a:t>
            </a:r>
            <a:r>
              <a:rPr lang="en-US" altLang="ko-KR" sz="3200" b="1" dirty="0">
                <a:latin typeface="+mn-ea"/>
              </a:rPr>
              <a:t>:</a:t>
            </a:r>
          </a:p>
          <a:p>
            <a:pPr lvl="1">
              <a:lnSpc>
                <a:spcPct val="150000"/>
              </a:lnSpc>
            </a:pPr>
            <a:endParaRPr lang="en-US" altLang="ko-KR" sz="3200" b="1" dirty="0">
              <a:latin typeface="+mn-ea"/>
            </a:endParaRPr>
          </a:p>
          <a:p>
            <a:pPr lvl="1">
              <a:lnSpc>
                <a:spcPct val="150000"/>
              </a:lnSpc>
            </a:pPr>
            <a:r>
              <a:rPr lang="ko-KR" altLang="en-US" sz="3200" b="1" dirty="0">
                <a:latin typeface="+mn-ea"/>
              </a:rPr>
              <a:t>정리 </a:t>
            </a:r>
            <a:r>
              <a:rPr lang="en-US" altLang="ko-KR" sz="3200" b="1" dirty="0">
                <a:latin typeface="+mn-ea"/>
              </a:rPr>
              <a:t>:  </a:t>
            </a:r>
          </a:p>
        </p:txBody>
      </p:sp>
      <p:pic>
        <p:nvPicPr>
          <p:cNvPr id="26" name="그림 25" descr="\documentclass{article}&#10;\usepackage{amsmath}&#10;\pagestyle{empty}&#10;\begin{document}&#10;&#10;&#10;$&#10;\begin{aligned}&#10;  &amp;\min_{x} &amp;&amp; \frac{1}{2}\, x^{\top} H x + g^{\top} x \\&#10;  &amp;\text{s.t.} &amp;&amp; A_{\mathrm{eq}} x = b_{\mathrm{eq}}, \\&#10;  &amp;&amp;&amp; A_{\mathrm{in}} x \le b_{\mathrm{in}}.&#10;\end{aligned}&#10;$&#10;&#10;\end{document}" title="IguanaTex Bitmap Display">
            <a:extLst>
              <a:ext uri="{FF2B5EF4-FFF2-40B4-BE49-F238E27FC236}">
                <a16:creationId xmlns:a16="http://schemas.microsoft.com/office/drawing/2014/main" id="{4496B3B4-8A4D-F7EE-0885-A510DABFFA3B}"/>
              </a:ext>
            </a:extLst>
          </p:cNvPr>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rcRect t="47861" b="-4939"/>
          <a:stretch>
            <a:fillRect/>
          </a:stretch>
        </p:blipFill>
        <p:spPr>
          <a:xfrm>
            <a:off x="15697200" y="1899775"/>
            <a:ext cx="4982400" cy="1494072"/>
          </a:xfrm>
          <a:prstGeom prst="rect">
            <a:avLst/>
          </a:prstGeom>
        </p:spPr>
      </p:pic>
      <p:pic>
        <p:nvPicPr>
          <p:cNvPr id="9" name="그림 8" descr="\documentclass{article}&#10;\usepackage{amsmath}&#10;\pagestyle{empty}&#10;\begin{document}&#10;&#10;&#10;$&#10;M(q)\,\ddot{q} + h(q,\dot{q}) = \tau&#10;$&#10;&#10;\end{document}" title="IguanaTex Bitmap Display">
            <a:extLst>
              <a:ext uri="{FF2B5EF4-FFF2-40B4-BE49-F238E27FC236}">
                <a16:creationId xmlns:a16="http://schemas.microsoft.com/office/drawing/2014/main" id="{1260FBC3-F7CB-81D5-3F06-EC0ED049FBC2}"/>
              </a:ext>
            </a:extLst>
          </p:cNvPr>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3456750" y="4477770"/>
            <a:ext cx="4665600" cy="534400"/>
          </a:xfrm>
          <a:prstGeom prst="rect">
            <a:avLst/>
          </a:prstGeom>
        </p:spPr>
      </p:pic>
      <p:pic>
        <p:nvPicPr>
          <p:cNvPr id="11" name="그림 10" descr="\documentclass{article}&#10;\usepackage{amsmath}&#10;\pagestyle{empty}&#10;\begin{document}&#10;&#10;&#10;$&#10;M(q) =&#10;\begin{bmatrix}&#10;M_{11} &amp; M_{12} \\&#10;M_{21} &amp; M_{22}&#10;\end{bmatrix},&#10;\quad&#10;h(q,\dot{q}) =&#10;\begin{bmatrix}&#10;h_{1} \\&#10;h_{2}&#10;\end{bmatrix},&#10;\quad&#10;\tau =&#10;\begin{bmatrix}&#10;\tau_{1} \\&#10;\tau_{2}&#10;\end{bmatrix}&#10;$&#10;&#10;\end{document}" title="IguanaTex Bitmap Display">
            <a:extLst>
              <a:ext uri="{FF2B5EF4-FFF2-40B4-BE49-F238E27FC236}">
                <a16:creationId xmlns:a16="http://schemas.microsoft.com/office/drawing/2014/main" id="{E5BE43F7-A8EE-9A21-8859-2BBD14D7F9EE}"/>
              </a:ext>
            </a:extLst>
          </p:cNvPr>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10130627" y="4098775"/>
            <a:ext cx="11846400" cy="1276800"/>
          </a:xfrm>
          <a:prstGeom prst="rect">
            <a:avLst/>
          </a:prstGeom>
        </p:spPr>
      </p:pic>
      <p:pic>
        <p:nvPicPr>
          <p:cNvPr id="14" name="그림 13" descr="\documentclass{article}&#10;\usepackage{amsmath}&#10;\pagestyle{empty}&#10;\begin{document}&#10;&#10;&#10;$&#10;M_{11}\,\ddot{q}_{1}&#10;+ M_{12}\,\ddot{q}_{2}&#10;+ h_{1}&#10;= \tau_{1},&#10;\qquad&#10;M_{21}\,\ddot{q}_{1}&#10;+ M_{22}\,\ddot{q}_{2}&#10;+ h_{2}&#10;= \tau_{2}&#10;$&#10;&#10;\end{document}" title="IguanaTex Bitmap Display">
            <a:extLst>
              <a:ext uri="{FF2B5EF4-FFF2-40B4-BE49-F238E27FC236}">
                <a16:creationId xmlns:a16="http://schemas.microsoft.com/office/drawing/2014/main" id="{E14D2451-2AE9-159D-452E-EF49CD2EF425}"/>
              </a:ext>
            </a:extLst>
          </p:cNvPr>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3434627" y="6213214"/>
            <a:ext cx="13392000" cy="470400"/>
          </a:xfrm>
          <a:prstGeom prst="rect">
            <a:avLst/>
          </a:prstGeom>
        </p:spPr>
      </p:pic>
      <p:pic>
        <p:nvPicPr>
          <p:cNvPr id="16" name="그림 15" descr="\documentclass{article}&#10;\usepackage{amsmath}&#10;\pagestyle{empty}&#10;\begin{document}&#10;&#10;&#10;$&#10;M_{11}\,\ddot{q}_{1}&#10;+ M_{12}\,\ddot{q}_{2}&#10;- \tau_{1}&#10;= -h_{1},&#10;\qquad&#10;M_{21}\,\ddot{q}_{1}&#10;+ M_{22}\,\ddot{q}_{2}&#10;- \tau_{2}&#10;= -h_{2}&#10;$&#10;&#10;\end{document}" title="IguanaTex Bitmap Display">
            <a:extLst>
              <a:ext uri="{FF2B5EF4-FFF2-40B4-BE49-F238E27FC236}">
                <a16:creationId xmlns:a16="http://schemas.microsoft.com/office/drawing/2014/main" id="{1E637668-8474-B389-553B-3F209C38E0AF}"/>
              </a:ext>
            </a:extLst>
          </p:cNvPr>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3399859" y="7653415"/>
            <a:ext cx="14217600" cy="470400"/>
          </a:xfrm>
          <a:prstGeom prst="rect">
            <a:avLst/>
          </a:prstGeom>
        </p:spPr>
      </p:pic>
      <p:pic>
        <p:nvPicPr>
          <p:cNvPr id="18" name="그림 17" descr="\documentclass{article}&#10;\usepackage{amsmath}&#10;\pagestyle{empty}&#10;\begin{document}&#10;&#10;&#10;$&#10;x =&#10;\begin{bmatrix}&#10;\ddot{q}_{1} \\&#10;\ddot{q}_{2} \\&#10;\tau_{1} \\&#10;\tau_{2}&#10;\end{bmatrix},&#10;\quad&#10;A_{\mathrm{eq}} =&#10;\begin{bmatrix}&#10;M_{11} &amp; M_{12} &amp; -1 &amp; 0 \\&#10;M_{21} &amp; M_{22} &amp; 0  &amp; -1&#10;\end{bmatrix},&#10;\quad&#10;b_{\mathrm{eq}} =&#10;\begin{bmatrix}&#10;-h_{1} \\&#10;-h_{2}&#10;\end{bmatrix}&#10;$&#10;&#10;\end{document}" title="IguanaTex Bitmap Display">
            <a:extLst>
              <a:ext uri="{FF2B5EF4-FFF2-40B4-BE49-F238E27FC236}">
                <a16:creationId xmlns:a16="http://schemas.microsoft.com/office/drawing/2014/main" id="{7EF3134C-B85D-1D09-2841-3244FE7C5EEC}"/>
              </a:ext>
            </a:extLst>
          </p:cNvPr>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3991858" y="11214278"/>
            <a:ext cx="10120598" cy="1892122"/>
          </a:xfrm>
          <a:prstGeom prst="rect">
            <a:avLst/>
          </a:prstGeom>
        </p:spPr>
      </p:pic>
      <p:pic>
        <p:nvPicPr>
          <p:cNvPr id="20" name="그림 19" descr="\documentclass{article}&#10;\usepackage{amsmath}&#10;\pagestyle{empty}&#10;\begin{document}&#10;&#10;&#10;$&#10;A_{\mathrm{eq}}\,x = b_{\mathrm{eq}}&#10;\;\Longleftrightarrow\;&#10;\begin{cases}&#10;M_{11}\,\ddot{q}_{1}&#10;+ M_{12}\,\ddot{q}_{2}&#10;- \tau_{1}&#10;= -h_{1}, \\[4pt]&#10;M_{21}\,\ddot{q}_{1}&#10;+ M_{22}\,\ddot{q}_{2}&#10;- \tau_{2}&#10;= -h_{2}.&#10;\end{cases}&#10;$&#10;&#10;\end{document}" title="IguanaTex Bitmap Display">
            <a:extLst>
              <a:ext uri="{FF2B5EF4-FFF2-40B4-BE49-F238E27FC236}">
                <a16:creationId xmlns:a16="http://schemas.microsoft.com/office/drawing/2014/main" id="{389887C0-0099-114F-FC61-68E16A177448}"/>
              </a:ext>
            </a:extLst>
          </p:cNvPr>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3733800" y="9092221"/>
            <a:ext cx="10970381" cy="1563162"/>
          </a:xfrm>
          <a:prstGeom prst="rect">
            <a:avLst/>
          </a:prstGeom>
        </p:spPr>
      </p:pic>
    </p:spTree>
    <p:extLst>
      <p:ext uri="{BB962C8B-B14F-4D97-AF65-F5344CB8AC3E}">
        <p14:creationId xmlns:p14="http://schemas.microsoft.com/office/powerpoint/2010/main" val="194040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3942D-F907-B056-DBB1-19EAC2176E79}"/>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27BB3F74-78B6-C6A1-FFF1-DCDA9BB46764}"/>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A5420D1-B1CB-6AF1-6ACF-31E13DB00434}"/>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EA56BE6-7F3C-FBC0-687F-82E554CC90A5}"/>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8A32C26-CD75-AD9A-379B-E0882B770A46}"/>
              </a:ext>
            </a:extLst>
          </p:cNvPr>
          <p:cNvSpPr txBox="1"/>
          <p:nvPr/>
        </p:nvSpPr>
        <p:spPr>
          <a:xfrm>
            <a:off x="1600200" y="2253735"/>
            <a:ext cx="21564600" cy="9599807"/>
          </a:xfrm>
          <a:prstGeom prst="rect">
            <a:avLst/>
          </a:prstGeom>
          <a:noFill/>
        </p:spPr>
        <p:txBody>
          <a:bodyPr wrap="square">
            <a:spAutoFit/>
          </a:bodyPr>
          <a:lstStyle/>
          <a:p>
            <a:pPr lvl="1">
              <a:lnSpc>
                <a:spcPct val="150000"/>
              </a:lnSpc>
            </a:pPr>
            <a:r>
              <a:rPr lang="ko-KR" altLang="en-US" sz="3200" b="1" dirty="0">
                <a:latin typeface="+mn-ea"/>
              </a:rPr>
              <a:t>형식을 맞추기 위해 단순히 전개한 후 개선을 위해 행렬 형태로 정리</a:t>
            </a: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ko-KR" altLang="en-US" sz="3200" b="1" dirty="0">
                <a:latin typeface="+mn-ea"/>
              </a:rPr>
              <a:t>토크 한계 </a:t>
            </a:r>
            <a:r>
              <a:rPr lang="en-US" altLang="ko-KR" sz="3200" b="1" dirty="0">
                <a:latin typeface="+mn-ea"/>
              </a:rPr>
              <a:t>:</a:t>
            </a: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ko-KR" altLang="en-US" sz="3200" b="1" dirty="0">
                <a:latin typeface="+mn-ea"/>
              </a:rPr>
              <a:t>변형 </a:t>
            </a:r>
            <a:r>
              <a:rPr lang="en-US" altLang="ko-KR" sz="3200" b="1" dirty="0">
                <a:latin typeface="+mn-ea"/>
              </a:rPr>
              <a:t>:</a:t>
            </a: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ko-KR" altLang="en-US" sz="3200" b="1" dirty="0">
                <a:latin typeface="+mn-ea"/>
              </a:rPr>
              <a:t>정리 </a:t>
            </a:r>
            <a:r>
              <a:rPr lang="en-US" altLang="ko-KR" sz="3200" b="1" dirty="0">
                <a:latin typeface="+mn-ea"/>
              </a:rPr>
              <a:t>:  </a:t>
            </a:r>
          </a:p>
        </p:txBody>
      </p:sp>
      <p:pic>
        <p:nvPicPr>
          <p:cNvPr id="26" name="그림 25" descr="\documentclass{article}&#10;\usepackage{amsmath}&#10;\pagestyle{empty}&#10;\begin{document}&#10;&#10;&#10;$&#10;\begin{aligned}&#10;  &amp;\min_{x} &amp;&amp; \frac{1}{2}\, x^{\top} H x + g^{\top} x \\&#10;  &amp;\text{s.t.} &amp;&amp; A_{\mathrm{eq}} x = b_{\mathrm{eq}}, \\&#10;  &amp;&amp;&amp; A_{\mathrm{in}} x \le b_{\mathrm{in}}.&#10;\end{aligned}&#10;$&#10;&#10;\end{document}" title="IguanaTex Bitmap Display">
            <a:extLst>
              <a:ext uri="{FF2B5EF4-FFF2-40B4-BE49-F238E27FC236}">
                <a16:creationId xmlns:a16="http://schemas.microsoft.com/office/drawing/2014/main" id="{C5327975-D8DE-DBEC-7356-01947EAF0398}"/>
              </a:ext>
            </a:extLst>
          </p:cNvPr>
          <p:cNvPicPr>
            <a:picLocks noChangeAspect="1"/>
          </p:cNvPicPr>
          <p:nvPr>
            <p:custDataLst>
              <p:tags r:id="rId1"/>
            </p:custDataLst>
          </p:nvPr>
        </p:nvPicPr>
        <p:blipFill>
          <a:blip r:embed="rId11" cstate="print">
            <a:extLst>
              <a:ext uri="{28A0092B-C50C-407E-A947-70E740481C1C}">
                <a14:useLocalDpi xmlns:a14="http://schemas.microsoft.com/office/drawing/2010/main" val="0"/>
              </a:ext>
            </a:extLst>
          </a:blip>
          <a:srcRect t="47861" b="-4939"/>
          <a:stretch>
            <a:fillRect/>
          </a:stretch>
        </p:blipFill>
        <p:spPr>
          <a:xfrm>
            <a:off x="15697200" y="1899775"/>
            <a:ext cx="4982400" cy="1494072"/>
          </a:xfrm>
          <a:prstGeom prst="rect">
            <a:avLst/>
          </a:prstGeom>
        </p:spPr>
      </p:pic>
      <p:pic>
        <p:nvPicPr>
          <p:cNvPr id="12" name="그림 11" descr="\documentclass{article}&#10;\usepackage{amsmath}&#10;\pagestyle{empty}&#10;\begin{document}&#10;&#10;&#10;$&#10;x =&#10;\begin{bmatrix}&#10;\ddot{q}_{1} \\&#10;\ddot{q}_{2} \\&#10;\tau_{1} \\&#10;\tau_{2}&#10;\end{bmatrix}&#10;$&#10;&#10;\end{document}" title="IguanaTex Bitmap Display">
            <a:extLst>
              <a:ext uri="{FF2B5EF4-FFF2-40B4-BE49-F238E27FC236}">
                <a16:creationId xmlns:a16="http://schemas.microsoft.com/office/drawing/2014/main" id="{890AEE1C-5EAF-9011-F8A8-18E1197E8F42}"/>
              </a:ext>
            </a:extLst>
          </p:cNvPr>
          <p:cNvPicPr>
            <a:picLocks noChangeAspect="1"/>
          </p:cNvPicPr>
          <p:nvPr>
            <p:custDataLst>
              <p:tags r:id="rId2"/>
            </p:custDataLst>
          </p:nvPr>
        </p:nvPicPr>
        <p:blipFill>
          <a:blip r:embed="rId12" cstate="print">
            <a:extLst>
              <a:ext uri="{28A0092B-C50C-407E-A947-70E740481C1C}">
                <a14:useLocalDpi xmlns:a14="http://schemas.microsoft.com/office/drawing/2010/main" val="0"/>
              </a:ext>
            </a:extLst>
          </a:blip>
          <a:stretch>
            <a:fillRect/>
          </a:stretch>
        </p:blipFill>
        <p:spPr>
          <a:xfrm>
            <a:off x="3943350" y="5615217"/>
            <a:ext cx="1533562" cy="1943162"/>
          </a:xfrm>
          <a:prstGeom prst="rect">
            <a:avLst/>
          </a:prstGeom>
        </p:spPr>
      </p:pic>
      <p:pic>
        <p:nvPicPr>
          <p:cNvPr id="15" name="그림 14" descr="\documentclass{article}&#10;\usepackage{amsmath}&#10;\pagestyle{empty}&#10;\begin{document}&#10;&#10;&#10;$&#10;\tau_{1} \le \tau_{1,\max}&#10;\;\Longleftrightarrow\;&#10;0 \cdot \ddot{q}_{1}&#10;+ 0 \cdot \ddot{q}_{2}&#10;+ 1 \cdot \tau_{1}&#10;+ 0 \cdot \tau_{2}&#10;\le \tau_{1,\max}&#10;\;\Longrightarrow\;&#10;\begin{bmatrix}&#10;0 &amp; 0 &amp; 1 &amp; 0&#10;\end{bmatrix}&#10;$&#10;&#10;\end{document}" title="IguanaTex Bitmap Display">
            <a:extLst>
              <a:ext uri="{FF2B5EF4-FFF2-40B4-BE49-F238E27FC236}">
                <a16:creationId xmlns:a16="http://schemas.microsoft.com/office/drawing/2014/main" id="{6FB1688D-A2F4-D5B0-CEA6-233B79B4B9D4}"/>
              </a:ext>
            </a:extLst>
          </p:cNvPr>
          <p:cNvPicPr>
            <a:picLocks noChangeAspect="1"/>
          </p:cNvPicPr>
          <p:nvPr>
            <p:custDataLst>
              <p:tags r:id="rId3"/>
            </p:custDataLst>
          </p:nvPr>
        </p:nvPicPr>
        <p:blipFill>
          <a:blip r:embed="rId13" cstate="print">
            <a:extLst>
              <a:ext uri="{28A0092B-C50C-407E-A947-70E740481C1C}">
                <a14:useLocalDpi xmlns:a14="http://schemas.microsoft.com/office/drawing/2010/main" val="0"/>
              </a:ext>
            </a:extLst>
          </a:blip>
          <a:stretch>
            <a:fillRect/>
          </a:stretch>
        </p:blipFill>
        <p:spPr>
          <a:xfrm>
            <a:off x="6226573" y="5830409"/>
            <a:ext cx="16168174" cy="602974"/>
          </a:xfrm>
          <a:prstGeom prst="rect">
            <a:avLst/>
          </a:prstGeom>
        </p:spPr>
      </p:pic>
      <p:pic>
        <p:nvPicPr>
          <p:cNvPr id="19" name="그림 18" descr="\documentclass{article}&#10;\usepackage{amsmath}&#10;\pagestyle{empty}&#10;\begin{document}&#10;&#10;&#10;$&#10;\tau_{2} \le \tau_{2,\max}&#10;\;\Longleftrightarrow\;&#10;0 \cdot \ddot{q}_{1}&#10;+ 0 \cdot \ddot{q}_{2}&#10;+ 0 \cdot \tau_{1}&#10;+ 1 \cdot \tau_{2}&#10;\le \tau_{2,\max}&#10;\;\Longrightarrow\;&#10;\begin{bmatrix}&#10;0 &amp; 0 &amp; 0 &amp; 1&#10;\end{bmatrix}&#10;$&#10;&#10;\end{document}" title="IguanaTex Bitmap Display">
            <a:extLst>
              <a:ext uri="{FF2B5EF4-FFF2-40B4-BE49-F238E27FC236}">
                <a16:creationId xmlns:a16="http://schemas.microsoft.com/office/drawing/2014/main" id="{DF1AC095-8292-79AC-3ED1-B4CD63DD45A9}"/>
              </a:ext>
            </a:extLst>
          </p:cNvPr>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tretch>
            <a:fillRect/>
          </a:stretch>
        </p:blipFill>
        <p:spPr>
          <a:xfrm>
            <a:off x="6208202" y="6794428"/>
            <a:ext cx="17075200" cy="636800"/>
          </a:xfrm>
          <a:prstGeom prst="rect">
            <a:avLst/>
          </a:prstGeom>
        </p:spPr>
      </p:pic>
      <p:pic>
        <p:nvPicPr>
          <p:cNvPr id="22" name="그림 21" descr="\documentclass{article}&#10;\usepackage{amsmath}&#10;\pagestyle{empty}&#10;\begin{document}&#10;&#10;&#10;$&#10;-\,\tau_{1} \le -\,\tau_{1,\min}&#10;\;\Longleftrightarrow\;&#10;0 \cdot \ddot{q}_{1}&#10;+ 0 \cdot \ddot{q}_{2}&#10;- 1 \cdot \tau_{1}&#10;+ 0 \cdot \tau_{2}&#10;\le -\,\tau_{1,\min}&#10;\;\Longrightarrow\;&#10;\begin{bmatrix}&#10;0 &amp; 0 &amp; -1 &amp; 0&#10;\end{bmatrix}&#10;$&#10;&#10;\end{document}" title="IguanaTex Bitmap Display">
            <a:extLst>
              <a:ext uri="{FF2B5EF4-FFF2-40B4-BE49-F238E27FC236}">
                <a16:creationId xmlns:a16="http://schemas.microsoft.com/office/drawing/2014/main" id="{21594E77-750F-618E-81E6-7BDCD56136C3}"/>
              </a:ext>
            </a:extLst>
          </p:cNvPr>
          <p:cNvPicPr>
            <a:picLocks noChangeAspect="1"/>
          </p:cNvPicPr>
          <p:nvPr>
            <p:custDataLst>
              <p:tags r:id="rId5"/>
            </p:custDataLst>
          </p:nvPr>
        </p:nvPicPr>
        <p:blipFill>
          <a:blip r:embed="rId15" cstate="print">
            <a:extLst>
              <a:ext uri="{28A0092B-C50C-407E-A947-70E740481C1C}">
                <a14:useLocalDpi xmlns:a14="http://schemas.microsoft.com/office/drawing/2010/main" val="0"/>
              </a:ext>
            </a:extLst>
          </a:blip>
          <a:stretch>
            <a:fillRect/>
          </a:stretch>
        </p:blipFill>
        <p:spPr>
          <a:xfrm>
            <a:off x="6001749" y="7907649"/>
            <a:ext cx="17382400" cy="636800"/>
          </a:xfrm>
          <a:prstGeom prst="rect">
            <a:avLst/>
          </a:prstGeom>
        </p:spPr>
      </p:pic>
      <p:pic>
        <p:nvPicPr>
          <p:cNvPr id="24" name="그림 23" descr="\documentclass{article}&#10;\usepackage{amsmath}&#10;\pagestyle{empty}&#10;\begin{document}&#10;&#10;&#10;$&#10;-\,\tau_{2} \le -\,\tau_{2,\min}&#10;\;\Longleftrightarrow\;&#10;0 \cdot \ddot{q}_{1}&#10;+ 0 \cdot \ddot{q}_{2}&#10;+ 0 \cdot \tau_{1}&#10;- 1 \cdot \tau_{2}&#10;\le -\,\tau_{2,\min}&#10;\;\Longrightarrow\;&#10;\begin{bmatrix}&#10;0 &amp; 0 &amp; 0 &amp; -1&#10;\end{bmatrix}&#10;$&#10;&#10;\end{document}" title="IguanaTex Bitmap Display">
            <a:extLst>
              <a:ext uri="{FF2B5EF4-FFF2-40B4-BE49-F238E27FC236}">
                <a16:creationId xmlns:a16="http://schemas.microsoft.com/office/drawing/2014/main" id="{58E70391-FCE8-A69F-4638-38047E9F87B9}"/>
              </a:ext>
            </a:extLst>
          </p:cNvPr>
          <p:cNvPicPr>
            <a:picLocks noChangeAspect="1"/>
          </p:cNvPicPr>
          <p:nvPr>
            <p:custDataLst>
              <p:tags r:id="rId6"/>
            </p:custDataLst>
          </p:nvPr>
        </p:nvPicPr>
        <p:blipFill>
          <a:blip r:embed="rId16" cstate="print">
            <a:extLst>
              <a:ext uri="{28A0092B-C50C-407E-A947-70E740481C1C}">
                <a14:useLocalDpi xmlns:a14="http://schemas.microsoft.com/office/drawing/2010/main" val="0"/>
              </a:ext>
            </a:extLst>
          </a:blip>
          <a:stretch>
            <a:fillRect/>
          </a:stretch>
        </p:blipFill>
        <p:spPr>
          <a:xfrm>
            <a:off x="5958750" y="8947793"/>
            <a:ext cx="17382400" cy="636800"/>
          </a:xfrm>
          <a:prstGeom prst="rect">
            <a:avLst/>
          </a:prstGeom>
        </p:spPr>
      </p:pic>
      <p:pic>
        <p:nvPicPr>
          <p:cNvPr id="27" name="그림 26" descr="\documentclass{article}&#10;\usepackage{amsmath}&#10;\pagestyle{empty}&#10;\begin{document}&#10;&#10;&#10;$&#10;A_{\mathrm{in}} =&#10;\begin{bmatrix}&#10;0 &amp; 0 &amp; 1 &amp; 0 \\&#10;0 &amp; 0 &amp; 0 &amp; 1 \\&#10;0 &amp; 0 &amp; -1 &amp; 0 \\&#10;0 &amp; 0 &amp; 0 &amp; -1&#10;\end{bmatrix},&#10;\qquad&#10;b_{\mathrm{in}} =&#10;\begin{bmatrix}&#10;\tau_{1,\max} \\&#10;\tau_{2,\max} \\&#10;-\tau_{1,\min} \\&#10;-\tau_{2,\min}&#10;\end{bmatrix}&#10;$&#10;&#10;\end{document}" title="IguanaTex Bitmap Display">
            <a:extLst>
              <a:ext uri="{FF2B5EF4-FFF2-40B4-BE49-F238E27FC236}">
                <a16:creationId xmlns:a16="http://schemas.microsoft.com/office/drawing/2014/main" id="{80D173B3-385A-E1C8-D3D3-24A82F076781}"/>
              </a:ext>
            </a:extLst>
          </p:cNvPr>
          <p:cNvPicPr>
            <a:picLocks noChangeAspect="1"/>
          </p:cNvPicPr>
          <p:nvPr>
            <p:custDataLst>
              <p:tags r:id="rId7"/>
            </p:custDataLst>
          </p:nvPr>
        </p:nvPicPr>
        <p:blipFill>
          <a:blip r:embed="rId17" cstate="print">
            <a:extLst>
              <a:ext uri="{28A0092B-C50C-407E-A947-70E740481C1C}">
                <a14:useLocalDpi xmlns:a14="http://schemas.microsoft.com/office/drawing/2010/main" val="0"/>
              </a:ext>
            </a:extLst>
          </a:blip>
          <a:stretch>
            <a:fillRect/>
          </a:stretch>
        </p:blipFill>
        <p:spPr>
          <a:xfrm>
            <a:off x="4343400" y="10705722"/>
            <a:ext cx="8763000" cy="2104916"/>
          </a:xfrm>
          <a:prstGeom prst="rect">
            <a:avLst/>
          </a:prstGeom>
        </p:spPr>
      </p:pic>
      <p:pic>
        <p:nvPicPr>
          <p:cNvPr id="35" name="그림 34" descr="\documentclass{article}&#10;\usepackage{amsmath}&#10;\pagestyle{empty}&#10;\begin{document}&#10;&#10;&#10;$&#10;A_{\mathrm{in}}\,x \le b_{\mathrm{in}}&#10;\;\Longleftrightarrow\;&#10;\tau_{\min} \le \tau \le \tau_{\max},&#10;\quad&#10;\tau =&#10;\begin{bmatrix}&#10;\tau_{1} \\&#10;\tau_{2}&#10;\end{bmatrix},&#10;\;&#10;\tau_{\min} =&#10;\begin{bmatrix}&#10;\tau_{1,\min} \\&#10;\tau_{2,\min}&#10;\end{bmatrix},&#10;\;&#10;\tau_{\max} =&#10;\begin{bmatrix}&#10;\tau_{1,\max} \\&#10;\tau_{2,\max}&#10;\end{bmatrix}&#10;$&#10;&#10;\end{document}" title="IguanaTex Bitmap Display">
            <a:extLst>
              <a:ext uri="{FF2B5EF4-FFF2-40B4-BE49-F238E27FC236}">
                <a16:creationId xmlns:a16="http://schemas.microsoft.com/office/drawing/2014/main" id="{08479726-5182-DA14-EE6C-BE84375252E0}"/>
              </a:ext>
            </a:extLst>
          </p:cNvPr>
          <p:cNvPicPr>
            <a:picLocks noChangeAspect="1"/>
          </p:cNvPicPr>
          <p:nvPr>
            <p:custDataLst>
              <p:tags r:id="rId8"/>
            </p:custDataLst>
          </p:nvPr>
        </p:nvPicPr>
        <p:blipFill>
          <a:blip r:embed="rId18" cstate="print">
            <a:extLst>
              <a:ext uri="{28A0092B-C50C-407E-A947-70E740481C1C}">
                <a14:useLocalDpi xmlns:a14="http://schemas.microsoft.com/office/drawing/2010/main" val="0"/>
              </a:ext>
            </a:extLst>
          </a:blip>
          <a:srcRect b="49591"/>
          <a:stretch>
            <a:fillRect/>
          </a:stretch>
        </p:blipFill>
        <p:spPr>
          <a:xfrm>
            <a:off x="3962400" y="3724690"/>
            <a:ext cx="13800911" cy="997516"/>
          </a:xfrm>
          <a:prstGeom prst="rect">
            <a:avLst/>
          </a:prstGeom>
        </p:spPr>
      </p:pic>
      <p:pic>
        <p:nvPicPr>
          <p:cNvPr id="50" name="그림 49" descr="\documentclass{article}&#10;\usepackage{amsmath}&#10;\pagestyle{empty}&#10;\begin{document}&#10;&#10;&#10;$&#10;A_{\mathrm{in}}\,x \le b_{\mathrm{in}}&#10;\;\Longleftrightarrow\;&#10;\tau_{\min} \le \tau \le \tau_{\max},&#10;\quad&#10;\tau =&#10;\begin{bmatrix}&#10;\tau_{1} \\&#10;\tau_{2}&#10;\end{bmatrix},&#10;\;&#10;\tau_{\min} =&#10;\begin{bmatrix}&#10;\tau_{1,\min} \\&#10;\tau_{2,\min}&#10;\end{bmatrix},&#10;\;&#10;\tau_{\max} =&#10;\begin{bmatrix}&#10;\tau_{1,\max} \\&#10;\tau_{2,\max}&#10;\end{bmatrix}&#10;$&#10;&#10;\end{document}" title="IguanaTex Bitmap Display">
            <a:extLst>
              <a:ext uri="{FF2B5EF4-FFF2-40B4-BE49-F238E27FC236}">
                <a16:creationId xmlns:a16="http://schemas.microsoft.com/office/drawing/2014/main" id="{D75B7FED-1D93-DE25-EA86-FA66D5EDDCDE}"/>
              </a:ext>
            </a:extLst>
          </p:cNvPr>
          <p:cNvPicPr>
            <a:picLocks noChangeAspect="1"/>
          </p:cNvPicPr>
          <p:nvPr>
            <p:custDataLst>
              <p:tags r:id="rId9"/>
            </p:custDataLst>
          </p:nvPr>
        </p:nvPicPr>
        <p:blipFill>
          <a:blip r:embed="rId18" cstate="print">
            <a:extLst>
              <a:ext uri="{28A0092B-C50C-407E-A947-70E740481C1C}">
                <a14:useLocalDpi xmlns:a14="http://schemas.microsoft.com/office/drawing/2010/main" val="0"/>
              </a:ext>
            </a:extLst>
          </a:blip>
          <a:srcRect t="49591" r="90061"/>
          <a:stretch>
            <a:fillRect/>
          </a:stretch>
        </p:blipFill>
        <p:spPr>
          <a:xfrm>
            <a:off x="17983200" y="3724690"/>
            <a:ext cx="1371600" cy="997517"/>
          </a:xfrm>
          <a:prstGeom prst="rect">
            <a:avLst/>
          </a:prstGeom>
        </p:spPr>
      </p:pic>
    </p:spTree>
    <p:extLst>
      <p:ext uri="{BB962C8B-B14F-4D97-AF65-F5344CB8AC3E}">
        <p14:creationId xmlns:p14="http://schemas.microsoft.com/office/powerpoint/2010/main" val="38325978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B6793-3604-02C6-310D-C30ACC13A47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1600D102-5A4A-DD45-2A46-050FD863F177}"/>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7DF36E27-D67B-5EBE-B345-1DE3EF66B550}"/>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46038E67-75F3-E8D8-E126-0C9512907A2B}"/>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230D413-CBBE-7D27-00DC-D31271B8A2F7}"/>
              </a:ext>
            </a:extLst>
          </p:cNvPr>
          <p:cNvSpPr txBox="1"/>
          <p:nvPr/>
        </p:nvSpPr>
        <p:spPr>
          <a:xfrm>
            <a:off x="1600200" y="2253735"/>
            <a:ext cx="21717000" cy="7076040"/>
          </a:xfrm>
          <a:prstGeom prst="rect">
            <a:avLst/>
          </a:prstGeom>
          <a:noFill/>
        </p:spPr>
        <p:txBody>
          <a:bodyPr wrap="square">
            <a:spAutoFit/>
          </a:bodyPr>
          <a:lstStyle/>
          <a:p>
            <a:pPr lvl="1">
              <a:lnSpc>
                <a:spcPct val="150000"/>
              </a:lnSpc>
            </a:pPr>
            <a:r>
              <a:rPr lang="ko-KR" altLang="en-US" sz="3200" b="1" dirty="0">
                <a:latin typeface="+mn-ea"/>
              </a:rPr>
              <a:t>계산을 통해 </a:t>
            </a:r>
            <a:r>
              <a:rPr lang="en-US" altLang="ko-KR" sz="3200" b="1" dirty="0">
                <a:latin typeface="+mn-ea"/>
              </a:rPr>
              <a:t>x </a:t>
            </a:r>
            <a:r>
              <a:rPr lang="ko-KR" altLang="en-US" sz="3200" b="1" dirty="0">
                <a:latin typeface="+mn-ea"/>
              </a:rPr>
              <a:t>구하기</a:t>
            </a:r>
            <a:endParaRPr lang="en-US" altLang="ko-KR" sz="3200" b="1" dirty="0">
              <a:latin typeface="+mn-ea"/>
            </a:endParaRPr>
          </a:p>
          <a:p>
            <a:pPr lvl="1">
              <a:lnSpc>
                <a:spcPct val="150000"/>
              </a:lnSpc>
            </a:pPr>
            <a:endParaRPr lang="en-US" altLang="ko-KR" sz="3200" b="1" dirty="0">
              <a:latin typeface="+mn-ea"/>
            </a:endParaRPr>
          </a:p>
          <a:p>
            <a:pPr lvl="1">
              <a:lnSpc>
                <a:spcPct val="150000"/>
              </a:lnSpc>
            </a:pPr>
            <a:endParaRPr lang="en-US" altLang="ko-KR" sz="3200" b="1" dirty="0">
              <a:latin typeface="+mn-ea"/>
            </a:endParaRPr>
          </a:p>
          <a:p>
            <a:pPr marL="914400" lvl="1" indent="-457200">
              <a:lnSpc>
                <a:spcPct val="200000"/>
              </a:lnSpc>
              <a:buFont typeface="Arial" panose="020B0604020202020204" pitchFamily="34" charset="0"/>
              <a:buChar char="•"/>
            </a:pPr>
            <a:r>
              <a:rPr lang="en-US" altLang="ko-KR" sz="3200" dirty="0">
                <a:latin typeface="+mn-ea"/>
              </a:rPr>
              <a:t>KKT </a:t>
            </a:r>
            <a:r>
              <a:rPr lang="ko-KR" altLang="en-US" sz="3200" dirty="0">
                <a:latin typeface="+mn-ea"/>
              </a:rPr>
              <a:t>조건이 </a:t>
            </a:r>
            <a:r>
              <a:rPr lang="en-US" altLang="ko-KR" sz="3200" dirty="0">
                <a:latin typeface="+mn-ea"/>
              </a:rPr>
              <a:t>QP</a:t>
            </a:r>
            <a:r>
              <a:rPr lang="ko-KR" altLang="en-US" sz="3200" dirty="0">
                <a:latin typeface="+mn-ea"/>
              </a:rPr>
              <a:t> 문제의 최적해에 대한 필요충분 조건 </a:t>
            </a:r>
            <a:r>
              <a:rPr lang="en-US" altLang="ko-KR" sz="3200" dirty="0">
                <a:latin typeface="+mn-ea"/>
              </a:rPr>
              <a:t>(</a:t>
            </a:r>
            <a:r>
              <a:rPr lang="ko-KR" altLang="en-US" sz="3200" dirty="0">
                <a:latin typeface="+mn-ea"/>
              </a:rPr>
              <a:t>모든 </a:t>
            </a:r>
            <a:r>
              <a:rPr lang="en-US" altLang="ko-KR" sz="3200" dirty="0">
                <a:latin typeface="+mn-ea"/>
              </a:rPr>
              <a:t>QP</a:t>
            </a:r>
            <a:r>
              <a:rPr lang="ko-KR" altLang="en-US" sz="3200" dirty="0">
                <a:latin typeface="+mn-ea"/>
              </a:rPr>
              <a:t>문제에 해당되지는 않음</a:t>
            </a:r>
            <a:r>
              <a:rPr lang="en-US" altLang="ko-KR" sz="3200" dirty="0">
                <a:latin typeface="+mn-ea"/>
              </a:rPr>
              <a:t>, </a:t>
            </a:r>
            <a:r>
              <a:rPr lang="ko-KR" altLang="en-US" sz="3200" dirty="0">
                <a:latin typeface="+mn-ea"/>
              </a:rPr>
              <a:t>볼록 </a:t>
            </a:r>
            <a:r>
              <a:rPr lang="en-US" altLang="ko-KR" sz="3200" dirty="0">
                <a:latin typeface="+mn-ea"/>
              </a:rPr>
              <a:t>QP</a:t>
            </a:r>
            <a:r>
              <a:rPr lang="ko-KR" altLang="en-US" sz="3200" dirty="0">
                <a:latin typeface="+mn-ea"/>
              </a:rPr>
              <a:t>일 경우만</a:t>
            </a:r>
            <a:r>
              <a:rPr lang="en-US" altLang="ko-KR" sz="3200" dirty="0">
                <a:latin typeface="+mn-ea"/>
              </a:rPr>
              <a:t>)</a:t>
            </a:r>
          </a:p>
          <a:p>
            <a:pPr marL="914400" lvl="1" indent="-457200">
              <a:lnSpc>
                <a:spcPct val="200000"/>
              </a:lnSpc>
              <a:buFont typeface="Arial" panose="020B0604020202020204" pitchFamily="34" charset="0"/>
              <a:buChar char="•"/>
            </a:pPr>
            <a:r>
              <a:rPr lang="en-US" altLang="ko-KR" sz="3200" dirty="0">
                <a:latin typeface="+mn-ea"/>
              </a:rPr>
              <a:t>solve() </a:t>
            </a:r>
            <a:r>
              <a:rPr lang="ko-KR" altLang="en-US" sz="3200" dirty="0">
                <a:latin typeface="+mn-ea"/>
              </a:rPr>
              <a:t>함수는 결국 </a:t>
            </a:r>
            <a:r>
              <a:rPr lang="en-US" altLang="ko-KR" sz="3200" dirty="0">
                <a:latin typeface="+mn-ea"/>
              </a:rPr>
              <a:t>KKT 4</a:t>
            </a:r>
            <a:r>
              <a:rPr lang="ko-KR" altLang="en-US" sz="3200" dirty="0">
                <a:latin typeface="+mn-ea"/>
              </a:rPr>
              <a:t>조건</a:t>
            </a:r>
            <a:r>
              <a:rPr lang="en-US" altLang="ko-KR" sz="3200" dirty="0">
                <a:latin typeface="+mn-ea"/>
              </a:rPr>
              <a:t>(</a:t>
            </a:r>
            <a:r>
              <a:rPr lang="ko-KR" altLang="en-US" sz="3200" dirty="0">
                <a:latin typeface="+mn-ea"/>
              </a:rPr>
              <a:t>정지 </a:t>
            </a:r>
            <a:r>
              <a:rPr lang="en-US" altLang="ko-KR" sz="3200" dirty="0">
                <a:latin typeface="+mn-ea"/>
              </a:rPr>
              <a:t>+ primal + dual + complementarity) </a:t>
            </a:r>
            <a:r>
              <a:rPr lang="ko-KR" altLang="en-US" sz="3200" dirty="0">
                <a:latin typeface="+mn-ea"/>
              </a:rPr>
              <a:t>을 만족하는 </a:t>
            </a:r>
            <a:r>
              <a:rPr lang="en-US" altLang="ko-KR" sz="3200" dirty="0">
                <a:latin typeface="+mn-ea"/>
              </a:rPr>
              <a:t>(x, λ)</a:t>
            </a:r>
            <a:r>
              <a:rPr lang="ko-KR" altLang="en-US" sz="3200" dirty="0">
                <a:latin typeface="+mn-ea"/>
              </a:rPr>
              <a:t>를 찾으려고 도는 루프</a:t>
            </a:r>
            <a:endParaRPr lang="en-US" altLang="ko-KR" sz="3200" dirty="0">
              <a:latin typeface="+mn-ea"/>
            </a:endParaRPr>
          </a:p>
          <a:p>
            <a:pPr marL="914400" lvl="1" indent="-457200">
              <a:lnSpc>
                <a:spcPct val="200000"/>
              </a:lnSpc>
              <a:buFont typeface="Arial" panose="020B0604020202020204" pitchFamily="34" charset="0"/>
              <a:buChar char="•"/>
            </a:pPr>
            <a:endParaRPr lang="en-US" altLang="ko-KR" sz="3200" dirty="0">
              <a:latin typeface="+mn-ea"/>
            </a:endParaRPr>
          </a:p>
          <a:p>
            <a:pPr marL="914400" lvl="1" indent="-457200">
              <a:lnSpc>
                <a:spcPct val="200000"/>
              </a:lnSpc>
              <a:buFont typeface="Arial" panose="020B0604020202020204" pitchFamily="34" charset="0"/>
              <a:buChar char="•"/>
            </a:pPr>
            <a:r>
              <a:rPr lang="ko-KR" altLang="en-US" sz="3200" b="1" dirty="0">
                <a:latin typeface="+mn-ea"/>
              </a:rPr>
              <a:t>“</a:t>
            </a:r>
            <a:r>
              <a:rPr lang="en-US" altLang="ko-KR" sz="3200" b="1" dirty="0">
                <a:latin typeface="+mn-ea"/>
              </a:rPr>
              <a:t>KKT </a:t>
            </a:r>
            <a:r>
              <a:rPr lang="ko-KR" altLang="en-US" sz="3200" b="1" dirty="0">
                <a:latin typeface="+mn-ea"/>
              </a:rPr>
              <a:t>조건을 만족하는 </a:t>
            </a:r>
            <a:r>
              <a:rPr lang="en-US" altLang="ko-KR" sz="3200" b="1" dirty="0">
                <a:latin typeface="+mn-ea"/>
              </a:rPr>
              <a:t>(x, λ)”</a:t>
            </a:r>
            <a:r>
              <a:rPr lang="ko-KR" altLang="en-US" sz="3200" b="1" dirty="0">
                <a:latin typeface="+mn-ea"/>
              </a:rPr>
              <a:t>를 찾는 알고리즘</a:t>
            </a:r>
            <a:endParaRPr lang="en-US" altLang="ko-KR" sz="3200" b="1" dirty="0">
              <a:latin typeface="+mn-ea"/>
            </a:endParaRPr>
          </a:p>
        </p:txBody>
      </p:sp>
      <p:pic>
        <p:nvPicPr>
          <p:cNvPr id="6" name="그림 5">
            <a:extLst>
              <a:ext uri="{FF2B5EF4-FFF2-40B4-BE49-F238E27FC236}">
                <a16:creationId xmlns:a16="http://schemas.microsoft.com/office/drawing/2014/main" id="{3DB667FF-F11C-3E99-4938-B1B6CE65735C}"/>
              </a:ext>
            </a:extLst>
          </p:cNvPr>
          <p:cNvPicPr>
            <a:picLocks noChangeAspect="1"/>
          </p:cNvPicPr>
          <p:nvPr/>
        </p:nvPicPr>
        <p:blipFill>
          <a:blip r:embed="rId2"/>
          <a:stretch>
            <a:fillRect/>
          </a:stretch>
        </p:blipFill>
        <p:spPr>
          <a:xfrm>
            <a:off x="2895600" y="3275191"/>
            <a:ext cx="13551732" cy="735841"/>
          </a:xfrm>
          <a:prstGeom prst="rect">
            <a:avLst/>
          </a:prstGeom>
          <a:ln>
            <a:solidFill>
              <a:schemeClr val="tx1"/>
            </a:solidFill>
          </a:ln>
        </p:spPr>
      </p:pic>
    </p:spTree>
    <p:extLst>
      <p:ext uri="{BB962C8B-B14F-4D97-AF65-F5344CB8AC3E}">
        <p14:creationId xmlns:p14="http://schemas.microsoft.com/office/powerpoint/2010/main" val="2075069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BE6AA-FFA3-48B4-7B1C-68DB9FD700E5}"/>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0D9D3DEF-C389-CAD5-87C7-B817385C8776}"/>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F0C276CB-33E5-3061-E0D3-1B5C42783671}"/>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13653CB-E0E5-95EC-878F-8D857FD09957}"/>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DBB6EE6-6443-9553-A962-EDF91402A15A}"/>
              </a:ext>
            </a:extLst>
          </p:cNvPr>
          <p:cNvSpPr txBox="1"/>
          <p:nvPr/>
        </p:nvSpPr>
        <p:spPr>
          <a:xfrm>
            <a:off x="1600200" y="2253735"/>
            <a:ext cx="21717000" cy="8122480"/>
          </a:xfrm>
          <a:prstGeom prst="rect">
            <a:avLst/>
          </a:prstGeom>
          <a:noFill/>
        </p:spPr>
        <p:txBody>
          <a:bodyPr wrap="square">
            <a:spAutoFit/>
          </a:bodyPr>
          <a:lstStyle/>
          <a:p>
            <a:pPr lvl="1">
              <a:lnSpc>
                <a:spcPct val="150000"/>
              </a:lnSpc>
            </a:pPr>
            <a:r>
              <a:rPr lang="ko-KR" altLang="en-US" sz="3200" b="1" dirty="0">
                <a:latin typeface="+mn-ea"/>
              </a:rPr>
              <a:t>계산을 통해 </a:t>
            </a:r>
            <a:r>
              <a:rPr lang="en-US" altLang="ko-KR" sz="3200" b="1" dirty="0">
                <a:latin typeface="+mn-ea"/>
              </a:rPr>
              <a:t>x </a:t>
            </a:r>
            <a:r>
              <a:rPr lang="ko-KR" altLang="en-US" sz="3200" b="1" dirty="0">
                <a:latin typeface="+mn-ea"/>
              </a:rPr>
              <a:t>구하기</a:t>
            </a: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r>
              <a:rPr lang="en-US" altLang="ko-KR" sz="3200" b="1" dirty="0">
                <a:latin typeface="+mn-ea"/>
              </a:rPr>
              <a:t>KKT</a:t>
            </a:r>
            <a:r>
              <a:rPr lang="ko-KR" altLang="en-US" sz="3200" b="1" dirty="0">
                <a:latin typeface="+mn-ea"/>
              </a:rPr>
              <a:t> </a:t>
            </a:r>
            <a:r>
              <a:rPr lang="en-US" altLang="ko-KR" sz="3200" b="1" dirty="0">
                <a:latin typeface="+mn-ea"/>
              </a:rPr>
              <a:t>4</a:t>
            </a:r>
            <a:r>
              <a:rPr lang="ko-KR" altLang="en-US" sz="3200" b="1" dirty="0">
                <a:latin typeface="+mn-ea"/>
              </a:rPr>
              <a:t>가지 조건</a:t>
            </a: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p:txBody>
      </p:sp>
      <p:pic>
        <p:nvPicPr>
          <p:cNvPr id="7" name="그림 6" descr="\documentclass{article}&#10;\usepackage{amsmath}&#10;\pagestyle{empty}&#10;\begin{document}&#10;&#10;&#10;$&#10;g(x) := A_{\mathrm{in}} x - b_{\mathrm{in}} \le 0&#10;$&#10;&#10;\end{document}" title="IguanaTex Bitmap Display">
            <a:extLst>
              <a:ext uri="{FF2B5EF4-FFF2-40B4-BE49-F238E27FC236}">
                <a16:creationId xmlns:a16="http://schemas.microsoft.com/office/drawing/2014/main" id="{98BF4D35-A282-4A94-CEB2-379E5A9F868C}"/>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6248400" y="3885200"/>
            <a:ext cx="5136000" cy="534400"/>
          </a:xfrm>
          <a:prstGeom prst="rect">
            <a:avLst/>
          </a:prstGeom>
        </p:spPr>
      </p:pic>
      <p:pic>
        <p:nvPicPr>
          <p:cNvPr id="9" name="그림 8" descr="\documentclass{article}&#10;\usepackage{amsmath}&#10;\pagestyle{empty}&#10;\begin{document}&#10;&#10;&#10;$&#10;\textbf{Stationarity:}\quad&#10;H x^{\star} + g&#10;+ A_{\mathrm{eq}}^{\top} \lambda_{\mathrm{eq}}^{\star}&#10;+ A_{\mathrm{in}}^{\top} \lambda_{\mathrm{in}}^{\star}&#10;= 0&#10;$&#10;&#10;\end{document}" title="IguanaTex Bitmap Display">
            <a:extLst>
              <a:ext uri="{FF2B5EF4-FFF2-40B4-BE49-F238E27FC236}">
                <a16:creationId xmlns:a16="http://schemas.microsoft.com/office/drawing/2014/main" id="{01C13C93-CCBA-D38E-E570-C1C2AD2B653A}"/>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rcRect r="67108" b="18536"/>
          <a:stretch>
            <a:fillRect/>
          </a:stretch>
        </p:blipFill>
        <p:spPr>
          <a:xfrm>
            <a:off x="2590800" y="5658975"/>
            <a:ext cx="3657600" cy="534400"/>
          </a:xfrm>
          <a:prstGeom prst="rect">
            <a:avLst/>
          </a:prstGeom>
        </p:spPr>
      </p:pic>
      <p:pic>
        <p:nvPicPr>
          <p:cNvPr id="17" name="그림 16" descr="\documentclass{article}&#10;\usepackage{amsmath}&#10;\pagestyle{empty}&#10;\begin{document}&#10;&#10;&#10;$&#10;L(x,\lambda_{\mathrm{eq}},\lambda_{\mathrm{in}})&#10;=&#10;f(x)&#10;+&#10;\lambda_{\mathrm{eq}}^{\top}\bigl(A_{\mathrm{eq}} x - b_{\mathrm{eq}}\bigr)&#10;+&#10;\lambda_{\mathrm{in}}^{\top}\bigl(A_{\mathrm{in}} x - b_{\mathrm{in}}\bigr)&#10;$&#10;&#10;\end{document}" title="IguanaTex Bitmap Display">
            <a:extLst>
              <a:ext uri="{FF2B5EF4-FFF2-40B4-BE49-F238E27FC236}">
                <a16:creationId xmlns:a16="http://schemas.microsoft.com/office/drawing/2014/main" id="{CF3C24B6-2045-63A3-712F-D4D9681ABB73}"/>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2590800" y="7686395"/>
            <a:ext cx="13145600" cy="659200"/>
          </a:xfrm>
          <a:prstGeom prst="rect">
            <a:avLst/>
          </a:prstGeom>
        </p:spPr>
      </p:pic>
      <p:pic>
        <p:nvPicPr>
          <p:cNvPr id="19" name="그림 18" descr="\documentclass{article}&#10;\usepackage{amsmath}&#10;\pagestyle{empty}&#10;\begin{document}&#10;&#10;&#10;$&#10;\nabla_{x} L(x,\lambda_{\mathrm{eq}},\lambda_{\mathrm{in}})&#10;=&#10;H x + g&#10;+ A_{\mathrm{eq}}^{\top} \lambda_{\mathrm{eq}}&#10;+ A_{\mathrm{in}}^{\top} \lambda_{\mathrm{in}}&#10;$&#10;&#10;\end{document}" title="IguanaTex Bitmap Display">
            <a:extLst>
              <a:ext uri="{FF2B5EF4-FFF2-40B4-BE49-F238E27FC236}">
                <a16:creationId xmlns:a16="http://schemas.microsoft.com/office/drawing/2014/main" id="{BE03B188-4B03-9555-F8A5-0BEE14520379}"/>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590800" y="9196260"/>
            <a:ext cx="10412800" cy="656000"/>
          </a:xfrm>
          <a:prstGeom prst="rect">
            <a:avLst/>
          </a:prstGeom>
        </p:spPr>
      </p:pic>
      <p:pic>
        <p:nvPicPr>
          <p:cNvPr id="21" name="그림 20" descr="\documentclass{article}&#10;\usepackage{amsmath}&#10;\pagestyle{empty}&#10;\begin{document}&#10;&#10;&#10;$&#10;\nabla_{x} L(x^{\star},\lambda_{\mathrm{eq}}^{\star},\lambda_{\mathrm{in}}^{\star}) = 0&#10;$&#10;&#10;\end{document}" title="IguanaTex Bitmap Display">
            <a:extLst>
              <a:ext uri="{FF2B5EF4-FFF2-40B4-BE49-F238E27FC236}">
                <a16:creationId xmlns:a16="http://schemas.microsoft.com/office/drawing/2014/main" id="{AF10BBEC-B0B2-C134-E72A-8A5747387B2C}"/>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6378000" y="5727205"/>
            <a:ext cx="4876800" cy="604800"/>
          </a:xfrm>
          <a:prstGeom prst="rect">
            <a:avLst/>
          </a:prstGeom>
        </p:spPr>
      </p:pic>
      <p:pic>
        <p:nvPicPr>
          <p:cNvPr id="22" name="그림 21" descr="\documentclass{article}&#10;\usepackage{amsmath}&#10;\pagestyle{empty}&#10;\begin{document}&#10;&#10;&#10;$&#10;\textbf{Stationarity:}\quad&#10;H x^{\star} + g&#10;+ A_{\mathrm{eq}}^{\top} \lambda_{\mathrm{eq}}^{\star}&#10;+ A_{\mathrm{in}}^{\top} \lambda_{\mathrm{in}}^{\star}&#10;= 0&#10;$&#10;&#10;\end{document}" title="IguanaTex Bitmap Display">
            <a:extLst>
              <a:ext uri="{FF2B5EF4-FFF2-40B4-BE49-F238E27FC236}">
                <a16:creationId xmlns:a16="http://schemas.microsoft.com/office/drawing/2014/main" id="{91C9F5F7-9B56-4DCB-5039-92EF3CF868B3}"/>
              </a:ext>
            </a:extLst>
          </p:cNvPr>
          <p:cNvPicPr>
            <a:picLocks noChangeAspect="1"/>
          </p:cNvPicPr>
          <p:nvPr>
            <p:custDataLst>
              <p:tags r:id="rId6"/>
            </p:custDataLst>
          </p:nvPr>
        </p:nvPicPr>
        <p:blipFill>
          <a:blip r:embed="rId9" cstate="print">
            <a:extLst>
              <a:ext uri="{28A0092B-C50C-407E-A947-70E740481C1C}">
                <a14:useLocalDpi xmlns:a14="http://schemas.microsoft.com/office/drawing/2010/main" val="0"/>
              </a:ext>
            </a:extLst>
          </a:blip>
          <a:srcRect l="32892" t="-12030"/>
          <a:stretch>
            <a:fillRect/>
          </a:stretch>
        </p:blipFill>
        <p:spPr>
          <a:xfrm>
            <a:off x="2286000" y="10662292"/>
            <a:ext cx="7462400" cy="734915"/>
          </a:xfrm>
          <a:prstGeom prst="rect">
            <a:avLst/>
          </a:prstGeom>
        </p:spPr>
      </p:pic>
    </p:spTree>
    <p:extLst>
      <p:ext uri="{BB962C8B-B14F-4D97-AF65-F5344CB8AC3E}">
        <p14:creationId xmlns:p14="http://schemas.microsoft.com/office/powerpoint/2010/main" val="1575261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A1D8D-FB96-75E9-DF4E-706FF40C186C}"/>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5A8FF219-F5B5-ECF9-4B6B-1FD8535F553A}"/>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80CEEFCD-8E93-A2FE-C905-0A87635F708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547072F-EE99-EE4B-C3BE-311A97A5ADEA}"/>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 </a:t>
            </a:r>
            <a:r>
              <a:rPr lang="en-US" altLang="ko-KR" sz="6000" b="1" dirty="0">
                <a:solidFill>
                  <a:srgbClr val="000000"/>
                </a:solidFill>
                <a:latin typeface="Arial" panose="020B0604020202020204" pitchFamily="34" charset="0"/>
                <a:cs typeface="Arial" panose="020B0604020202020204" pitchFamily="34" charset="0"/>
              </a:rPr>
              <a:t>- </a:t>
            </a:r>
            <a:r>
              <a:rPr lang="en-US" altLang="ko-KR" sz="6000" b="1" i="0" u="none" strike="noStrike" dirty="0" err="1">
                <a:solidFill>
                  <a:srgbClr val="000000"/>
                </a:solidFill>
                <a:latin typeface="Arial" panose="020B0604020202020204" pitchFamily="34" charset="0"/>
                <a:cs typeface="Arial" panose="020B0604020202020204" pitchFamily="34" charset="0"/>
              </a:rPr>
              <a:t>run_sim</a:t>
            </a:r>
            <a:r>
              <a:rPr lang="en-US" altLang="ko-KR" sz="6000" b="1" i="0" u="none" strike="noStrike" dirty="0">
                <a:solidFill>
                  <a:srgbClr val="000000"/>
                </a:solidFill>
                <a:latin typeface="Arial" panose="020B0604020202020204" pitchFamily="34" charset="0"/>
                <a:cs typeface="Arial" panose="020B0604020202020204" pitchFamily="34" charset="0"/>
              </a:rPr>
              <a:t>()</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80C7918-5122-A151-4F5C-9A0F47FE53D4}"/>
              </a:ext>
            </a:extLst>
          </p:cNvPr>
          <p:cNvSpPr txBox="1"/>
          <p:nvPr/>
        </p:nvSpPr>
        <p:spPr>
          <a:xfrm>
            <a:off x="1600200" y="2253735"/>
            <a:ext cx="21717000" cy="8122480"/>
          </a:xfrm>
          <a:prstGeom prst="rect">
            <a:avLst/>
          </a:prstGeom>
          <a:noFill/>
        </p:spPr>
        <p:txBody>
          <a:bodyPr wrap="square">
            <a:spAutoFit/>
          </a:bodyPr>
          <a:lstStyle/>
          <a:p>
            <a:pPr lvl="1">
              <a:lnSpc>
                <a:spcPct val="150000"/>
              </a:lnSpc>
            </a:pPr>
            <a:r>
              <a:rPr lang="ko-KR" altLang="en-US" sz="3200" b="1" dirty="0">
                <a:latin typeface="+mn-ea"/>
              </a:rPr>
              <a:t>계산을 통해 </a:t>
            </a:r>
            <a:r>
              <a:rPr lang="en-US" altLang="ko-KR" sz="3200" b="1" dirty="0">
                <a:latin typeface="+mn-ea"/>
              </a:rPr>
              <a:t>x </a:t>
            </a:r>
            <a:r>
              <a:rPr lang="ko-KR" altLang="en-US" sz="3200" b="1" dirty="0">
                <a:latin typeface="+mn-ea"/>
              </a:rPr>
              <a:t>구하기</a:t>
            </a: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r>
              <a:rPr lang="en-US" altLang="ko-KR" sz="3200" b="1" dirty="0">
                <a:latin typeface="+mn-ea"/>
              </a:rPr>
              <a:t>KKT</a:t>
            </a:r>
            <a:r>
              <a:rPr lang="ko-KR" altLang="en-US" sz="3200" b="1" dirty="0">
                <a:latin typeface="+mn-ea"/>
              </a:rPr>
              <a:t> </a:t>
            </a:r>
            <a:r>
              <a:rPr lang="en-US" altLang="ko-KR" sz="3200" b="1" dirty="0">
                <a:latin typeface="+mn-ea"/>
              </a:rPr>
              <a:t>4</a:t>
            </a:r>
            <a:r>
              <a:rPr lang="ko-KR" altLang="en-US" sz="3200" b="1" dirty="0">
                <a:latin typeface="+mn-ea"/>
              </a:rPr>
              <a:t>가지 조건</a:t>
            </a: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p:txBody>
      </p:sp>
      <p:pic>
        <p:nvPicPr>
          <p:cNvPr id="7" name="그림 6" descr="\documentclass{article}&#10;\usepackage{amsmath}&#10;\pagestyle{empty}&#10;\begin{document}&#10;&#10;&#10;$&#10;g(x) := A_{\mathrm{in}} x - b_{\mathrm{in}} \le 0&#10;$&#10;&#10;\end{document}" title="IguanaTex Bitmap Display">
            <a:extLst>
              <a:ext uri="{FF2B5EF4-FFF2-40B4-BE49-F238E27FC236}">
                <a16:creationId xmlns:a16="http://schemas.microsoft.com/office/drawing/2014/main" id="{AD7CB7CA-F7F3-4440-F99C-5ADCABBC863D}"/>
              </a:ext>
            </a:extLst>
          </p:cNvPr>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6248400" y="3885200"/>
            <a:ext cx="5136000" cy="534400"/>
          </a:xfrm>
          <a:prstGeom prst="rect">
            <a:avLst/>
          </a:prstGeom>
        </p:spPr>
      </p:pic>
      <p:pic>
        <p:nvPicPr>
          <p:cNvPr id="11" name="그림 10" descr="\documentclass{article}&#10;\usepackage{amsmath}&#10;\pagestyle{empty}&#10;\begin{document}&#10;&#10;&#10;$&#10;\textbf{Primal feasibility:}\quad&#10;A_{\mathrm{eq}} x^{\star} = b_{\mathrm{eq}},&#10;\qquad&#10;A_{\mathrm{in}} x^{\star} \le b_{\mathrm{in}}&#10;$&#10;&#10;\end{document}" title="IguanaTex Bitmap Display">
            <a:extLst>
              <a:ext uri="{FF2B5EF4-FFF2-40B4-BE49-F238E27FC236}">
                <a16:creationId xmlns:a16="http://schemas.microsoft.com/office/drawing/2014/main" id="{1453443B-B79B-E5B3-3F75-1A3ABA2E89B2}"/>
              </a:ext>
            </a:extLst>
          </p:cNvPr>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2590800" y="7201080"/>
            <a:ext cx="11929600" cy="534400"/>
          </a:xfrm>
          <a:prstGeom prst="rect">
            <a:avLst/>
          </a:prstGeom>
        </p:spPr>
      </p:pic>
      <p:pic>
        <p:nvPicPr>
          <p:cNvPr id="13" name="그림 12" descr="\documentclass{article}&#10;\usepackage{amsmath}&#10;\pagestyle{empty}&#10;\begin{document}&#10;&#10;&#10;$&#10;\textbf{Dual feasibility:}\quad&#10;\lambda_{\mathrm{in}}^{\star} \ge 0&#10;$&#10;&#10;\end{document}" title="IguanaTex Bitmap Display">
            <a:extLst>
              <a:ext uri="{FF2B5EF4-FFF2-40B4-BE49-F238E27FC236}">
                <a16:creationId xmlns:a16="http://schemas.microsoft.com/office/drawing/2014/main" id="{9370D628-F2E4-5BF4-CB52-185060863CF5}"/>
              </a:ext>
            </a:extLst>
          </p:cNvPr>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2590800" y="8790873"/>
            <a:ext cx="6371200" cy="515200"/>
          </a:xfrm>
          <a:prstGeom prst="rect">
            <a:avLst/>
          </a:prstGeom>
        </p:spPr>
      </p:pic>
      <p:pic>
        <p:nvPicPr>
          <p:cNvPr id="15" name="그림 14" descr="\documentclass{article}&#10;\usepackage{amsmath}&#10;\pagestyle{empty}&#10;\begin{document}&#10;&#10;&#10;$&#10;\textbf{Complementary slackness:}\quad&#10;\lambda_{\mathrm{in},i}^{\star}&#10;\bigl(&#10;  A_{\mathrm{in},i} x^{\star} - b_{\mathrm{in},i}&#10;\bigr)&#10;= 0,&#10;\quad \forall i&#10;$&#10;&#10;\end{document}" title="IguanaTex Bitmap Display">
            <a:extLst>
              <a:ext uri="{FF2B5EF4-FFF2-40B4-BE49-F238E27FC236}">
                <a16:creationId xmlns:a16="http://schemas.microsoft.com/office/drawing/2014/main" id="{6FD8989D-795C-25F4-5977-DC1FC3ED400D}"/>
              </a:ext>
            </a:extLst>
          </p:cNvPr>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2590800" y="10327102"/>
            <a:ext cx="14310400" cy="668800"/>
          </a:xfrm>
          <a:prstGeom prst="rect">
            <a:avLst/>
          </a:prstGeom>
        </p:spPr>
      </p:pic>
      <p:pic>
        <p:nvPicPr>
          <p:cNvPr id="5" name="그림 4" descr="\documentclass{article}&#10;\usepackage{amsmath}&#10;\pagestyle{empty}&#10;\begin{document}&#10;&#10;&#10;$&#10;\textbf{Stationarity:}\quad&#10;H x^{\star} + g&#10;+ A_{\mathrm{eq}}^{\top} \lambda_{\mathrm{eq}}^{\star}&#10;+ A_{\mathrm{in}}^{\top} \lambda_{\mathrm{in}}^{\star}&#10;= 0&#10;$&#10;&#10;\end{document}" title="IguanaTex Bitmap Display">
            <a:extLst>
              <a:ext uri="{FF2B5EF4-FFF2-40B4-BE49-F238E27FC236}">
                <a16:creationId xmlns:a16="http://schemas.microsoft.com/office/drawing/2014/main" id="{75E2E3A4-67B5-37B2-AA2C-68D14C9CA203}"/>
              </a:ext>
            </a:extLst>
          </p:cNvPr>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rcRect r="67108" b="18536"/>
          <a:stretch>
            <a:fillRect/>
          </a:stretch>
        </p:blipFill>
        <p:spPr>
          <a:xfrm>
            <a:off x="2590800" y="5658975"/>
            <a:ext cx="3657600" cy="534400"/>
          </a:xfrm>
          <a:prstGeom prst="rect">
            <a:avLst/>
          </a:prstGeom>
        </p:spPr>
      </p:pic>
      <p:pic>
        <p:nvPicPr>
          <p:cNvPr id="6" name="그림 5" descr="\documentclass{article}&#10;\usepackage{amsmath}&#10;\pagestyle{empty}&#10;\begin{document}&#10;&#10;&#10;$&#10;\nabla_{x} L(x^{\star},\lambda_{\mathrm{eq}}^{\star},\lambda_{\mathrm{in}}^{\star}) = 0&#10;$&#10;&#10;\end{document}" title="IguanaTex Bitmap Display">
            <a:extLst>
              <a:ext uri="{FF2B5EF4-FFF2-40B4-BE49-F238E27FC236}">
                <a16:creationId xmlns:a16="http://schemas.microsoft.com/office/drawing/2014/main" id="{730DAE50-7986-3D11-BD21-9A4823FCA4E5}"/>
              </a:ext>
            </a:extLst>
          </p:cNvPr>
          <p:cNvPicPr>
            <a:picLocks noChangeAspect="1"/>
          </p:cNvPicPr>
          <p:nvPr>
            <p:custDataLst>
              <p:tags r:id="rId6"/>
            </p:custDataLst>
          </p:nvPr>
        </p:nvPicPr>
        <p:blipFill>
          <a:blip r:embed="rId13" cstate="print">
            <a:extLst>
              <a:ext uri="{28A0092B-C50C-407E-A947-70E740481C1C}">
                <a14:useLocalDpi xmlns:a14="http://schemas.microsoft.com/office/drawing/2010/main" val="0"/>
              </a:ext>
            </a:extLst>
          </a:blip>
          <a:stretch>
            <a:fillRect/>
          </a:stretch>
        </p:blipFill>
        <p:spPr>
          <a:xfrm>
            <a:off x="6378000" y="5727205"/>
            <a:ext cx="4876800" cy="604800"/>
          </a:xfrm>
          <a:prstGeom prst="rect">
            <a:avLst/>
          </a:prstGeom>
        </p:spPr>
      </p:pic>
    </p:spTree>
    <p:extLst>
      <p:ext uri="{BB962C8B-B14F-4D97-AF65-F5344CB8AC3E}">
        <p14:creationId xmlns:p14="http://schemas.microsoft.com/office/powerpoint/2010/main" val="178254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54CA-B618-9443-ED77-188702111C08}"/>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9664BC0F-DF35-2BD5-F276-1DF77AAE4968}"/>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C067EDA1-16F9-D040-10E1-1AB9A19240E2}"/>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A4F000E1-E627-1A68-D2DF-5DA105403AED}"/>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9A93304E-F906-DA99-4B69-40EB598DA150}"/>
              </a:ext>
            </a:extLst>
          </p:cNvPr>
          <p:cNvSpPr txBox="1"/>
          <p:nvPr/>
        </p:nvSpPr>
        <p:spPr>
          <a:xfrm>
            <a:off x="1600200" y="2253735"/>
            <a:ext cx="21717000" cy="8614922"/>
          </a:xfrm>
          <a:prstGeom prst="rect">
            <a:avLst/>
          </a:prstGeom>
          <a:noFill/>
        </p:spPr>
        <p:txBody>
          <a:bodyPr wrap="square">
            <a:spAutoFit/>
          </a:bodyPr>
          <a:lstStyle/>
          <a:p>
            <a:pPr lvl="1">
              <a:lnSpc>
                <a:spcPct val="150000"/>
              </a:lnSpc>
            </a:pPr>
            <a:r>
              <a:rPr lang="ko-KR" altLang="en-US" sz="3200" b="1" dirty="0">
                <a:latin typeface="+mn-ea"/>
              </a:rPr>
              <a:t>이렇게 최종 구하고자 하는 토크를 구했다</a:t>
            </a:r>
            <a:endParaRPr lang="en-US" altLang="ko-KR" sz="3200" b="1" dirty="0">
              <a:latin typeface="+mn-ea"/>
            </a:endParaRPr>
          </a:p>
          <a:p>
            <a:pPr lvl="1">
              <a:lnSpc>
                <a:spcPct val="150000"/>
              </a:lnSpc>
            </a:pPr>
            <a:endParaRPr lang="en-US" altLang="ko-KR" sz="3200" b="1" dirty="0">
              <a:latin typeface="+mn-ea"/>
            </a:endParaRPr>
          </a:p>
          <a:p>
            <a:pPr marL="971550" lvl="1" indent="-514350">
              <a:lnSpc>
                <a:spcPct val="150000"/>
              </a:lnSpc>
              <a:buAutoNum type="arabicPeriod"/>
            </a:pPr>
            <a:r>
              <a:rPr lang="ko-KR" altLang="en-US" sz="3200" b="1" dirty="0">
                <a:latin typeface="+mn-ea"/>
              </a:rPr>
              <a:t>실제 로봇 </a:t>
            </a:r>
            <a:endParaRPr lang="en-US" altLang="ko-KR" sz="3200" b="1" dirty="0">
              <a:latin typeface="+mn-ea"/>
            </a:endParaRPr>
          </a:p>
          <a:p>
            <a:pPr marL="971550" lvl="1" indent="-514350">
              <a:lnSpc>
                <a:spcPct val="150000"/>
              </a:lnSpc>
              <a:buAutoNum type="arabicPeriod"/>
            </a:pPr>
            <a:endParaRPr lang="en-US" altLang="ko-KR" sz="3200" dirty="0">
              <a:latin typeface="+mn-ea"/>
            </a:endParaRPr>
          </a:p>
          <a:p>
            <a:pPr marL="914400" lvl="1" indent="-457200">
              <a:lnSpc>
                <a:spcPct val="200000"/>
              </a:lnSpc>
              <a:buFont typeface="Arial" panose="020B0604020202020204" pitchFamily="34" charset="0"/>
              <a:buChar char="•"/>
            </a:pPr>
            <a:r>
              <a:rPr lang="ko-KR" altLang="en-US" sz="3200" dirty="0">
                <a:latin typeface="+mn-ea"/>
              </a:rPr>
              <a:t> 제어기가 모터 드라이버에 토크 명령 </a:t>
            </a:r>
            <a:r>
              <a:rPr lang="en-US" altLang="ko-KR" sz="3200" dirty="0">
                <a:latin typeface="+mn-ea"/>
              </a:rPr>
              <a:t>τ</a:t>
            </a:r>
            <a:r>
              <a:rPr lang="ko-KR" altLang="en-US" sz="3200" dirty="0">
                <a:latin typeface="+mn-ea"/>
              </a:rPr>
              <a:t>을 보낸다</a:t>
            </a:r>
            <a:r>
              <a:rPr lang="en-US" altLang="ko-KR" sz="3200" dirty="0">
                <a:latin typeface="+mn-ea"/>
              </a:rPr>
              <a:t>.</a:t>
            </a:r>
          </a:p>
          <a:p>
            <a:pPr marL="914400" lvl="1" indent="-457200">
              <a:lnSpc>
                <a:spcPct val="200000"/>
              </a:lnSpc>
              <a:buFont typeface="Arial" panose="020B0604020202020204" pitchFamily="34" charset="0"/>
              <a:buChar char="•"/>
            </a:pPr>
            <a:r>
              <a:rPr lang="ko-KR" altLang="en-US" sz="3200" dirty="0">
                <a:latin typeface="+mn-ea"/>
              </a:rPr>
              <a:t>로봇 본체</a:t>
            </a:r>
            <a:r>
              <a:rPr lang="en-US" altLang="ko-KR" sz="3200" dirty="0">
                <a:latin typeface="+mn-ea"/>
              </a:rPr>
              <a:t>(</a:t>
            </a:r>
            <a:r>
              <a:rPr lang="ko-KR" altLang="en-US" sz="3200" dirty="0">
                <a:latin typeface="+mn-ea"/>
              </a:rPr>
              <a:t>질량</a:t>
            </a:r>
            <a:r>
              <a:rPr lang="en-US" altLang="ko-KR" sz="3200" dirty="0">
                <a:latin typeface="+mn-ea"/>
              </a:rPr>
              <a:t>, </a:t>
            </a:r>
            <a:r>
              <a:rPr lang="ko-KR" altLang="en-US" sz="3200" dirty="0">
                <a:latin typeface="+mn-ea"/>
              </a:rPr>
              <a:t>관성</a:t>
            </a:r>
            <a:r>
              <a:rPr lang="en-US" altLang="ko-KR" sz="3200" dirty="0">
                <a:latin typeface="+mn-ea"/>
              </a:rPr>
              <a:t>, </a:t>
            </a:r>
            <a:r>
              <a:rPr lang="ko-KR" altLang="en-US" sz="3200" dirty="0">
                <a:latin typeface="+mn-ea"/>
              </a:rPr>
              <a:t>링크</a:t>
            </a:r>
            <a:r>
              <a:rPr lang="en-US" altLang="ko-KR" sz="3200" dirty="0">
                <a:latin typeface="+mn-ea"/>
              </a:rPr>
              <a:t>, </a:t>
            </a:r>
            <a:r>
              <a:rPr lang="ko-KR" altLang="en-US" sz="3200" dirty="0">
                <a:latin typeface="+mn-ea"/>
              </a:rPr>
              <a:t>중력</a:t>
            </a:r>
            <a:r>
              <a:rPr lang="en-US" altLang="ko-KR" sz="3200" dirty="0">
                <a:latin typeface="+mn-ea"/>
              </a:rPr>
              <a:t>, </a:t>
            </a:r>
            <a:r>
              <a:rPr lang="ko-KR" altLang="en-US" sz="3200" dirty="0">
                <a:latin typeface="+mn-ea"/>
              </a:rPr>
              <a:t>마찰</a:t>
            </a:r>
            <a:r>
              <a:rPr lang="en-US" altLang="ko-KR" sz="3200" dirty="0">
                <a:latin typeface="+mn-ea"/>
              </a:rPr>
              <a:t>, </a:t>
            </a:r>
            <a:r>
              <a:rPr lang="ko-KR" altLang="en-US" sz="3200" dirty="0">
                <a:latin typeface="+mn-ea"/>
              </a:rPr>
              <a:t>접촉 등</a:t>
            </a:r>
            <a:r>
              <a:rPr lang="en-US" altLang="ko-KR" sz="3200" dirty="0">
                <a:latin typeface="+mn-ea"/>
              </a:rPr>
              <a:t>)</a:t>
            </a:r>
            <a:r>
              <a:rPr lang="ko-KR" altLang="en-US" sz="3200" dirty="0">
                <a:latin typeface="+mn-ea"/>
              </a:rPr>
              <a:t>가 물리 법칙에 따라 자동으로                    를 만들어 낸다</a:t>
            </a:r>
            <a:endParaRPr lang="en-US" altLang="ko-KR" sz="3200" dirty="0">
              <a:latin typeface="+mn-ea"/>
            </a:endParaRPr>
          </a:p>
          <a:p>
            <a:pPr marL="914400" lvl="1" indent="-457200">
              <a:lnSpc>
                <a:spcPct val="150000"/>
              </a:lnSpc>
              <a:buFont typeface="Arial" panose="020B0604020202020204" pitchFamily="34" charset="0"/>
              <a:buChar char="•"/>
            </a:pPr>
            <a:endParaRPr lang="en-US" altLang="ko-KR" sz="3200" dirty="0">
              <a:latin typeface="+mn-ea"/>
            </a:endParaRPr>
          </a:p>
          <a:p>
            <a:pPr marL="914400" lvl="1" indent="-457200">
              <a:lnSpc>
                <a:spcPct val="150000"/>
              </a:lnSpc>
              <a:buFont typeface="Arial" panose="020B0604020202020204" pitchFamily="34" charset="0"/>
              <a:buChar char="•"/>
            </a:pPr>
            <a:endParaRPr lang="en-US" altLang="ko-KR" sz="3200" dirty="0">
              <a:latin typeface="+mn-ea"/>
            </a:endParaRPr>
          </a:p>
          <a:p>
            <a:pPr marL="914400" lvl="1" indent="-457200">
              <a:lnSpc>
                <a:spcPct val="150000"/>
              </a:lnSpc>
              <a:buFont typeface="Arial" panose="020B0604020202020204" pitchFamily="34" charset="0"/>
              <a:buChar char="•"/>
            </a:pPr>
            <a:endParaRPr lang="en-US" altLang="ko-KR" sz="3200" dirty="0">
              <a:latin typeface="+mn-ea"/>
            </a:endParaRPr>
          </a:p>
          <a:p>
            <a:pPr marL="914400" lvl="1" indent="-457200">
              <a:lnSpc>
                <a:spcPct val="150000"/>
              </a:lnSpc>
              <a:buFont typeface="Arial" panose="020B0604020202020204" pitchFamily="34" charset="0"/>
              <a:buChar char="•"/>
            </a:pPr>
            <a:r>
              <a:rPr lang="ko-KR" altLang="en-US" sz="3200" b="1" dirty="0"/>
              <a:t>이 식을 직접 계산하는 건 컴퓨터가 아니라 “세상</a:t>
            </a:r>
            <a:r>
              <a:rPr lang="en-US" altLang="ko-KR" sz="3200" b="1" dirty="0"/>
              <a:t>(</a:t>
            </a:r>
            <a:r>
              <a:rPr lang="ko-KR" altLang="en-US" sz="3200" b="1" dirty="0"/>
              <a:t>물리</a:t>
            </a:r>
            <a:r>
              <a:rPr lang="en-US" altLang="ko-KR" sz="3200" b="1" dirty="0"/>
              <a:t>)”</a:t>
            </a:r>
            <a:r>
              <a:rPr lang="ko-KR" altLang="en-US" sz="3200" b="1" dirty="0"/>
              <a:t>이다</a:t>
            </a:r>
            <a:endParaRPr lang="ko-KR" altLang="en-US" sz="3200" b="1"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p:txBody>
      </p:sp>
      <p:pic>
        <p:nvPicPr>
          <p:cNvPr id="17" name="그림 16" descr="\documentclass{article}&#10;\usepackage{amsmath}&#10;\pagestyle{empty}&#10;\begin{document}&#10;&#10;&#10;$&#10;\ddot{q},\quad \dot{q},\quad q&#10;$&#10;&#10;\end{document}" title="IguanaTex Bitmap Display">
            <a:extLst>
              <a:ext uri="{FF2B5EF4-FFF2-40B4-BE49-F238E27FC236}">
                <a16:creationId xmlns:a16="http://schemas.microsoft.com/office/drawing/2014/main" id="{124B4544-9A60-3574-919B-C41D45F676C2}"/>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6992600" y="6561196"/>
            <a:ext cx="2268800" cy="431800"/>
          </a:xfrm>
          <a:prstGeom prst="rect">
            <a:avLst/>
          </a:prstGeom>
        </p:spPr>
      </p:pic>
      <p:pic>
        <p:nvPicPr>
          <p:cNvPr id="19" name="그림 18" descr="\documentclass{article}&#10;\usepackage{amsmath}&#10;\pagestyle{empty}&#10;\begin{document}&#10;&#10;&#10;$&#10;M(q)\,\ddot{q} + h(q,\dot{q}) = \tau&#10;$&#10;&#10;\end{document}" title="IguanaTex Bitmap Display">
            <a:extLst>
              <a:ext uri="{FF2B5EF4-FFF2-40B4-BE49-F238E27FC236}">
                <a16:creationId xmlns:a16="http://schemas.microsoft.com/office/drawing/2014/main" id="{2797E05E-7565-F391-8DD6-1CF03DEB4B8B}"/>
              </a:ext>
            </a:extLst>
          </p:cNvPr>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2414650" y="8610600"/>
            <a:ext cx="4665600" cy="534400"/>
          </a:xfrm>
          <a:prstGeom prst="rect">
            <a:avLst/>
          </a:prstGeom>
        </p:spPr>
      </p:pic>
    </p:spTree>
    <p:extLst>
      <p:ext uri="{BB962C8B-B14F-4D97-AF65-F5344CB8AC3E}">
        <p14:creationId xmlns:p14="http://schemas.microsoft.com/office/powerpoint/2010/main" val="3061025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05103-37CB-3AB4-DC55-BF8BE1D3C630}"/>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AE6DDD77-4F65-6C6C-3B42-670269A02377}"/>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A64CDF61-5171-13BB-9D83-3D833223C9AC}"/>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9E76AA3B-2B98-CABE-E5DF-D7E986907B78}"/>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A0E52477-92B4-E902-B236-1735FA32F7FD}"/>
              </a:ext>
            </a:extLst>
          </p:cNvPr>
          <p:cNvSpPr txBox="1"/>
          <p:nvPr/>
        </p:nvSpPr>
        <p:spPr>
          <a:xfrm>
            <a:off x="1600200" y="2253735"/>
            <a:ext cx="21717000" cy="8861144"/>
          </a:xfrm>
          <a:prstGeom prst="rect">
            <a:avLst/>
          </a:prstGeom>
          <a:noFill/>
        </p:spPr>
        <p:txBody>
          <a:bodyPr wrap="square">
            <a:spAutoFit/>
          </a:bodyPr>
          <a:lstStyle/>
          <a:p>
            <a:pPr lvl="1">
              <a:lnSpc>
                <a:spcPct val="150000"/>
              </a:lnSpc>
            </a:pPr>
            <a:r>
              <a:rPr lang="ko-KR" altLang="en-US" sz="3200" b="1" dirty="0">
                <a:latin typeface="+mn-ea"/>
              </a:rPr>
              <a:t>이렇게 최종 구하고자 하는 토크를 구했다</a:t>
            </a: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en-US" altLang="ko-KR" sz="3200" b="1" dirty="0">
                <a:latin typeface="+mn-ea"/>
              </a:rPr>
              <a:t>2. </a:t>
            </a:r>
            <a:r>
              <a:rPr lang="en-US" altLang="ko-KR" sz="3200" b="1" dirty="0" err="1">
                <a:latin typeface="+mn-ea"/>
              </a:rPr>
              <a:t>MuJoCo</a:t>
            </a:r>
            <a:r>
              <a:rPr lang="en-US" altLang="ko-KR" sz="3200" b="1" dirty="0">
                <a:latin typeface="+mn-ea"/>
              </a:rPr>
              <a:t> </a:t>
            </a:r>
            <a:r>
              <a:rPr lang="ko-KR" altLang="en-US" sz="3200" b="1" dirty="0">
                <a:latin typeface="+mn-ea"/>
              </a:rPr>
              <a:t>시뮬레이터</a:t>
            </a:r>
            <a:r>
              <a:rPr lang="en-US" altLang="ko-KR" sz="3200" b="1" dirty="0">
                <a:latin typeface="+mn-ea"/>
              </a:rPr>
              <a:t> </a:t>
            </a:r>
          </a:p>
          <a:p>
            <a:pPr lvl="1">
              <a:lnSpc>
                <a:spcPct val="150000"/>
              </a:lnSpc>
            </a:pPr>
            <a:endParaRPr lang="en-US" altLang="ko-KR" sz="3200" dirty="0">
              <a:latin typeface="+mn-ea"/>
            </a:endParaRPr>
          </a:p>
          <a:p>
            <a:pPr marL="914400" lvl="1" indent="-457200">
              <a:lnSpc>
                <a:spcPct val="200000"/>
              </a:lnSpc>
              <a:buFont typeface="Arial" panose="020B0604020202020204" pitchFamily="34" charset="0"/>
              <a:buChar char="•"/>
            </a:pPr>
            <a:r>
              <a:rPr lang="ko-KR" altLang="en-US" sz="3200" dirty="0">
                <a:latin typeface="+mn-ea"/>
              </a:rPr>
              <a:t>컨트롤러가 </a:t>
            </a:r>
            <a:r>
              <a:rPr lang="en-US" altLang="ko-KR" sz="3200" dirty="0">
                <a:latin typeface="+mn-ea"/>
              </a:rPr>
              <a:t>τ</a:t>
            </a:r>
            <a:r>
              <a:rPr lang="ko-KR" altLang="en-US" sz="3200" dirty="0">
                <a:latin typeface="+mn-ea"/>
              </a:rPr>
              <a:t>를 계산해서 </a:t>
            </a:r>
            <a:r>
              <a:rPr lang="en-US" altLang="ko-KR" sz="3200" dirty="0">
                <a:latin typeface="+mn-ea"/>
              </a:rPr>
              <a:t>data-&gt;ctrl </a:t>
            </a:r>
            <a:r>
              <a:rPr lang="ko-KR" altLang="en-US" sz="3200" dirty="0">
                <a:latin typeface="+mn-ea"/>
              </a:rPr>
              <a:t>등에 넣어준다</a:t>
            </a:r>
            <a:endParaRPr lang="en-US" altLang="ko-KR" sz="3200" dirty="0">
              <a:latin typeface="+mn-ea"/>
            </a:endParaRPr>
          </a:p>
          <a:p>
            <a:pPr marL="914400" lvl="1" indent="-457200">
              <a:lnSpc>
                <a:spcPct val="200000"/>
              </a:lnSpc>
              <a:buFont typeface="Arial" panose="020B0604020202020204" pitchFamily="34" charset="0"/>
              <a:buChar char="•"/>
            </a:pPr>
            <a:r>
              <a:rPr lang="en-US" altLang="ko-KR" sz="3200" dirty="0" err="1">
                <a:latin typeface="+mn-ea"/>
              </a:rPr>
              <a:t>MuJoCo</a:t>
            </a:r>
            <a:r>
              <a:rPr lang="ko-KR" altLang="en-US" sz="3200" dirty="0">
                <a:latin typeface="+mn-ea"/>
              </a:rPr>
              <a:t>는 내부적으로 관성행렬 </a:t>
            </a:r>
            <a:r>
              <a:rPr lang="en-US" altLang="ko-KR" sz="3200" dirty="0">
                <a:latin typeface="+mn-ea"/>
              </a:rPr>
              <a:t>M(q), </a:t>
            </a:r>
            <a:r>
              <a:rPr lang="ko-KR" altLang="en-US" sz="3200" dirty="0">
                <a:latin typeface="+mn-ea"/>
              </a:rPr>
              <a:t>비선형항 </a:t>
            </a:r>
            <a:r>
              <a:rPr lang="en-US" altLang="ko-KR" sz="3200" dirty="0">
                <a:latin typeface="+mn-ea"/>
              </a:rPr>
              <a:t>h(</a:t>
            </a:r>
            <a:r>
              <a:rPr lang="en-US" altLang="ko-KR" sz="3200" dirty="0" err="1">
                <a:latin typeface="+mn-ea"/>
              </a:rPr>
              <a:t>q,q</a:t>
            </a:r>
            <a:r>
              <a:rPr lang="en-US" altLang="ko-KR" sz="3200" dirty="0">
                <a:latin typeface="+mn-ea"/>
              </a:rPr>
              <a:t>˙) </a:t>
            </a:r>
            <a:r>
              <a:rPr lang="ko-KR" altLang="en-US" sz="3200" dirty="0">
                <a:latin typeface="+mn-ea"/>
              </a:rPr>
              <a:t>계산</a:t>
            </a:r>
          </a:p>
          <a:p>
            <a:pPr marL="914400" lvl="1" indent="-457200">
              <a:lnSpc>
                <a:spcPct val="200000"/>
              </a:lnSpc>
              <a:buFont typeface="Arial" panose="020B0604020202020204" pitchFamily="34" charset="0"/>
              <a:buChar char="•"/>
            </a:pPr>
            <a:r>
              <a:rPr lang="ko-KR" altLang="en-US" sz="3200" dirty="0">
                <a:latin typeface="+mn-ea"/>
              </a:rPr>
              <a:t>알고리즘</a:t>
            </a:r>
            <a:r>
              <a:rPr lang="en-US" altLang="ko-KR" sz="3200" dirty="0">
                <a:latin typeface="+mn-ea"/>
              </a:rPr>
              <a:t>(ABA </a:t>
            </a:r>
            <a:r>
              <a:rPr lang="ko-KR" altLang="en-US" sz="3200" dirty="0">
                <a:latin typeface="+mn-ea"/>
              </a:rPr>
              <a:t>등</a:t>
            </a:r>
            <a:r>
              <a:rPr lang="en-US" altLang="ko-KR" sz="3200" dirty="0">
                <a:latin typeface="+mn-ea"/>
              </a:rPr>
              <a:t>)</a:t>
            </a:r>
            <a:r>
              <a:rPr lang="ko-KR" altLang="en-US" sz="3200" dirty="0">
                <a:latin typeface="+mn-ea"/>
              </a:rPr>
              <a:t>을 통해                                                 와 동등한 </a:t>
            </a:r>
            <a:r>
              <a:rPr lang="en-US" altLang="ko-KR" sz="3200" dirty="0">
                <a:latin typeface="+mn-ea"/>
              </a:rPr>
              <a:t>Forward Dynamics </a:t>
            </a:r>
            <a:r>
              <a:rPr lang="ko-KR" altLang="en-US" sz="3200" dirty="0">
                <a:latin typeface="+mn-ea"/>
              </a:rPr>
              <a:t>계산</a:t>
            </a:r>
            <a:endParaRPr lang="en-US" altLang="ko-KR" sz="3200" dirty="0">
              <a:latin typeface="+mn-ea"/>
            </a:endParaRPr>
          </a:p>
          <a:p>
            <a:pPr marL="914400" lvl="1" indent="-457200">
              <a:lnSpc>
                <a:spcPct val="150000"/>
              </a:lnSpc>
              <a:buFont typeface="Arial" panose="020B0604020202020204" pitchFamily="34" charset="0"/>
              <a:buChar char="•"/>
            </a:pPr>
            <a:endParaRPr lang="en-US" altLang="ko-KR" sz="3200" dirty="0">
              <a:latin typeface="+mn-ea"/>
            </a:endParaRPr>
          </a:p>
          <a:p>
            <a:pPr marL="914400" lvl="1" indent="-457200">
              <a:lnSpc>
                <a:spcPct val="150000"/>
              </a:lnSpc>
              <a:buFont typeface="Arial" panose="020B0604020202020204" pitchFamily="34" charset="0"/>
              <a:buChar char="•"/>
            </a:pPr>
            <a:r>
              <a:rPr lang="ko-KR" altLang="en-US" sz="3200" b="1" dirty="0">
                <a:latin typeface="+mn-ea"/>
              </a:rPr>
              <a:t>사용자는 보통 </a:t>
            </a:r>
            <a:r>
              <a:rPr lang="en-US" altLang="ko-KR" sz="3200" b="1" dirty="0" err="1">
                <a:latin typeface="+mn-ea"/>
              </a:rPr>
              <a:t>mj_step</a:t>
            </a:r>
            <a:r>
              <a:rPr lang="en-US" altLang="ko-KR" sz="3200" b="1" dirty="0">
                <a:latin typeface="+mn-ea"/>
              </a:rPr>
              <a:t>(model, data) </a:t>
            </a:r>
            <a:r>
              <a:rPr lang="ko-KR" altLang="en-US" sz="3200" b="1" dirty="0">
                <a:latin typeface="+mn-ea"/>
              </a:rPr>
              <a:t>같은 함수만 호출하고</a:t>
            </a:r>
            <a:r>
              <a:rPr lang="en-US" altLang="ko-KR" sz="3200" b="1" dirty="0">
                <a:latin typeface="+mn-ea"/>
              </a:rPr>
              <a:t>,forward dynamics </a:t>
            </a:r>
            <a:r>
              <a:rPr lang="ko-KR" altLang="en-US" sz="3200" b="1" dirty="0">
                <a:latin typeface="+mn-ea"/>
              </a:rPr>
              <a:t>수식을 직접 쓰지 않는다</a:t>
            </a:r>
          </a:p>
          <a:p>
            <a:pPr marL="914400" lvl="1" indent="-457200">
              <a:lnSpc>
                <a:spcPct val="150000"/>
              </a:lnSpc>
              <a:buFont typeface="Arial" panose="020B0604020202020204" pitchFamily="34" charset="0"/>
              <a:buChar char="•"/>
            </a:pPr>
            <a:endParaRPr lang="ko-KR" altLang="en-US" sz="3200" dirty="0">
              <a:latin typeface="+mn-ea"/>
            </a:endParaRPr>
          </a:p>
          <a:p>
            <a:pPr marL="914400" lvl="1" indent="-457200">
              <a:lnSpc>
                <a:spcPct val="150000"/>
              </a:lnSpc>
              <a:buFont typeface="Arial" panose="020B0604020202020204" pitchFamily="34" charset="0"/>
              <a:buChar char="•"/>
            </a:pPr>
            <a:endParaRPr lang="en-US" altLang="ko-KR" sz="3200" b="1" dirty="0">
              <a:latin typeface="+mn-ea"/>
            </a:endParaRPr>
          </a:p>
        </p:txBody>
      </p:sp>
      <p:pic>
        <p:nvPicPr>
          <p:cNvPr id="8" name="그림 7" descr="\documentclass{article}&#10;\usepackage{amsmath}&#10;\pagestyle{empty}&#10;\begin{document}&#10;&#10;&#10;$&#10;\ddot{q} = M(q)^{-1}\bigl(\tau - h(q,\dot{q})\bigr)&#10;$&#10;&#10;\end{document}" title="IguanaTex Bitmap Display">
            <a:extLst>
              <a:ext uri="{FF2B5EF4-FFF2-40B4-BE49-F238E27FC236}">
                <a16:creationId xmlns:a16="http://schemas.microsoft.com/office/drawing/2014/main" id="{F1CF24B5-10AC-8F45-25C2-2EA1ADA8A16F}"/>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7696200" y="7391400"/>
            <a:ext cx="6006780" cy="685800"/>
          </a:xfrm>
          <a:prstGeom prst="rect">
            <a:avLst/>
          </a:prstGeom>
        </p:spPr>
      </p:pic>
    </p:spTree>
    <p:extLst>
      <p:ext uri="{BB962C8B-B14F-4D97-AF65-F5344CB8AC3E}">
        <p14:creationId xmlns:p14="http://schemas.microsoft.com/office/powerpoint/2010/main" val="2215856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5F8A8-6630-40DF-40EF-509655A1712A}"/>
            </a:ext>
          </a:extLst>
        </p:cNvPr>
        <p:cNvGrpSpPr/>
        <p:nvPr/>
      </p:nvGrpSpPr>
      <p:grpSpPr>
        <a:xfrm>
          <a:off x="0" y="0"/>
          <a:ext cx="0" cy="0"/>
          <a:chOff x="0" y="0"/>
          <a:chExt cx="0" cy="0"/>
        </a:xfrm>
      </p:grpSpPr>
      <p:sp>
        <p:nvSpPr>
          <p:cNvPr id="2" name="직사각형 1">
            <a:extLst>
              <a:ext uri="{FF2B5EF4-FFF2-40B4-BE49-F238E27FC236}">
                <a16:creationId xmlns:a16="http://schemas.microsoft.com/office/drawing/2014/main" id="{6D4BDCCD-BBF1-6E55-7598-8905697CD470}"/>
              </a:ext>
            </a:extLst>
          </p:cNvPr>
          <p:cNvSpPr/>
          <p:nvPr/>
        </p:nvSpPr>
        <p:spPr>
          <a:xfrm>
            <a:off x="0" y="0"/>
            <a:ext cx="821042" cy="1371600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34149C18-CEF7-1CDE-9FA5-457C6A2F360E}"/>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F63D3749-10BC-4339-C793-CA01F9C60CA8}"/>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ko-KR" altLang="en-US" sz="6000" b="1" i="0" u="none" strike="noStrike" dirty="0">
                <a:solidFill>
                  <a:srgbClr val="000000"/>
                </a:solidFill>
                <a:latin typeface="Arial" panose="020B0604020202020204" pitchFamily="34" charset="0"/>
                <a:cs typeface="Arial" panose="020B0604020202020204" pitchFamily="34" charset="0"/>
              </a:rPr>
              <a:t>코드 뜯어보기</a:t>
            </a:r>
            <a:endParaRPr lang="en" sz="6000" b="1" i="0" u="none" strike="noStrike" dirty="0">
              <a:solidFill>
                <a:srgbClr val="000000"/>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30C47473-60A6-94F1-3E0D-317AF62B6438}"/>
              </a:ext>
            </a:extLst>
          </p:cNvPr>
          <p:cNvSpPr txBox="1"/>
          <p:nvPr/>
        </p:nvSpPr>
        <p:spPr>
          <a:xfrm>
            <a:off x="1600200" y="2253735"/>
            <a:ext cx="21717000" cy="4874924"/>
          </a:xfrm>
          <a:prstGeom prst="rect">
            <a:avLst/>
          </a:prstGeom>
          <a:noFill/>
        </p:spPr>
        <p:txBody>
          <a:bodyPr wrap="square">
            <a:spAutoFit/>
          </a:bodyPr>
          <a:lstStyle/>
          <a:p>
            <a:pPr lvl="1">
              <a:lnSpc>
                <a:spcPct val="150000"/>
              </a:lnSpc>
            </a:pPr>
            <a:r>
              <a:rPr lang="ko-KR" altLang="en-US" sz="3200" b="1" dirty="0">
                <a:latin typeface="+mn-ea"/>
              </a:rPr>
              <a:t>이렇게 최종 구하고자 하는 토크를 구했다</a:t>
            </a:r>
            <a:endParaRPr lang="en-US" altLang="ko-KR" sz="3200" b="1" dirty="0">
              <a:latin typeface="+mn-ea"/>
            </a:endParaRPr>
          </a:p>
          <a:p>
            <a:pPr lvl="1">
              <a:lnSpc>
                <a:spcPct val="150000"/>
              </a:lnSpc>
            </a:pPr>
            <a:endParaRPr lang="en-US" altLang="ko-KR" sz="3200" b="1" dirty="0">
              <a:latin typeface="+mn-ea"/>
            </a:endParaRPr>
          </a:p>
          <a:p>
            <a:pPr lvl="1">
              <a:lnSpc>
                <a:spcPct val="150000"/>
              </a:lnSpc>
            </a:pPr>
            <a:r>
              <a:rPr lang="en-US" altLang="ko-KR" sz="3200" b="1" dirty="0">
                <a:latin typeface="+mn-ea"/>
              </a:rPr>
              <a:t>3. </a:t>
            </a:r>
            <a:r>
              <a:rPr lang="ko-KR" altLang="en-US" sz="3200" b="1" dirty="0">
                <a:latin typeface="+mn-ea"/>
              </a:rPr>
              <a:t>예제 파이썬 코드</a:t>
            </a:r>
            <a:endParaRPr lang="en-US" altLang="ko-KR" sz="3200" b="1" dirty="0">
              <a:latin typeface="+mn-ea"/>
            </a:endParaRPr>
          </a:p>
          <a:p>
            <a:pPr lvl="1">
              <a:lnSpc>
                <a:spcPct val="150000"/>
              </a:lnSpc>
            </a:pPr>
            <a:endParaRPr lang="en-US" altLang="ko-KR" sz="3200" dirty="0">
              <a:latin typeface="+mn-ea"/>
            </a:endParaRPr>
          </a:p>
          <a:p>
            <a:pPr marL="914400" lvl="1" indent="-457200">
              <a:lnSpc>
                <a:spcPct val="200000"/>
              </a:lnSpc>
              <a:buFont typeface="Arial" panose="020B0604020202020204" pitchFamily="34" charset="0"/>
              <a:buChar char="•"/>
            </a:pPr>
            <a:r>
              <a:rPr lang="en-US" altLang="ko-KR" sz="3200" dirty="0">
                <a:latin typeface="+mn-ea"/>
              </a:rPr>
              <a:t>                                               </a:t>
            </a:r>
            <a:r>
              <a:rPr lang="ko-KR" altLang="en-US" sz="3200" dirty="0">
                <a:latin typeface="+mn-ea"/>
              </a:rPr>
              <a:t>이를 코드로 구현하고 </a:t>
            </a:r>
            <a:r>
              <a:rPr lang="ko-KR" altLang="en-US" sz="3200" b="1" dirty="0">
                <a:latin typeface="+mn-ea"/>
              </a:rPr>
              <a:t>적분하여 로봇의 상태를 업데이트</a:t>
            </a:r>
            <a:endParaRPr lang="en-US" altLang="ko-KR" sz="3200" b="1" dirty="0">
              <a:latin typeface="+mn-ea"/>
            </a:endParaRPr>
          </a:p>
          <a:p>
            <a:pPr marL="914400" lvl="1" indent="-457200">
              <a:lnSpc>
                <a:spcPct val="200000"/>
              </a:lnSpc>
              <a:buFont typeface="Arial" panose="020B0604020202020204" pitchFamily="34" charset="0"/>
              <a:buChar char="•"/>
            </a:pPr>
            <a:r>
              <a:rPr lang="ko-KR" altLang="en-US" sz="3200" dirty="0"/>
              <a:t>이 결과를 </a:t>
            </a:r>
            <a:r>
              <a:rPr lang="en-US" altLang="ko-KR" sz="3200" b="1" dirty="0"/>
              <a:t>2D </a:t>
            </a:r>
            <a:r>
              <a:rPr lang="ko-KR" altLang="en-US" sz="3200" b="1" dirty="0"/>
              <a:t>그림 </a:t>
            </a:r>
            <a:r>
              <a:rPr lang="en-US" altLang="ko-KR" sz="3200" b="1" dirty="0"/>
              <a:t>+ </a:t>
            </a:r>
            <a:r>
              <a:rPr lang="ko-KR" altLang="en-US" sz="3200" b="1" dirty="0"/>
              <a:t>애니메이션</a:t>
            </a:r>
            <a:r>
              <a:rPr lang="ko-KR" altLang="en-US" sz="3200" dirty="0"/>
              <a:t>으로 </a:t>
            </a:r>
            <a:r>
              <a:rPr lang="ko-KR" altLang="en-US" sz="3200" dirty="0" err="1"/>
              <a:t>시각화한다</a:t>
            </a:r>
            <a:endParaRPr lang="en-US" altLang="ko-KR" sz="3200" b="1" dirty="0">
              <a:latin typeface="+mn-ea"/>
            </a:endParaRPr>
          </a:p>
        </p:txBody>
      </p:sp>
      <p:pic>
        <p:nvPicPr>
          <p:cNvPr id="8" name="그림 7" descr="\documentclass{article}&#10;\usepackage{amsmath}&#10;\pagestyle{empty}&#10;\begin{document}&#10;&#10;&#10;$&#10;\ddot{q} = M(q)^{-1}\bigl(\tau - h(q,\dot{q})\bigr)&#10;$&#10;&#10;\end{document}" title="IguanaTex Bitmap Display">
            <a:extLst>
              <a:ext uri="{FF2B5EF4-FFF2-40B4-BE49-F238E27FC236}">
                <a16:creationId xmlns:a16="http://schemas.microsoft.com/office/drawing/2014/main" id="{CEC6B541-F38A-DC7E-0E2E-288A4F071B61}"/>
              </a:ext>
            </a:extLst>
          </p:cNvPr>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819400" y="5257800"/>
            <a:ext cx="6006780" cy="685800"/>
          </a:xfrm>
          <a:prstGeom prst="rect">
            <a:avLst/>
          </a:prstGeom>
        </p:spPr>
      </p:pic>
      <p:pic>
        <p:nvPicPr>
          <p:cNvPr id="6" name="그림 5">
            <a:extLst>
              <a:ext uri="{FF2B5EF4-FFF2-40B4-BE49-F238E27FC236}">
                <a16:creationId xmlns:a16="http://schemas.microsoft.com/office/drawing/2014/main" id="{F6566E5D-5C95-60BA-83DE-37B110F030D1}"/>
              </a:ext>
            </a:extLst>
          </p:cNvPr>
          <p:cNvPicPr>
            <a:picLocks noChangeAspect="1"/>
          </p:cNvPicPr>
          <p:nvPr/>
        </p:nvPicPr>
        <p:blipFill>
          <a:blip r:embed="rId4"/>
          <a:stretch>
            <a:fillRect/>
          </a:stretch>
        </p:blipFill>
        <p:spPr>
          <a:xfrm>
            <a:off x="2819400" y="7695261"/>
            <a:ext cx="12801600" cy="5018049"/>
          </a:xfrm>
          <a:prstGeom prst="rect">
            <a:avLst/>
          </a:prstGeom>
          <a:ln>
            <a:solidFill>
              <a:schemeClr val="tx1"/>
            </a:solidFill>
          </a:ln>
        </p:spPr>
      </p:pic>
    </p:spTree>
    <p:extLst>
      <p:ext uri="{BB962C8B-B14F-4D97-AF65-F5344CB8AC3E}">
        <p14:creationId xmlns:p14="http://schemas.microsoft.com/office/powerpoint/2010/main" val="660130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1E47-BFCD-A985-13C7-7AE6D1F71500}"/>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6972EBF0-A1B4-A873-2F06-9443770E7AA7}"/>
              </a:ext>
            </a:extLst>
          </p:cNvPr>
          <p:cNvSpPr/>
          <p:nvPr/>
        </p:nvSpPr>
        <p:spPr>
          <a:xfrm>
            <a:off x="0" y="0"/>
            <a:ext cx="821042" cy="1371600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직각 삼각형 58">
            <a:extLst>
              <a:ext uri="{FF2B5EF4-FFF2-40B4-BE49-F238E27FC236}">
                <a16:creationId xmlns:a16="http://schemas.microsoft.com/office/drawing/2014/main" id="{2FA810BF-E6CB-DB8B-C2F1-3FF2B37A3E5F}"/>
              </a:ext>
            </a:extLst>
          </p:cNvPr>
          <p:cNvSpPr/>
          <p:nvPr/>
        </p:nvSpPr>
        <p:spPr>
          <a:xfrm rot="10800000" flipH="1">
            <a:off x="1" y="0"/>
            <a:ext cx="1905000" cy="1828800"/>
          </a:xfrm>
          <a:prstGeom prst="rtTriangle">
            <a:avLst/>
          </a:prstGeom>
          <a:solidFill>
            <a:srgbClr val="1E1B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TextBox 4">
            <a:extLst>
              <a:ext uri="{FF2B5EF4-FFF2-40B4-BE49-F238E27FC236}">
                <a16:creationId xmlns:a16="http://schemas.microsoft.com/office/drawing/2014/main" id="{5B37A910-4EB7-5690-6096-F6A26FF55DE0}"/>
              </a:ext>
            </a:extLst>
          </p:cNvPr>
          <p:cNvSpPr txBox="1"/>
          <p:nvPr/>
        </p:nvSpPr>
        <p:spPr>
          <a:xfrm>
            <a:off x="1600200" y="609600"/>
            <a:ext cx="10960100" cy="990600"/>
          </a:xfrm>
          <a:prstGeom prst="rect">
            <a:avLst/>
          </a:prstGeom>
        </p:spPr>
        <p:txBody>
          <a:bodyPr lIns="0" tIns="101600" rIns="0" bIns="0" rtlCol="0" anchor="t"/>
          <a:lstStyle/>
          <a:p>
            <a:pPr lvl="0" algn="l">
              <a:lnSpc>
                <a:spcPct val="99600"/>
              </a:lnSpc>
            </a:pPr>
            <a:r>
              <a:rPr lang="en-US" sz="6000" b="1" i="0" u="none" strike="noStrike" dirty="0">
                <a:solidFill>
                  <a:srgbClr val="000000"/>
                </a:solidFill>
                <a:latin typeface="Arial" panose="020B0604020202020204" pitchFamily="34" charset="0"/>
                <a:cs typeface="Arial" panose="020B0604020202020204" pitchFamily="34" charset="0"/>
              </a:rPr>
              <a:t>Thank</a:t>
            </a:r>
            <a:r>
              <a:rPr lang="en-US" sz="6000" b="1" dirty="0">
                <a:solidFill>
                  <a:srgbClr val="000000"/>
                </a:solidFill>
                <a:latin typeface="Arial" panose="020B0604020202020204" pitchFamily="34" charset="0"/>
                <a:cs typeface="Arial" panose="020B0604020202020204" pitchFamily="34" charset="0"/>
              </a:rPr>
              <a:t> you</a:t>
            </a:r>
            <a:endParaRPr lang="en" sz="6000" b="1" i="0" u="none" strike="noStrike" dirty="0">
              <a:solidFill>
                <a:srgbClr val="0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29029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78.74016"/>
  <p:tag name="ORIGINALWIDTH" val="51.74354"/>
  <p:tag name="LATEXADDIN" val="\documentclass{article}&#10;\usepackage{amsmath}&#10;\pagestyle{empty}&#10;\begin{document}&#10;&#10;$&#10;q&#10;$&#10;&#10;&#10;&#10;\end{document}"/>
  <p:tag name="IGUANATEXSIZE" val="40"/>
  <p:tag name="IGUANATEXCURSOR" val="84"/>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1.74354"/>
  <p:tag name="LATEXADDIN" val="\documentclass{article}&#10;\usepackage{amsmath}&#10;\pagestyle{empty}&#10;\begin{document}&#10;&#10;$&#10;\dot{q}&#10;$&#10;&#10;&#10;&#10;\end{document}"/>
  <p:tag name="IGUANATEXSIZE" val="40"/>
  <p:tag name="IGUANATEXCURSOR" val="90"/>
  <p:tag name="TRANSPARENCY" val="True"/>
  <p:tag name="LATEXENGINEID" val="0"/>
  <p:tag name="TEMPFOLDER" val="c:\temp\"/>
  <p:tag name="LATEXFORMHEIGHT" val="312"/>
  <p:tag name="LATEXFORMWIDTH" val="384"/>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4.74315"/>
  <p:tag name="LATEXADDIN" val="\documentclass{article}&#10;\usepackage{amsmath}&#10;\pagestyle{empty}&#10;\begin{document}&#10;&#10;$&#10;\ddot{q}&#10;$&#10;&#10;&#10;&#10;\end{document}"/>
  <p:tag name="IGUANATEXSIZE" val="40"/>
  <p:tag name="IGUANATEXCURSOR" val="91"/>
  <p:tag name="TRANSPARENCY" val="True"/>
  <p:tag name="LATEXENGINEID" val="0"/>
  <p:tag name="TEMPFOLDER" val="c:\temp\"/>
  <p:tag name="LATEXFORMHEIGHT" val="312"/>
  <p:tag name="LATEXFORMWIDTH" val="384"/>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93.363"/>
  <p:tag name="LATEXADDIN" val="\documentclass{article}&#10;\usepackage{amsmath}&#10;\pagestyle{empty}&#10;\begin{document}&#10;&#10;$&#10;M(q)\,\ddot{q} + h(q, \dot{q}) = \tau&#10;$&#10;&#10;&#10;&#10;\end{document}"/>
  <p:tag name="IGUANATEXSIZE" val="40"/>
  <p:tag name="IGUANATEXCURSOR" val="120"/>
  <p:tag name="TRANSPARENCY" val="True"/>
  <p:tag name="LATEXENGINEID" val="0"/>
  <p:tag name="TEMPFOLDER" val="c:\temp\"/>
  <p:tag name="LATEXFORMHEIGHT" val="312"/>
  <p:tag name="LATEXFORMWIDTH" val="384"/>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60.74244"/>
  <p:tag name="LATEXADDIN" val="\documentclass{article}&#10;\usepackage{amsmath}&#10;\pagestyle{empty}&#10;\begin{document}&#10;&#10;$&#10;\tau&#10;$&#10;&#10;&#10;&#10;\end{document}"/>
  <p:tag name="IGUANATEXSIZE" val="40"/>
  <p:tag name="IGUANATEXCURSOR" val="91"/>
  <p:tag name="TRANSPARENCY" val="True"/>
  <p:tag name="LATEXENGINEID" val="0"/>
  <p:tag name="TEMPFOLDER" val="c:\temp\"/>
  <p:tag name="LATEXFORMHEIGHT" val="312"/>
  <p:tag name="LATEXFORMWIDTH" val="384"/>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1257.593"/>
  <p:tag name="LATEXADDIN" val="\documentclass{article}&#10;\usepackage{amsmath}&#10;\pagestyle{empty}&#10;\begin{document}&#10;&#10;$&#10;(q_{ref}(t), \dot{q}_{ref}(t), \ddot{q}_{ref}(t))&#10;$&#10;&#10;&#10;&#10;\end{document}"/>
  <p:tag name="IGUANATEXSIZE" val="40"/>
  <p:tag name="IGUANATEXCURSOR" val="96"/>
  <p:tag name="TRANSPARENCY" val="True"/>
  <p:tag name="LATEXENGINEID" val="0"/>
  <p:tag name="TEMPFOLDER" val="c:\temp\"/>
  <p:tag name="LATEXFORMHEIGHT" val="312"/>
  <p:tag name="LATEXFORMWIDTH" val="384"/>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2398.2"/>
  <p:tag name="LATEXADDIN" val="\documentclass{article}&#10;\usepackage{amsmath}&#10;\pagestyle{empty}&#10;\begin{document}&#10;&#10;$&#10;\ddot{q}_{des}(t)= K_p(q_{ref}-q)+K_d(\dot{q}_{ref}-\dot{q})+\ddot{q}_{ref}&#10;$&#10;&#10;&#10;&#10;\end{document}"/>
  <p:tag name="IGUANATEXSIZE" val="40"/>
  <p:tag name="IGUANATEXCURSOR" val="134"/>
  <p:tag name="TRANSPARENCY" val="True"/>
  <p:tag name="LATEXENGINEID" val="0"/>
  <p:tag name="TEMPFOLDER" val="c:\temp\"/>
  <p:tag name="LATEXFORMHEIGHT" val="312"/>
  <p:tag name="LATEXFORMWIDTH" val="384"/>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4.74315"/>
  <p:tag name="LATEXADDIN" val="\documentclass{article}&#10;\usepackage{amsmath}&#10;\pagestyle{empty}&#10;\begin{document}&#10;&#10;$&#10;\ddot{q}&#10;$&#10;&#10;&#10;&#10;\end{document}"/>
  <p:tag name="IGUANATEXSIZE" val="40"/>
  <p:tag name="IGUANATEXCURSOR" val="91"/>
  <p:tag name="TRANSPARENCY" val="True"/>
  <p:tag name="LATEXENGINEID" val="0"/>
  <p:tag name="TEMPFOLDER" val="c:\temp\"/>
  <p:tag name="LATEXFORMHEIGHT" val="312"/>
  <p:tag name="LATEXFORMWIDTH" val="384"/>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60.74244"/>
  <p:tag name="LATEXADDIN" val="\documentclass{article}&#10;\usepackage{amsmath}&#10;\pagestyle{empty}&#10;\begin{document}&#10;&#10;$&#10;\tau&#10;$&#10;&#10;&#10;&#10;\end{document}"/>
  <p:tag name="IGUANATEXSIZE" val="40"/>
  <p:tag name="IGUANATEXCURSOR" val="91"/>
  <p:tag name="TRANSPARENCY" val="True"/>
  <p:tag name="LATEXENGINEID" val="0"/>
  <p:tag name="TEMPFOLDER" val="c:\temp\"/>
  <p:tag name="LATEXFORMHEIGHT" val="312"/>
  <p:tag name="LATEXFORMWIDTH" val="384"/>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307.837"/>
  <p:tag name="LATEXADDIN" val="\documentclass{article}&#10;\usepackage{amsmath}&#10;\pagestyle{empty}&#10;\begin{document}&#10;&#10;$&#10;M(q)\,\ddot q + h(q,\dot q)-\tau = 0&#10;$&#10;&#10;&#10;&#10;\end{document}"/>
  <p:tag name="IGUANATEXSIZE" val="32"/>
  <p:tag name="IGUANATEXCURSOR" val="119"/>
  <p:tag name="TRANSPARENCY" val="True"/>
  <p:tag name="LATEXENGINEID" val="0"/>
  <p:tag name="TEMPFOLDER" val="c:\temp\"/>
  <p:tag name="LATEXFORMHEIGHT" val="312"/>
  <p:tag name="LATEXFORMWIDTH" val="384"/>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412.4484"/>
  <p:tag name="LATEXADDIN" val="\documentclass{article}&#10;\usepackage{amsmath}&#10;\pagestyle{empty}&#10;\begin{document}&#10;&#10;$&#10;\ddot{q} \approx \ddot{q}_{\mathrm{des}}&#10;$&#10;&#10;&#10;&#10;\end{document}"/>
  <p:tag name="IGUANATEXSIZE" val="40"/>
  <p:tag name="IGUANATEXCURSOR" val="123"/>
  <p:tag name="TRANSPARENCY" val="True"/>
  <p:tag name="LATEXENGINEID" val="0"/>
  <p:tag name="TEMPFOLDER" val="c:\temp\"/>
  <p:tag name="LATEXFORMHEIGHT" val="312"/>
  <p:tag name="LATEXFORMWIDTH" val="384"/>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98.98764"/>
  <p:tag name="ORIGINALWIDTH" val="859.3926"/>
  <p:tag name="LATEXADDIN" val="\documentclass{article}&#10;\usepackage{amsmath}&#10;\pagestyle{empty}&#10;\begin{document}&#10;&#10;$&#10;\tau_{\min} \le \tau \le \tau_{\max}&#10;$&#10;&#10;&#10;&#10;\end{document}"/>
  <p:tag name="IGUANATEXSIZE" val="32"/>
  <p:tag name="IGUANATEXCURSOR" val="119"/>
  <p:tag name="TRANSPARENCY" val="True"/>
  <p:tag name="LATEXENGINEID" val="0"/>
  <p:tag name="TEMPFOLDER" val="c:\temp\"/>
  <p:tag name="LATEXFORMHEIGHT" val="312"/>
  <p:tag name="LATEXFORMWIDTH" val="384"/>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55.49307"/>
  <p:tag name="ORIGINALWIDTH" val="60.74244"/>
  <p:tag name="LATEXADDIN" val="\documentclass{article}&#10;\usepackage{amsmath}&#10;\pagestyle{empty}&#10;\begin{document}&#10;&#10;$&#10;\tau&#10;$&#10;&#10;&#10;&#10;\end{document}"/>
  <p:tag name="IGUANATEXSIZE" val="40"/>
  <p:tag name="IGUANATEXCURSOR" val="91"/>
  <p:tag name="TRANSPARENCY" val="True"/>
  <p:tag name="LATEXENGINEID" val="0"/>
  <p:tag name="TEMPFOLDER" val="c:\temp\"/>
  <p:tag name="LATEXFORMHEIGHT" val="312"/>
  <p:tag name="LATEXFORMWIDTH" val="384"/>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1331.833"/>
  <p:tag name="LATEXADDIN" val="\documentclass{article}&#10;\usepackage{amsmath}&#10;\pagestyle{empty}&#10;\begin{document}&#10;&#10;$&#10;M(q)\,\ddot q_{plant} + h(q,\dot q)=\tau&#10;$&#10;&#10;&#10;&#10;\end{document}"/>
  <p:tag name="IGUANATEXSIZE" val="32"/>
  <p:tag name="IGUANATEXCURSOR" val="123"/>
  <p:tag name="TRANSPARENCY" val="True"/>
  <p:tag name="LATEXENGINEID" val="0"/>
  <p:tag name="TEMPFOLDER" val="c:\temp\"/>
  <p:tag name="LATEXFORMHEIGHT" val="312"/>
  <p:tag name="LATEXFORMWIDTH" val="384"/>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38.7327"/>
  <p:tag name="ORIGINALWIDTH" val="1472.816"/>
  <p:tag name="LATEXADDIN" val="\documentclass{article}&#10;\usepackage{amsmath}&#10;\pagestyle{empty}&#10;\begin{document}&#10;&#10;$&#10;\ddot{q}_{\text{plant}} = M(q)^{-1}(\tau - h(q,\dot{q})&#10;$&#10;&#10;&#10;&#10;\end{document}"/>
  <p:tag name="IGUANATEXSIZE" val="32"/>
  <p:tag name="IGUANATEXCURSOR" val="138"/>
  <p:tag name="TRANSPARENCY" val="True"/>
  <p:tag name="LATEXENGINEID" val="0"/>
  <p:tag name="TEMPFOLDER" val="c:\temp\"/>
  <p:tag name="LATEXFORMHEIGHT" val="312"/>
  <p:tag name="LATEXFORMWIDTH" val="384"/>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619.423"/>
  <p:tag name="LATEXADDIN" val="\documentclass{article}&#10;\usepackage{amsmath}&#10;\pagestyle{empty}&#10;\begin{document}&#10;&#10;$&#10;(q_{\text{ref}}(t),\ \dot q_{\text{ref}}(t),\ \ddot q_{\text{ref}}(t))&#10;= \texttt{posture\_reference}(t)&#10;$&#10;&#10;&#10;&#10;\end{document}"/>
  <p:tag name="IGUANATEXSIZE" val="40"/>
  <p:tag name="IGUANATEXCURSOR" val="186"/>
  <p:tag name="TRANSPARENCY" val="True"/>
  <p:tag name="LATEXENGINEID" val="0"/>
  <p:tag name="TEMPFOLDER" val="c:\temp\"/>
  <p:tag name="LATEXFORMHEIGHT" val="312"/>
  <p:tag name="LATEXFORMWIDTH" val="384"/>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361.455"/>
  <p:tag name="LATEXADDIN" val="\documentclass{article}&#10;\usepackage{amsmath}&#10;\pagestyle{empty}&#10;\begin{document}&#10;&#10;$&#10;e(t)   = q_{\text{ref}}(t) - q(t),&#10;\qquad&#10;\dot e(t) = \dot q_{\text{ref}}(t) - \dot q(t)&#10;$&#10;&#10;&#10;&#10;\end{document}"/>
  <p:tag name="IGUANATEXSIZE" val="40"/>
  <p:tag name="IGUANATEXCURSOR" val="171"/>
  <p:tag name="TRANSPARENCY" val="True"/>
  <p:tag name="LATEXENGINEID" val="0"/>
  <p:tag name="TEMPFOLDER" val="c:\temp\"/>
  <p:tag name="LATEXFORMHEIGHT" val="312"/>
  <p:tag name="LATEXFORMWIDTH" val="384"/>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1881.515"/>
  <p:tag name="LATEXADDIN" val="\documentclass{article}&#10;\usepackage{amsmath}&#10;\pagestyle{empty}&#10;\begin{document}&#10;&#10;$&#10;\ddot q_{\text{des}}(t)&#10;= K_p\, e(t) + K_d\, \dot e(t) + \ddot q_{\text{ref}}(t)&#10;$&#10;&#10;&#10;&#10;\end{document}"/>
  <p:tag name="IGUANATEXSIZE" val="40"/>
  <p:tag name="IGUANATEXCURSOR" val="163"/>
  <p:tag name="TRANSPARENCY" val="True"/>
  <p:tag name="LATEXENGINEID" val="0"/>
  <p:tag name="TEMPFOLDER" val="c:\temp\"/>
  <p:tag name="LATEXFORMHEIGHT" val="312"/>
  <p:tag name="LATEXFORMWIDTH" val="384"/>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635.9205"/>
  <p:tag name="ORIGINALWIDTH" val="1691.788"/>
  <p:tag name="LATEXADDIN" val="\documentclass{article}&#10;\usepackage{amsmath}&#10;\pagestyle{empty}&#10;\begin{document}&#10;&#10;&#10;$&#10;\begin{aligned}&#10;  &amp;\min_{\ddot{q},\,\tau} &amp;&amp; \frac{1}{2}\, w_{\ddot{q}} \left\lVert \ddot{q} - \ddot{q}_{\mathrm{des}} \right\rVert^{2} \\&#10;  &amp;\text{s.t.} &amp;&amp; M(q)\,\ddot{q} + h(q,\dot{q}) - \tau = 0, \\&#10;  &amp;&amp;&amp; \tau_{\min} \le \tau \le \tau_{\max}.&#10;\end{aligned}&#10;$&#10;&#10;\end{document}"/>
  <p:tag name="IGUANATEXSIZE" val="42"/>
  <p:tag name="IGUANATEXCURSOR" val="343"/>
  <p:tag name="TRANSPARENCY" val="True"/>
  <p:tag name="LATEXENGINEID" val="0"/>
  <p:tag name="TEMPFOLDER" val="c:\temp\"/>
  <p:tag name="LATEXFORMHEIGHT" val="312"/>
  <p:tag name="LATEXFORMWIDTH" val="384"/>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613.4233"/>
  <p:tag name="ORIGINALWIDTH" val="1167.604"/>
  <p:tag name="LATEXADDIN" val="\documentclass{article}&#10;\usepackage{amsmath}&#10;\pagestyle{empty}&#10;\begin{document}&#10;&#10;&#10;$&#10;\begin{aligned}&#10;  &amp;\min_{x} &amp;&amp; \frac{1}{2}\, x^{\top} H x + g^{\top} x \\&#10;  &amp;\text{s.t.} &amp;&amp; A_{\mathrm{eq}} x = b_{\mathrm{eq}}, \\&#10;  &amp;&amp;&amp; A_{\mathrm{in}} x \le b_{\mathrm{in}}.&#10;\end{aligned}&#10;$&#10;&#10;\end{document}"/>
  <p:tag name="IGUANATEXSIZE" val="42"/>
  <p:tag name="IGUANATEXCURSOR" val="274"/>
  <p:tag name="TRANSPARENCY" val="True"/>
  <p:tag name="LATEXENGINEID" val="0"/>
  <p:tag name="TEMPFOLDER" val="c:\temp\"/>
  <p:tag name="LATEXFORMHEIGHT" val="312"/>
  <p:tag name="LATEXFORMWIDTH" val="384"/>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837.6453"/>
  <p:tag name="LATEXADDIN" val="\documentclass{article}&#10;\usepackage{amsmath}&#10;\pagestyle{empty}&#10;\begin{document}&#10;&#10;&#10;$&#10;x =&#10;\begin{bmatrix}&#10;  \ddot{q} \\&#10;  \tau&#10;\end{bmatrix}&#10;=&#10;\begin{bmatrix}&#10;  \ddot{q}_{1} \\&#10;  \ddot{q}_{2} \\&#10;  \tau_{1} \\&#10;  \tau_{2}&#10;\end{bmatrix}&#10;$&#10;&#10;\end{document}"/>
  <p:tag name="IGUANATEXSIZE" val="42"/>
  <p:tag name="IGUANATEXCURSOR" val="231"/>
  <p:tag name="TRANSPARENCY" val="True"/>
  <p:tag name="LATEXENGINEID" val="0"/>
  <p:tag name="TEMPFOLDER" val="c:\temp\"/>
  <p:tag name="LATEXFORMHEIGHT" val="312"/>
  <p:tag name="LATEXFORMWIDTH" val="384"/>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149.9813"/>
  <p:tag name="ORIGINALWIDTH" val="3132.358"/>
  <p:tag name="LATEXADDIN" val="\documentclass{article}&#10;\usepackage{amsmath}&#10;\pagestyle{empty}&#10;\begin{document}&#10;&#10;&#10;$&#10;\frac{1}{2}\, w_{\ddot{q}}\,&#10;(\ddot{q} - \ddot{q}_{\mathrm{des}})^{\top}&#10;(\ddot{q} - \ddot{q}_{\mathrm{des}})&#10;=&#10;\frac{1}{2}\, w_{\ddot{q}}\,&#10;\bigl(&#10;\ddot{q}^{\top}\ddot{q}&#10;- 2\,\ddot{q}_{\mathrm{des}}^{\top}\ddot{q}&#10;+ \ddot{q}_{\mathrm{des}}^{\top}\ddot{q}_{\mathrm{des}}&#10;\bigr)&#10;$&#10;&#10;\end{document}"/>
  <p:tag name="IGUANATEXSIZE" val="42"/>
  <p:tag name="IGUANATEXCURSOR" val="84"/>
  <p:tag name="TRANSPARENCY" val="True"/>
  <p:tag name="LATEXENGINEID" val="0"/>
  <p:tag name="TEMPFOLDER" val="c:\temp\"/>
  <p:tag name="LATEXFORMHEIGHT" val="312"/>
  <p:tag name="LATEXFORMWIDTH" val="384"/>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4130.484"/>
  <p:tag name="LATEXADDIN" val="\documentclass{article}&#10;\usepackage{amsmath}&#10;\pagestyle{empty}&#10;\begin{document}&#10;&#10;&#10;$&#10;H =&#10;\begin{bmatrix}&#10;w_{\ddot{q}} &amp; 0 &amp; 0 &amp; 0 \\&#10;0 &amp; w_{\ddot{q}} &amp; 0 &amp; 0 \\&#10;0 &amp; 0 &amp; 0 &amp; 0 \\&#10;0 &amp; 0 &amp; 0 &amp; 0&#10;\end{bmatrix}&#10;=&#10;\begin{bmatrix}&#10;w_{\ddot{q}} I_{2} &amp; 0_{2\times 2} \\&#10;0_{2\times 2} &amp; 0_{2\times 2}&#10;\end{bmatrix},&#10;\qquad&#10;g =&#10;\begin{bmatrix}&#10;- w_{\ddot{q}}\,\ddot{q}_{\mathrm{des}} \\&#10;0&#10;\end{bmatrix}&#10;=&#10;\begin{bmatrix}&#10;- w_{\ddot{q}}\,\ddot{q}_{\mathrm{des},1} \\&#10;- w_{\ddot{q}}\,\ddot{q}_{\mathrm{des},2} \\&#10;0 \\&#10;0&#10;\end{bmatrix}&#10;$&#10;&#10;\end{document}"/>
  <p:tag name="IGUANATEXSIZE" val="42"/>
  <p:tag name="IGUANATEXCURSOR" val="520"/>
  <p:tag name="TRANSPARENCY" val="True"/>
  <p:tag name="LATEXENGINEID" val="0"/>
  <p:tag name="TEMPFOLDER" val="c:\temp\"/>
  <p:tag name="LATEXFORMHEIGHT" val="312"/>
  <p:tag name="LATEXFORMWIDTH" val="384"/>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613.4233"/>
  <p:tag name="ORIGINALWIDTH" val="1167.604"/>
  <p:tag name="LATEXADDIN" val="\documentclass{article}&#10;\usepackage{amsmath}&#10;\pagestyle{empty}&#10;\begin{document}&#10;&#10;&#10;$&#10;\begin{aligned}&#10;  &amp;\min_{x} &amp;&amp; \frac{1}{2}\, x^{\top} H x + g^{\top} x \\&#10;  &amp;\text{s.t.} &amp;&amp; A_{\mathrm{eq}} x = b_{\mathrm{eq}}, \\&#10;  &amp;&amp;&amp; A_{\mathrm{in}} x \le b_{\mathrm{in}}.&#10;\end{aligned}&#10;$&#10;&#10;\end{document}"/>
  <p:tag name="IGUANATEXSIZE" val="42"/>
  <p:tag name="IGUANATEXCURSOR" val="274"/>
  <p:tag name="TRANSPARENCY" val="True"/>
  <p:tag name="LATEXENGINEID" val="0"/>
  <p:tag name="TEMPFOLDER" val="c:\temp\"/>
  <p:tag name="LATEXFORMHEIGHT" val="312"/>
  <p:tag name="LATEXFORMWIDTH" val="384"/>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613.4233"/>
  <p:tag name="ORIGINALWIDTH" val="1167.604"/>
  <p:tag name="LATEXADDIN" val="\documentclass{article}&#10;\usepackage{amsmath}&#10;\pagestyle{empty}&#10;\begin{document}&#10;&#10;&#10;$&#10;\begin{aligned}&#10;  &amp;\min_{x} &amp;&amp; \frac{1}{2}\, x^{\top} H x + g^{\top} x \\&#10;  &amp;\text{s.t.} &amp;&amp; A_{\mathrm{eq}} x = b_{\mathrm{eq}}, \\&#10;  &amp;&amp;&amp; A_{\mathrm{in}} x \le b_{\mathrm{in}}.&#10;\end{aligned}&#10;$&#10;&#10;\end{document}"/>
  <p:tag name="IGUANATEXSIZE" val="42"/>
  <p:tag name="IGUANATEXCURSOR" val="274"/>
  <p:tag name="TRANSPARENCY" val="True"/>
  <p:tag name="LATEXENGINEID" val="0"/>
  <p:tag name="TEMPFOLDER" val="c:\temp\"/>
  <p:tag name="LATEXFORMHEIGHT" val="312"/>
  <p:tag name="LATEXFORMWIDTH" val="384"/>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93.363"/>
  <p:tag name="LATEXADDIN" val="\documentclass{article}&#10;\usepackage{amsmath}&#10;\pagestyle{empty}&#10;\begin{document}&#10;&#10;&#10;$&#10;M(q)\,\ddot{q} + h(q,\dot{q}) = \tau&#10;$&#10;&#10;\end{document}"/>
  <p:tag name="IGUANATEXSIZE" val="42"/>
  <p:tag name="IGUANATEXCURSOR" val="120"/>
  <p:tag name="TRANSPARENCY" val="True"/>
  <p:tag name="LATEXENGINEID" val="0"/>
  <p:tag name="TEMPFOLDER" val="c:\temp\"/>
  <p:tag name="LATEXFORMHEIGHT" val="312"/>
  <p:tag name="LATEXFORMWIDTH" val="384"/>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299.2126"/>
  <p:tag name="ORIGINALWIDTH" val="2776.153"/>
  <p:tag name="LATEXADDIN" val="\documentclass{article}&#10;\usepackage{amsmath}&#10;\pagestyle{empty}&#10;\begin{document}&#10;&#10;&#10;$&#10;M(q) =&#10;\begin{bmatrix}&#10;M_{11} &amp; M_{12} \\&#10;M_{21} &amp; M_{22}&#10;\end{bmatrix},&#10;\quad&#10;h(q,\dot{q}) =&#10;\begin{bmatrix}&#10;h_{1} \\&#10;h_{2}&#10;\end{bmatrix},&#10;\quad&#10;\tau =&#10;\begin{bmatrix}&#10;\tau_{1} \\&#10;\tau_{2}&#10;\end{bmatrix}&#10;$&#10;&#10;\end{document}"/>
  <p:tag name="IGUANATEXSIZE" val="42"/>
  <p:tag name="IGUANATEXCURSOR" val="287"/>
  <p:tag name="TRANSPARENCY" val="True"/>
  <p:tag name="LATEXENGINEID" val="0"/>
  <p:tag name="TEMPFOLDER" val="c:\temp\"/>
  <p:tag name="LATEXFORMHEIGHT" val="312"/>
  <p:tag name="LATEXFORMWIDTH" val="384"/>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110.2362"/>
  <p:tag name="ORIGINALWIDTH" val="3138.358"/>
  <p:tag name="LATEXADDIN" val="\documentclass{article}&#10;\usepackage{amsmath}&#10;\pagestyle{empty}&#10;\begin{document}&#10;&#10;&#10;$&#10;M_{11}\,\ddot{q}_{1}&#10;+ M_{12}\,\ddot{q}_{2}&#10;+ h_{1}&#10;= \tau_{1},&#10;\qquad&#10;M_{21}\,\ddot{q}_{1}&#10;+ M_{22}\,\ddot{q}_{2}&#10;+ h_{2}&#10;= \tau_{2}&#10;$&#10;&#10;\end{document}"/>
  <p:tag name="IGUANATEXSIZE" val="42"/>
  <p:tag name="IGUANATEXCURSOR" val="217"/>
  <p:tag name="TRANSPARENCY" val="True"/>
  <p:tag name="LATEXENGINEID" val="0"/>
  <p:tag name="TEMPFOLDER" val="c:\temp\"/>
  <p:tag name="LATEXFORMHEIGHT" val="312"/>
  <p:tag name="LATEXFORMWIDTH" val="384"/>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1200"/>
  <p:tag name="ORIGINALHEIGHT" val="110.2362"/>
  <p:tag name="ORIGINALWIDTH" val="3331.833"/>
  <p:tag name="LATEXADDIN" val="\documentclass{article}&#10;\usepackage{amsmath}&#10;\pagestyle{empty}&#10;\begin{document}&#10;&#10;&#10;$&#10;M_{11}\,\ddot{q}_{1}&#10;+ M_{12}\,\ddot{q}_{2}&#10;- \tau_{1}&#10;= -h_{1},&#10;\qquad&#10;M_{21}\,\ddot{q}_{1}&#10;+ M_{22}\,\ddot{q}_{2}&#10;- \tau_{2}&#10;= -h_{2}&#10;$&#10;&#10;\end{document}"/>
  <p:tag name="IGUANATEXSIZE" val="42"/>
  <p:tag name="IGUANATEXCURSOR" val="219"/>
  <p:tag name="TRANSPARENCY" val="True"/>
  <p:tag name="LATEXENGINEID" val="0"/>
  <p:tag name="TEMPFOLDER" val="c:\temp\"/>
  <p:tag name="LATEXFORMHEIGHT" val="312"/>
  <p:tag name="LATEXFORMWIDTH" val="384"/>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3196.85"/>
  <p:tag name="LATEXADDIN" val="\documentclass{article}&#10;\usepackage{amsmath}&#10;\pagestyle{empty}&#10;\begin{document}&#10;&#10;&#10;$&#10;x =&#10;\begin{bmatrix}&#10;\ddot{q}_{1} \\&#10;\ddot{q}_{2} \\&#10;\tau_{1} \\&#10;\tau_{2}&#10;\end{bmatrix},&#10;\quad&#10;A_{\mathrm{eq}} =&#10;\begin{bmatrix}&#10;M_{11} &amp; M_{12} &amp; -1 &amp; 0 \\&#10;M_{21} &amp; M_{22} &amp; 0  &amp; -1&#10;\end{bmatrix},&#10;\quad&#10;b_{\mathrm{eq}} =&#10;\begin{bmatrix}&#10;-h_{1} \\&#10;-h_{2}&#10;\end{bmatrix}&#10;$&#10;&#10;\end{document}"/>
  <p:tag name="IGUANATEXSIZE" val="42"/>
  <p:tag name="IGUANATEXCURSOR" val="351"/>
  <p:tag name="TRANSPARENCY" val="True"/>
  <p:tag name="LATEXENGINEID" val="0"/>
  <p:tag name="TEMPFOLDER" val="c:\temp\"/>
  <p:tag name="LATEXFORMHEIGHT" val="312"/>
  <p:tag name="LATEXFORMWIDTH" val="384"/>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1200"/>
  <p:tag name="ORIGINALHEIGHT" val="373.4533"/>
  <p:tag name="ORIGINALWIDTH" val="2620.922"/>
  <p:tag name="LATEXADDIN" val="\documentclass{article}&#10;\usepackage{amsmath}&#10;\pagestyle{empty}&#10;\begin{document}&#10;&#10;&#10;$&#10;A_{\mathrm{eq}}\,x = b_{\mathrm{eq}}&#10;\;\Longleftrightarrow\;&#10;\begin{cases}&#10;M_{11}\,\ddot{q}_{1}&#10;+ M_{12}\,\ddot{q}_{2}&#10;- \tau_{1}&#10;= -h_{1}, \\[4pt]&#10;M_{21}\,\ddot{q}_{1}&#10;+ M_{22}\,\ddot{q}_{2}&#10;- \tau_{2}&#10;= -h_{2}.&#10;\end{cases}&#10;$&#10;&#10;\end{document}"/>
  <p:tag name="IGUANATEXSIZE" val="42"/>
  <p:tag name="IGUANATEXCURSOR" val="308"/>
  <p:tag name="TRANSPARENCY" val="True"/>
  <p:tag name="LATEXENGINEID" val="0"/>
  <p:tag name="TEMPFOLDER" val="c:\temp\"/>
  <p:tag name="LATEXFORMHEIGHT" val="312"/>
  <p:tag name="LATEXFORMWIDTH" val="384"/>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613.4233"/>
  <p:tag name="ORIGINALWIDTH" val="1167.604"/>
  <p:tag name="LATEXADDIN" val="\documentclass{article}&#10;\usepackage{amsmath}&#10;\pagestyle{empty}&#10;\begin{document}&#10;&#10;&#10;$&#10;\begin{aligned}&#10;  &amp;\min_{x} &amp;&amp; \frac{1}{2}\, x^{\top} H x + g^{\top} x \\&#10;  &amp;\text{s.t.} &amp;&amp; A_{\mathrm{eq}} x = b_{\mathrm{eq}}, \\&#10;  &amp;&amp;&amp; A_{\mathrm{in}} x \le b_{\mathrm{in}}.&#10;\end{aligned}&#10;$&#10;&#10;\end{document}"/>
  <p:tag name="IGUANATEXSIZE" val="42"/>
  <p:tag name="IGUANATEXCURSOR" val="274"/>
  <p:tag name="TRANSPARENCY" val="True"/>
  <p:tag name="LATEXENGINEID" val="0"/>
  <p:tag name="TEMPFOLDER" val="c:\temp\"/>
  <p:tag name="LATEXFORMHEIGHT" val="312"/>
  <p:tag name="LATEXFORMWIDTH" val="384"/>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471.691"/>
  <p:tag name="LATEXADDIN" val="\documentclass{article}&#10;\usepackage{amsmath}&#10;\pagestyle{empty}&#10;\begin{document}&#10;&#10;&#10;$&#10;x =&#10;\begin{bmatrix}&#10;\ddot{q}_{1} \\&#10;\ddot{q}_{2} \\&#10;\tau_{1} \\&#10;\tau_{2}&#10;\end{bmatrix}&#10;$&#10;&#10;\end{document}"/>
  <p:tag name="IGUANATEXSIZE" val="32"/>
  <p:tag name="IGUANATEXCURSOR" val="170"/>
  <p:tag name="TRANSPARENCY" val="True"/>
  <p:tag name="LATEXENGINEID" val="0"/>
  <p:tag name="TEMPFOLDER" val="c:\temp\"/>
  <p:tag name="LATEXFORMHEIGHT" val="312"/>
  <p:tag name="LATEXFORMWIDTH" val="384"/>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4001.5"/>
  <p:tag name="LATEXADDIN" val="\documentclass{article}&#10;\usepackage{amsmath}&#10;\pagestyle{empty}&#10;\begin{document}&#10;&#10;&#10;$&#10;\tau_{1} \le \tau_{1,\max}&#10;\;\Longleftrightarrow\;&#10;0 \cdot \ddot{q}_{1}&#10;+ 0 \cdot \ddot{q}_{2}&#10;+ 1 \cdot \tau_{1}&#10;+ 0 \cdot \tau_{2}&#10;\le \tau_{1,\max}&#10;\;\Longrightarrow\;&#10;\begin{bmatrix}&#10;0 &amp; 0 &amp; 1 &amp; 0&#10;\end{bmatrix}&#10;$&#10;&#10;\end{document}"/>
  <p:tag name="IGUANATEXSIZE" val="42"/>
  <p:tag name="IGUANATEXCURSOR" val="298"/>
  <p:tag name="TRANSPARENCY" val="True"/>
  <p:tag name="LATEXENGINEID" val="0"/>
  <p:tag name="TEMPFOLDER" val="c:\temp\"/>
  <p:tag name="LATEXFORMHEIGHT" val="312"/>
  <p:tag name="LATEXFORMWIDTH" val="384"/>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4001.5"/>
  <p:tag name="LATEXADDIN" val="\documentclass{article}&#10;\usepackage{amsmath}&#10;\pagestyle{empty}&#10;\begin{document}&#10;&#10;&#10;$&#10;\tau_{2} \le \tau_{2,\max}&#10;\;\Longleftrightarrow\;&#10;0 \cdot \ddot{q}_{1}&#10;+ 0 \cdot \ddot{q}_{2}&#10;+ 0 \cdot \tau_{1}&#10;+ 1 \cdot \tau_{2}&#10;\le \tau_{2,\max}&#10;\;\Longrightarrow\;&#10;\begin{bmatrix}&#10;0 &amp; 0 &amp; 0 &amp; 1&#10;\end{bmatrix}&#10;$&#10;&#10;\end{document}"/>
  <p:tag name="IGUANATEXSIZE" val="42"/>
  <p:tag name="IGUANATEXCURSOR" val="298"/>
  <p:tag name="TRANSPARENCY" val="True"/>
  <p:tag name="LATEXENGINEID" val="0"/>
  <p:tag name="TEMPFOLDER" val="c:\temp\"/>
  <p:tag name="LATEXFORMHEIGHT" val="312"/>
  <p:tag name="LATEXFORMWIDTH" val="384"/>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4073.491"/>
  <p:tag name="LATEXADDIN" val="\documentclass{article}&#10;\usepackage{amsmath}&#10;\pagestyle{empty}&#10;\begin{document}&#10;&#10;&#10;$&#10;-\,\tau_{1} \le -\,\tau_{1,\min}&#10;\;\Longleftrightarrow\;&#10;0 \cdot \ddot{q}_{1}&#10;+ 0 \cdot \ddot{q}_{2}&#10;- 1 \cdot \tau_{1}&#10;+ 0 \cdot \tau_{2}&#10;\le -\,\tau_{1,\min}&#10;\;\Longrightarrow\;&#10;\begin{bmatrix}&#10;0 &amp; 0 &amp; -1 &amp; 0&#10;\end{bmatrix}&#10;$&#10;&#10;\end{document}"/>
  <p:tag name="IGUANATEXSIZE" val="42"/>
  <p:tag name="IGUANATEXCURSOR" val="308"/>
  <p:tag name="TRANSPARENCY" val="True"/>
  <p:tag name="LATEXENGINEID" val="0"/>
  <p:tag name="TEMPFOLDER" val="c:\temp\"/>
  <p:tag name="LATEXFORMHEIGHT" val="312"/>
  <p:tag name="LATEXFORMWIDTH" val="384"/>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4073.491"/>
  <p:tag name="LATEXADDIN" val="\documentclass{article}&#10;\usepackage{amsmath}&#10;\pagestyle{empty}&#10;\begin{document}&#10;&#10;&#10;$&#10;-\,\tau_{2} \le -\,\tau_{2,\min}&#10;\;\Longleftrightarrow\;&#10;0 \cdot \ddot{q}_{1}&#10;+ 0 \cdot \ddot{q}_{2}&#10;+ 0 \cdot \tau_{1}&#10;- 1 \cdot \tau_{2}&#10;\le -\,\tau_{2,\min}&#10;\;\Longrightarrow\;&#10;\begin{bmatrix}&#10;0 &amp; 0 &amp; 0 &amp; -1&#10;\end{bmatrix}&#10;$&#10;&#10;\end{document}"/>
  <p:tag name="IGUANATEXSIZE" val="42"/>
  <p:tag name="IGUANATEXCURSOR" val="308"/>
  <p:tag name="TRANSPARENCY" val="True"/>
  <p:tag name="LATEXENGINEID" val="0"/>
  <p:tag name="TEMPFOLDER" val="c:\temp\"/>
  <p:tag name="LATEXFORMHEIGHT" val="312"/>
  <p:tag name="LATEXFORMWIDTH" val="384"/>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597.6753"/>
  <p:tag name="ORIGINALWIDTH" val="2488.189"/>
  <p:tag name="LATEXADDIN" val="\documentclass{article}&#10;\usepackage{amsmath}&#10;\pagestyle{empty}&#10;\begin{document}&#10;&#10;&#10;$&#10;A_{\mathrm{in}} =&#10;\begin{bmatrix}&#10;0 &amp; 0 &amp; 1 &amp; 0 \\&#10;0 &amp; 0 &amp; 0 &amp; 1 \\&#10;0 &amp; 0 &amp; -1 &amp; 0 \\&#10;0 &amp; 0 &amp; 0 &amp; -1&#10;\end{bmatrix},&#10;\qquad&#10;b_{\mathrm{in}} =&#10;\begin{bmatrix}&#10;\tau_{1,\max} \\&#10;\tau_{2,\max} \\&#10;-\tau_{1,\min} \\&#10;-\tau_{2,\min}&#10;\end{bmatrix}&#10;$&#10;&#10;\end{document}"/>
  <p:tag name="IGUANATEXSIZE" val="42"/>
  <p:tag name="IGUANATEXCURSOR" val="321"/>
  <p:tag name="TRANSPARENCY" val="True"/>
  <p:tag name="LATEXENGINEID" val="0"/>
  <p:tag name="TEMPFOLDER" val="c:\temp\"/>
  <p:tag name="LATEXFORMHEIGHT" val="312"/>
  <p:tag name="LATEXFORMWIDTH" val="384"/>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610.4237"/>
  <p:tag name="ORIGINALWIDTH" val="4257.218"/>
  <p:tag name="LATEXADDIN" val="\documentclass{article}&#10;\usepackage{amsmath}&#10;\pagestyle{empty}&#10;\begin{document}&#10;&#10;&#10;$&#10;A_{\mathrm{in}}\,x \le b_{\mathrm{in}}&#10;\;\Longleftrightarrow\;&#10;\tau_{\min} \le \tau \le \tau_{\max},&#10;\quad&#10;\tau =&#10;\begin{bmatrix}&#10;\tau_{1} \\&#10;\tau_{2}&#10;\end{bmatrix},&#10;\;&#10;\tau_{\min} =&#10;\begin{bmatrix}&#10;\tau_{1,\min} \\&#10;\tau_{2,\min}&#10;\end{bmatrix},&#10;\;&#10;\tau_{\max} =&#10;\begin{bmatrix}&#10;\tau_{1,\max} \\&#10;\tau_{2,\max}&#10;\end{bmatrix}&#10;$&#10;&#10;\end{document}"/>
  <p:tag name="IGUANATEXSIZE" val="42"/>
  <p:tag name="IGUANATEXCURSOR" val="328"/>
  <p:tag name="TRANSPARENCY" val="True"/>
  <p:tag name="LATEXENGINEID" val="0"/>
  <p:tag name="TEMPFOLDER" val="c:\temp\"/>
  <p:tag name="LATEXFORMHEIGHT" val="312"/>
  <p:tag name="LATEXFORMWIDTH" val="384"/>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610.4237"/>
  <p:tag name="ORIGINALWIDTH" val="4257.218"/>
  <p:tag name="LATEXADDIN" val="\documentclass{article}&#10;\usepackage{amsmath}&#10;\pagestyle{empty}&#10;\begin{document}&#10;&#10;&#10;$&#10;A_{\mathrm{in}}\,x \le b_{\mathrm{in}}&#10;\;\Longleftrightarrow\;&#10;\tau_{\min} \le \tau \le \tau_{\max},&#10;\quad&#10;\tau =&#10;\begin{bmatrix}&#10;\tau_{1} \\&#10;\tau_{2}&#10;\end{bmatrix},&#10;\;&#10;\tau_{\min} =&#10;\begin{bmatrix}&#10;\tau_{1,\min} \\&#10;\tau_{2,\min}&#10;\end{bmatrix},&#10;\;&#10;\tau_{\max} =&#10;\begin{bmatrix}&#10;\tau_{1,\max} \\&#10;\tau_{2,\max}&#10;\end{bmatrix}&#10;$&#10;&#10;\end{document}"/>
  <p:tag name="IGUANATEXSIZE" val="42"/>
  <p:tag name="IGUANATEXCURSOR" val="328"/>
  <p:tag name="TRANSPARENCY" val="True"/>
  <p:tag name="LATEXENGINEID" val="0"/>
  <p:tag name="TEMPFOLDER" val="c:\temp\"/>
  <p:tag name="LATEXFORMHEIGHT" val="312"/>
  <p:tag name="LATEXFORMWIDTH" val="384"/>
  <p:tag name="LATEXFORMWRAP" val="True"/>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03.599"/>
  <p:tag name="LATEXADDIN" val="\documentclass{article}&#10;\usepackage{amsmath}&#10;\pagestyle{empty}&#10;\begin{document}&#10;&#10;&#10;$&#10;g(x) := A_{\mathrm{in}} x - b_{\mathrm{in}} \le 0&#10;$&#10;&#10;\end{document}"/>
  <p:tag name="IGUANATEXSIZE" val="42"/>
  <p:tag name="IGUANATEXCURSOR" val="133"/>
  <p:tag name="TRANSPARENCY" val="True"/>
  <p:tag name="LATEXENGINEID" val="0"/>
  <p:tag name="TEMPFOLDER" val="c:\temp\"/>
  <p:tag name="LATEXFORMHEIGHT" val="312"/>
  <p:tag name="LATEXFORMWIDTH" val="384"/>
  <p:tag name="LATEXFORMWRAP" val="True"/>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153.7308"/>
  <p:tag name="ORIGINALWIDTH" val="2605.924"/>
  <p:tag name="LATEXADDIN" val="\documentclass{article}&#10;\usepackage{amsmath}&#10;\pagestyle{empty}&#10;\begin{document}&#10;&#10;&#10;$&#10;\textbf{Stationarity:}\quad&#10;H x^{\star} + g&#10;+ A_{\mathrm{eq}}^{\top} \lambda_{\mathrm{eq}}^{\star}&#10;+ A_{\mathrm{in}}^{\top} \lambda_{\mathrm{in}}^{\star}&#10;= 0&#10;$&#10;&#10;\end{document}"/>
  <p:tag name="IGUANATEXSIZE" val="42"/>
  <p:tag name="IGUANATEXCURSOR" val="241"/>
  <p:tag name="TRANSPARENCY" val="True"/>
  <p:tag name="LATEXENGINEID" val="0"/>
  <p:tag name="TEMPFOLDER" val="c:\temp\"/>
  <p:tag name="LATEXFORMHEIGHT" val="312"/>
  <p:tag name="LATEXFORMWIDTH" val="384"/>
  <p:tag name="LATEXFORMWRAP" val="True"/>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1200"/>
  <p:tag name="ORIGINALHEIGHT" val="154.4807"/>
  <p:tag name="ORIGINALWIDTH" val="3080.615"/>
  <p:tag name="LATEXADDIN" val="\documentclass{article}&#10;\usepackage{amsmath}&#10;\pagestyle{empty}&#10;\begin{document}&#10;&#10;&#10;$&#10;L(x,\lambda_{\mathrm{eq}},\lambda_{\mathrm{in}})&#10;=&#10;f(x)&#10;+&#10;\lambda_{\mathrm{eq}}^{\top}\bigl(A_{\mathrm{eq}} x - b_{\mathrm{eq}}\bigr)&#10;+&#10;\lambda_{\mathrm{in}}^{\top}\bigl(A_{\mathrm{in}} x - b_{\mathrm{in}}\bigr)&#10;$&#10;&#10;\end{document}"/>
  <p:tag name="IGUANATEXSIZE" val="42"/>
  <p:tag name="IGUANATEXCURSOR" val="295"/>
  <p:tag name="TRANSPARENCY" val="True"/>
  <p:tag name="LATEXENGINEID" val="0"/>
  <p:tag name="TEMPFOLDER" val="c:\temp\"/>
  <p:tag name="LATEXFORMHEIGHT" val="312"/>
  <p:tag name="LATEXFORMWIDTH" val="384"/>
  <p:tag name="LATEXFORMWRAP" val="True"/>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1200"/>
  <p:tag name="ORIGINALHEIGHT" val="153.7308"/>
  <p:tag name="ORIGINALWIDTH" val="2440.195"/>
  <p:tag name="LATEXADDIN" val="\documentclass{article}&#10;\usepackage{amsmath}&#10;\pagestyle{empty}&#10;\begin{document}&#10;&#10;&#10;$&#10;\nabla_{x} L(x,\lambda_{\mathrm{eq}},\lambda_{\mathrm{in}})&#10;=&#10;H x + g&#10;+ A_{\mathrm{eq}}^{\top} \lambda_{\mathrm{eq}}&#10;+ A_{\mathrm{in}}^{\top} \lambda_{\mathrm{in}}&#10;$&#10;&#10;\end{document}"/>
  <p:tag name="IGUANATEXSIZE" val="42"/>
  <p:tag name="IGUANATEXCURSOR" val="247"/>
  <p:tag name="TRANSPARENCY" val="True"/>
  <p:tag name="LATEXENGINEID" val="0"/>
  <p:tag name="TEMPFOLDER" val="c:\temp\"/>
  <p:tag name="LATEXFORMHEIGHT" val="312"/>
  <p:tag name="LATEXFORMWIDTH" val="384"/>
  <p:tag name="LATEXFORMWRAP" val="True"/>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1142.857"/>
  <p:tag name="LATEXADDIN" val="\documentclass{article}&#10;\usepackage{amsmath}&#10;\pagestyle{empty}&#10;\begin{document}&#10;&#10;&#10;$&#10;\nabla_{x} L(x^{\star},\lambda_{\mathrm{eq}}^{\star},\lambda_{\mathrm{in}}^{\star}) = 0&#10;$&#10;&#10;\end{document}"/>
  <p:tag name="IGUANATEXSIZE" val="42"/>
  <p:tag name="IGUANATEXCURSOR" val="171"/>
  <p:tag name="TRANSPARENCY" val="True"/>
  <p:tag name="LATEXENGINEID" val="0"/>
  <p:tag name="TEMPFOLDER" val="c:\temp\"/>
  <p:tag name="LATEXFORMHEIGHT" val="312"/>
  <p:tag name="LATEXFORMWIDTH" val="384"/>
  <p:tag name="LATEXFORMWRAP" val="True"/>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1200"/>
  <p:tag name="ORIGINALHEIGHT" val="153.7308"/>
  <p:tag name="ORIGINALWIDTH" val="2605.924"/>
  <p:tag name="LATEXADDIN" val="\documentclass{article}&#10;\usepackage{amsmath}&#10;\pagestyle{empty}&#10;\begin{document}&#10;&#10;&#10;$&#10;\textbf{Stationarity:}\quad&#10;H x^{\star} + g&#10;+ A_{\mathrm{eq}}^{\top} \lambda_{\mathrm{eq}}^{\star}&#10;+ A_{\mathrm{in}}^{\top} \lambda_{\mathrm{in}}^{\star}&#10;= 0&#10;$&#10;&#10;\end{document}"/>
  <p:tag name="IGUANATEXSIZE" val="42"/>
  <p:tag name="IGUANATEXCURSOR" val="241"/>
  <p:tag name="TRANSPARENCY" val="True"/>
  <p:tag name="LATEXENGINEID" val="0"/>
  <p:tag name="TEMPFOLDER" val="c:\temp\"/>
  <p:tag name="LATEXFORMHEIGHT" val="312"/>
  <p:tag name="LATEXFORMWIDTH" val="384"/>
  <p:tag name="LATEXFORMWRAP" val="True"/>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203.599"/>
  <p:tag name="LATEXADDIN" val="\documentclass{article}&#10;\usepackage{amsmath}&#10;\pagestyle{empty}&#10;\begin{document}&#10;&#10;&#10;$&#10;g(x) := A_{\mathrm{in}} x - b_{\mathrm{in}} \le 0&#10;$&#10;&#10;\end{document}"/>
  <p:tag name="IGUANATEXSIZE" val="42"/>
  <p:tag name="IGUANATEXCURSOR" val="133"/>
  <p:tag name="TRANSPARENCY" val="True"/>
  <p:tag name="LATEXENGINEID" val="0"/>
  <p:tag name="TEMPFOLDER" val="c:\temp\"/>
  <p:tag name="LATEXFORMHEIGHT" val="312"/>
  <p:tag name="LATEXFORMWIDTH" val="384"/>
  <p:tag name="LATEXFORMWRAP" val="True"/>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795.65"/>
  <p:tag name="LATEXADDIN" val="\documentclass{article}&#10;\usepackage{amsmath}&#10;\pagestyle{empty}&#10;\begin{document}&#10;&#10;&#10;$&#10;\textbf{Primal feasibility:}\quad&#10;A_{\mathrm{eq}} x^{\star} = b_{\mathrm{eq}},&#10;\qquad&#10;A_{\mathrm{in}} x^{\star} \le b_{\mathrm{in}}&#10;$&#10;&#10;\end{document}"/>
  <p:tag name="IGUANATEXSIZE" val="42"/>
  <p:tag name="IGUANATEXCURSOR" val="215"/>
  <p:tag name="TRANSPARENCY" val="True"/>
  <p:tag name="LATEXENGINEID" val="0"/>
  <p:tag name="TEMPFOLDER" val="c:\temp\"/>
  <p:tag name="LATEXFORMHEIGHT" val="312"/>
  <p:tag name="LATEXFORMWIDTH" val="384"/>
  <p:tag name="LATEXFORMWRAP" val="True"/>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1200"/>
  <p:tag name="ORIGINALHEIGHT" val="120.7349"/>
  <p:tag name="ORIGINALWIDTH" val="1493.063"/>
  <p:tag name="LATEXADDIN" val="\documentclass{article}&#10;\usepackage{amsmath}&#10;\pagestyle{empty}&#10;\begin{document}&#10;&#10;&#10;$&#10;\textbf{Dual feasibility:}\quad&#10;\lambda_{\mathrm{in}}^{\star} \ge 0&#10;$&#10;&#10;\end{document}"/>
  <p:tag name="IGUANATEXSIZE" val="42"/>
  <p:tag name="IGUANATEXCURSOR" val="151"/>
  <p:tag name="TRANSPARENCY" val="True"/>
  <p:tag name="LATEXENGINEID" val="0"/>
  <p:tag name="TEMPFOLDER" val="c:\temp\"/>
  <p:tag name="LATEXFORMHEIGHT" val="312"/>
  <p:tag name="LATEXFORMWIDTH" val="384"/>
  <p:tag name="LATEXFORMWRAP" val="True"/>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1200"/>
  <p:tag name="ORIGINALHEIGHT" val="156.7304"/>
  <p:tag name="ORIGINALWIDTH" val="3353.581"/>
  <p:tag name="LATEXADDIN" val="\documentclass{article}&#10;\usepackage{amsmath}&#10;\pagestyle{empty}&#10;\begin{document}&#10;&#10;&#10;$&#10;\textbf{Complementary slackness:}\quad&#10;\lambda_{\mathrm{in},i}^{\star}&#10;\bigl(&#10;  A_{\mathrm{in},i} x^{\star} - b_{\mathrm{in},i}&#10;\bigr)&#10;= 0,&#10;\quad \forall i&#10;$&#10;&#10;\end{document}"/>
  <p:tag name="IGUANATEXSIZE" val="42"/>
  <p:tag name="IGUANATEXCURSOR" val="239"/>
  <p:tag name="TRANSPARENCY" val="True"/>
  <p:tag name="LATEXENGINEID" val="0"/>
  <p:tag name="TEMPFOLDER" val="c:\temp\"/>
  <p:tag name="LATEXFORMHEIGHT" val="312"/>
  <p:tag name="LATEXFORMWIDTH" val="384"/>
  <p:tag name="LATEXFORMWRAP" val="True"/>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1200"/>
  <p:tag name="ORIGINALHEIGHT" val="153.7308"/>
  <p:tag name="ORIGINALWIDTH" val="2605.924"/>
  <p:tag name="LATEXADDIN" val="\documentclass{article}&#10;\usepackage{amsmath}&#10;\pagestyle{empty}&#10;\begin{document}&#10;&#10;&#10;$&#10;\textbf{Stationarity:}\quad&#10;H x^{\star} + g&#10;+ A_{\mathrm{eq}}^{\top} \lambda_{\mathrm{eq}}^{\star}&#10;+ A_{\mathrm{in}}^{\top} \lambda_{\mathrm{in}}^{\star}&#10;= 0&#10;$&#10;&#10;\end{document}"/>
  <p:tag name="IGUANATEXSIZE" val="42"/>
  <p:tag name="IGUANATEXCURSOR" val="241"/>
  <p:tag name="TRANSPARENCY" val="True"/>
  <p:tag name="LATEXENGINEID" val="0"/>
  <p:tag name="TEMPFOLDER" val="c:\temp\"/>
  <p:tag name="LATEXFORMHEIGHT" val="312"/>
  <p:tag name="LATEXFORMWIDTH" val="384"/>
  <p:tag name="LATEXFORMWRAP" val="True"/>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141.7323"/>
  <p:tag name="ORIGINALWIDTH" val="1142.857"/>
  <p:tag name="LATEXADDIN" val="\documentclass{article}&#10;\usepackage{amsmath}&#10;\pagestyle{empty}&#10;\begin{document}&#10;&#10;&#10;$&#10;\nabla_{x} L(x^{\star},\lambda_{\mathrm{eq}}^{\star},\lambda_{\mathrm{in}}^{\star}) = 0&#10;$&#10;&#10;\end{document}"/>
  <p:tag name="IGUANATEXSIZE" val="42"/>
  <p:tag name="IGUANATEXCURSOR" val="171"/>
  <p:tag name="TRANSPARENCY" val="True"/>
  <p:tag name="LATEXENGINEID" val="0"/>
  <p:tag name="TEMPFOLDER" val="c:\temp\"/>
  <p:tag name="LATEXFORMHEIGHT" val="312"/>
  <p:tag name="LATEXFORMWIDTH" val="384"/>
  <p:tag name="LATEXFORMWRAP" val="True"/>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07.2366"/>
  <p:tag name="ORIGINALWIDTH" val="531.6835"/>
  <p:tag name="LATEXADDIN" val="\documentclass{article}&#10;\usepackage{amsmath}&#10;\pagestyle{empty}&#10;\begin{document}&#10;&#10;&#10;$&#10;\ddot{q},\quad \dot{q},\quad q&#10;$&#10;&#10;\end{document}"/>
  <p:tag name="IGUANATEXSIZE" val="42"/>
  <p:tag name="IGUANATEXCURSOR" val="114"/>
  <p:tag name="TRANSPARENCY" val="True"/>
  <p:tag name="LATEXENGINEID" val="0"/>
  <p:tag name="TEMPFOLDER" val="c:\temp\"/>
  <p:tag name="LATEXFORMHEIGHT" val="312"/>
  <p:tag name="LATEXFORMWIDTH" val="384"/>
  <p:tag name="LATEXFORMWRAP" val="True"/>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093.363"/>
  <p:tag name="LATEXADDIN" val="\documentclass{article}&#10;\usepackage{amsmath}&#10;\pagestyle{empty}&#10;\begin{document}&#10;&#10;&#10;$&#10;M(q)\,\ddot{q} + h(q,\dot{q}) = \tau&#10;$&#10;&#10;\end{document}"/>
  <p:tag name="IGUANATEXSIZE" val="42"/>
  <p:tag name="IGUANATEXCURSOR" val="120"/>
  <p:tag name="TRANSPARENCY" val="True"/>
  <p:tag name="LATEXENGINEID" val="0"/>
  <p:tag name="TEMPFOLDER" val="c:\temp\"/>
  <p:tag name="LATEXFORMHEIGHT" val="312"/>
  <p:tag name="LATEXFORMWIDTH" val="384"/>
  <p:tag name="LATEXFORMWRAP" val="True"/>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1307.087"/>
  <p:tag name="LATEXADDIN" val="\documentclass{article}&#10;\usepackage{amsmath}&#10;\pagestyle{empty}&#10;\begin{document}&#10;&#10;&#10;$&#10;\ddot{q} = M(q)^{-1}\bigl(\tau - h(q,\dot{q})\bigr)&#10;$&#10;&#10;\end{document}"/>
  <p:tag name="IGUANATEXSIZE" val="32"/>
  <p:tag name="IGUANATEXCURSOR" val="135"/>
  <p:tag name="TRANSPARENCY" val="True"/>
  <p:tag name="LATEXENGINEID" val="0"/>
  <p:tag name="TEMPFOLDER" val="c:\temp\"/>
  <p:tag name="LATEXFORMHEIGHT" val="312"/>
  <p:tag name="LATEXFORMWIDTH" val="384"/>
  <p:tag name="LATEXFORMWRAP" val="True"/>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149.2313"/>
  <p:tag name="ORIGINALWIDTH" val="1307.087"/>
  <p:tag name="LATEXADDIN" val="\documentclass{article}&#10;\usepackage{amsmath}&#10;\pagestyle{empty}&#10;\begin{document}&#10;&#10;&#10;$&#10;\ddot{q} = M(q)^{-1}\bigl(\tau - h(q,\dot{q})\bigr)&#10;$&#10;&#10;\end{document}"/>
  <p:tag name="IGUANATEXSIZE" val="32"/>
  <p:tag name="IGUANATEXCURSOR" val="135"/>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2573</TotalTime>
  <Words>861</Words>
  <Application>Microsoft Office PowerPoint</Application>
  <PresentationFormat>사용자 지정</PresentationFormat>
  <Paragraphs>214</Paragraphs>
  <Slides>22</Slides>
  <Notes>2</Notes>
  <HiddenSlides>0</HiddenSlides>
  <MMClips>1</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22</vt:i4>
      </vt:variant>
    </vt:vector>
  </HeadingPairs>
  <TitlesOfParts>
    <vt:vector size="26" baseType="lpstr">
      <vt:lpstr>Arial</vt:lpstr>
      <vt:lpstr>Calibri</vt:lpstr>
      <vt:lpstr>맑은 고딕</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강민 이</cp:lastModifiedBy>
  <cp:revision>215</cp:revision>
  <dcterms:created xsi:type="dcterms:W3CDTF">2006-08-16T00:00:00Z</dcterms:created>
  <dcterms:modified xsi:type="dcterms:W3CDTF">2025-11-23T09:35:33Z</dcterms:modified>
</cp:coreProperties>
</file>